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52"/>
  </p:notesMasterIdLst>
  <p:handoutMasterIdLst>
    <p:handoutMasterId r:id="rId53"/>
  </p:handoutMasterIdLst>
  <p:sldIdLst>
    <p:sldId id="315" r:id="rId2"/>
    <p:sldId id="316" r:id="rId3"/>
    <p:sldId id="258" r:id="rId4"/>
    <p:sldId id="344" r:id="rId5"/>
    <p:sldId id="296" r:id="rId6"/>
    <p:sldId id="345" r:id="rId7"/>
    <p:sldId id="259" r:id="rId8"/>
    <p:sldId id="297" r:id="rId9"/>
    <p:sldId id="346" r:id="rId10"/>
    <p:sldId id="261" r:id="rId11"/>
    <p:sldId id="295" r:id="rId12"/>
    <p:sldId id="343" r:id="rId13"/>
    <p:sldId id="347" r:id="rId14"/>
    <p:sldId id="264" r:id="rId15"/>
    <p:sldId id="321" r:id="rId16"/>
    <p:sldId id="265" r:id="rId17"/>
    <p:sldId id="318" r:id="rId18"/>
    <p:sldId id="322" r:id="rId19"/>
    <p:sldId id="323" r:id="rId20"/>
    <p:sldId id="324" r:id="rId21"/>
    <p:sldId id="298" r:id="rId22"/>
    <p:sldId id="299" r:id="rId23"/>
    <p:sldId id="267" r:id="rId24"/>
    <p:sldId id="300" r:id="rId25"/>
    <p:sldId id="302" r:id="rId26"/>
    <p:sldId id="325" r:id="rId27"/>
    <p:sldId id="348" r:id="rId28"/>
    <p:sldId id="326" r:id="rId29"/>
    <p:sldId id="303" r:id="rId30"/>
    <p:sldId id="327" r:id="rId31"/>
    <p:sldId id="304" r:id="rId32"/>
    <p:sldId id="270" r:id="rId33"/>
    <p:sldId id="311" r:id="rId34"/>
    <p:sldId id="328" r:id="rId35"/>
    <p:sldId id="273" r:id="rId36"/>
    <p:sldId id="272" r:id="rId37"/>
    <p:sldId id="349" r:id="rId38"/>
    <p:sldId id="350" r:id="rId39"/>
    <p:sldId id="353" r:id="rId40"/>
    <p:sldId id="351" r:id="rId41"/>
    <p:sldId id="352" r:id="rId42"/>
    <p:sldId id="354" r:id="rId43"/>
    <p:sldId id="329" r:id="rId44"/>
    <p:sldId id="307" r:id="rId45"/>
    <p:sldId id="355" r:id="rId46"/>
    <p:sldId id="276" r:id="rId47"/>
    <p:sldId id="330" r:id="rId48"/>
    <p:sldId id="313" r:id="rId49"/>
    <p:sldId id="338" r:id="rId50"/>
    <p:sldId id="317"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80996" autoAdjust="0"/>
  </p:normalViewPr>
  <p:slideViewPr>
    <p:cSldViewPr>
      <p:cViewPr varScale="1">
        <p:scale>
          <a:sx n="56" d="100"/>
          <a:sy n="56" d="100"/>
        </p:scale>
        <p:origin x="1572" y="2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14.xml"/><Relationship Id="rId13" Type="http://schemas.openxmlformats.org/officeDocument/2006/relationships/slide" Target="slides/slide35.xml"/><Relationship Id="rId3" Type="http://schemas.openxmlformats.org/officeDocument/2006/relationships/slide" Target="slides/slide4.xml"/><Relationship Id="rId7" Type="http://schemas.openxmlformats.org/officeDocument/2006/relationships/slide" Target="slides/slide11.xml"/><Relationship Id="rId12" Type="http://schemas.openxmlformats.org/officeDocument/2006/relationships/slide" Target="slides/slide32.xml"/><Relationship Id="rId2" Type="http://schemas.openxmlformats.org/officeDocument/2006/relationships/slide" Target="slides/slide3.xml"/><Relationship Id="rId16" Type="http://schemas.openxmlformats.org/officeDocument/2006/relationships/slide" Target="slides/slide50.xml"/><Relationship Id="rId1" Type="http://schemas.openxmlformats.org/officeDocument/2006/relationships/slide" Target="slides/slide1.xml"/><Relationship Id="rId6" Type="http://schemas.openxmlformats.org/officeDocument/2006/relationships/slide" Target="slides/slide10.xml"/><Relationship Id="rId11" Type="http://schemas.openxmlformats.org/officeDocument/2006/relationships/slide" Target="slides/slide23.xml"/><Relationship Id="rId5" Type="http://schemas.openxmlformats.org/officeDocument/2006/relationships/slide" Target="slides/slide8.xml"/><Relationship Id="rId15" Type="http://schemas.openxmlformats.org/officeDocument/2006/relationships/slide" Target="slides/slide46.xml"/><Relationship Id="rId10" Type="http://schemas.openxmlformats.org/officeDocument/2006/relationships/slide" Target="slides/slide16.xml"/><Relationship Id="rId4" Type="http://schemas.openxmlformats.org/officeDocument/2006/relationships/slide" Target="slides/slide7.xml"/><Relationship Id="rId9" Type="http://schemas.openxmlformats.org/officeDocument/2006/relationships/slide" Target="slides/slide15.xml"/><Relationship Id="rId14"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A3E0E5-FB8F-334C-8FE5-62A44FA30DEC}"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183262AA-24DB-9D42-BA49-DFEA9DCEA11E}">
      <dgm:prSet/>
      <dgm:spPr/>
      <dgm:t>
        <a:bodyPr/>
        <a:lstStyle/>
        <a:p>
          <a:pPr rtl="0"/>
          <a:r>
            <a:rPr lang="en-US" dirty="0" smtClean="0"/>
            <a:t>There are several alternative conventions used to represent negative as well as positive integers</a:t>
          </a:r>
          <a:endParaRPr lang="en-US" dirty="0"/>
        </a:p>
      </dgm:t>
    </dgm:pt>
    <dgm:pt modelId="{E1AE39EB-9D06-F54A-8B72-CF80C5205387}" type="parTrans" cxnId="{E351E063-CBB2-5C45-88B7-5DFC7C063C58}">
      <dgm:prSet/>
      <dgm:spPr/>
      <dgm:t>
        <a:bodyPr/>
        <a:lstStyle/>
        <a:p>
          <a:endParaRPr lang="en-US"/>
        </a:p>
      </dgm:t>
    </dgm:pt>
    <dgm:pt modelId="{50F1CEAA-FF30-954B-8964-4E6B2EA0FA15}" type="sibTrans" cxnId="{E351E063-CBB2-5C45-88B7-5DFC7C063C58}">
      <dgm:prSet/>
      <dgm:spPr/>
      <dgm:t>
        <a:bodyPr/>
        <a:lstStyle/>
        <a:p>
          <a:endParaRPr lang="en-US"/>
        </a:p>
      </dgm:t>
    </dgm:pt>
    <dgm:pt modelId="{D421B331-5FF1-894D-BC17-510CC556518C}">
      <dgm:prSet/>
      <dgm:spPr/>
      <dgm:t>
        <a:bodyPr/>
        <a:lstStyle/>
        <a:p>
          <a:pPr rtl="0"/>
          <a:r>
            <a:rPr lang="en-US" dirty="0" smtClean="0"/>
            <a:t>All of these alternatives involve treating the most significant (leftmost) bit in the word as a sign bit</a:t>
          </a:r>
          <a:endParaRPr lang="en-US" dirty="0"/>
        </a:p>
      </dgm:t>
    </dgm:pt>
    <dgm:pt modelId="{F08812C2-D4C2-1D44-B7C3-919E1DF10143}" type="parTrans" cxnId="{C4C79A9E-E948-D343-AD5A-A2169147BC37}">
      <dgm:prSet/>
      <dgm:spPr/>
      <dgm:t>
        <a:bodyPr/>
        <a:lstStyle/>
        <a:p>
          <a:endParaRPr lang="en-US"/>
        </a:p>
      </dgm:t>
    </dgm:pt>
    <dgm:pt modelId="{B998553F-C21F-A245-90B3-D8A962712F85}" type="sibTrans" cxnId="{C4C79A9E-E948-D343-AD5A-A2169147BC37}">
      <dgm:prSet/>
      <dgm:spPr/>
      <dgm:t>
        <a:bodyPr/>
        <a:lstStyle/>
        <a:p>
          <a:endParaRPr lang="en-US"/>
        </a:p>
      </dgm:t>
    </dgm:pt>
    <dgm:pt modelId="{911F3139-331A-9041-947D-2D8029CBE0EE}">
      <dgm:prSet/>
      <dgm:spPr/>
      <dgm:t>
        <a:bodyPr/>
        <a:lstStyle/>
        <a:p>
          <a:pPr rtl="0"/>
          <a:r>
            <a:rPr lang="en-US" dirty="0" smtClean="0"/>
            <a:t>If the sign bit is 0 the number is positive</a:t>
          </a:r>
          <a:endParaRPr lang="en-US" dirty="0"/>
        </a:p>
      </dgm:t>
    </dgm:pt>
    <dgm:pt modelId="{E2DAEE02-3EF1-D541-9387-EEF1F08CEED9}" type="parTrans" cxnId="{8A0E2ECC-F287-3446-8D89-40787812DADB}">
      <dgm:prSet/>
      <dgm:spPr/>
      <dgm:t>
        <a:bodyPr/>
        <a:lstStyle/>
        <a:p>
          <a:endParaRPr lang="en-US"/>
        </a:p>
      </dgm:t>
    </dgm:pt>
    <dgm:pt modelId="{9EE2FA17-EDB9-C341-B441-2C1ABF5FF487}" type="sibTrans" cxnId="{8A0E2ECC-F287-3446-8D89-40787812DADB}">
      <dgm:prSet/>
      <dgm:spPr/>
      <dgm:t>
        <a:bodyPr/>
        <a:lstStyle/>
        <a:p>
          <a:endParaRPr lang="en-US"/>
        </a:p>
      </dgm:t>
    </dgm:pt>
    <dgm:pt modelId="{9AFCBC0B-96A4-474E-96E6-E21053505CD4}">
      <dgm:prSet/>
      <dgm:spPr/>
      <dgm:t>
        <a:bodyPr/>
        <a:lstStyle/>
        <a:p>
          <a:pPr rtl="0"/>
          <a:r>
            <a:rPr lang="en-US" dirty="0" smtClean="0"/>
            <a:t>If the sign bit is 1 the number is negative</a:t>
          </a:r>
          <a:endParaRPr lang="en-US" dirty="0"/>
        </a:p>
      </dgm:t>
    </dgm:pt>
    <dgm:pt modelId="{5BAE50B4-1F31-1144-B548-966D89249933}" type="parTrans" cxnId="{A39C2DDB-0E9A-BE4E-B655-8FB6B5CAD655}">
      <dgm:prSet/>
      <dgm:spPr/>
      <dgm:t>
        <a:bodyPr/>
        <a:lstStyle/>
        <a:p>
          <a:endParaRPr lang="en-US"/>
        </a:p>
      </dgm:t>
    </dgm:pt>
    <dgm:pt modelId="{6D51E86B-54A7-D045-A8BA-7ADC2CFEFEEE}" type="sibTrans" cxnId="{A39C2DDB-0E9A-BE4E-B655-8FB6B5CAD655}">
      <dgm:prSet/>
      <dgm:spPr/>
      <dgm:t>
        <a:bodyPr/>
        <a:lstStyle/>
        <a:p>
          <a:endParaRPr lang="en-US"/>
        </a:p>
      </dgm:t>
    </dgm:pt>
    <dgm:pt modelId="{A70A6160-FC13-2848-AED3-12D569DBABD9}">
      <dgm:prSet/>
      <dgm:spPr/>
      <dgm:t>
        <a:bodyPr/>
        <a:lstStyle/>
        <a:p>
          <a:pPr rtl="0"/>
          <a:r>
            <a:rPr lang="en-US" dirty="0" smtClean="0"/>
            <a:t>Sign-magnitude representation is the simplest form that employs a sign bit</a:t>
          </a:r>
          <a:endParaRPr lang="en-US" dirty="0"/>
        </a:p>
      </dgm:t>
    </dgm:pt>
    <dgm:pt modelId="{86A8D559-4BE4-F946-82B7-23A4E19B377B}" type="parTrans" cxnId="{7D4A7DF4-872E-154D-AE8F-07E2ED4B8CA2}">
      <dgm:prSet/>
      <dgm:spPr/>
      <dgm:t>
        <a:bodyPr/>
        <a:lstStyle/>
        <a:p>
          <a:endParaRPr lang="en-US"/>
        </a:p>
      </dgm:t>
    </dgm:pt>
    <dgm:pt modelId="{6A9AB68E-CE3C-1C46-BF77-B7B1A6791E53}" type="sibTrans" cxnId="{7D4A7DF4-872E-154D-AE8F-07E2ED4B8CA2}">
      <dgm:prSet/>
      <dgm:spPr/>
      <dgm:t>
        <a:bodyPr/>
        <a:lstStyle/>
        <a:p>
          <a:endParaRPr lang="en-US"/>
        </a:p>
      </dgm:t>
    </dgm:pt>
    <dgm:pt modelId="{EA19E746-087D-5747-BD84-D0BDB4D1B743}">
      <dgm:prSet/>
      <dgm:spPr/>
      <dgm:t>
        <a:bodyPr/>
        <a:lstStyle/>
        <a:p>
          <a:pPr rtl="0"/>
          <a:r>
            <a:rPr lang="en-US" dirty="0" smtClean="0"/>
            <a:t>Drawbacks:</a:t>
          </a:r>
          <a:endParaRPr lang="en-US" dirty="0"/>
        </a:p>
      </dgm:t>
    </dgm:pt>
    <dgm:pt modelId="{509BE407-9AF8-1F4F-BE0E-66AD5658203E}" type="parTrans" cxnId="{C96B6C18-59CC-6C4C-B7AE-C3814D3EEC58}">
      <dgm:prSet/>
      <dgm:spPr/>
      <dgm:t>
        <a:bodyPr/>
        <a:lstStyle/>
        <a:p>
          <a:endParaRPr lang="en-US"/>
        </a:p>
      </dgm:t>
    </dgm:pt>
    <dgm:pt modelId="{625E866C-E9D2-A148-8FDD-3BE0CFDA96B9}" type="sibTrans" cxnId="{C96B6C18-59CC-6C4C-B7AE-C3814D3EEC58}">
      <dgm:prSet/>
      <dgm:spPr/>
      <dgm:t>
        <a:bodyPr/>
        <a:lstStyle/>
        <a:p>
          <a:endParaRPr lang="en-US"/>
        </a:p>
      </dgm:t>
    </dgm:pt>
    <dgm:pt modelId="{78BBE99E-AE62-174F-8840-FE9100F0377A}">
      <dgm:prSet/>
      <dgm:spPr/>
      <dgm:t>
        <a:bodyPr/>
        <a:lstStyle/>
        <a:p>
          <a:pPr rtl="0"/>
          <a:r>
            <a:rPr lang="en-US" dirty="0" smtClean="0"/>
            <a:t>Addition and subtraction require a consideration of both the signs of the numbers and their relative magnitudes to carry out the required operation</a:t>
          </a:r>
          <a:endParaRPr lang="en-US" dirty="0"/>
        </a:p>
      </dgm:t>
    </dgm:pt>
    <dgm:pt modelId="{A0D81AF6-D6D6-2E44-B9F4-0468DEA92C8D}" type="parTrans" cxnId="{E3D02617-B661-984E-A8FD-78837F464085}">
      <dgm:prSet/>
      <dgm:spPr/>
      <dgm:t>
        <a:bodyPr/>
        <a:lstStyle/>
        <a:p>
          <a:endParaRPr lang="en-US"/>
        </a:p>
      </dgm:t>
    </dgm:pt>
    <dgm:pt modelId="{7767C167-0AE8-0445-BD5F-1A9B7BB8BEC2}" type="sibTrans" cxnId="{E3D02617-B661-984E-A8FD-78837F464085}">
      <dgm:prSet/>
      <dgm:spPr/>
      <dgm:t>
        <a:bodyPr/>
        <a:lstStyle/>
        <a:p>
          <a:endParaRPr lang="en-US"/>
        </a:p>
      </dgm:t>
    </dgm:pt>
    <dgm:pt modelId="{AFBFAF41-3241-B94E-B5EC-BF583F9BE04B}">
      <dgm:prSet/>
      <dgm:spPr/>
      <dgm:t>
        <a:bodyPr/>
        <a:lstStyle/>
        <a:p>
          <a:pPr rtl="0"/>
          <a:r>
            <a:rPr lang="en-US" dirty="0" smtClean="0"/>
            <a:t>There are two representations of 0</a:t>
          </a:r>
          <a:endParaRPr lang="en-US" dirty="0"/>
        </a:p>
      </dgm:t>
    </dgm:pt>
    <dgm:pt modelId="{B6CC9165-E2A8-DF47-B63D-A92650E204E0}" type="parTrans" cxnId="{12C01CDA-3F30-2B4D-9420-9374A4913455}">
      <dgm:prSet/>
      <dgm:spPr/>
      <dgm:t>
        <a:bodyPr/>
        <a:lstStyle/>
        <a:p>
          <a:endParaRPr lang="en-US"/>
        </a:p>
      </dgm:t>
    </dgm:pt>
    <dgm:pt modelId="{22DD4469-73CD-B949-9383-4B96151B199A}" type="sibTrans" cxnId="{12C01CDA-3F30-2B4D-9420-9374A4913455}">
      <dgm:prSet/>
      <dgm:spPr/>
      <dgm:t>
        <a:bodyPr/>
        <a:lstStyle/>
        <a:p>
          <a:endParaRPr lang="en-US"/>
        </a:p>
      </dgm:t>
    </dgm:pt>
    <dgm:pt modelId="{50457B50-2595-E94F-993C-E177E314EAD1}">
      <dgm:prSet/>
      <dgm:spPr/>
      <dgm:t>
        <a:bodyPr/>
        <a:lstStyle/>
        <a:p>
          <a:pPr rtl="0"/>
          <a:r>
            <a:rPr lang="en-US" dirty="0" smtClean="0"/>
            <a:t>Because of these drawbacks, sign-magnitude representation is rarely used in implementing the integer portion of the ALU.</a:t>
          </a:r>
        </a:p>
      </dgm:t>
    </dgm:pt>
    <dgm:pt modelId="{91CC0228-9A2F-C44A-B1D9-A5008F223FA6}" type="parTrans" cxnId="{583FB138-40CE-864F-A1A2-B3C03CD737BB}">
      <dgm:prSet/>
      <dgm:spPr/>
      <dgm:t>
        <a:bodyPr/>
        <a:lstStyle/>
        <a:p>
          <a:endParaRPr lang="en-US"/>
        </a:p>
      </dgm:t>
    </dgm:pt>
    <dgm:pt modelId="{703DCEC5-BE7B-B844-A88E-646907E8DD42}" type="sibTrans" cxnId="{583FB138-40CE-864F-A1A2-B3C03CD737BB}">
      <dgm:prSet/>
      <dgm:spPr/>
      <dgm:t>
        <a:bodyPr/>
        <a:lstStyle/>
        <a:p>
          <a:endParaRPr lang="en-US"/>
        </a:p>
      </dgm:t>
    </dgm:pt>
    <dgm:pt modelId="{32457D1D-1DF7-4813-BE3D-4A7EB076D6DD}">
      <dgm:prSet/>
      <dgm:spPr/>
      <dgm:t>
        <a:bodyPr/>
        <a:lstStyle/>
        <a:p>
          <a:pPr rtl="0"/>
          <a:r>
            <a:rPr lang="en-US" dirty="0" smtClean="0"/>
            <a:t>Instead the most common scheme is </a:t>
          </a:r>
          <a:r>
            <a:rPr lang="en-US" b="1" dirty="0" smtClean="0"/>
            <a:t>twos complement representation.</a:t>
          </a:r>
          <a:endParaRPr lang="en-US" b="1" dirty="0"/>
        </a:p>
      </dgm:t>
    </dgm:pt>
    <dgm:pt modelId="{DF30D5F8-02BA-4CC4-A310-6052056596A3}" type="parTrans" cxnId="{6D78FE59-B411-4A03-B284-C578CFC2A723}">
      <dgm:prSet/>
      <dgm:spPr/>
      <dgm:t>
        <a:bodyPr/>
        <a:lstStyle/>
        <a:p>
          <a:endParaRPr lang="en-US"/>
        </a:p>
      </dgm:t>
    </dgm:pt>
    <dgm:pt modelId="{D3A9F7D5-03C2-47C1-979D-DD610B23ACB3}" type="sibTrans" cxnId="{6D78FE59-B411-4A03-B284-C578CFC2A723}">
      <dgm:prSet/>
      <dgm:spPr/>
      <dgm:t>
        <a:bodyPr/>
        <a:lstStyle/>
        <a:p>
          <a:endParaRPr lang="en-US"/>
        </a:p>
      </dgm:t>
    </dgm:pt>
    <dgm:pt modelId="{6D8D805C-8E27-5546-979C-2760A25D2E93}" type="pres">
      <dgm:prSet presAssocID="{13A3E0E5-FB8F-334C-8FE5-62A44FA30DEC}" presName="Name0" presStyleCnt="0">
        <dgm:presLayoutVars>
          <dgm:chMax val="7"/>
          <dgm:dir/>
          <dgm:animLvl val="lvl"/>
          <dgm:resizeHandles val="exact"/>
        </dgm:presLayoutVars>
      </dgm:prSet>
      <dgm:spPr/>
      <dgm:t>
        <a:bodyPr/>
        <a:lstStyle/>
        <a:p>
          <a:endParaRPr lang="en-US"/>
        </a:p>
      </dgm:t>
    </dgm:pt>
    <dgm:pt modelId="{25DB6DD2-519E-7446-8772-54D198A49389}" type="pres">
      <dgm:prSet presAssocID="{183262AA-24DB-9D42-BA49-DFEA9DCEA11E}" presName="circle1" presStyleLbl="node1" presStyleIdx="0" presStyleCnt="4"/>
      <dgm:spPr>
        <a:ln>
          <a:solidFill>
            <a:schemeClr val="accent1"/>
          </a:solidFill>
        </a:ln>
      </dgm:spPr>
    </dgm:pt>
    <dgm:pt modelId="{56542A31-4B1D-9F45-8815-EDDE66040362}" type="pres">
      <dgm:prSet presAssocID="{183262AA-24DB-9D42-BA49-DFEA9DCEA11E}" presName="space" presStyleCnt="0"/>
      <dgm:spPr/>
    </dgm:pt>
    <dgm:pt modelId="{E2A66267-F3CA-834C-8E92-73974C118495}" type="pres">
      <dgm:prSet presAssocID="{183262AA-24DB-9D42-BA49-DFEA9DCEA11E}" presName="rect1" presStyleLbl="alignAcc1" presStyleIdx="0" presStyleCnt="4"/>
      <dgm:spPr/>
      <dgm:t>
        <a:bodyPr/>
        <a:lstStyle/>
        <a:p>
          <a:endParaRPr lang="en-US"/>
        </a:p>
      </dgm:t>
    </dgm:pt>
    <dgm:pt modelId="{0A4D27A1-7560-5740-BE3A-A4E5BD4614A0}" type="pres">
      <dgm:prSet presAssocID="{A70A6160-FC13-2848-AED3-12D569DBABD9}" presName="vertSpace2" presStyleLbl="node1" presStyleIdx="0" presStyleCnt="4"/>
      <dgm:spPr/>
    </dgm:pt>
    <dgm:pt modelId="{0C739B3D-50AE-C948-B1FB-A51F669FD8C3}" type="pres">
      <dgm:prSet presAssocID="{A70A6160-FC13-2848-AED3-12D569DBABD9}" presName="circle2" presStyleLbl="node1" presStyleIdx="1" presStyleCnt="4"/>
      <dgm:spPr>
        <a:solidFill>
          <a:schemeClr val="accent4"/>
        </a:solidFill>
        <a:ln>
          <a:solidFill>
            <a:schemeClr val="accent4"/>
          </a:solidFill>
        </a:ln>
      </dgm:spPr>
    </dgm:pt>
    <dgm:pt modelId="{878DAEEC-84D0-1944-9838-89F9AF5AF114}" type="pres">
      <dgm:prSet presAssocID="{A70A6160-FC13-2848-AED3-12D569DBABD9}" presName="rect2" presStyleLbl="alignAcc1" presStyleIdx="1" presStyleCnt="4"/>
      <dgm:spPr/>
      <dgm:t>
        <a:bodyPr/>
        <a:lstStyle/>
        <a:p>
          <a:endParaRPr lang="en-US"/>
        </a:p>
      </dgm:t>
    </dgm:pt>
    <dgm:pt modelId="{4BBC67E4-19A9-A948-A2C9-4DFBC2C7C256}" type="pres">
      <dgm:prSet presAssocID="{EA19E746-087D-5747-BD84-D0BDB4D1B743}" presName="vertSpace3" presStyleLbl="node1" presStyleIdx="1" presStyleCnt="4"/>
      <dgm:spPr/>
    </dgm:pt>
    <dgm:pt modelId="{7D370A6D-C41B-1044-8DE0-4F85455A5416}" type="pres">
      <dgm:prSet presAssocID="{EA19E746-087D-5747-BD84-D0BDB4D1B743}" presName="circle3" presStyleLbl="node1" presStyleIdx="2" presStyleCnt="4"/>
      <dgm:spPr>
        <a:solidFill>
          <a:schemeClr val="accent3"/>
        </a:solidFill>
        <a:ln>
          <a:solidFill>
            <a:schemeClr val="accent3"/>
          </a:solidFill>
        </a:ln>
      </dgm:spPr>
    </dgm:pt>
    <dgm:pt modelId="{653CC4B6-86EE-DA43-B711-756C2A688905}" type="pres">
      <dgm:prSet presAssocID="{EA19E746-087D-5747-BD84-D0BDB4D1B743}" presName="rect3" presStyleLbl="alignAcc1" presStyleIdx="2" presStyleCnt="4"/>
      <dgm:spPr/>
      <dgm:t>
        <a:bodyPr/>
        <a:lstStyle/>
        <a:p>
          <a:endParaRPr lang="en-US"/>
        </a:p>
      </dgm:t>
    </dgm:pt>
    <dgm:pt modelId="{696C117B-0E32-BE4E-9874-CF9A36F4D455}" type="pres">
      <dgm:prSet presAssocID="{50457B50-2595-E94F-993C-E177E314EAD1}" presName="vertSpace4" presStyleLbl="node1" presStyleIdx="2" presStyleCnt="4"/>
      <dgm:spPr/>
    </dgm:pt>
    <dgm:pt modelId="{6AE7970F-AF50-6847-84A4-AC3F27104EDB}" type="pres">
      <dgm:prSet presAssocID="{50457B50-2595-E94F-993C-E177E314EAD1}" presName="circle4" presStyleLbl="node1" presStyleIdx="3" presStyleCnt="4"/>
      <dgm:spPr>
        <a:ln>
          <a:solidFill>
            <a:schemeClr val="accent1"/>
          </a:solidFill>
        </a:ln>
      </dgm:spPr>
    </dgm:pt>
    <dgm:pt modelId="{C5B53DDF-528D-9E4D-BA41-F8C8C0867C49}" type="pres">
      <dgm:prSet presAssocID="{50457B50-2595-E94F-993C-E177E314EAD1}" presName="rect4" presStyleLbl="alignAcc1" presStyleIdx="3" presStyleCnt="4"/>
      <dgm:spPr/>
      <dgm:t>
        <a:bodyPr/>
        <a:lstStyle/>
        <a:p>
          <a:endParaRPr lang="en-US"/>
        </a:p>
      </dgm:t>
    </dgm:pt>
    <dgm:pt modelId="{9DBFECD6-8A3D-8547-8DAB-53D12B7D2327}" type="pres">
      <dgm:prSet presAssocID="{183262AA-24DB-9D42-BA49-DFEA9DCEA11E}" presName="rect1ParTx" presStyleLbl="alignAcc1" presStyleIdx="3" presStyleCnt="4">
        <dgm:presLayoutVars>
          <dgm:chMax val="1"/>
          <dgm:bulletEnabled val="1"/>
        </dgm:presLayoutVars>
      </dgm:prSet>
      <dgm:spPr/>
      <dgm:t>
        <a:bodyPr/>
        <a:lstStyle/>
        <a:p>
          <a:endParaRPr lang="en-US"/>
        </a:p>
      </dgm:t>
    </dgm:pt>
    <dgm:pt modelId="{9F67836C-3F36-8843-BBCE-92D425CCDC28}" type="pres">
      <dgm:prSet presAssocID="{183262AA-24DB-9D42-BA49-DFEA9DCEA11E}" presName="rect1ChTx" presStyleLbl="alignAcc1" presStyleIdx="3" presStyleCnt="4">
        <dgm:presLayoutVars>
          <dgm:bulletEnabled val="1"/>
        </dgm:presLayoutVars>
      </dgm:prSet>
      <dgm:spPr/>
      <dgm:t>
        <a:bodyPr/>
        <a:lstStyle/>
        <a:p>
          <a:endParaRPr lang="en-US"/>
        </a:p>
      </dgm:t>
    </dgm:pt>
    <dgm:pt modelId="{0D15B29A-FC1E-424A-9747-0E0CC8A6C14B}" type="pres">
      <dgm:prSet presAssocID="{A70A6160-FC13-2848-AED3-12D569DBABD9}" presName="rect2ParTx" presStyleLbl="alignAcc1" presStyleIdx="3" presStyleCnt="4">
        <dgm:presLayoutVars>
          <dgm:chMax val="1"/>
          <dgm:bulletEnabled val="1"/>
        </dgm:presLayoutVars>
      </dgm:prSet>
      <dgm:spPr/>
      <dgm:t>
        <a:bodyPr/>
        <a:lstStyle/>
        <a:p>
          <a:endParaRPr lang="en-US"/>
        </a:p>
      </dgm:t>
    </dgm:pt>
    <dgm:pt modelId="{DEF3D320-B9E4-D14E-B4C6-590BF47411BC}" type="pres">
      <dgm:prSet presAssocID="{A70A6160-FC13-2848-AED3-12D569DBABD9}" presName="rect2ChTx" presStyleLbl="alignAcc1" presStyleIdx="3" presStyleCnt="4">
        <dgm:presLayoutVars>
          <dgm:bulletEnabled val="1"/>
        </dgm:presLayoutVars>
      </dgm:prSet>
      <dgm:spPr/>
    </dgm:pt>
    <dgm:pt modelId="{1AB44C3C-2B6E-7B4A-B079-9E44E58D790F}" type="pres">
      <dgm:prSet presAssocID="{EA19E746-087D-5747-BD84-D0BDB4D1B743}" presName="rect3ParTx" presStyleLbl="alignAcc1" presStyleIdx="3" presStyleCnt="4">
        <dgm:presLayoutVars>
          <dgm:chMax val="1"/>
          <dgm:bulletEnabled val="1"/>
        </dgm:presLayoutVars>
      </dgm:prSet>
      <dgm:spPr/>
      <dgm:t>
        <a:bodyPr/>
        <a:lstStyle/>
        <a:p>
          <a:endParaRPr lang="en-US"/>
        </a:p>
      </dgm:t>
    </dgm:pt>
    <dgm:pt modelId="{51514997-96B0-7948-A8A1-B4F21AD740E0}" type="pres">
      <dgm:prSet presAssocID="{EA19E746-087D-5747-BD84-D0BDB4D1B743}" presName="rect3ChTx" presStyleLbl="alignAcc1" presStyleIdx="3" presStyleCnt="4">
        <dgm:presLayoutVars>
          <dgm:bulletEnabled val="1"/>
        </dgm:presLayoutVars>
      </dgm:prSet>
      <dgm:spPr/>
      <dgm:t>
        <a:bodyPr/>
        <a:lstStyle/>
        <a:p>
          <a:endParaRPr lang="en-US"/>
        </a:p>
      </dgm:t>
    </dgm:pt>
    <dgm:pt modelId="{7DB2C070-D570-C24E-B8EC-576E04E7C5D5}" type="pres">
      <dgm:prSet presAssocID="{50457B50-2595-E94F-993C-E177E314EAD1}" presName="rect4ParTx" presStyleLbl="alignAcc1" presStyleIdx="3" presStyleCnt="4">
        <dgm:presLayoutVars>
          <dgm:chMax val="1"/>
          <dgm:bulletEnabled val="1"/>
        </dgm:presLayoutVars>
      </dgm:prSet>
      <dgm:spPr/>
      <dgm:t>
        <a:bodyPr/>
        <a:lstStyle/>
        <a:p>
          <a:endParaRPr lang="en-US"/>
        </a:p>
      </dgm:t>
    </dgm:pt>
    <dgm:pt modelId="{5C1F3FBC-96BA-9F4F-9EA1-DAE7432D5E3C}" type="pres">
      <dgm:prSet presAssocID="{50457B50-2595-E94F-993C-E177E314EAD1}" presName="rect4ChTx" presStyleLbl="alignAcc1" presStyleIdx="3" presStyleCnt="4">
        <dgm:presLayoutVars>
          <dgm:bulletEnabled val="1"/>
        </dgm:presLayoutVars>
      </dgm:prSet>
      <dgm:spPr/>
      <dgm:t>
        <a:bodyPr/>
        <a:lstStyle/>
        <a:p>
          <a:endParaRPr lang="en-US"/>
        </a:p>
      </dgm:t>
    </dgm:pt>
  </dgm:ptLst>
  <dgm:cxnLst>
    <dgm:cxn modelId="{98B0A377-8AF4-B94D-A42A-74CD9E12A765}" type="presOf" srcId="{EA19E746-087D-5747-BD84-D0BDB4D1B743}" destId="{1AB44C3C-2B6E-7B4A-B079-9E44E58D790F}" srcOrd="1" destOrd="0" presId="urn:microsoft.com/office/officeart/2005/8/layout/target3"/>
    <dgm:cxn modelId="{C4C79A9E-E948-D343-AD5A-A2169147BC37}" srcId="{183262AA-24DB-9D42-BA49-DFEA9DCEA11E}" destId="{D421B331-5FF1-894D-BC17-510CC556518C}" srcOrd="0" destOrd="0" parTransId="{F08812C2-D4C2-1D44-B7C3-919E1DF10143}" sibTransId="{B998553F-C21F-A245-90B3-D8A962712F85}"/>
    <dgm:cxn modelId="{8A0E2ECC-F287-3446-8D89-40787812DADB}" srcId="{183262AA-24DB-9D42-BA49-DFEA9DCEA11E}" destId="{911F3139-331A-9041-947D-2D8029CBE0EE}" srcOrd="1" destOrd="0" parTransId="{E2DAEE02-3EF1-D541-9387-EEF1F08CEED9}" sibTransId="{9EE2FA17-EDB9-C341-B441-2C1ABF5FF487}"/>
    <dgm:cxn modelId="{173E3261-9FCB-8840-AC4C-D3798FFB7C6D}" type="presOf" srcId="{183262AA-24DB-9D42-BA49-DFEA9DCEA11E}" destId="{E2A66267-F3CA-834C-8E92-73974C118495}" srcOrd="0" destOrd="0" presId="urn:microsoft.com/office/officeart/2005/8/layout/target3"/>
    <dgm:cxn modelId="{A39C2DDB-0E9A-BE4E-B655-8FB6B5CAD655}" srcId="{183262AA-24DB-9D42-BA49-DFEA9DCEA11E}" destId="{9AFCBC0B-96A4-474E-96E6-E21053505CD4}" srcOrd="2" destOrd="0" parTransId="{5BAE50B4-1F31-1144-B548-966D89249933}" sibTransId="{6D51E86B-54A7-D045-A8BA-7ADC2CFEFEEE}"/>
    <dgm:cxn modelId="{914BA571-3EFD-429D-ADF7-CB63361B70BD}" type="presOf" srcId="{32457D1D-1DF7-4813-BE3D-4A7EB076D6DD}" destId="{5C1F3FBC-96BA-9F4F-9EA1-DAE7432D5E3C}" srcOrd="0" destOrd="0" presId="urn:microsoft.com/office/officeart/2005/8/layout/target3"/>
    <dgm:cxn modelId="{5F299CED-45E9-E145-B9FC-2ABC6D53E6BF}" type="presOf" srcId="{A70A6160-FC13-2848-AED3-12D569DBABD9}" destId="{878DAEEC-84D0-1944-9838-89F9AF5AF114}" srcOrd="0" destOrd="0" presId="urn:microsoft.com/office/officeart/2005/8/layout/target3"/>
    <dgm:cxn modelId="{6D78FE59-B411-4A03-B284-C578CFC2A723}" srcId="{50457B50-2595-E94F-993C-E177E314EAD1}" destId="{32457D1D-1DF7-4813-BE3D-4A7EB076D6DD}" srcOrd="0" destOrd="0" parTransId="{DF30D5F8-02BA-4CC4-A310-6052056596A3}" sibTransId="{D3A9F7D5-03C2-47C1-979D-DD610B23ACB3}"/>
    <dgm:cxn modelId="{2854C699-79B5-434C-BEFB-49F66AF01A4E}" type="presOf" srcId="{911F3139-331A-9041-947D-2D8029CBE0EE}" destId="{9F67836C-3F36-8843-BBCE-92D425CCDC28}" srcOrd="0" destOrd="1" presId="urn:microsoft.com/office/officeart/2005/8/layout/target3"/>
    <dgm:cxn modelId="{0831772D-BBE5-1240-B42A-90CACA6F6225}" type="presOf" srcId="{A70A6160-FC13-2848-AED3-12D569DBABD9}" destId="{0D15B29A-FC1E-424A-9747-0E0CC8A6C14B}" srcOrd="1" destOrd="0" presId="urn:microsoft.com/office/officeart/2005/8/layout/target3"/>
    <dgm:cxn modelId="{4C0E6F1F-0BDF-0A47-AF91-C5822679907C}" type="presOf" srcId="{13A3E0E5-FB8F-334C-8FE5-62A44FA30DEC}" destId="{6D8D805C-8E27-5546-979C-2760A25D2E93}" srcOrd="0" destOrd="0" presId="urn:microsoft.com/office/officeart/2005/8/layout/target3"/>
    <dgm:cxn modelId="{7D4A7DF4-872E-154D-AE8F-07E2ED4B8CA2}" srcId="{13A3E0E5-FB8F-334C-8FE5-62A44FA30DEC}" destId="{A70A6160-FC13-2848-AED3-12D569DBABD9}" srcOrd="1" destOrd="0" parTransId="{86A8D559-4BE4-F946-82B7-23A4E19B377B}" sibTransId="{6A9AB68E-CE3C-1C46-BF77-B7B1A6791E53}"/>
    <dgm:cxn modelId="{8D0AF183-B5D3-514A-A693-3DF3E4222E10}" type="presOf" srcId="{78BBE99E-AE62-174F-8840-FE9100F0377A}" destId="{51514997-96B0-7948-A8A1-B4F21AD740E0}" srcOrd="0" destOrd="0" presId="urn:microsoft.com/office/officeart/2005/8/layout/target3"/>
    <dgm:cxn modelId="{C96B6C18-59CC-6C4C-B7AE-C3814D3EEC58}" srcId="{13A3E0E5-FB8F-334C-8FE5-62A44FA30DEC}" destId="{EA19E746-087D-5747-BD84-D0BDB4D1B743}" srcOrd="2" destOrd="0" parTransId="{509BE407-9AF8-1F4F-BE0E-66AD5658203E}" sibTransId="{625E866C-E9D2-A148-8FDD-3BE0CFDA96B9}"/>
    <dgm:cxn modelId="{199D0F62-8FDE-C04B-B7DD-001C96FFBF73}" type="presOf" srcId="{AFBFAF41-3241-B94E-B5EC-BF583F9BE04B}" destId="{51514997-96B0-7948-A8A1-B4F21AD740E0}" srcOrd="0" destOrd="1" presId="urn:microsoft.com/office/officeart/2005/8/layout/target3"/>
    <dgm:cxn modelId="{583FB138-40CE-864F-A1A2-B3C03CD737BB}" srcId="{13A3E0E5-FB8F-334C-8FE5-62A44FA30DEC}" destId="{50457B50-2595-E94F-993C-E177E314EAD1}" srcOrd="3" destOrd="0" parTransId="{91CC0228-9A2F-C44A-B1D9-A5008F223FA6}" sibTransId="{703DCEC5-BE7B-B844-A88E-646907E8DD42}"/>
    <dgm:cxn modelId="{E3D02617-B661-984E-A8FD-78837F464085}" srcId="{EA19E746-087D-5747-BD84-D0BDB4D1B743}" destId="{78BBE99E-AE62-174F-8840-FE9100F0377A}" srcOrd="0" destOrd="0" parTransId="{A0D81AF6-D6D6-2E44-B9F4-0468DEA92C8D}" sibTransId="{7767C167-0AE8-0445-BD5F-1A9B7BB8BEC2}"/>
    <dgm:cxn modelId="{452416F5-301B-2048-BFCC-28097B667DB1}" type="presOf" srcId="{9AFCBC0B-96A4-474E-96E6-E21053505CD4}" destId="{9F67836C-3F36-8843-BBCE-92D425CCDC28}" srcOrd="0" destOrd="2" presId="urn:microsoft.com/office/officeart/2005/8/layout/target3"/>
    <dgm:cxn modelId="{E3518208-23F7-FE47-8B93-064D11ACD622}" type="presOf" srcId="{183262AA-24DB-9D42-BA49-DFEA9DCEA11E}" destId="{9DBFECD6-8A3D-8547-8DAB-53D12B7D2327}" srcOrd="1" destOrd="0" presId="urn:microsoft.com/office/officeart/2005/8/layout/target3"/>
    <dgm:cxn modelId="{CE575017-5A7C-6847-9B3C-E9EC789A63E9}" type="presOf" srcId="{EA19E746-087D-5747-BD84-D0BDB4D1B743}" destId="{653CC4B6-86EE-DA43-B711-756C2A688905}" srcOrd="0" destOrd="0" presId="urn:microsoft.com/office/officeart/2005/8/layout/target3"/>
    <dgm:cxn modelId="{12C01CDA-3F30-2B4D-9420-9374A4913455}" srcId="{EA19E746-087D-5747-BD84-D0BDB4D1B743}" destId="{AFBFAF41-3241-B94E-B5EC-BF583F9BE04B}" srcOrd="1" destOrd="0" parTransId="{B6CC9165-E2A8-DF47-B63D-A92650E204E0}" sibTransId="{22DD4469-73CD-B949-9383-4B96151B199A}"/>
    <dgm:cxn modelId="{C6E35C7F-9695-304E-A304-65B1C2D424DA}" type="presOf" srcId="{50457B50-2595-E94F-993C-E177E314EAD1}" destId="{C5B53DDF-528D-9E4D-BA41-F8C8C0867C49}" srcOrd="0" destOrd="0" presId="urn:microsoft.com/office/officeart/2005/8/layout/target3"/>
    <dgm:cxn modelId="{E54593CB-2DF0-9E49-9142-45B03E28C977}" type="presOf" srcId="{50457B50-2595-E94F-993C-E177E314EAD1}" destId="{7DB2C070-D570-C24E-B8EC-576E04E7C5D5}" srcOrd="1" destOrd="0" presId="urn:microsoft.com/office/officeart/2005/8/layout/target3"/>
    <dgm:cxn modelId="{4E37E628-3543-8841-AD05-754D241D14D6}" type="presOf" srcId="{D421B331-5FF1-894D-BC17-510CC556518C}" destId="{9F67836C-3F36-8843-BBCE-92D425CCDC28}" srcOrd="0" destOrd="0" presId="urn:microsoft.com/office/officeart/2005/8/layout/target3"/>
    <dgm:cxn modelId="{E351E063-CBB2-5C45-88B7-5DFC7C063C58}" srcId="{13A3E0E5-FB8F-334C-8FE5-62A44FA30DEC}" destId="{183262AA-24DB-9D42-BA49-DFEA9DCEA11E}" srcOrd="0" destOrd="0" parTransId="{E1AE39EB-9D06-F54A-8B72-CF80C5205387}" sibTransId="{50F1CEAA-FF30-954B-8964-4E6B2EA0FA15}"/>
    <dgm:cxn modelId="{6BAEBFCC-D099-5549-A5AB-B2DA3478F324}" type="presParOf" srcId="{6D8D805C-8E27-5546-979C-2760A25D2E93}" destId="{25DB6DD2-519E-7446-8772-54D198A49389}" srcOrd="0" destOrd="0" presId="urn:microsoft.com/office/officeart/2005/8/layout/target3"/>
    <dgm:cxn modelId="{965AF599-0EED-F746-BD6C-C80801E57FC3}" type="presParOf" srcId="{6D8D805C-8E27-5546-979C-2760A25D2E93}" destId="{56542A31-4B1D-9F45-8815-EDDE66040362}" srcOrd="1" destOrd="0" presId="urn:microsoft.com/office/officeart/2005/8/layout/target3"/>
    <dgm:cxn modelId="{F64A5443-C7BD-3A43-AD47-6E170711ABBB}" type="presParOf" srcId="{6D8D805C-8E27-5546-979C-2760A25D2E93}" destId="{E2A66267-F3CA-834C-8E92-73974C118495}" srcOrd="2" destOrd="0" presId="urn:microsoft.com/office/officeart/2005/8/layout/target3"/>
    <dgm:cxn modelId="{9A76D587-83C8-4642-A1A8-8CA88B9FDB5D}" type="presParOf" srcId="{6D8D805C-8E27-5546-979C-2760A25D2E93}" destId="{0A4D27A1-7560-5740-BE3A-A4E5BD4614A0}" srcOrd="3" destOrd="0" presId="urn:microsoft.com/office/officeart/2005/8/layout/target3"/>
    <dgm:cxn modelId="{F03CC62C-614A-9E4B-9560-707F0A2A5F7E}" type="presParOf" srcId="{6D8D805C-8E27-5546-979C-2760A25D2E93}" destId="{0C739B3D-50AE-C948-B1FB-A51F669FD8C3}" srcOrd="4" destOrd="0" presId="urn:microsoft.com/office/officeart/2005/8/layout/target3"/>
    <dgm:cxn modelId="{DA19C3E8-A544-444F-BBBC-ED4BD3CEDC6B}" type="presParOf" srcId="{6D8D805C-8E27-5546-979C-2760A25D2E93}" destId="{878DAEEC-84D0-1944-9838-89F9AF5AF114}" srcOrd="5" destOrd="0" presId="urn:microsoft.com/office/officeart/2005/8/layout/target3"/>
    <dgm:cxn modelId="{1A17D897-2CC3-614D-8E05-9E3C725FEC26}" type="presParOf" srcId="{6D8D805C-8E27-5546-979C-2760A25D2E93}" destId="{4BBC67E4-19A9-A948-A2C9-4DFBC2C7C256}" srcOrd="6" destOrd="0" presId="urn:microsoft.com/office/officeart/2005/8/layout/target3"/>
    <dgm:cxn modelId="{AF8E2E1C-4031-3949-9DD1-D2DC1BA8948A}" type="presParOf" srcId="{6D8D805C-8E27-5546-979C-2760A25D2E93}" destId="{7D370A6D-C41B-1044-8DE0-4F85455A5416}" srcOrd="7" destOrd="0" presId="urn:microsoft.com/office/officeart/2005/8/layout/target3"/>
    <dgm:cxn modelId="{C1213226-0B34-D14E-AB60-B2ED85BE30B8}" type="presParOf" srcId="{6D8D805C-8E27-5546-979C-2760A25D2E93}" destId="{653CC4B6-86EE-DA43-B711-756C2A688905}" srcOrd="8" destOrd="0" presId="urn:microsoft.com/office/officeart/2005/8/layout/target3"/>
    <dgm:cxn modelId="{46C4F7EF-E57E-954C-B64A-86E896345325}" type="presParOf" srcId="{6D8D805C-8E27-5546-979C-2760A25D2E93}" destId="{696C117B-0E32-BE4E-9874-CF9A36F4D455}" srcOrd="9" destOrd="0" presId="urn:microsoft.com/office/officeart/2005/8/layout/target3"/>
    <dgm:cxn modelId="{AB3D7F3F-F0A3-DF47-B58C-9DA111E474BD}" type="presParOf" srcId="{6D8D805C-8E27-5546-979C-2760A25D2E93}" destId="{6AE7970F-AF50-6847-84A4-AC3F27104EDB}" srcOrd="10" destOrd="0" presId="urn:microsoft.com/office/officeart/2005/8/layout/target3"/>
    <dgm:cxn modelId="{615929F9-442E-5740-8C4B-30F1987816C9}" type="presParOf" srcId="{6D8D805C-8E27-5546-979C-2760A25D2E93}" destId="{C5B53DDF-528D-9E4D-BA41-F8C8C0867C49}" srcOrd="11" destOrd="0" presId="urn:microsoft.com/office/officeart/2005/8/layout/target3"/>
    <dgm:cxn modelId="{11805A27-0355-EA40-9665-E416E4FC1644}" type="presParOf" srcId="{6D8D805C-8E27-5546-979C-2760A25D2E93}" destId="{9DBFECD6-8A3D-8547-8DAB-53D12B7D2327}" srcOrd="12" destOrd="0" presId="urn:microsoft.com/office/officeart/2005/8/layout/target3"/>
    <dgm:cxn modelId="{B060024A-40B9-0E46-8686-91B55739A448}" type="presParOf" srcId="{6D8D805C-8E27-5546-979C-2760A25D2E93}" destId="{9F67836C-3F36-8843-BBCE-92D425CCDC28}" srcOrd="13" destOrd="0" presId="urn:microsoft.com/office/officeart/2005/8/layout/target3"/>
    <dgm:cxn modelId="{0859485A-C564-114B-A257-E1DD1597832D}" type="presParOf" srcId="{6D8D805C-8E27-5546-979C-2760A25D2E93}" destId="{0D15B29A-FC1E-424A-9747-0E0CC8A6C14B}" srcOrd="14" destOrd="0" presId="urn:microsoft.com/office/officeart/2005/8/layout/target3"/>
    <dgm:cxn modelId="{F3D17011-4FFB-7647-8CCD-E40F82C51A76}" type="presParOf" srcId="{6D8D805C-8E27-5546-979C-2760A25D2E93}" destId="{DEF3D320-B9E4-D14E-B4C6-590BF47411BC}" srcOrd="15" destOrd="0" presId="urn:microsoft.com/office/officeart/2005/8/layout/target3"/>
    <dgm:cxn modelId="{130659E2-9B03-4446-B7C1-44A4F3DF9F77}" type="presParOf" srcId="{6D8D805C-8E27-5546-979C-2760A25D2E93}" destId="{1AB44C3C-2B6E-7B4A-B079-9E44E58D790F}" srcOrd="16" destOrd="0" presId="urn:microsoft.com/office/officeart/2005/8/layout/target3"/>
    <dgm:cxn modelId="{5E00DA5B-B80E-0542-B3DF-83D69684C7E7}" type="presParOf" srcId="{6D8D805C-8E27-5546-979C-2760A25D2E93}" destId="{51514997-96B0-7948-A8A1-B4F21AD740E0}" srcOrd="17" destOrd="0" presId="urn:microsoft.com/office/officeart/2005/8/layout/target3"/>
    <dgm:cxn modelId="{326D7280-5C82-1B4E-B49A-904BCCC4ACCB}" type="presParOf" srcId="{6D8D805C-8E27-5546-979C-2760A25D2E93}" destId="{7DB2C070-D570-C24E-B8EC-576E04E7C5D5}" srcOrd="18" destOrd="0" presId="urn:microsoft.com/office/officeart/2005/8/layout/target3"/>
    <dgm:cxn modelId="{0FDB77B1-2748-6F40-94F0-D8C338D63983}" type="presParOf" srcId="{6D8D805C-8E27-5546-979C-2760A25D2E93}" destId="{5C1F3FBC-96BA-9F4F-9EA1-DAE7432D5E3C}" srcOrd="1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3614EF-03F6-EE47-A440-A5AC0974FD3C}" type="doc">
      <dgm:prSet loTypeId="urn:microsoft.com/office/officeart/2005/8/layout/default#3" loCatId="list" qsTypeId="urn:microsoft.com/office/officeart/2005/8/quickstyle/simple4" qsCatId="simple" csTypeId="urn:microsoft.com/office/officeart/2005/8/colors/accent4_2" csCatId="accent4"/>
      <dgm:spPr/>
      <dgm:t>
        <a:bodyPr/>
        <a:lstStyle/>
        <a:p>
          <a:endParaRPr lang="en-US"/>
        </a:p>
      </dgm:t>
    </dgm:pt>
    <dgm:pt modelId="{901BB6AE-E184-1A4D-9D18-55CEB75E7328}">
      <dgm:prSet/>
      <dgm:spPr/>
      <dgm:t>
        <a:bodyPr/>
        <a:lstStyle/>
        <a:p>
          <a:pPr rtl="0"/>
          <a:r>
            <a:rPr lang="en-US" dirty="0" smtClean="0">
              <a:solidFill>
                <a:schemeClr val="tx1"/>
              </a:solidFill>
              <a:effectLst/>
            </a:rPr>
            <a:t>Most important floating-point representation is defined</a:t>
          </a:r>
          <a:endParaRPr lang="en-US" dirty="0">
            <a:solidFill>
              <a:schemeClr val="tx1"/>
            </a:solidFill>
            <a:effectLst/>
          </a:endParaRPr>
        </a:p>
      </dgm:t>
    </dgm:pt>
    <dgm:pt modelId="{EF2EDADC-79B2-0F4F-BF11-DBC38EC96778}" type="parTrans" cxnId="{FA984667-1420-C24F-A598-60734572D68B}">
      <dgm:prSet/>
      <dgm:spPr/>
      <dgm:t>
        <a:bodyPr/>
        <a:lstStyle/>
        <a:p>
          <a:endParaRPr lang="en-US"/>
        </a:p>
      </dgm:t>
    </dgm:pt>
    <dgm:pt modelId="{76A0DEB8-6D26-FE40-BE21-89235B49237C}" type="sibTrans" cxnId="{FA984667-1420-C24F-A598-60734572D68B}">
      <dgm:prSet/>
      <dgm:spPr/>
      <dgm:t>
        <a:bodyPr/>
        <a:lstStyle/>
        <a:p>
          <a:endParaRPr lang="en-US"/>
        </a:p>
      </dgm:t>
    </dgm:pt>
    <dgm:pt modelId="{8C9CBDD2-9F77-3946-A5D8-212BC733031D}">
      <dgm:prSet/>
      <dgm:spPr/>
      <dgm:t>
        <a:bodyPr/>
        <a:lstStyle/>
        <a:p>
          <a:pPr rtl="0"/>
          <a:r>
            <a:rPr lang="en-US" dirty="0" smtClean="0">
              <a:solidFill>
                <a:schemeClr val="tx1"/>
              </a:solidFill>
              <a:effectLst/>
            </a:rPr>
            <a:t>Standard was developed to facilitate the portability of programs from one processor to another and to encourage the development of sophisticated, numerically oriented programs</a:t>
          </a:r>
          <a:endParaRPr lang="en-US" dirty="0">
            <a:solidFill>
              <a:schemeClr val="tx1"/>
            </a:solidFill>
            <a:effectLst/>
          </a:endParaRPr>
        </a:p>
      </dgm:t>
    </dgm:pt>
    <dgm:pt modelId="{EC651034-11C4-244E-A94D-C0B0E126DFCE}" type="parTrans" cxnId="{A3D4F033-9775-3C4D-A5CC-3614C3CD1AB5}">
      <dgm:prSet/>
      <dgm:spPr/>
      <dgm:t>
        <a:bodyPr/>
        <a:lstStyle/>
        <a:p>
          <a:endParaRPr lang="en-US"/>
        </a:p>
      </dgm:t>
    </dgm:pt>
    <dgm:pt modelId="{7B3FB2F3-C0F0-1F41-AED3-B19DFC99EE64}" type="sibTrans" cxnId="{A3D4F033-9775-3C4D-A5CC-3614C3CD1AB5}">
      <dgm:prSet/>
      <dgm:spPr/>
      <dgm:t>
        <a:bodyPr/>
        <a:lstStyle/>
        <a:p>
          <a:endParaRPr lang="en-US"/>
        </a:p>
      </dgm:t>
    </dgm:pt>
    <dgm:pt modelId="{718B7578-8128-E942-A47B-FDDD2B9C90B7}">
      <dgm:prSet/>
      <dgm:spPr/>
      <dgm:t>
        <a:bodyPr/>
        <a:lstStyle/>
        <a:p>
          <a:pPr rtl="0"/>
          <a:r>
            <a:rPr lang="en-US" dirty="0" smtClean="0">
              <a:solidFill>
                <a:schemeClr val="tx1"/>
              </a:solidFill>
              <a:effectLst/>
            </a:rPr>
            <a:t>Standard has been widely adopted and is used on virtually all contemporary processors and arithmetic coprocessors</a:t>
          </a:r>
          <a:endParaRPr lang="en-US" dirty="0">
            <a:solidFill>
              <a:schemeClr val="tx1"/>
            </a:solidFill>
            <a:effectLst/>
          </a:endParaRPr>
        </a:p>
      </dgm:t>
    </dgm:pt>
    <dgm:pt modelId="{9B983582-C974-6D40-A974-3D7073083935}" type="parTrans" cxnId="{0A94C6EC-78F0-064E-BBA9-0449A5BBB9DC}">
      <dgm:prSet/>
      <dgm:spPr/>
      <dgm:t>
        <a:bodyPr/>
        <a:lstStyle/>
        <a:p>
          <a:endParaRPr lang="en-US"/>
        </a:p>
      </dgm:t>
    </dgm:pt>
    <dgm:pt modelId="{D360FB3A-CBD4-B54A-91F7-7615D3ED8F37}" type="sibTrans" cxnId="{0A94C6EC-78F0-064E-BBA9-0449A5BBB9DC}">
      <dgm:prSet/>
      <dgm:spPr/>
      <dgm:t>
        <a:bodyPr/>
        <a:lstStyle/>
        <a:p>
          <a:endParaRPr lang="en-US"/>
        </a:p>
      </dgm:t>
    </dgm:pt>
    <dgm:pt modelId="{5B317423-2D44-BE44-8958-7DE825F1254E}">
      <dgm:prSet/>
      <dgm:spPr/>
      <dgm:t>
        <a:bodyPr/>
        <a:lstStyle/>
        <a:p>
          <a:pPr rtl="0"/>
          <a:r>
            <a:rPr lang="en-US" dirty="0" smtClean="0">
              <a:solidFill>
                <a:schemeClr val="tx1"/>
              </a:solidFill>
              <a:effectLst/>
            </a:rPr>
            <a:t>IEEE 754-2008 covers both binary and decimal floating-point representations</a:t>
          </a:r>
          <a:endParaRPr lang="en-US" dirty="0">
            <a:solidFill>
              <a:schemeClr val="tx1"/>
            </a:solidFill>
            <a:effectLst/>
          </a:endParaRPr>
        </a:p>
      </dgm:t>
    </dgm:pt>
    <dgm:pt modelId="{DD66BDED-E485-684E-B3DC-F7437A35FC31}" type="parTrans" cxnId="{4166F30E-8158-A54B-8605-49ECFAA86BBA}">
      <dgm:prSet/>
      <dgm:spPr/>
      <dgm:t>
        <a:bodyPr/>
        <a:lstStyle/>
        <a:p>
          <a:endParaRPr lang="en-US"/>
        </a:p>
      </dgm:t>
    </dgm:pt>
    <dgm:pt modelId="{CAC95F42-6898-6E4C-9496-E9DB4D89A4E6}" type="sibTrans" cxnId="{4166F30E-8158-A54B-8605-49ECFAA86BBA}">
      <dgm:prSet/>
      <dgm:spPr/>
      <dgm:t>
        <a:bodyPr/>
        <a:lstStyle/>
        <a:p>
          <a:endParaRPr lang="en-US"/>
        </a:p>
      </dgm:t>
    </dgm:pt>
    <dgm:pt modelId="{8698422B-407F-754B-81E2-91CF2C93B195}" type="pres">
      <dgm:prSet presAssocID="{A33614EF-03F6-EE47-A440-A5AC0974FD3C}" presName="diagram" presStyleCnt="0">
        <dgm:presLayoutVars>
          <dgm:dir/>
          <dgm:resizeHandles val="exact"/>
        </dgm:presLayoutVars>
      </dgm:prSet>
      <dgm:spPr/>
      <dgm:t>
        <a:bodyPr/>
        <a:lstStyle/>
        <a:p>
          <a:endParaRPr lang="en-US"/>
        </a:p>
      </dgm:t>
    </dgm:pt>
    <dgm:pt modelId="{30F114A9-6AFD-7840-B867-73BB141505F0}" type="pres">
      <dgm:prSet presAssocID="{901BB6AE-E184-1A4D-9D18-55CEB75E7328}" presName="node" presStyleLbl="node1" presStyleIdx="0" presStyleCnt="4">
        <dgm:presLayoutVars>
          <dgm:bulletEnabled val="1"/>
        </dgm:presLayoutVars>
      </dgm:prSet>
      <dgm:spPr/>
      <dgm:t>
        <a:bodyPr/>
        <a:lstStyle/>
        <a:p>
          <a:endParaRPr lang="en-US"/>
        </a:p>
      </dgm:t>
    </dgm:pt>
    <dgm:pt modelId="{BFA72092-49EF-DD4B-B5D2-45802957CC18}" type="pres">
      <dgm:prSet presAssocID="{76A0DEB8-6D26-FE40-BE21-89235B49237C}" presName="sibTrans" presStyleCnt="0"/>
      <dgm:spPr/>
      <dgm:t>
        <a:bodyPr/>
        <a:lstStyle/>
        <a:p>
          <a:endParaRPr lang="en-US"/>
        </a:p>
      </dgm:t>
    </dgm:pt>
    <dgm:pt modelId="{2BB56C0B-D45F-504A-B667-E5EEB4DA2FA3}" type="pres">
      <dgm:prSet presAssocID="{8C9CBDD2-9F77-3946-A5D8-212BC733031D}" presName="node" presStyleLbl="node1" presStyleIdx="1" presStyleCnt="4">
        <dgm:presLayoutVars>
          <dgm:bulletEnabled val="1"/>
        </dgm:presLayoutVars>
      </dgm:prSet>
      <dgm:spPr/>
      <dgm:t>
        <a:bodyPr/>
        <a:lstStyle/>
        <a:p>
          <a:endParaRPr lang="en-US"/>
        </a:p>
      </dgm:t>
    </dgm:pt>
    <dgm:pt modelId="{1E83F527-9BA7-D842-89CD-9DF677E1127E}" type="pres">
      <dgm:prSet presAssocID="{7B3FB2F3-C0F0-1F41-AED3-B19DFC99EE64}" presName="sibTrans" presStyleCnt="0"/>
      <dgm:spPr/>
      <dgm:t>
        <a:bodyPr/>
        <a:lstStyle/>
        <a:p>
          <a:endParaRPr lang="en-US"/>
        </a:p>
      </dgm:t>
    </dgm:pt>
    <dgm:pt modelId="{1C83E496-9E03-0942-932A-A7FAE46D290D}" type="pres">
      <dgm:prSet presAssocID="{718B7578-8128-E942-A47B-FDDD2B9C90B7}" presName="node" presStyleLbl="node1" presStyleIdx="2" presStyleCnt="4">
        <dgm:presLayoutVars>
          <dgm:bulletEnabled val="1"/>
        </dgm:presLayoutVars>
      </dgm:prSet>
      <dgm:spPr/>
      <dgm:t>
        <a:bodyPr/>
        <a:lstStyle/>
        <a:p>
          <a:endParaRPr lang="en-US"/>
        </a:p>
      </dgm:t>
    </dgm:pt>
    <dgm:pt modelId="{A14A6A9E-AAC7-CE46-81F9-F2FAC98C4DA4}" type="pres">
      <dgm:prSet presAssocID="{D360FB3A-CBD4-B54A-91F7-7615D3ED8F37}" presName="sibTrans" presStyleCnt="0"/>
      <dgm:spPr/>
      <dgm:t>
        <a:bodyPr/>
        <a:lstStyle/>
        <a:p>
          <a:endParaRPr lang="en-US"/>
        </a:p>
      </dgm:t>
    </dgm:pt>
    <dgm:pt modelId="{2C2182FF-AE82-0C45-9D06-7EF473AB29C4}" type="pres">
      <dgm:prSet presAssocID="{5B317423-2D44-BE44-8958-7DE825F1254E}" presName="node" presStyleLbl="node1" presStyleIdx="3" presStyleCnt="4">
        <dgm:presLayoutVars>
          <dgm:bulletEnabled val="1"/>
        </dgm:presLayoutVars>
      </dgm:prSet>
      <dgm:spPr/>
      <dgm:t>
        <a:bodyPr/>
        <a:lstStyle/>
        <a:p>
          <a:endParaRPr lang="en-US"/>
        </a:p>
      </dgm:t>
    </dgm:pt>
  </dgm:ptLst>
  <dgm:cxnLst>
    <dgm:cxn modelId="{96EB8E24-D430-5B47-ACEB-2AA2A58A8B51}" type="presOf" srcId="{718B7578-8128-E942-A47B-FDDD2B9C90B7}" destId="{1C83E496-9E03-0942-932A-A7FAE46D290D}" srcOrd="0" destOrd="0" presId="urn:microsoft.com/office/officeart/2005/8/layout/default#3"/>
    <dgm:cxn modelId="{0A94C6EC-78F0-064E-BBA9-0449A5BBB9DC}" srcId="{A33614EF-03F6-EE47-A440-A5AC0974FD3C}" destId="{718B7578-8128-E942-A47B-FDDD2B9C90B7}" srcOrd="2" destOrd="0" parTransId="{9B983582-C974-6D40-A974-3D7073083935}" sibTransId="{D360FB3A-CBD4-B54A-91F7-7615D3ED8F37}"/>
    <dgm:cxn modelId="{4166F30E-8158-A54B-8605-49ECFAA86BBA}" srcId="{A33614EF-03F6-EE47-A440-A5AC0974FD3C}" destId="{5B317423-2D44-BE44-8958-7DE825F1254E}" srcOrd="3" destOrd="0" parTransId="{DD66BDED-E485-684E-B3DC-F7437A35FC31}" sibTransId="{CAC95F42-6898-6E4C-9496-E9DB4D89A4E6}"/>
    <dgm:cxn modelId="{A3D4F033-9775-3C4D-A5CC-3614C3CD1AB5}" srcId="{A33614EF-03F6-EE47-A440-A5AC0974FD3C}" destId="{8C9CBDD2-9F77-3946-A5D8-212BC733031D}" srcOrd="1" destOrd="0" parTransId="{EC651034-11C4-244E-A94D-C0B0E126DFCE}" sibTransId="{7B3FB2F3-C0F0-1F41-AED3-B19DFC99EE64}"/>
    <dgm:cxn modelId="{C1C000CF-A70E-654D-875E-FAD5DFD1DF87}" type="presOf" srcId="{A33614EF-03F6-EE47-A440-A5AC0974FD3C}" destId="{8698422B-407F-754B-81E2-91CF2C93B195}" srcOrd="0" destOrd="0" presId="urn:microsoft.com/office/officeart/2005/8/layout/default#3"/>
    <dgm:cxn modelId="{FA984667-1420-C24F-A598-60734572D68B}" srcId="{A33614EF-03F6-EE47-A440-A5AC0974FD3C}" destId="{901BB6AE-E184-1A4D-9D18-55CEB75E7328}" srcOrd="0" destOrd="0" parTransId="{EF2EDADC-79B2-0F4F-BF11-DBC38EC96778}" sibTransId="{76A0DEB8-6D26-FE40-BE21-89235B49237C}"/>
    <dgm:cxn modelId="{F34D7FFA-18E8-3C41-B132-9F454D7F7B7C}" type="presOf" srcId="{8C9CBDD2-9F77-3946-A5D8-212BC733031D}" destId="{2BB56C0B-D45F-504A-B667-E5EEB4DA2FA3}" srcOrd="0" destOrd="0" presId="urn:microsoft.com/office/officeart/2005/8/layout/default#3"/>
    <dgm:cxn modelId="{51D493AF-640B-1243-8748-87E320641A3D}" type="presOf" srcId="{901BB6AE-E184-1A4D-9D18-55CEB75E7328}" destId="{30F114A9-6AFD-7840-B867-73BB141505F0}" srcOrd="0" destOrd="0" presId="urn:microsoft.com/office/officeart/2005/8/layout/default#3"/>
    <dgm:cxn modelId="{FE2DA194-E377-BD47-B3FE-848B13B8313F}" type="presOf" srcId="{5B317423-2D44-BE44-8958-7DE825F1254E}" destId="{2C2182FF-AE82-0C45-9D06-7EF473AB29C4}" srcOrd="0" destOrd="0" presId="urn:microsoft.com/office/officeart/2005/8/layout/default#3"/>
    <dgm:cxn modelId="{6D24371F-C188-8544-9C9A-77A4A58C29BB}" type="presParOf" srcId="{8698422B-407F-754B-81E2-91CF2C93B195}" destId="{30F114A9-6AFD-7840-B867-73BB141505F0}" srcOrd="0" destOrd="0" presId="urn:microsoft.com/office/officeart/2005/8/layout/default#3"/>
    <dgm:cxn modelId="{925448A7-90A7-1146-A763-A1D356ABA4B3}" type="presParOf" srcId="{8698422B-407F-754B-81E2-91CF2C93B195}" destId="{BFA72092-49EF-DD4B-B5D2-45802957CC18}" srcOrd="1" destOrd="0" presId="urn:microsoft.com/office/officeart/2005/8/layout/default#3"/>
    <dgm:cxn modelId="{9A80EFCD-4199-614A-9964-5A9D37DCE45E}" type="presParOf" srcId="{8698422B-407F-754B-81E2-91CF2C93B195}" destId="{2BB56C0B-D45F-504A-B667-E5EEB4DA2FA3}" srcOrd="2" destOrd="0" presId="urn:microsoft.com/office/officeart/2005/8/layout/default#3"/>
    <dgm:cxn modelId="{BCE09A99-1FC3-F148-939B-AF3DD120B686}" type="presParOf" srcId="{8698422B-407F-754B-81E2-91CF2C93B195}" destId="{1E83F527-9BA7-D842-89CD-9DF677E1127E}" srcOrd="3" destOrd="0" presId="urn:microsoft.com/office/officeart/2005/8/layout/default#3"/>
    <dgm:cxn modelId="{F57C8217-5093-6D4D-8EE2-EDB5CBE4EBB2}" type="presParOf" srcId="{8698422B-407F-754B-81E2-91CF2C93B195}" destId="{1C83E496-9E03-0942-932A-A7FAE46D290D}" srcOrd="4" destOrd="0" presId="urn:microsoft.com/office/officeart/2005/8/layout/default#3"/>
    <dgm:cxn modelId="{96C842E6-7D4C-F644-AF0E-CE0474338CB4}" type="presParOf" srcId="{8698422B-407F-754B-81E2-91CF2C93B195}" destId="{A14A6A9E-AAC7-CE46-81F9-F2FAC98C4DA4}" srcOrd="5" destOrd="0" presId="urn:microsoft.com/office/officeart/2005/8/layout/default#3"/>
    <dgm:cxn modelId="{0A97C549-00E0-4E4B-B553-807D42EEAE82}" type="presParOf" srcId="{8698422B-407F-754B-81E2-91CF2C93B195}" destId="{2C2182FF-AE82-0C45-9D06-7EF473AB29C4}" srcOrd="6" destOrd="0" presId="urn:microsoft.com/office/officeart/2005/8/layout/defaul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B6DD2-519E-7446-8772-54D198A49389}">
      <dsp:nvSpPr>
        <dsp:cNvPr id="0" name=""/>
        <dsp:cNvSpPr/>
      </dsp:nvSpPr>
      <dsp:spPr>
        <a:xfrm>
          <a:off x="0" y="0"/>
          <a:ext cx="4830762" cy="4830762"/>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E2A66267-F3CA-834C-8E92-73974C118495}">
      <dsp:nvSpPr>
        <dsp:cNvPr id="0" name=""/>
        <dsp:cNvSpPr/>
      </dsp:nvSpPr>
      <dsp:spPr>
        <a:xfrm>
          <a:off x="2415381" y="0"/>
          <a:ext cx="6119018" cy="483076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There are several alternative conventions used to represent negative as well as positive integers</a:t>
          </a:r>
          <a:endParaRPr lang="en-US" sz="1500" kern="1200" dirty="0"/>
        </a:p>
      </dsp:txBody>
      <dsp:txXfrm>
        <a:off x="2415381" y="0"/>
        <a:ext cx="3059509" cy="1026537"/>
      </dsp:txXfrm>
    </dsp:sp>
    <dsp:sp modelId="{0C739B3D-50AE-C948-B1FB-A51F669FD8C3}">
      <dsp:nvSpPr>
        <dsp:cNvPr id="0" name=""/>
        <dsp:cNvSpPr/>
      </dsp:nvSpPr>
      <dsp:spPr>
        <a:xfrm>
          <a:off x="634037" y="1026537"/>
          <a:ext cx="3562687" cy="3562687"/>
        </a:xfrm>
        <a:prstGeom prst="pie">
          <a:avLst>
            <a:gd name="adj1" fmla="val 5400000"/>
            <a:gd name="adj2" fmla="val 1620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78DAEEC-84D0-1944-9838-89F9AF5AF114}">
      <dsp:nvSpPr>
        <dsp:cNvPr id="0" name=""/>
        <dsp:cNvSpPr/>
      </dsp:nvSpPr>
      <dsp:spPr>
        <a:xfrm>
          <a:off x="2415381" y="1026537"/>
          <a:ext cx="6119018" cy="35626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Sign-magnitude representation is the simplest form that employs a sign bit</a:t>
          </a:r>
          <a:endParaRPr lang="en-US" sz="1500" kern="1200" dirty="0"/>
        </a:p>
      </dsp:txBody>
      <dsp:txXfrm>
        <a:off x="2415381" y="1026537"/>
        <a:ext cx="3059509" cy="1026537"/>
      </dsp:txXfrm>
    </dsp:sp>
    <dsp:sp modelId="{7D370A6D-C41B-1044-8DE0-4F85455A5416}">
      <dsp:nvSpPr>
        <dsp:cNvPr id="0" name=""/>
        <dsp:cNvSpPr/>
      </dsp:nvSpPr>
      <dsp:spPr>
        <a:xfrm>
          <a:off x="1268075" y="2053074"/>
          <a:ext cx="2294612" cy="2294612"/>
        </a:xfrm>
        <a:prstGeom prst="pie">
          <a:avLst>
            <a:gd name="adj1" fmla="val 5400000"/>
            <a:gd name="adj2" fmla="val 1620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53CC4B6-86EE-DA43-B711-756C2A688905}">
      <dsp:nvSpPr>
        <dsp:cNvPr id="0" name=""/>
        <dsp:cNvSpPr/>
      </dsp:nvSpPr>
      <dsp:spPr>
        <a:xfrm>
          <a:off x="2415381" y="2053074"/>
          <a:ext cx="6119018" cy="229461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Drawbacks:</a:t>
          </a:r>
          <a:endParaRPr lang="en-US" sz="1500" kern="1200" dirty="0"/>
        </a:p>
      </dsp:txBody>
      <dsp:txXfrm>
        <a:off x="2415381" y="2053074"/>
        <a:ext cx="3059509" cy="1026537"/>
      </dsp:txXfrm>
    </dsp:sp>
    <dsp:sp modelId="{6AE7970F-AF50-6847-84A4-AC3F27104EDB}">
      <dsp:nvSpPr>
        <dsp:cNvPr id="0" name=""/>
        <dsp:cNvSpPr/>
      </dsp:nvSpPr>
      <dsp:spPr>
        <a:xfrm>
          <a:off x="1902112" y="3079611"/>
          <a:ext cx="1026537" cy="1026537"/>
        </a:xfrm>
        <a:prstGeom prst="pie">
          <a:avLst>
            <a:gd name="adj1" fmla="val 5400000"/>
            <a:gd name="adj2" fmla="val 1620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C5B53DDF-528D-9E4D-BA41-F8C8C0867C49}">
      <dsp:nvSpPr>
        <dsp:cNvPr id="0" name=""/>
        <dsp:cNvSpPr/>
      </dsp:nvSpPr>
      <dsp:spPr>
        <a:xfrm>
          <a:off x="2415381" y="3079611"/>
          <a:ext cx="6119018" cy="102653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Because of these drawbacks, sign-magnitude representation is rarely used in implementing the integer portion of the ALU.</a:t>
          </a:r>
        </a:p>
      </dsp:txBody>
      <dsp:txXfrm>
        <a:off x="2415381" y="3079611"/>
        <a:ext cx="3059509" cy="1026537"/>
      </dsp:txXfrm>
    </dsp:sp>
    <dsp:sp modelId="{9F67836C-3F36-8843-BBCE-92D425CCDC28}">
      <dsp:nvSpPr>
        <dsp:cNvPr id="0" name=""/>
        <dsp:cNvSpPr/>
      </dsp:nvSpPr>
      <dsp:spPr>
        <a:xfrm>
          <a:off x="5474890" y="0"/>
          <a:ext cx="3059509" cy="1026537"/>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smtClean="0"/>
            <a:t>All of these alternatives involve treating the most significant (leftmost) bit in the word as a sign bit</a:t>
          </a:r>
          <a:endParaRPr lang="en-US" sz="1100" kern="1200" dirty="0"/>
        </a:p>
        <a:p>
          <a:pPr marL="57150" lvl="1" indent="-57150" algn="l" defTabSz="488950" rtl="0">
            <a:lnSpc>
              <a:spcPct val="90000"/>
            </a:lnSpc>
            <a:spcBef>
              <a:spcPct val="0"/>
            </a:spcBef>
            <a:spcAft>
              <a:spcPct val="15000"/>
            </a:spcAft>
            <a:buChar char="••"/>
          </a:pPr>
          <a:r>
            <a:rPr lang="en-US" sz="1100" kern="1200" dirty="0" smtClean="0"/>
            <a:t>If the sign bit is 0 the number is positive</a:t>
          </a:r>
          <a:endParaRPr lang="en-US" sz="1100" kern="1200" dirty="0"/>
        </a:p>
        <a:p>
          <a:pPr marL="57150" lvl="1" indent="-57150" algn="l" defTabSz="488950" rtl="0">
            <a:lnSpc>
              <a:spcPct val="90000"/>
            </a:lnSpc>
            <a:spcBef>
              <a:spcPct val="0"/>
            </a:spcBef>
            <a:spcAft>
              <a:spcPct val="15000"/>
            </a:spcAft>
            <a:buChar char="••"/>
          </a:pPr>
          <a:r>
            <a:rPr lang="en-US" sz="1100" kern="1200" dirty="0" smtClean="0"/>
            <a:t>If the sign bit is 1 the number is negative</a:t>
          </a:r>
          <a:endParaRPr lang="en-US" sz="1100" kern="1200" dirty="0"/>
        </a:p>
      </dsp:txBody>
      <dsp:txXfrm>
        <a:off x="5474890" y="0"/>
        <a:ext cx="3059509" cy="1026537"/>
      </dsp:txXfrm>
    </dsp:sp>
    <dsp:sp modelId="{51514997-96B0-7948-A8A1-B4F21AD740E0}">
      <dsp:nvSpPr>
        <dsp:cNvPr id="0" name=""/>
        <dsp:cNvSpPr/>
      </dsp:nvSpPr>
      <dsp:spPr>
        <a:xfrm>
          <a:off x="5474890" y="2053074"/>
          <a:ext cx="3059509" cy="1026537"/>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smtClean="0"/>
            <a:t>Addition and subtraction require a consideration of both the signs of the numbers and their relative magnitudes to carry out the required operation</a:t>
          </a:r>
          <a:endParaRPr lang="en-US" sz="1100" kern="1200" dirty="0"/>
        </a:p>
        <a:p>
          <a:pPr marL="57150" lvl="1" indent="-57150" algn="l" defTabSz="488950" rtl="0">
            <a:lnSpc>
              <a:spcPct val="90000"/>
            </a:lnSpc>
            <a:spcBef>
              <a:spcPct val="0"/>
            </a:spcBef>
            <a:spcAft>
              <a:spcPct val="15000"/>
            </a:spcAft>
            <a:buChar char="••"/>
          </a:pPr>
          <a:r>
            <a:rPr lang="en-US" sz="1100" kern="1200" dirty="0" smtClean="0"/>
            <a:t>There are two representations of 0</a:t>
          </a:r>
          <a:endParaRPr lang="en-US" sz="1100" kern="1200" dirty="0"/>
        </a:p>
      </dsp:txBody>
      <dsp:txXfrm>
        <a:off x="5474890" y="2053074"/>
        <a:ext cx="3059509" cy="1026537"/>
      </dsp:txXfrm>
    </dsp:sp>
    <dsp:sp modelId="{5C1F3FBC-96BA-9F4F-9EA1-DAE7432D5E3C}">
      <dsp:nvSpPr>
        <dsp:cNvPr id="0" name=""/>
        <dsp:cNvSpPr/>
      </dsp:nvSpPr>
      <dsp:spPr>
        <a:xfrm>
          <a:off x="5474890" y="3079611"/>
          <a:ext cx="3059509" cy="1026537"/>
        </a:xfrm>
        <a:prstGeom prst="rect">
          <a:avLst/>
        </a:prstGeom>
        <a:noFill/>
        <a:ln w="12700"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rtl="0">
            <a:lnSpc>
              <a:spcPct val="90000"/>
            </a:lnSpc>
            <a:spcBef>
              <a:spcPct val="0"/>
            </a:spcBef>
            <a:spcAft>
              <a:spcPct val="15000"/>
            </a:spcAft>
            <a:buChar char="••"/>
          </a:pPr>
          <a:r>
            <a:rPr lang="en-US" sz="1100" kern="1200" dirty="0" smtClean="0"/>
            <a:t>Instead the most common scheme is </a:t>
          </a:r>
          <a:r>
            <a:rPr lang="en-US" sz="1100" b="1" kern="1200" dirty="0" smtClean="0"/>
            <a:t>twos complement representation.</a:t>
          </a:r>
          <a:endParaRPr lang="en-US" sz="1100" b="1" kern="1200" dirty="0"/>
        </a:p>
      </dsp:txBody>
      <dsp:txXfrm>
        <a:off x="5474890" y="3079611"/>
        <a:ext cx="3059509" cy="10265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F114A9-6AFD-7840-B867-73BB141505F0}">
      <dsp:nvSpPr>
        <dsp:cNvPr id="0" name=""/>
        <dsp:cNvSpPr/>
      </dsp:nvSpPr>
      <dsp:spPr>
        <a:xfrm>
          <a:off x="109444" y="2437"/>
          <a:ext cx="3923481" cy="2354088"/>
        </a:xfrm>
        <a:prstGeom prst="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solidFill>
                <a:schemeClr val="tx1"/>
              </a:solidFill>
              <a:effectLst/>
            </a:rPr>
            <a:t>Most important floating-point representation is defined</a:t>
          </a:r>
          <a:endParaRPr lang="en-US" sz="2200" kern="1200" dirty="0">
            <a:solidFill>
              <a:schemeClr val="tx1"/>
            </a:solidFill>
            <a:effectLst/>
          </a:endParaRPr>
        </a:p>
      </dsp:txBody>
      <dsp:txXfrm>
        <a:off x="109444" y="2437"/>
        <a:ext cx="3923481" cy="2354088"/>
      </dsp:txXfrm>
    </dsp:sp>
    <dsp:sp modelId="{2BB56C0B-D45F-504A-B667-E5EEB4DA2FA3}">
      <dsp:nvSpPr>
        <dsp:cNvPr id="0" name=""/>
        <dsp:cNvSpPr/>
      </dsp:nvSpPr>
      <dsp:spPr>
        <a:xfrm>
          <a:off x="4425274" y="2437"/>
          <a:ext cx="3923481" cy="2354088"/>
        </a:xfrm>
        <a:prstGeom prst="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solidFill>
                <a:schemeClr val="tx1"/>
              </a:solidFill>
              <a:effectLst/>
            </a:rPr>
            <a:t>Standard was developed to facilitate the portability of programs from one processor to another and to encourage the development of sophisticated, numerically oriented programs</a:t>
          </a:r>
          <a:endParaRPr lang="en-US" sz="2200" kern="1200" dirty="0">
            <a:solidFill>
              <a:schemeClr val="tx1"/>
            </a:solidFill>
            <a:effectLst/>
          </a:endParaRPr>
        </a:p>
      </dsp:txBody>
      <dsp:txXfrm>
        <a:off x="4425274" y="2437"/>
        <a:ext cx="3923481" cy="2354088"/>
      </dsp:txXfrm>
    </dsp:sp>
    <dsp:sp modelId="{1C83E496-9E03-0942-932A-A7FAE46D290D}">
      <dsp:nvSpPr>
        <dsp:cNvPr id="0" name=""/>
        <dsp:cNvSpPr/>
      </dsp:nvSpPr>
      <dsp:spPr>
        <a:xfrm>
          <a:off x="109444" y="2748874"/>
          <a:ext cx="3923481" cy="2354088"/>
        </a:xfrm>
        <a:prstGeom prst="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solidFill>
                <a:schemeClr val="tx1"/>
              </a:solidFill>
              <a:effectLst/>
            </a:rPr>
            <a:t>Standard has been widely adopted and is used on virtually all contemporary processors and arithmetic coprocessors</a:t>
          </a:r>
          <a:endParaRPr lang="en-US" sz="2200" kern="1200" dirty="0">
            <a:solidFill>
              <a:schemeClr val="tx1"/>
            </a:solidFill>
            <a:effectLst/>
          </a:endParaRPr>
        </a:p>
      </dsp:txBody>
      <dsp:txXfrm>
        <a:off x="109444" y="2748874"/>
        <a:ext cx="3923481" cy="2354088"/>
      </dsp:txXfrm>
    </dsp:sp>
    <dsp:sp modelId="{2C2182FF-AE82-0C45-9D06-7EF473AB29C4}">
      <dsp:nvSpPr>
        <dsp:cNvPr id="0" name=""/>
        <dsp:cNvSpPr/>
      </dsp:nvSpPr>
      <dsp:spPr>
        <a:xfrm>
          <a:off x="4425274" y="2748874"/>
          <a:ext cx="3923481" cy="2354088"/>
        </a:xfrm>
        <a:prstGeom prst="rect">
          <a:avLst/>
        </a:prstGeom>
        <a:gradFill rotWithShape="0">
          <a:gsLst>
            <a:gs pos="0">
              <a:schemeClr val="accent4">
                <a:hueOff val="0"/>
                <a:satOff val="0"/>
                <a:lumOff val="0"/>
                <a:alphaOff val="0"/>
                <a:shade val="40000"/>
                <a:alpha val="100000"/>
                <a:satMod val="150000"/>
                <a:lumMod val="100000"/>
              </a:schemeClr>
            </a:gs>
            <a:gs pos="100000">
              <a:schemeClr val="accent4">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solidFill>
                <a:schemeClr val="tx1"/>
              </a:solidFill>
              <a:effectLst/>
            </a:rPr>
            <a:t>IEEE 754-2008 covers both binary and decimal floating-point representations</a:t>
          </a:r>
          <a:endParaRPr lang="en-US" sz="2200" kern="1200" dirty="0">
            <a:solidFill>
              <a:schemeClr val="tx1"/>
            </a:solidFill>
            <a:effectLst/>
          </a:endParaRPr>
        </a:p>
      </dsp:txBody>
      <dsp:txXfrm>
        <a:off x="4425274" y="2748874"/>
        <a:ext cx="3923481" cy="2354088"/>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716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716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dirty="0" smtClean="0"/>
              <a:t>© 2016 Pearson Education, Inc., Hoboken, NJ. All rights reserved.</a:t>
            </a:r>
            <a:endParaRPr lang="en-US" dirty="0"/>
          </a:p>
        </p:txBody>
      </p:sp>
      <p:sp>
        <p:nvSpPr>
          <p:cNvPr id="716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A3822172-E39A-944B-933D-3AEB13A92A8B}" type="slidenum">
              <a:rPr lang="en-US"/>
              <a:pPr/>
              <a:t>‹#›</a:t>
            </a:fld>
            <a:endParaRPr lang="en-US" dirty="0"/>
          </a:p>
        </p:txBody>
      </p:sp>
    </p:spTree>
    <p:extLst>
      <p:ext uri="{BB962C8B-B14F-4D97-AF65-F5344CB8AC3E}">
        <p14:creationId xmlns:p14="http://schemas.microsoft.com/office/powerpoint/2010/main" val="134474853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7065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7066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066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dirty="0" smtClean="0"/>
              <a:t>© 2016 Pearson Education, Inc., Hoboken, NJ. All rights reserved.</a:t>
            </a:r>
            <a:endParaRPr lang="en-US" dirty="0"/>
          </a:p>
        </p:txBody>
      </p:sp>
      <p:sp>
        <p:nvSpPr>
          <p:cNvPr id="7066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C8AE27EA-A634-9140-BAF9-5BB17D98E520}" type="slidenum">
              <a:rPr lang="en-US"/>
              <a:pPr/>
              <a:t>‹#›</a:t>
            </a:fld>
            <a:endParaRPr lang="en-US" dirty="0"/>
          </a:p>
        </p:txBody>
      </p:sp>
    </p:spTree>
    <p:extLst>
      <p:ext uri="{BB962C8B-B14F-4D97-AF65-F5344CB8AC3E}">
        <p14:creationId xmlns:p14="http://schemas.microsoft.com/office/powerpoint/2010/main" val="164106337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10/e, by William Stallings, Chapter 10 “Computer</a:t>
            </a:r>
            <a:r>
              <a:rPr lang="en-US" baseline="0" dirty="0" smtClean="0">
                <a:latin typeface="Times New Roman" pitchFamily="-110" charset="0"/>
              </a:rPr>
              <a:t> Arithmetic</a:t>
            </a:r>
            <a:r>
              <a:rPr lang="en-US" dirty="0" smtClean="0">
                <a:latin typeface="Times New Roman" pitchFamily="-110" charset="0"/>
              </a:rPr>
              <a:t>”.</a:t>
            </a:r>
            <a:endParaRPr lang="en-AU" dirty="0" smtClean="0">
              <a:latin typeface="Times New Roman" pitchFamily="-110" charset="0"/>
            </a:endParaRPr>
          </a:p>
          <a:p>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We begin our examination of the processor with an overview of the arithmetic and</a:t>
            </a:r>
          </a:p>
          <a:p>
            <a:r>
              <a:rPr lang="en-US" sz="1200" kern="1200" baseline="0" dirty="0" smtClean="0">
                <a:solidFill>
                  <a:schemeClr val="tx1"/>
                </a:solidFill>
                <a:latin typeface="Times New Roman" pitchFamily="-110" charset="0"/>
                <a:ea typeface="+mn-ea"/>
                <a:cs typeface="+mn-cs"/>
              </a:rPr>
              <a:t>logic unit (ALU). The chapter then focuses on the most complex aspect of the ALU,</a:t>
            </a:r>
          </a:p>
          <a:p>
            <a:r>
              <a:rPr lang="en-US" sz="1200" kern="1200" baseline="0" dirty="0" smtClean="0">
                <a:solidFill>
                  <a:schemeClr val="tx1"/>
                </a:solidFill>
                <a:latin typeface="Times New Roman" pitchFamily="-110" charset="0"/>
                <a:ea typeface="+mn-ea"/>
                <a:cs typeface="+mn-cs"/>
              </a:rPr>
              <a:t>computer arithmetic. The logic functions that are part of the ALU are described in</a:t>
            </a:r>
          </a:p>
          <a:p>
            <a:r>
              <a:rPr lang="en-US" sz="1200" kern="1200" baseline="0" dirty="0" smtClean="0">
                <a:solidFill>
                  <a:schemeClr val="tx1"/>
                </a:solidFill>
                <a:latin typeface="Times New Roman" pitchFamily="-110" charset="0"/>
                <a:ea typeface="+mn-ea"/>
                <a:cs typeface="+mn-cs"/>
              </a:rPr>
              <a:t>Chapter 12, and implementations of simple logic and arithmetic functions in digital</a:t>
            </a:r>
          </a:p>
          <a:p>
            <a:r>
              <a:rPr lang="en-US" sz="1200" kern="1200" baseline="0" dirty="0" smtClean="0">
                <a:solidFill>
                  <a:schemeClr val="tx1"/>
                </a:solidFill>
                <a:latin typeface="Times New Roman" pitchFamily="-110" charset="0"/>
                <a:ea typeface="+mn-ea"/>
                <a:cs typeface="+mn-cs"/>
              </a:rPr>
              <a:t>logic are described in Chapter 11.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Computer arithmetic is commonly performed on two very different types of</a:t>
            </a:r>
          </a:p>
          <a:p>
            <a:r>
              <a:rPr lang="en-US" sz="1200" kern="1200" baseline="0" dirty="0" smtClean="0">
                <a:solidFill>
                  <a:schemeClr val="tx1"/>
                </a:solidFill>
                <a:latin typeface="Times New Roman" pitchFamily="-110" charset="0"/>
                <a:ea typeface="+mn-ea"/>
                <a:cs typeface="+mn-cs"/>
              </a:rPr>
              <a:t>numbers: integer and floating point. In both cases, the representation chosen is a crucial</a:t>
            </a:r>
          </a:p>
          <a:p>
            <a:r>
              <a:rPr lang="en-US" sz="1200" kern="1200" baseline="0" dirty="0" smtClean="0">
                <a:solidFill>
                  <a:schemeClr val="tx1"/>
                </a:solidFill>
                <a:latin typeface="Times New Roman" pitchFamily="-110" charset="0"/>
                <a:ea typeface="+mn-ea"/>
                <a:cs typeface="+mn-cs"/>
              </a:rPr>
              <a:t>design issue and is treated first, followed by a discussion of arithmetic operations.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This chapter includes a number of examples, each of which is highlighted in a</a:t>
            </a:r>
          </a:p>
          <a:p>
            <a:r>
              <a:rPr lang="en-US" sz="1200" kern="1200" baseline="0" dirty="0" smtClean="0">
                <a:solidFill>
                  <a:schemeClr val="tx1"/>
                </a:solidFill>
                <a:latin typeface="Times New Roman" pitchFamily="-110" charset="0"/>
                <a:ea typeface="+mn-ea"/>
                <a:cs typeface="+mn-cs"/>
              </a:rPr>
              <a:t>shaded box.</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5C514E-DDFD-0E4A-B3F8-829B0E7F37A1}" type="slidenum">
              <a:rPr lang="en-US"/>
              <a:pPr/>
              <a:t>3</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 ALU is that part of the computer that actually performs arithmetic and logical</a:t>
            </a:r>
          </a:p>
          <a:p>
            <a:r>
              <a:rPr lang="en-US" sz="1200" kern="1200" baseline="0" dirty="0" smtClean="0">
                <a:solidFill>
                  <a:schemeClr val="tx1"/>
                </a:solidFill>
                <a:latin typeface="Times New Roman" pitchFamily="-110" charset="0"/>
                <a:ea typeface="+mn-ea"/>
                <a:cs typeface="+mn-cs"/>
              </a:rPr>
              <a:t>operations on data. All of the other elements of the computer system—control unit,</a:t>
            </a:r>
          </a:p>
          <a:p>
            <a:r>
              <a:rPr lang="en-US" sz="1200" kern="1200" baseline="0" dirty="0" smtClean="0">
                <a:solidFill>
                  <a:schemeClr val="tx1"/>
                </a:solidFill>
                <a:latin typeface="Times New Roman" pitchFamily="-110" charset="0"/>
                <a:ea typeface="+mn-ea"/>
                <a:cs typeface="+mn-cs"/>
              </a:rPr>
              <a:t>registers, memory, I/O—are there mainly to bring data into the ALU for it to process</a:t>
            </a:r>
          </a:p>
          <a:p>
            <a:r>
              <a:rPr lang="en-US" sz="1200" kern="1200" baseline="0" dirty="0" smtClean="0">
                <a:solidFill>
                  <a:schemeClr val="tx1"/>
                </a:solidFill>
                <a:latin typeface="Times New Roman" pitchFamily="-110" charset="0"/>
                <a:ea typeface="+mn-ea"/>
                <a:cs typeface="+mn-cs"/>
              </a:rPr>
              <a:t>and then to take the results back out. We have, in a sense, reached the core or</a:t>
            </a:r>
          </a:p>
          <a:p>
            <a:r>
              <a:rPr lang="en-US" sz="1200" kern="1200" baseline="0" dirty="0" smtClean="0">
                <a:solidFill>
                  <a:schemeClr val="tx1"/>
                </a:solidFill>
                <a:latin typeface="Times New Roman" pitchFamily="-110" charset="0"/>
                <a:ea typeface="+mn-ea"/>
                <a:cs typeface="+mn-cs"/>
              </a:rPr>
              <a:t>essence of a computer when we consider the ALU.</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An ALU and, indeed, all electronic components in the computer are based on</a:t>
            </a:r>
          </a:p>
          <a:p>
            <a:r>
              <a:rPr lang="en-US" sz="1200" kern="1200" baseline="0" dirty="0" smtClean="0">
                <a:solidFill>
                  <a:schemeClr val="tx1"/>
                </a:solidFill>
                <a:latin typeface="Times New Roman" pitchFamily="-110" charset="0"/>
                <a:ea typeface="+mn-ea"/>
                <a:cs typeface="+mn-cs"/>
              </a:rPr>
              <a:t>the use of simple digital logic devices that can store binary digits and perform simple</a:t>
            </a:r>
          </a:p>
          <a:p>
            <a:r>
              <a:rPr lang="en-US" sz="1200" kern="1200" baseline="0" dirty="0" smtClean="0">
                <a:solidFill>
                  <a:schemeClr val="tx1"/>
                </a:solidFill>
                <a:latin typeface="Times New Roman" pitchFamily="-110" charset="0"/>
                <a:ea typeface="+mn-ea"/>
                <a:cs typeface="+mn-cs"/>
              </a:rPr>
              <a:t>Boolean logic operations.</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5C514E-DDFD-0E4A-B3F8-829B0E7F37A1}" type="slidenum">
              <a:rPr lang="en-US"/>
              <a:pPr/>
              <a:t>4</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 ALU is that part of the computer that actually performs arithmetic and logical</a:t>
            </a:r>
          </a:p>
          <a:p>
            <a:r>
              <a:rPr lang="en-US" sz="1200" kern="1200" baseline="0" dirty="0" smtClean="0">
                <a:solidFill>
                  <a:schemeClr val="tx1"/>
                </a:solidFill>
                <a:latin typeface="Times New Roman" pitchFamily="-110" charset="0"/>
                <a:ea typeface="+mn-ea"/>
                <a:cs typeface="+mn-cs"/>
              </a:rPr>
              <a:t>operations on data. All of the other elements of the computer system—control unit,</a:t>
            </a:r>
          </a:p>
          <a:p>
            <a:r>
              <a:rPr lang="en-US" sz="1200" kern="1200" baseline="0" dirty="0" smtClean="0">
                <a:solidFill>
                  <a:schemeClr val="tx1"/>
                </a:solidFill>
                <a:latin typeface="Times New Roman" pitchFamily="-110" charset="0"/>
                <a:ea typeface="+mn-ea"/>
                <a:cs typeface="+mn-cs"/>
              </a:rPr>
              <a:t>registers, memory, I/O—are there mainly to bring data into the ALU for it to process</a:t>
            </a:r>
          </a:p>
          <a:p>
            <a:r>
              <a:rPr lang="en-US" sz="1200" kern="1200" baseline="0" dirty="0" smtClean="0">
                <a:solidFill>
                  <a:schemeClr val="tx1"/>
                </a:solidFill>
                <a:latin typeface="Times New Roman" pitchFamily="-110" charset="0"/>
                <a:ea typeface="+mn-ea"/>
                <a:cs typeface="+mn-cs"/>
              </a:rPr>
              <a:t>and then to take the results back out. We have, in a sense, reached the core or</a:t>
            </a:r>
          </a:p>
          <a:p>
            <a:r>
              <a:rPr lang="en-US" sz="1200" kern="1200" baseline="0" dirty="0" smtClean="0">
                <a:solidFill>
                  <a:schemeClr val="tx1"/>
                </a:solidFill>
                <a:latin typeface="Times New Roman" pitchFamily="-110" charset="0"/>
                <a:ea typeface="+mn-ea"/>
                <a:cs typeface="+mn-cs"/>
              </a:rPr>
              <a:t>essence of a computer when we consider the ALU.</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An ALU and, indeed, all electronic components in the computer are based on</a:t>
            </a:r>
          </a:p>
          <a:p>
            <a:r>
              <a:rPr lang="en-US" sz="1200" kern="1200" baseline="0" dirty="0" smtClean="0">
                <a:solidFill>
                  <a:schemeClr val="tx1"/>
                </a:solidFill>
                <a:latin typeface="Times New Roman" pitchFamily="-110" charset="0"/>
                <a:ea typeface="+mn-ea"/>
                <a:cs typeface="+mn-cs"/>
              </a:rPr>
              <a:t>the use of simple digital logic devices that can store binary digits and perform simple</a:t>
            </a:r>
          </a:p>
          <a:p>
            <a:r>
              <a:rPr lang="en-US" sz="1200" kern="1200" baseline="0" dirty="0" smtClean="0">
                <a:solidFill>
                  <a:schemeClr val="tx1"/>
                </a:solidFill>
                <a:latin typeface="Times New Roman" pitchFamily="-110" charset="0"/>
                <a:ea typeface="+mn-ea"/>
                <a:cs typeface="+mn-cs"/>
              </a:rPr>
              <a:t>Boolean logic operations.</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extLst>
      <p:ext uri="{BB962C8B-B14F-4D97-AF65-F5344CB8AC3E}">
        <p14:creationId xmlns:p14="http://schemas.microsoft.com/office/powerpoint/2010/main" val="1899476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051D3E-919C-AB48-B297-5EAA28E5280B}" type="slidenum">
              <a:rPr lang="en-US"/>
              <a:pPr/>
              <a:t>5</a:t>
            </a:fld>
            <a:endParaRPr lang="en-US" dirty="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Figure 10.1 indicates, in general terms, how the ALU is interconnected with</a:t>
            </a:r>
          </a:p>
          <a:p>
            <a:r>
              <a:rPr lang="en-US" sz="1200" kern="1200" baseline="0" dirty="0" smtClean="0">
                <a:solidFill>
                  <a:schemeClr val="tx1"/>
                </a:solidFill>
                <a:latin typeface="Times New Roman" pitchFamily="-110" charset="0"/>
                <a:ea typeface="+mn-ea"/>
                <a:cs typeface="+mn-cs"/>
              </a:rPr>
              <a:t>the rest of the processor. Operands for arithmetic and logic operations are presented</a:t>
            </a:r>
          </a:p>
          <a:p>
            <a:r>
              <a:rPr lang="en-US" sz="1200" kern="1200" baseline="0" dirty="0" smtClean="0">
                <a:solidFill>
                  <a:schemeClr val="tx1"/>
                </a:solidFill>
                <a:latin typeface="Times New Roman" pitchFamily="-110" charset="0"/>
                <a:ea typeface="+mn-ea"/>
                <a:cs typeface="+mn-cs"/>
              </a:rPr>
              <a:t>to the ALU in registers, and the results of an operation are stored in registers.</a:t>
            </a:r>
          </a:p>
          <a:p>
            <a:r>
              <a:rPr lang="en-US" sz="1200" kern="1200" baseline="0" dirty="0" smtClean="0">
                <a:solidFill>
                  <a:schemeClr val="tx1"/>
                </a:solidFill>
                <a:latin typeface="Times New Roman" pitchFamily="-110" charset="0"/>
                <a:ea typeface="+mn-ea"/>
                <a:cs typeface="+mn-cs"/>
              </a:rPr>
              <a:t>These registers are temporary storage locations within the processor that are</a:t>
            </a:r>
          </a:p>
          <a:p>
            <a:r>
              <a:rPr lang="en-US" sz="1200" kern="1200" baseline="0" dirty="0" smtClean="0">
                <a:solidFill>
                  <a:schemeClr val="tx1"/>
                </a:solidFill>
                <a:latin typeface="Times New Roman" pitchFamily="-110" charset="0"/>
                <a:ea typeface="+mn-ea"/>
                <a:cs typeface="+mn-cs"/>
              </a:rPr>
              <a:t>connected by signal paths to the ALU (e.g., see Figure 2.3). The ALU may also set</a:t>
            </a:r>
          </a:p>
          <a:p>
            <a:r>
              <a:rPr lang="en-US" sz="1200" kern="1200" baseline="0" dirty="0" smtClean="0">
                <a:solidFill>
                  <a:schemeClr val="tx1"/>
                </a:solidFill>
                <a:latin typeface="Times New Roman" pitchFamily="-110" charset="0"/>
                <a:ea typeface="+mn-ea"/>
                <a:cs typeface="+mn-cs"/>
              </a:rPr>
              <a:t>flags as the result of an operation. For example, an overflow flag is set to 1 if the</a:t>
            </a:r>
          </a:p>
          <a:p>
            <a:r>
              <a:rPr lang="en-US" sz="1200" kern="1200" baseline="0" dirty="0" smtClean="0">
                <a:solidFill>
                  <a:schemeClr val="tx1"/>
                </a:solidFill>
                <a:latin typeface="Times New Roman" pitchFamily="-110" charset="0"/>
                <a:ea typeface="+mn-ea"/>
                <a:cs typeface="+mn-cs"/>
              </a:rPr>
              <a:t>result of a computation exceeds the length of the register into which it is to be stored.</a:t>
            </a:r>
          </a:p>
          <a:p>
            <a:r>
              <a:rPr lang="en-US" sz="1200" kern="1200" baseline="0" dirty="0" smtClean="0">
                <a:solidFill>
                  <a:schemeClr val="tx1"/>
                </a:solidFill>
                <a:latin typeface="Times New Roman" pitchFamily="-110" charset="0"/>
                <a:ea typeface="+mn-ea"/>
                <a:cs typeface="+mn-cs"/>
              </a:rPr>
              <a:t>The flag values are also stored in registers within the processor. The processor</a:t>
            </a:r>
          </a:p>
          <a:p>
            <a:r>
              <a:rPr lang="en-US" sz="1200" kern="1200" baseline="0" dirty="0" smtClean="0">
                <a:solidFill>
                  <a:schemeClr val="tx1"/>
                </a:solidFill>
                <a:latin typeface="Times New Roman" pitchFamily="-110" charset="0"/>
                <a:ea typeface="+mn-ea"/>
                <a:cs typeface="+mn-cs"/>
              </a:rPr>
              <a:t>provides signals that control the operation of the ALU and the movement of the</a:t>
            </a:r>
          </a:p>
          <a:p>
            <a:r>
              <a:rPr lang="en-US" sz="1200" kern="1200" baseline="0" dirty="0" smtClean="0">
                <a:solidFill>
                  <a:schemeClr val="tx1"/>
                </a:solidFill>
                <a:latin typeface="Times New Roman" pitchFamily="-110" charset="0"/>
                <a:ea typeface="+mn-ea"/>
                <a:cs typeface="+mn-cs"/>
              </a:rPr>
              <a:t>data into and out of the ALU.</a:t>
            </a:r>
          </a:p>
          <a:p>
            <a:endParaRPr lang="en-US" sz="1200"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The flag values are also stored in registers within the processor. The processor provides</a:t>
            </a:r>
          </a:p>
          <a:p>
            <a:r>
              <a:rPr lang="en-US" sz="1200" b="0" i="0" u="none" strike="noStrike" kern="1200" baseline="0" dirty="0" smtClean="0">
                <a:solidFill>
                  <a:schemeClr val="tx1"/>
                </a:solidFill>
                <a:latin typeface="Times New Roman" pitchFamily="-110" charset="0"/>
                <a:ea typeface="+mn-ea"/>
                <a:cs typeface="+mn-cs"/>
              </a:rPr>
              <a:t>signals that control the operation of the ALU and the movement of the data</a:t>
            </a:r>
          </a:p>
          <a:p>
            <a:r>
              <a:rPr lang="en-US" sz="1200" b="0" i="0" u="none" strike="noStrike" kern="1200" baseline="0" dirty="0" smtClean="0">
                <a:solidFill>
                  <a:schemeClr val="tx1"/>
                </a:solidFill>
                <a:latin typeface="Times New Roman" pitchFamily="-110" charset="0"/>
                <a:ea typeface="+mn-ea"/>
                <a:cs typeface="+mn-cs"/>
              </a:rPr>
              <a:t>into and out of the ALU.</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8403C2-765D-404C-AB4A-99BCCA5A6DC8}" type="slidenum">
              <a:rPr lang="en-US"/>
              <a:pPr/>
              <a:t>6</a:t>
            </a:fld>
            <a:endParaRPr lang="en-US" dirty="0"/>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110" charset="0"/>
                <a:ea typeface="+mn-ea"/>
                <a:cs typeface="+mn-cs"/>
              </a:rPr>
              <a:t>Figure 1.6 shows the general structure of the IAS computer (compare with Figure 1.1).</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It consists of</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 </a:t>
            </a:r>
            <a:r>
              <a:rPr kumimoji="1" lang="en-US" sz="1200" b="1" kern="1200" baseline="0" dirty="0" smtClean="0">
                <a:solidFill>
                  <a:schemeClr val="tx1"/>
                </a:solidFill>
                <a:latin typeface="Times New Roman" pitchFamily="-110" charset="0"/>
                <a:ea typeface="+mn-ea"/>
                <a:cs typeface="+mn-cs"/>
              </a:rPr>
              <a:t>main memory, </a:t>
            </a:r>
            <a:r>
              <a:rPr kumimoji="1" lang="en-US" sz="1200" b="0" kern="1200" baseline="0" dirty="0" smtClean="0">
                <a:solidFill>
                  <a:schemeClr val="tx1"/>
                </a:solidFill>
                <a:latin typeface="Times New Roman" pitchFamily="-110" charset="0"/>
                <a:ea typeface="+mn-ea"/>
                <a:cs typeface="+mn-cs"/>
              </a:rPr>
              <a:t>which stores both data and instructions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An </a:t>
            </a:r>
            <a:r>
              <a:rPr kumimoji="1" lang="en-US" sz="1200" b="1" kern="1200" baseline="0" dirty="0" smtClean="0">
                <a:solidFill>
                  <a:schemeClr val="tx1"/>
                </a:solidFill>
                <a:latin typeface="Times New Roman" pitchFamily="-110" charset="0"/>
                <a:ea typeface="+mn-ea"/>
                <a:cs typeface="+mn-cs"/>
              </a:rPr>
              <a:t>arithmetic and logic unit (ALU) </a:t>
            </a:r>
            <a:r>
              <a:rPr kumimoji="1" lang="en-US" sz="1200" b="0" kern="1200" baseline="0" dirty="0" smtClean="0">
                <a:solidFill>
                  <a:schemeClr val="tx1"/>
                </a:solidFill>
                <a:latin typeface="Times New Roman" pitchFamily="-110" charset="0"/>
                <a:ea typeface="+mn-ea"/>
                <a:cs typeface="+mn-cs"/>
              </a:rPr>
              <a:t>capable of operating on binary data</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 </a:t>
            </a:r>
            <a:r>
              <a:rPr kumimoji="1" lang="en-US" sz="1200" b="1" kern="1200" baseline="0" dirty="0" smtClean="0">
                <a:solidFill>
                  <a:schemeClr val="tx1"/>
                </a:solidFill>
                <a:latin typeface="Times New Roman" pitchFamily="-110" charset="0"/>
                <a:ea typeface="+mn-ea"/>
                <a:cs typeface="+mn-cs"/>
              </a:rPr>
              <a:t>control unit, </a:t>
            </a:r>
            <a:r>
              <a:rPr kumimoji="1" lang="en-US" sz="1200" b="0" kern="1200" baseline="0" dirty="0" smtClean="0">
                <a:solidFill>
                  <a:schemeClr val="tx1"/>
                </a:solidFill>
                <a:latin typeface="Times New Roman" pitchFamily="-110" charset="0"/>
                <a:ea typeface="+mn-ea"/>
                <a:cs typeface="+mn-cs"/>
              </a:rPr>
              <a:t>which interprets the instructions in memory and causes them</a:t>
            </a:r>
          </a:p>
          <a:p>
            <a:r>
              <a:rPr kumimoji="1" lang="en-US" sz="1200" kern="1200" baseline="0" dirty="0" smtClean="0">
                <a:solidFill>
                  <a:schemeClr val="tx1"/>
                </a:solidFill>
                <a:latin typeface="Times New Roman" pitchFamily="-110" charset="0"/>
                <a:ea typeface="+mn-ea"/>
                <a:cs typeface="+mn-cs"/>
              </a:rPr>
              <a:t>to be executed</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 </a:t>
            </a:r>
            <a:r>
              <a:rPr kumimoji="1" lang="en-US" sz="1200" b="1" kern="1200" baseline="0" dirty="0" smtClean="0">
                <a:solidFill>
                  <a:schemeClr val="tx1"/>
                </a:solidFill>
                <a:latin typeface="Times New Roman" pitchFamily="-110" charset="0"/>
                <a:ea typeface="+mn-ea"/>
                <a:cs typeface="+mn-cs"/>
              </a:rPr>
              <a:t>Input/output (I/O) </a:t>
            </a:r>
            <a:r>
              <a:rPr kumimoji="1" lang="en-US" sz="1200" b="0" kern="1200" baseline="0" dirty="0" smtClean="0">
                <a:solidFill>
                  <a:schemeClr val="tx1"/>
                </a:solidFill>
                <a:latin typeface="Times New Roman" pitchFamily="-110" charset="0"/>
                <a:ea typeface="+mn-ea"/>
                <a:cs typeface="+mn-cs"/>
              </a:rPr>
              <a:t>equipment operated by the control unit</a:t>
            </a:r>
          </a:p>
          <a:p>
            <a:endParaRPr kumimoji="1" lang="en-US" sz="1200" b="0" kern="1200" baseline="0" dirty="0" smtClean="0">
              <a:solidFill>
                <a:schemeClr val="tx1"/>
              </a:solidFill>
              <a:latin typeface="Times New Roman" pitchFamily="-110" charset="0"/>
              <a:ea typeface="+mn-ea"/>
              <a:cs typeface="+mn-cs"/>
            </a:endParaRPr>
          </a:p>
          <a:p>
            <a:r>
              <a:rPr kumimoji="1" lang="en-US" sz="1200" b="0" i="0" u="none" strike="noStrike" kern="1200" baseline="0" dirty="0" smtClean="0">
                <a:solidFill>
                  <a:schemeClr val="tx1"/>
                </a:solidFill>
                <a:latin typeface="Times New Roman" pitchFamily="-109" charset="0"/>
                <a:ea typeface="+mn-ea"/>
                <a:cs typeface="+mn-cs"/>
              </a:rPr>
              <a:t>This structure was outlined in von Neumann’s earlier proposal, which is worth</a:t>
            </a:r>
          </a:p>
          <a:p>
            <a:r>
              <a:rPr kumimoji="1" lang="en-US" sz="1200" b="0" i="0" u="none" strike="noStrike" kern="1200" baseline="0" dirty="0" smtClean="0">
                <a:solidFill>
                  <a:schemeClr val="tx1"/>
                </a:solidFill>
                <a:latin typeface="Times New Roman" pitchFamily="-109" charset="0"/>
                <a:ea typeface="+mn-ea"/>
                <a:cs typeface="+mn-cs"/>
              </a:rPr>
              <a:t>quoting in part at this point [VONN45]:</a:t>
            </a:r>
          </a:p>
          <a:p>
            <a:endParaRPr kumimoji="1" lang="en-US" sz="1200" b="0" i="0" u="none" strike="noStrike" kern="1200" baseline="0" dirty="0" smtClean="0">
              <a:solidFill>
                <a:schemeClr val="tx1"/>
              </a:solidFill>
              <a:latin typeface="Times New Roman" pitchFamily="-109" charset="0"/>
              <a:ea typeface="+mn-ea"/>
              <a:cs typeface="+mn-cs"/>
            </a:endParaRPr>
          </a:p>
          <a:p>
            <a:r>
              <a:rPr kumimoji="1" lang="en-US" sz="1200" b="0" i="0" u="none" strike="noStrike" kern="1200" baseline="0" dirty="0" smtClean="0">
                <a:solidFill>
                  <a:schemeClr val="tx1"/>
                </a:solidFill>
                <a:latin typeface="Times New Roman" pitchFamily="-109" charset="0"/>
                <a:ea typeface="+mn-ea"/>
                <a:cs typeface="+mn-cs"/>
              </a:rPr>
              <a:t>	2.2 First:  Since the device is primarily a computer, it will</a:t>
            </a:r>
          </a:p>
          <a:p>
            <a:r>
              <a:rPr kumimoji="1" lang="en-US" sz="1200" b="0" i="0" u="none" strike="noStrike" kern="1200" baseline="0" dirty="0" smtClean="0">
                <a:solidFill>
                  <a:schemeClr val="tx1"/>
                </a:solidFill>
                <a:latin typeface="Times New Roman" pitchFamily="-109" charset="0"/>
                <a:ea typeface="+mn-ea"/>
                <a:cs typeface="+mn-cs"/>
              </a:rPr>
              <a:t>have to perform the elementary operations of arithmetic most frequently.</a:t>
            </a:r>
          </a:p>
          <a:p>
            <a:r>
              <a:rPr kumimoji="1" lang="en-US" sz="1200" b="0" i="0" u="none" strike="noStrike" kern="1200" baseline="0" dirty="0" smtClean="0">
                <a:solidFill>
                  <a:schemeClr val="tx1"/>
                </a:solidFill>
                <a:latin typeface="Times New Roman" pitchFamily="-109" charset="0"/>
                <a:ea typeface="+mn-ea"/>
                <a:cs typeface="+mn-cs"/>
              </a:rPr>
              <a:t>These are addition, subtraction, multiplication, and division.</a:t>
            </a:r>
          </a:p>
          <a:p>
            <a:r>
              <a:rPr kumimoji="1" lang="en-US" sz="1200" b="0" i="0" u="none" strike="noStrike" kern="1200" baseline="0" dirty="0" smtClean="0">
                <a:solidFill>
                  <a:schemeClr val="tx1"/>
                </a:solidFill>
                <a:latin typeface="Times New Roman" pitchFamily="-109" charset="0"/>
                <a:ea typeface="+mn-ea"/>
                <a:cs typeface="+mn-cs"/>
              </a:rPr>
              <a:t>It is therefore reasonable that it should contain specialized</a:t>
            </a:r>
          </a:p>
          <a:p>
            <a:r>
              <a:rPr kumimoji="1" lang="en-US" sz="1200" b="0" i="0" u="none" strike="noStrike" kern="1200" baseline="0" dirty="0" smtClean="0">
                <a:solidFill>
                  <a:schemeClr val="tx1"/>
                </a:solidFill>
                <a:latin typeface="Times New Roman" pitchFamily="-109" charset="0"/>
                <a:ea typeface="+mn-ea"/>
                <a:cs typeface="+mn-cs"/>
              </a:rPr>
              <a:t>organs for just these operations.</a:t>
            </a:r>
          </a:p>
          <a:p>
            <a:r>
              <a:rPr kumimoji="1" lang="en-US" sz="1200" b="0" i="0" u="none" strike="noStrike" kern="1200" baseline="0" dirty="0" smtClean="0">
                <a:solidFill>
                  <a:schemeClr val="tx1"/>
                </a:solidFill>
                <a:latin typeface="Times New Roman" pitchFamily="-109" charset="0"/>
                <a:ea typeface="+mn-ea"/>
                <a:cs typeface="+mn-cs"/>
              </a:rPr>
              <a:t>	It must be observed, however, that while this principle as such</a:t>
            </a:r>
          </a:p>
          <a:p>
            <a:r>
              <a:rPr kumimoji="1" lang="en-US" sz="1200" b="0" i="0" u="none" strike="noStrike" kern="1200" baseline="0" dirty="0" smtClean="0">
                <a:solidFill>
                  <a:schemeClr val="tx1"/>
                </a:solidFill>
                <a:latin typeface="Times New Roman" pitchFamily="-109" charset="0"/>
                <a:ea typeface="+mn-ea"/>
                <a:cs typeface="+mn-cs"/>
              </a:rPr>
              <a:t>is probably sound, the specific way in which it is realized requires</a:t>
            </a:r>
          </a:p>
          <a:p>
            <a:r>
              <a:rPr kumimoji="1" lang="en-US" sz="1200" b="0" i="0" u="none" strike="noStrike" kern="1200" baseline="0" dirty="0" smtClean="0">
                <a:solidFill>
                  <a:schemeClr val="tx1"/>
                </a:solidFill>
                <a:latin typeface="Times New Roman" pitchFamily="-109" charset="0"/>
                <a:ea typeface="+mn-ea"/>
                <a:cs typeface="+mn-cs"/>
              </a:rPr>
              <a:t>close scrutiny. At any rate a central arithmetical  part of the device will</a:t>
            </a:r>
          </a:p>
          <a:p>
            <a:r>
              <a:rPr kumimoji="1" lang="en-US" sz="1200" b="0" i="0" u="none" strike="noStrike" kern="1200" baseline="0" dirty="0" smtClean="0">
                <a:solidFill>
                  <a:schemeClr val="tx1"/>
                </a:solidFill>
                <a:latin typeface="Times New Roman" pitchFamily="-109" charset="0"/>
                <a:ea typeface="+mn-ea"/>
                <a:cs typeface="+mn-cs"/>
              </a:rPr>
              <a:t>probably have to exist, and this constitutes the first specific part: CA .</a:t>
            </a:r>
          </a:p>
          <a:p>
            <a:r>
              <a:rPr kumimoji="1" lang="en-US" sz="1200" b="0" i="0" u="none" strike="noStrike" kern="1200" baseline="0" dirty="0" smtClean="0">
                <a:solidFill>
                  <a:schemeClr val="tx1"/>
                </a:solidFill>
                <a:latin typeface="Times New Roman" pitchFamily="-109" charset="0"/>
                <a:ea typeface="+mn-ea"/>
                <a:cs typeface="+mn-cs"/>
              </a:rPr>
              <a:t>	2.3 Second:  The logical control of the device, that is, the</a:t>
            </a:r>
          </a:p>
          <a:p>
            <a:r>
              <a:rPr kumimoji="1" lang="en-US" sz="1200" b="0" i="0" u="none" strike="noStrike" kern="1200" baseline="0" dirty="0" smtClean="0">
                <a:solidFill>
                  <a:schemeClr val="tx1"/>
                </a:solidFill>
                <a:latin typeface="Times New Roman" pitchFamily="-109" charset="0"/>
                <a:ea typeface="+mn-ea"/>
                <a:cs typeface="+mn-cs"/>
              </a:rPr>
              <a:t>proper sequencing of its operations, can be most efficiently carried</a:t>
            </a:r>
          </a:p>
          <a:p>
            <a:r>
              <a:rPr kumimoji="1" lang="en-US" sz="1200" b="0" i="0" u="none" strike="noStrike" kern="1200" baseline="0" dirty="0" smtClean="0">
                <a:solidFill>
                  <a:schemeClr val="tx1"/>
                </a:solidFill>
                <a:latin typeface="Times New Roman" pitchFamily="-109" charset="0"/>
                <a:ea typeface="+mn-ea"/>
                <a:cs typeface="+mn-cs"/>
              </a:rPr>
              <a:t>out by a central control organ. If the device is to be elastic ,</a:t>
            </a:r>
          </a:p>
          <a:p>
            <a:r>
              <a:rPr kumimoji="1" lang="en-US" sz="1200" b="0" i="0" u="none" strike="noStrike" kern="1200" baseline="0" dirty="0" smtClean="0">
                <a:solidFill>
                  <a:schemeClr val="tx1"/>
                </a:solidFill>
                <a:latin typeface="Times New Roman" pitchFamily="-109" charset="0"/>
                <a:ea typeface="+mn-ea"/>
                <a:cs typeface="+mn-cs"/>
              </a:rPr>
              <a:t>that is, as nearly as possible all purpose , then a distinction must</a:t>
            </a:r>
          </a:p>
          <a:p>
            <a:r>
              <a:rPr kumimoji="1" lang="en-US" sz="1200" b="0" i="0" u="none" strike="noStrike" kern="1200" baseline="0" dirty="0" smtClean="0">
                <a:solidFill>
                  <a:schemeClr val="tx1"/>
                </a:solidFill>
                <a:latin typeface="Times New Roman" pitchFamily="-109" charset="0"/>
                <a:ea typeface="+mn-ea"/>
                <a:cs typeface="+mn-cs"/>
              </a:rPr>
              <a:t> be made between the specific instructions given for and defining</a:t>
            </a:r>
          </a:p>
          <a:p>
            <a:r>
              <a:rPr kumimoji="1" lang="en-US" sz="1200" b="0" i="0" u="none" strike="noStrike" kern="1200" baseline="0" dirty="0" smtClean="0">
                <a:solidFill>
                  <a:schemeClr val="tx1"/>
                </a:solidFill>
                <a:latin typeface="Times New Roman" pitchFamily="-109" charset="0"/>
                <a:ea typeface="+mn-ea"/>
                <a:cs typeface="+mn-cs"/>
              </a:rPr>
              <a:t>a particular problem, and the general control organs that see to it</a:t>
            </a:r>
          </a:p>
          <a:p>
            <a:r>
              <a:rPr kumimoji="1" lang="en-US" sz="1200" b="0" i="0" u="none" strike="noStrike" kern="1200" baseline="0" dirty="0" smtClean="0">
                <a:solidFill>
                  <a:schemeClr val="tx1"/>
                </a:solidFill>
                <a:latin typeface="Times New Roman" pitchFamily="-109" charset="0"/>
                <a:ea typeface="+mn-ea"/>
                <a:cs typeface="+mn-cs"/>
              </a:rPr>
              <a:t>that these instructions—no matter what they are—are</a:t>
            </a:r>
          </a:p>
          <a:p>
            <a:r>
              <a:rPr kumimoji="1" lang="en-US" sz="1200" b="0" i="0" u="none" strike="noStrike" kern="1200" baseline="0" dirty="0" smtClean="0">
                <a:solidFill>
                  <a:schemeClr val="tx1"/>
                </a:solidFill>
                <a:latin typeface="Times New Roman" pitchFamily="-109" charset="0"/>
                <a:ea typeface="+mn-ea"/>
                <a:cs typeface="+mn-cs"/>
              </a:rPr>
              <a:t>carried out. The former must be stored in some way; the latter are represented</a:t>
            </a:r>
          </a:p>
          <a:p>
            <a:r>
              <a:rPr kumimoji="1" lang="en-US" sz="1200" b="0" i="0" u="none" strike="noStrike" kern="1200" baseline="0" dirty="0" smtClean="0">
                <a:solidFill>
                  <a:schemeClr val="tx1"/>
                </a:solidFill>
                <a:latin typeface="Times New Roman" pitchFamily="-109" charset="0"/>
                <a:ea typeface="+mn-ea"/>
                <a:cs typeface="+mn-cs"/>
              </a:rPr>
              <a:t>by definite operating parts of the device. By the central control  we</a:t>
            </a:r>
          </a:p>
          <a:p>
            <a:r>
              <a:rPr kumimoji="1" lang="en-US" sz="1200" b="0" i="0" u="none" strike="noStrike" kern="1200" baseline="0" dirty="0" smtClean="0">
                <a:solidFill>
                  <a:schemeClr val="tx1"/>
                </a:solidFill>
                <a:latin typeface="Times New Roman" pitchFamily="-109" charset="0"/>
                <a:ea typeface="+mn-ea"/>
                <a:cs typeface="+mn-cs"/>
              </a:rPr>
              <a:t>mean this latter function only, and the organs that perform it form</a:t>
            </a:r>
          </a:p>
          <a:p>
            <a:r>
              <a:rPr kumimoji="1" lang="en-US" sz="1200" b="0" i="0" u="none" strike="noStrike" kern="1200" baseline="0" dirty="0" smtClean="0">
                <a:solidFill>
                  <a:schemeClr val="tx1"/>
                </a:solidFill>
                <a:latin typeface="Times New Roman" pitchFamily="-109" charset="0"/>
                <a:ea typeface="+mn-ea"/>
                <a:cs typeface="+mn-cs"/>
              </a:rPr>
              <a:t>the second specific part: CC .</a:t>
            </a:r>
          </a:p>
          <a:p>
            <a:r>
              <a:rPr kumimoji="1" lang="en-US" sz="1200" b="0" i="0" u="none" strike="noStrike" kern="1200" baseline="0" dirty="0" smtClean="0">
                <a:solidFill>
                  <a:schemeClr val="tx1"/>
                </a:solidFill>
                <a:latin typeface="Times New Roman" pitchFamily="-109" charset="0"/>
                <a:ea typeface="+mn-ea"/>
                <a:cs typeface="+mn-cs"/>
              </a:rPr>
              <a:t>	2.4 Third:  Any device that is to carry out long and complicated</a:t>
            </a:r>
          </a:p>
          <a:p>
            <a:r>
              <a:rPr kumimoji="1" lang="en-US" sz="1200" b="0" i="0" u="none" strike="noStrike" kern="1200" baseline="0" dirty="0" smtClean="0">
                <a:solidFill>
                  <a:schemeClr val="tx1"/>
                </a:solidFill>
                <a:latin typeface="Times New Roman" pitchFamily="-109" charset="0"/>
                <a:ea typeface="+mn-ea"/>
                <a:cs typeface="+mn-cs"/>
              </a:rPr>
              <a:t>sequences of operations (specifically of calculations) must</a:t>
            </a:r>
          </a:p>
          <a:p>
            <a:r>
              <a:rPr kumimoji="1" lang="en-US" sz="1200" b="0" i="0" u="none" strike="noStrike" kern="1200" baseline="0" dirty="0" smtClean="0">
                <a:solidFill>
                  <a:schemeClr val="tx1"/>
                </a:solidFill>
                <a:latin typeface="Times New Roman" pitchFamily="-109" charset="0"/>
                <a:ea typeface="+mn-ea"/>
                <a:cs typeface="+mn-cs"/>
              </a:rPr>
              <a:t>have a considerable memory . . .</a:t>
            </a:r>
          </a:p>
          <a:p>
            <a:r>
              <a:rPr kumimoji="1" lang="en-US" sz="1200" b="0" i="0" u="none" strike="noStrike" kern="1200" baseline="0" dirty="0" smtClean="0">
                <a:solidFill>
                  <a:schemeClr val="tx1"/>
                </a:solidFill>
                <a:latin typeface="Times New Roman" pitchFamily="-109" charset="0"/>
                <a:ea typeface="+mn-ea"/>
                <a:cs typeface="+mn-cs"/>
              </a:rPr>
              <a:t>	The instructions which govern a complicated problem may</a:t>
            </a:r>
          </a:p>
          <a:p>
            <a:r>
              <a:rPr kumimoji="1" lang="en-US" sz="1200" b="0" i="0" u="none" strike="noStrike" kern="1200" baseline="0" dirty="0" smtClean="0">
                <a:solidFill>
                  <a:schemeClr val="tx1"/>
                </a:solidFill>
                <a:latin typeface="Times New Roman" pitchFamily="-109" charset="0"/>
                <a:ea typeface="+mn-ea"/>
                <a:cs typeface="+mn-cs"/>
              </a:rPr>
              <a:t>constitute considerable material, particularly so, if the code is circumstantial</a:t>
            </a:r>
          </a:p>
          <a:p>
            <a:r>
              <a:rPr kumimoji="1" lang="en-US" sz="1200" b="0" i="0" u="none" strike="noStrike" kern="1200" baseline="0" dirty="0" smtClean="0">
                <a:solidFill>
                  <a:schemeClr val="tx1"/>
                </a:solidFill>
                <a:latin typeface="Times New Roman" pitchFamily="-109" charset="0"/>
                <a:ea typeface="+mn-ea"/>
                <a:cs typeface="+mn-cs"/>
              </a:rPr>
              <a:t>(which it is in most arrangements). This material must</a:t>
            </a:r>
          </a:p>
          <a:p>
            <a:r>
              <a:rPr kumimoji="1" lang="en-US" sz="1200" b="0" i="0" u="none" strike="noStrike" kern="1200" baseline="0" dirty="0" smtClean="0">
                <a:solidFill>
                  <a:schemeClr val="tx1"/>
                </a:solidFill>
                <a:latin typeface="Times New Roman" pitchFamily="-109" charset="0"/>
                <a:ea typeface="+mn-ea"/>
                <a:cs typeface="+mn-cs"/>
              </a:rPr>
              <a:t>be remembered.</a:t>
            </a:r>
          </a:p>
          <a:p>
            <a:r>
              <a:rPr kumimoji="1" lang="en-US" sz="1200" b="0" i="0" u="none" strike="noStrike" kern="1200" baseline="0" dirty="0" smtClean="0">
                <a:solidFill>
                  <a:schemeClr val="tx1"/>
                </a:solidFill>
                <a:latin typeface="Times New Roman" pitchFamily="-109" charset="0"/>
                <a:ea typeface="+mn-ea"/>
                <a:cs typeface="+mn-cs"/>
              </a:rPr>
              <a:t>	 At any rate, the total memory  constitutes the third specific</a:t>
            </a:r>
          </a:p>
          <a:p>
            <a:r>
              <a:rPr kumimoji="1" lang="en-US" sz="1200" b="0" i="0" u="none" strike="noStrike" kern="1200" baseline="0" dirty="0" smtClean="0">
                <a:solidFill>
                  <a:schemeClr val="tx1"/>
                </a:solidFill>
                <a:latin typeface="Times New Roman" pitchFamily="-109" charset="0"/>
                <a:ea typeface="+mn-ea"/>
                <a:cs typeface="+mn-cs"/>
              </a:rPr>
              <a:t>part of the device: M.</a:t>
            </a:r>
          </a:p>
          <a:p>
            <a:r>
              <a:rPr kumimoji="1" lang="en-US" sz="1200" b="0" i="0" u="none" strike="noStrike" kern="1200" baseline="0" dirty="0" smtClean="0">
                <a:solidFill>
                  <a:schemeClr val="tx1"/>
                </a:solidFill>
                <a:latin typeface="Times New Roman" pitchFamily="-109" charset="0"/>
                <a:ea typeface="+mn-ea"/>
                <a:cs typeface="+mn-cs"/>
              </a:rPr>
              <a:t>	 2.6 The three specific parts CA, CC (together C), and M correspond</a:t>
            </a:r>
          </a:p>
          <a:p>
            <a:r>
              <a:rPr kumimoji="1" lang="en-US" sz="1200" b="0" i="0" u="none" strike="noStrike" kern="1200" baseline="0" dirty="0" smtClean="0">
                <a:solidFill>
                  <a:schemeClr val="tx1"/>
                </a:solidFill>
                <a:latin typeface="Times New Roman" pitchFamily="-109" charset="0"/>
                <a:ea typeface="+mn-ea"/>
                <a:cs typeface="+mn-cs"/>
              </a:rPr>
              <a:t>to the associative  neurons in the human nervous system. It</a:t>
            </a:r>
          </a:p>
          <a:p>
            <a:r>
              <a:rPr kumimoji="1" lang="en-US" sz="1200" b="0" i="0" u="none" strike="noStrike" kern="1200" baseline="0" dirty="0" smtClean="0">
                <a:solidFill>
                  <a:schemeClr val="tx1"/>
                </a:solidFill>
                <a:latin typeface="Times New Roman" pitchFamily="-109" charset="0"/>
                <a:ea typeface="+mn-ea"/>
                <a:cs typeface="+mn-cs"/>
              </a:rPr>
              <a:t>remains to discuss the equivalents of the sensory  or afferent  and the</a:t>
            </a:r>
          </a:p>
          <a:p>
            <a:r>
              <a:rPr kumimoji="1" lang="en-US" sz="1200" b="0" i="0" u="none" strike="noStrike" kern="1200" baseline="0" dirty="0" smtClean="0">
                <a:solidFill>
                  <a:schemeClr val="tx1"/>
                </a:solidFill>
                <a:latin typeface="Times New Roman" pitchFamily="-109" charset="0"/>
                <a:ea typeface="+mn-ea"/>
                <a:cs typeface="+mn-cs"/>
              </a:rPr>
              <a:t>motor  or efferent  neurons. These are the input  and output  organs of</a:t>
            </a:r>
          </a:p>
          <a:p>
            <a:r>
              <a:rPr kumimoji="1" lang="en-US" sz="1200" b="0" i="0" u="none" strike="noStrike" kern="1200" baseline="0" dirty="0" smtClean="0">
                <a:solidFill>
                  <a:schemeClr val="tx1"/>
                </a:solidFill>
                <a:latin typeface="Times New Roman" pitchFamily="-109" charset="0"/>
                <a:ea typeface="+mn-ea"/>
                <a:cs typeface="+mn-cs"/>
              </a:rPr>
              <a:t>the device. The device must be endowed with the ability to maintain</a:t>
            </a:r>
          </a:p>
          <a:p>
            <a:r>
              <a:rPr kumimoji="1" lang="en-US" sz="1200" b="0" i="0" u="none" strike="noStrike" kern="1200" baseline="0" dirty="0" smtClean="0">
                <a:solidFill>
                  <a:schemeClr val="tx1"/>
                </a:solidFill>
                <a:latin typeface="Times New Roman" pitchFamily="-109" charset="0"/>
                <a:ea typeface="+mn-ea"/>
                <a:cs typeface="+mn-cs"/>
              </a:rPr>
              <a:t>input and output (sensory and motor) contact with some specific</a:t>
            </a:r>
          </a:p>
          <a:p>
            <a:r>
              <a:rPr kumimoji="1" lang="en-US" sz="1200" b="0" i="0" u="none" strike="noStrike" kern="1200" baseline="0" dirty="0" smtClean="0">
                <a:solidFill>
                  <a:schemeClr val="tx1"/>
                </a:solidFill>
                <a:latin typeface="Times New Roman" pitchFamily="-109" charset="0"/>
                <a:ea typeface="+mn-ea"/>
                <a:cs typeface="+mn-cs"/>
              </a:rPr>
              <a:t>medium of this type. The medium will be called the outside recording</a:t>
            </a:r>
          </a:p>
          <a:p>
            <a:r>
              <a:rPr kumimoji="1" lang="en-US" sz="1200" b="0" i="0" u="none" strike="noStrike" kern="1200" baseline="0" dirty="0" smtClean="0">
                <a:solidFill>
                  <a:schemeClr val="tx1"/>
                </a:solidFill>
                <a:latin typeface="Times New Roman" pitchFamily="-109" charset="0"/>
                <a:ea typeface="+mn-ea"/>
                <a:cs typeface="+mn-cs"/>
              </a:rPr>
              <a:t>medium of the device: R .</a:t>
            </a:r>
          </a:p>
          <a:p>
            <a:r>
              <a:rPr kumimoji="1" lang="en-US" sz="1200" b="0" i="0" u="none" strike="noStrike" kern="1200" baseline="0" dirty="0" smtClean="0">
                <a:solidFill>
                  <a:schemeClr val="tx1"/>
                </a:solidFill>
                <a:latin typeface="Times New Roman" pitchFamily="-109" charset="0"/>
                <a:ea typeface="+mn-ea"/>
                <a:cs typeface="+mn-cs"/>
              </a:rPr>
              <a:t>	2.7 Fourth:  The device must have organs to transfer information</a:t>
            </a:r>
          </a:p>
          <a:p>
            <a:r>
              <a:rPr kumimoji="1" lang="en-US" sz="1200" b="0" i="0" u="none" strike="noStrike" kern="1200" baseline="0" dirty="0" smtClean="0">
                <a:solidFill>
                  <a:schemeClr val="tx1"/>
                </a:solidFill>
                <a:latin typeface="Times New Roman" pitchFamily="-109" charset="0"/>
                <a:ea typeface="+mn-ea"/>
                <a:cs typeface="+mn-cs"/>
              </a:rPr>
              <a:t>from R into its specific parts C and M. These organs form its</a:t>
            </a:r>
          </a:p>
          <a:p>
            <a:r>
              <a:rPr kumimoji="1" lang="en-US" sz="1200" b="0" i="0" u="none" strike="noStrike" kern="1200" baseline="0" dirty="0" smtClean="0">
                <a:solidFill>
                  <a:schemeClr val="tx1"/>
                </a:solidFill>
                <a:latin typeface="Times New Roman" pitchFamily="-109" charset="0"/>
                <a:ea typeface="+mn-ea"/>
                <a:cs typeface="+mn-cs"/>
              </a:rPr>
              <a:t>input , the fourth specific part: I . It will be seen that it is best to make</a:t>
            </a:r>
          </a:p>
          <a:p>
            <a:r>
              <a:rPr kumimoji="1" lang="en-US" sz="1200" b="0" i="0" u="none" strike="noStrike" kern="1200" baseline="0" dirty="0" smtClean="0">
                <a:solidFill>
                  <a:schemeClr val="tx1"/>
                </a:solidFill>
                <a:latin typeface="Times New Roman" pitchFamily="-109" charset="0"/>
                <a:ea typeface="+mn-ea"/>
                <a:cs typeface="+mn-cs"/>
              </a:rPr>
              <a:t>all transfers from R (by I) into M and never directly from C.</a:t>
            </a:r>
          </a:p>
          <a:p>
            <a:r>
              <a:rPr kumimoji="1" lang="en-US" sz="1200" b="0" i="0" u="none" strike="noStrike" kern="1200" baseline="0" dirty="0" smtClean="0">
                <a:solidFill>
                  <a:schemeClr val="tx1"/>
                </a:solidFill>
                <a:latin typeface="Times New Roman" pitchFamily="-109" charset="0"/>
                <a:ea typeface="+mn-ea"/>
                <a:cs typeface="+mn-cs"/>
              </a:rPr>
              <a:t>	2.8 Fifth:  The device must have organs to transfer from its</a:t>
            </a:r>
          </a:p>
          <a:p>
            <a:r>
              <a:rPr kumimoji="1" lang="en-US" sz="1200" b="0" i="0" u="none" strike="noStrike" kern="1200" baseline="0" dirty="0" smtClean="0">
                <a:solidFill>
                  <a:schemeClr val="tx1"/>
                </a:solidFill>
                <a:latin typeface="Times New Roman" pitchFamily="-109" charset="0"/>
                <a:ea typeface="+mn-ea"/>
                <a:cs typeface="+mn-cs"/>
              </a:rPr>
              <a:t>specific parts C and M into R. These organs form its output , the</a:t>
            </a:r>
          </a:p>
          <a:p>
            <a:r>
              <a:rPr kumimoji="1" lang="en-US" sz="1200" b="0" i="0" u="none" strike="noStrike" kern="1200" baseline="0" dirty="0" smtClean="0">
                <a:solidFill>
                  <a:schemeClr val="tx1"/>
                </a:solidFill>
                <a:latin typeface="Times New Roman" pitchFamily="-109" charset="0"/>
                <a:ea typeface="+mn-ea"/>
                <a:cs typeface="+mn-cs"/>
              </a:rPr>
              <a:t>fifth specific part: O . It will be seen that it is again best to make all</a:t>
            </a:r>
          </a:p>
          <a:p>
            <a:r>
              <a:rPr kumimoji="1" lang="en-US" sz="1200" b="0" i="0" u="none" strike="noStrike" kern="1200" baseline="0" dirty="0" smtClean="0">
                <a:solidFill>
                  <a:schemeClr val="tx1"/>
                </a:solidFill>
                <a:latin typeface="Times New Roman" pitchFamily="-109" charset="0"/>
                <a:ea typeface="+mn-ea"/>
                <a:cs typeface="+mn-cs"/>
              </a:rPr>
              <a:t>transfers from M (by O) into R, and never directly from C.</a:t>
            </a:r>
            <a:endParaRPr lang="en-GB" b="0"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extLst>
      <p:ext uri="{BB962C8B-B14F-4D97-AF65-F5344CB8AC3E}">
        <p14:creationId xmlns:p14="http://schemas.microsoft.com/office/powerpoint/2010/main" val="1575421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2521C9-180F-994B-8A62-96D4CD2B6058}" type="slidenum">
              <a:rPr lang="en-US"/>
              <a:pPr/>
              <a:t>7</a:t>
            </a:fld>
            <a:endParaRPr lang="en-US" dirty="0"/>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In the binary number system, arbitrary numbers can be represented with just the</a:t>
            </a:r>
          </a:p>
          <a:p>
            <a:r>
              <a:rPr lang="en-US" sz="1200" kern="1200" baseline="0" dirty="0" smtClean="0">
                <a:solidFill>
                  <a:schemeClr val="tx1"/>
                </a:solidFill>
                <a:latin typeface="Times New Roman" pitchFamily="-110" charset="0"/>
                <a:ea typeface="+mn-ea"/>
                <a:cs typeface="+mn-cs"/>
              </a:rPr>
              <a:t>digits zero and one, the minus sign (for negative numbers), and the period, or </a:t>
            </a:r>
            <a:r>
              <a:rPr lang="en-US" sz="1200" b="1" kern="1200" baseline="0" dirty="0" smtClean="0">
                <a:solidFill>
                  <a:schemeClr val="tx1"/>
                </a:solidFill>
                <a:latin typeface="Times New Roman" pitchFamily="-110" charset="0"/>
                <a:ea typeface="+mn-ea"/>
                <a:cs typeface="+mn-cs"/>
              </a:rPr>
              <a:t>radix</a:t>
            </a:r>
          </a:p>
          <a:p>
            <a:r>
              <a:rPr lang="en-US" sz="1200" b="1" kern="1200" baseline="0" dirty="0" smtClean="0">
                <a:solidFill>
                  <a:schemeClr val="tx1"/>
                </a:solidFill>
                <a:latin typeface="Times New Roman" pitchFamily="-110" charset="0"/>
                <a:ea typeface="+mn-ea"/>
                <a:cs typeface="+mn-cs"/>
              </a:rPr>
              <a:t>point </a:t>
            </a:r>
            <a:r>
              <a:rPr lang="en-US" sz="1200" b="0" kern="1200" baseline="0" dirty="0" smtClean="0">
                <a:solidFill>
                  <a:schemeClr val="tx1"/>
                </a:solidFill>
                <a:latin typeface="Times New Roman" pitchFamily="-110" charset="0"/>
                <a:ea typeface="+mn-ea"/>
                <a:cs typeface="+mn-cs"/>
              </a:rPr>
              <a:t>(for numbers with a fractional component).</a:t>
            </a:r>
            <a:endParaRPr lang="en-GB" sz="1200" b="0" kern="1200" baseline="0" dirty="0" smtClean="0">
              <a:solidFill>
                <a:schemeClr val="tx1"/>
              </a:solidFill>
              <a:latin typeface="Times New Roman" pitchFamily="-110" charset="0"/>
              <a:ea typeface="+mn-ea"/>
              <a:cs typeface="+mn-cs"/>
            </a:endParaRPr>
          </a:p>
          <a:p>
            <a:endParaRPr lang="en-GB" sz="1200" b="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For purposes of computer storage and processing, however, we do not have the benefit</a:t>
            </a:r>
          </a:p>
          <a:p>
            <a:r>
              <a:rPr lang="en-US" sz="1200" kern="1200" baseline="0" dirty="0" smtClean="0">
                <a:solidFill>
                  <a:schemeClr val="tx1"/>
                </a:solidFill>
                <a:latin typeface="Times New Roman" pitchFamily="-110" charset="0"/>
                <a:ea typeface="+mn-ea"/>
                <a:cs typeface="+mn-cs"/>
              </a:rPr>
              <a:t>of special symbols for the minus sign and radix point. Only binary digits (0 and 1)</a:t>
            </a:r>
          </a:p>
          <a:p>
            <a:r>
              <a:rPr lang="en-US" sz="1200" kern="1200" baseline="0" dirty="0" smtClean="0">
                <a:solidFill>
                  <a:schemeClr val="tx1"/>
                </a:solidFill>
                <a:latin typeface="Times New Roman" pitchFamily="-110" charset="0"/>
                <a:ea typeface="+mn-ea"/>
                <a:cs typeface="+mn-cs"/>
              </a:rPr>
              <a:t>may be used to represent numbers. If we are limited to nonnegative integers, the</a:t>
            </a:r>
          </a:p>
          <a:p>
            <a:r>
              <a:rPr lang="en-US" sz="1200" kern="1200" baseline="0" dirty="0" smtClean="0">
                <a:solidFill>
                  <a:schemeClr val="tx1"/>
                </a:solidFill>
                <a:latin typeface="Times New Roman" pitchFamily="-110" charset="0"/>
                <a:ea typeface="+mn-ea"/>
                <a:cs typeface="+mn-cs"/>
              </a:rPr>
              <a:t>representation is straightforward.</a:t>
            </a:r>
            <a:endParaRPr lang="en-GB" b="0"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F448AC-8E1C-CC4C-BFB1-A0EEFAD70676}" type="slidenum">
              <a:rPr lang="en-US"/>
              <a:pPr/>
              <a:t>8</a:t>
            </a:fld>
            <a:endParaRPr lang="en-US" dirty="0"/>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There are several alternative conventions used to represent negative as well as positive</a:t>
            </a:r>
          </a:p>
          <a:p>
            <a:r>
              <a:rPr lang="en-US" sz="1200" kern="1200" baseline="0" dirty="0" smtClean="0">
                <a:solidFill>
                  <a:schemeClr val="tx1"/>
                </a:solidFill>
                <a:latin typeface="Times New Roman" pitchFamily="-110" charset="0"/>
                <a:ea typeface="+mn-ea"/>
                <a:cs typeface="+mn-cs"/>
              </a:rPr>
              <a:t>integers, all of which involve treating the most significant (leftmost) bit in the</a:t>
            </a:r>
          </a:p>
          <a:p>
            <a:r>
              <a:rPr lang="en-US" sz="1200" kern="1200" baseline="0" dirty="0" smtClean="0">
                <a:solidFill>
                  <a:schemeClr val="tx1"/>
                </a:solidFill>
                <a:latin typeface="Times New Roman" pitchFamily="-110" charset="0"/>
                <a:ea typeface="+mn-ea"/>
                <a:cs typeface="+mn-cs"/>
              </a:rPr>
              <a:t>word as a sign bit. If the sign bit is 0, the number is positive; if the sign bit is 1, the</a:t>
            </a:r>
          </a:p>
          <a:p>
            <a:r>
              <a:rPr lang="en-US" sz="1200" kern="1200" baseline="0" dirty="0" smtClean="0">
                <a:solidFill>
                  <a:schemeClr val="tx1"/>
                </a:solidFill>
                <a:latin typeface="Times New Roman" pitchFamily="-110" charset="0"/>
                <a:ea typeface="+mn-ea"/>
                <a:cs typeface="+mn-cs"/>
              </a:rPr>
              <a:t>number is negative.</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simplest form of representation that employs a sign bit is the sign-magnitude</a:t>
            </a:r>
          </a:p>
          <a:p>
            <a:r>
              <a:rPr lang="en-US" sz="1200" kern="1200" baseline="0" dirty="0" smtClean="0">
                <a:solidFill>
                  <a:schemeClr val="tx1"/>
                </a:solidFill>
                <a:latin typeface="Times New Roman" pitchFamily="-110" charset="0"/>
                <a:ea typeface="+mn-ea"/>
                <a:cs typeface="+mn-cs"/>
              </a:rPr>
              <a:t>representation. In an </a:t>
            </a:r>
            <a:r>
              <a:rPr lang="en-US" sz="1200" i="1" kern="1200" baseline="0" dirty="0" smtClean="0">
                <a:solidFill>
                  <a:schemeClr val="tx1"/>
                </a:solidFill>
                <a:latin typeface="Times New Roman" pitchFamily="-110" charset="0"/>
                <a:ea typeface="+mn-ea"/>
                <a:cs typeface="+mn-cs"/>
              </a:rPr>
              <a:t>n-</a:t>
            </a:r>
            <a:r>
              <a:rPr lang="en-US" sz="1200" i="0" kern="1200" baseline="0" dirty="0" smtClean="0">
                <a:solidFill>
                  <a:schemeClr val="tx1"/>
                </a:solidFill>
                <a:latin typeface="Times New Roman" pitchFamily="-110" charset="0"/>
                <a:ea typeface="+mn-ea"/>
                <a:cs typeface="+mn-cs"/>
              </a:rPr>
              <a:t>bit word, the rightmost </a:t>
            </a:r>
            <a:r>
              <a:rPr lang="en-US" sz="1200" i="1" kern="1200" baseline="0" dirty="0" smtClean="0">
                <a:solidFill>
                  <a:schemeClr val="tx1"/>
                </a:solidFill>
                <a:latin typeface="Times New Roman" pitchFamily="-110" charset="0"/>
                <a:ea typeface="+mn-ea"/>
                <a:cs typeface="+mn-cs"/>
              </a:rPr>
              <a:t>n - 1 </a:t>
            </a:r>
            <a:r>
              <a:rPr lang="en-US" sz="1200" i="0" kern="1200" baseline="0" dirty="0" smtClean="0">
                <a:solidFill>
                  <a:schemeClr val="tx1"/>
                </a:solidFill>
                <a:latin typeface="Times New Roman" pitchFamily="-110" charset="0"/>
                <a:ea typeface="+mn-ea"/>
                <a:cs typeface="+mn-cs"/>
              </a:rPr>
              <a:t>bits hold the</a:t>
            </a:r>
          </a:p>
          <a:p>
            <a:r>
              <a:rPr lang="en-US" sz="1200" kern="1200" baseline="0" dirty="0" smtClean="0">
                <a:solidFill>
                  <a:schemeClr val="tx1"/>
                </a:solidFill>
                <a:latin typeface="Times New Roman" pitchFamily="-110" charset="0"/>
                <a:ea typeface="+mn-ea"/>
                <a:cs typeface="+mn-cs"/>
              </a:rPr>
              <a:t>magnitude of the integer.</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There are several drawbacks to sign-magnitude representation. One is that addition</a:t>
            </a:r>
          </a:p>
          <a:p>
            <a:r>
              <a:rPr lang="en-US" sz="1200" kern="1200" baseline="0" dirty="0" smtClean="0">
                <a:solidFill>
                  <a:schemeClr val="tx1"/>
                </a:solidFill>
                <a:latin typeface="Times New Roman" pitchFamily="-110" charset="0"/>
                <a:ea typeface="+mn-ea"/>
                <a:cs typeface="+mn-cs"/>
              </a:rPr>
              <a:t>and subtraction require a consideration of both the signs of the numbers and their</a:t>
            </a:r>
          </a:p>
          <a:p>
            <a:r>
              <a:rPr lang="en-US" sz="1200" kern="1200" baseline="0" dirty="0" smtClean="0">
                <a:solidFill>
                  <a:schemeClr val="tx1"/>
                </a:solidFill>
                <a:latin typeface="Times New Roman" pitchFamily="-110" charset="0"/>
                <a:ea typeface="+mn-ea"/>
                <a:cs typeface="+mn-cs"/>
              </a:rPr>
              <a:t>relative magnitudes to carry out the required operation. This should become clear in the</a:t>
            </a:r>
          </a:p>
          <a:p>
            <a:r>
              <a:rPr lang="en-US" sz="1200" kern="1200" baseline="0" dirty="0" smtClean="0">
                <a:solidFill>
                  <a:schemeClr val="tx1"/>
                </a:solidFill>
                <a:latin typeface="Times New Roman" pitchFamily="-110" charset="0"/>
                <a:ea typeface="+mn-ea"/>
                <a:cs typeface="+mn-cs"/>
              </a:rPr>
              <a:t>discussion in Section 10.3. Another drawback is that there are two representations of 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This is inconvenient because it is slightly more difficult to test for 0 (an operation</a:t>
            </a:r>
          </a:p>
          <a:p>
            <a:r>
              <a:rPr lang="en-US" sz="1200" kern="1200" baseline="0" dirty="0" smtClean="0">
                <a:solidFill>
                  <a:schemeClr val="tx1"/>
                </a:solidFill>
                <a:latin typeface="Times New Roman" pitchFamily="-110" charset="0"/>
                <a:ea typeface="+mn-ea"/>
                <a:cs typeface="+mn-cs"/>
              </a:rPr>
              <a:t>performed frequently on computers) than if there were a single representation.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Because of these drawbacks, sign-magnitude representation is rarely used in</a:t>
            </a:r>
          </a:p>
          <a:p>
            <a:r>
              <a:rPr lang="en-US" sz="1200" kern="1200" baseline="0" dirty="0" smtClean="0">
                <a:solidFill>
                  <a:schemeClr val="tx1"/>
                </a:solidFill>
                <a:latin typeface="Times New Roman" pitchFamily="-110" charset="0"/>
                <a:ea typeface="+mn-ea"/>
                <a:cs typeface="+mn-cs"/>
              </a:rPr>
              <a:t>implementing the integer portion of the ALU. Instead, the most common scheme is</a:t>
            </a:r>
          </a:p>
          <a:p>
            <a:r>
              <a:rPr lang="en-US" sz="1200" kern="1200" baseline="0" dirty="0" smtClean="0">
                <a:solidFill>
                  <a:schemeClr val="tx1"/>
                </a:solidFill>
                <a:latin typeface="Times New Roman" pitchFamily="-110" charset="0"/>
                <a:ea typeface="+mn-ea"/>
                <a:cs typeface="+mn-cs"/>
              </a:rPr>
              <a:t>twos complement representation.</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F9729C-03CD-2E45-8373-3BD9AF5F8DE3}" type="slidenum">
              <a:rPr lang="en-US"/>
              <a:pPr/>
              <a:t>10</a:t>
            </a:fld>
            <a:endParaRPr lang="en-US" dirty="0"/>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Like sign magnitude, twos complement representation uses the most significant bit</a:t>
            </a:r>
          </a:p>
          <a:p>
            <a:r>
              <a:rPr lang="en-US" sz="1200" kern="1200" baseline="0" dirty="0" smtClean="0">
                <a:solidFill>
                  <a:schemeClr val="tx1"/>
                </a:solidFill>
                <a:latin typeface="Times New Roman" pitchFamily="-110" charset="0"/>
                <a:ea typeface="+mn-ea"/>
                <a:cs typeface="+mn-cs"/>
              </a:rPr>
              <a:t>as a sign bit, making it easy to test whether an integer is positive or negative. It</a:t>
            </a:r>
          </a:p>
          <a:p>
            <a:r>
              <a:rPr lang="en-US" sz="1200" kern="1200" baseline="0" dirty="0" smtClean="0">
                <a:solidFill>
                  <a:schemeClr val="tx1"/>
                </a:solidFill>
                <a:latin typeface="Times New Roman" pitchFamily="-110" charset="0"/>
                <a:ea typeface="+mn-ea"/>
                <a:cs typeface="+mn-cs"/>
              </a:rPr>
              <a:t>differs from the use of the sign-magnitude representation in the way that the other</a:t>
            </a:r>
          </a:p>
          <a:p>
            <a:r>
              <a:rPr lang="en-US" sz="1200" kern="1200" baseline="0" dirty="0" smtClean="0">
                <a:solidFill>
                  <a:schemeClr val="tx1"/>
                </a:solidFill>
                <a:latin typeface="Times New Roman" pitchFamily="-110" charset="0"/>
                <a:ea typeface="+mn-ea"/>
                <a:cs typeface="+mn-cs"/>
              </a:rPr>
              <a:t>bits are interpreted. Table 10.1 highlights key characteristics of twos complement</a:t>
            </a:r>
          </a:p>
          <a:p>
            <a:r>
              <a:rPr lang="en-US" sz="1200" kern="1200" baseline="0" dirty="0" smtClean="0">
                <a:solidFill>
                  <a:schemeClr val="tx1"/>
                </a:solidFill>
                <a:latin typeface="Times New Roman" pitchFamily="-110" charset="0"/>
                <a:ea typeface="+mn-ea"/>
                <a:cs typeface="+mn-cs"/>
              </a:rPr>
              <a:t>representation and arithmetic, which are elaborated in this section and the next.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Most treatments of twos complement representation focus on the rules for</a:t>
            </a:r>
          </a:p>
          <a:p>
            <a:r>
              <a:rPr lang="en-US" sz="1200" kern="1200" baseline="0" dirty="0" smtClean="0">
                <a:solidFill>
                  <a:schemeClr val="tx1"/>
                </a:solidFill>
                <a:latin typeface="Times New Roman" pitchFamily="-110" charset="0"/>
                <a:ea typeface="+mn-ea"/>
                <a:cs typeface="+mn-cs"/>
              </a:rPr>
              <a:t>producing negative numbers, with no formal proof that the scheme is valid. Instead,</a:t>
            </a:r>
          </a:p>
          <a:p>
            <a:r>
              <a:rPr lang="en-US" sz="1200" kern="1200" baseline="0" dirty="0" smtClean="0">
                <a:solidFill>
                  <a:schemeClr val="tx1"/>
                </a:solidFill>
                <a:latin typeface="Times New Roman" pitchFamily="-110" charset="0"/>
                <a:ea typeface="+mn-ea"/>
                <a:cs typeface="+mn-cs"/>
              </a:rPr>
              <a:t>our presentation of twos complement integers in this section and in Section 10.3 is</a:t>
            </a:r>
          </a:p>
          <a:p>
            <a:r>
              <a:rPr lang="en-US" sz="1200" kern="1200" baseline="0" dirty="0" smtClean="0">
                <a:solidFill>
                  <a:schemeClr val="tx1"/>
                </a:solidFill>
                <a:latin typeface="Times New Roman" pitchFamily="-110" charset="0"/>
                <a:ea typeface="+mn-ea"/>
                <a:cs typeface="+mn-cs"/>
              </a:rPr>
              <a:t>based on [DATT93], which suggests that twos complement representation is best</a:t>
            </a:r>
          </a:p>
          <a:p>
            <a:r>
              <a:rPr lang="en-US" sz="1200" kern="1200" baseline="0" dirty="0" smtClean="0">
                <a:solidFill>
                  <a:schemeClr val="tx1"/>
                </a:solidFill>
                <a:latin typeface="Times New Roman" pitchFamily="-110" charset="0"/>
                <a:ea typeface="+mn-ea"/>
                <a:cs typeface="+mn-cs"/>
              </a:rPr>
              <a:t>understood by defining it in terms of a weighted sum of bits, as we did previously</a:t>
            </a:r>
          </a:p>
          <a:p>
            <a:r>
              <a:rPr lang="en-US" sz="1200" kern="1200" baseline="0" dirty="0" smtClean="0">
                <a:solidFill>
                  <a:schemeClr val="tx1"/>
                </a:solidFill>
                <a:latin typeface="Times New Roman" pitchFamily="-110" charset="0"/>
                <a:ea typeface="+mn-ea"/>
                <a:cs typeface="+mn-cs"/>
              </a:rPr>
              <a:t>for unsigned and sign-magnitude representations. The advantage of this treatment</a:t>
            </a:r>
          </a:p>
          <a:p>
            <a:r>
              <a:rPr lang="en-US" sz="1200" kern="1200" baseline="0" dirty="0" smtClean="0">
                <a:solidFill>
                  <a:schemeClr val="tx1"/>
                </a:solidFill>
                <a:latin typeface="Times New Roman" pitchFamily="-110" charset="0"/>
                <a:ea typeface="+mn-ea"/>
                <a:cs typeface="+mn-cs"/>
              </a:rPr>
              <a:t>is that it does not leave any lingering doubt that the rules for arithmetic operations</a:t>
            </a:r>
          </a:p>
          <a:p>
            <a:r>
              <a:rPr lang="en-US" sz="1200" kern="1200" baseline="0" dirty="0" smtClean="0">
                <a:solidFill>
                  <a:schemeClr val="tx1"/>
                </a:solidFill>
                <a:latin typeface="Times New Roman" pitchFamily="-110" charset="0"/>
                <a:ea typeface="+mn-ea"/>
                <a:cs typeface="+mn-cs"/>
              </a:rPr>
              <a:t>in twos complement notation may not work for some special cases.</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66BAC1-CBF8-3B4B-A005-25BA2E352600}" type="slidenum">
              <a:rPr lang="en-US"/>
              <a:pPr/>
              <a:t>11</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Table 10.2 compares the sign-magnitude and twos complement representations</a:t>
            </a:r>
          </a:p>
          <a:p>
            <a:r>
              <a:rPr lang="en-US" sz="1200" kern="1200" baseline="0" dirty="0" smtClean="0">
                <a:solidFill>
                  <a:schemeClr val="tx1"/>
                </a:solidFill>
                <a:latin typeface="Times New Roman" pitchFamily="-110" charset="0"/>
                <a:ea typeface="+mn-ea"/>
                <a:cs typeface="+mn-cs"/>
              </a:rPr>
              <a:t>for 4-bit integers. Although twos complement is an awkward representation</a:t>
            </a:r>
          </a:p>
          <a:p>
            <a:r>
              <a:rPr lang="en-US" sz="1200" kern="1200" baseline="0" dirty="0" smtClean="0">
                <a:solidFill>
                  <a:schemeClr val="tx1"/>
                </a:solidFill>
                <a:latin typeface="Times New Roman" pitchFamily="-110" charset="0"/>
                <a:ea typeface="+mn-ea"/>
                <a:cs typeface="+mn-cs"/>
              </a:rPr>
              <a:t>from the human point of view, we will see that it facilitates the most important arithmetic</a:t>
            </a:r>
          </a:p>
          <a:p>
            <a:r>
              <a:rPr lang="en-US" sz="1200" kern="1200" baseline="0" dirty="0" smtClean="0">
                <a:solidFill>
                  <a:schemeClr val="tx1"/>
                </a:solidFill>
                <a:latin typeface="Times New Roman" pitchFamily="-110" charset="0"/>
                <a:ea typeface="+mn-ea"/>
                <a:cs typeface="+mn-cs"/>
              </a:rPr>
              <a:t>operations, addition and subtraction. For this reason, it is almost universally</a:t>
            </a:r>
          </a:p>
          <a:p>
            <a:r>
              <a:rPr lang="en-US" sz="1200" kern="1200" baseline="0" dirty="0" smtClean="0">
                <a:solidFill>
                  <a:schemeClr val="tx1"/>
                </a:solidFill>
                <a:latin typeface="Times New Roman" pitchFamily="-110" charset="0"/>
                <a:ea typeface="+mn-ea"/>
                <a:cs typeface="+mn-cs"/>
              </a:rPr>
              <a:t>used as the processor representation for integers.</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10" charset="0"/>
                <a:ea typeface="+mn-ea"/>
                <a:cs typeface="+mn-cs"/>
              </a:rPr>
              <a:t>A useful illustration of the nature of twos complement representation is a</a:t>
            </a:r>
          </a:p>
          <a:p>
            <a:r>
              <a:rPr lang="en-US" sz="1200" b="0" i="0" u="none" strike="noStrike" kern="1200" baseline="0" dirty="0" smtClean="0">
                <a:solidFill>
                  <a:schemeClr val="tx1"/>
                </a:solidFill>
                <a:latin typeface="Times New Roman" pitchFamily="-110" charset="0"/>
                <a:ea typeface="+mn-ea"/>
                <a:cs typeface="+mn-cs"/>
              </a:rPr>
              <a:t>value box, in which the value on the far right in the box is 1 (2</a:t>
            </a:r>
            <a:r>
              <a:rPr lang="en-US" sz="1200" b="0" i="0" u="none" strike="noStrike" kern="1200" baseline="30000" dirty="0" smtClean="0">
                <a:solidFill>
                  <a:schemeClr val="tx1"/>
                </a:solidFill>
                <a:latin typeface="Times New Roman" pitchFamily="-110" charset="0"/>
                <a:ea typeface="+mn-ea"/>
                <a:cs typeface="+mn-cs"/>
              </a:rPr>
              <a:t>0</a:t>
            </a:r>
            <a:r>
              <a:rPr lang="en-US" sz="1200" b="0" i="0" u="none" strike="noStrike" kern="1200" baseline="0" dirty="0" smtClean="0">
                <a:solidFill>
                  <a:schemeClr val="tx1"/>
                </a:solidFill>
                <a:latin typeface="Times New Roman" pitchFamily="-110" charset="0"/>
                <a:ea typeface="+mn-ea"/>
                <a:cs typeface="+mn-cs"/>
              </a:rPr>
              <a:t> ) and each succeeding</a:t>
            </a:r>
          </a:p>
          <a:p>
            <a:r>
              <a:rPr lang="en-US" sz="1200" b="0" i="0" u="none" strike="noStrike" kern="1200" baseline="0" dirty="0" smtClean="0">
                <a:solidFill>
                  <a:schemeClr val="tx1"/>
                </a:solidFill>
                <a:latin typeface="Times New Roman" pitchFamily="-110" charset="0"/>
                <a:ea typeface="+mn-ea"/>
                <a:cs typeface="+mn-cs"/>
              </a:rPr>
              <a:t>position to the left is double in value, until the leftmost position, which is negated.</a:t>
            </a:r>
          </a:p>
          <a:p>
            <a:r>
              <a:rPr lang="en-US" sz="1200" b="0" i="0" u="none" strike="noStrike" kern="1200" baseline="0" dirty="0" smtClean="0">
                <a:solidFill>
                  <a:schemeClr val="tx1"/>
                </a:solidFill>
                <a:latin typeface="Times New Roman" pitchFamily="-110" charset="0"/>
                <a:ea typeface="+mn-ea"/>
                <a:cs typeface="+mn-cs"/>
              </a:rPr>
              <a:t>As you can see in Figure 10.2a, the most negative twos complement number that</a:t>
            </a:r>
          </a:p>
          <a:p>
            <a:r>
              <a:rPr lang="en-US" sz="1200" b="0" i="0" u="none" strike="noStrike" kern="1200" baseline="0" dirty="0" smtClean="0">
                <a:solidFill>
                  <a:schemeClr val="tx1"/>
                </a:solidFill>
                <a:latin typeface="Times New Roman" pitchFamily="-110" charset="0"/>
                <a:ea typeface="+mn-ea"/>
                <a:cs typeface="+mn-cs"/>
              </a:rPr>
              <a:t>can be represented is </a:t>
            </a:r>
            <a:r>
              <a:rPr lang="en-US" sz="1200" b="1" i="0" u="none" strike="noStrike" kern="1200" baseline="0" dirty="0" smtClean="0">
                <a:solidFill>
                  <a:schemeClr val="tx1"/>
                </a:solidFill>
                <a:latin typeface="Times New Roman" pitchFamily="-110" charset="0"/>
                <a:ea typeface="+mn-ea"/>
                <a:cs typeface="+mn-cs"/>
              </a:rPr>
              <a:t>-</a:t>
            </a:r>
            <a:r>
              <a:rPr lang="en-US" sz="1200" b="0" i="0" u="none" strike="noStrike" kern="1200" baseline="0" dirty="0" smtClean="0">
                <a:solidFill>
                  <a:schemeClr val="tx1"/>
                </a:solidFill>
                <a:latin typeface="Times New Roman" pitchFamily="-110" charset="0"/>
                <a:ea typeface="+mn-ea"/>
                <a:cs typeface="+mn-cs"/>
              </a:rPr>
              <a:t> 2</a:t>
            </a:r>
            <a:r>
              <a:rPr lang="en-US" sz="1200" b="1" i="0" u="none" strike="noStrike" kern="1200" baseline="30000" dirty="0" smtClean="0">
                <a:solidFill>
                  <a:schemeClr val="tx1"/>
                </a:solidFill>
                <a:latin typeface="Times New Roman" pitchFamily="-110" charset="0"/>
                <a:ea typeface="+mn-ea"/>
                <a:cs typeface="+mn-cs"/>
              </a:rPr>
              <a:t>n-</a:t>
            </a:r>
            <a:r>
              <a:rPr lang="en-US" sz="1200" b="0" i="0" u="none" strike="noStrike" kern="1200" baseline="30000" dirty="0" smtClean="0">
                <a:solidFill>
                  <a:schemeClr val="tx1"/>
                </a:solidFill>
                <a:latin typeface="Times New Roman" pitchFamily="-110" charset="0"/>
                <a:ea typeface="+mn-ea"/>
                <a:cs typeface="+mn-cs"/>
              </a:rPr>
              <a:t>1 </a:t>
            </a:r>
            <a:r>
              <a:rPr lang="en-US" sz="1200" b="0" i="0" u="none" strike="noStrike" kern="1200" baseline="0" dirty="0" smtClean="0">
                <a:solidFill>
                  <a:schemeClr val="tx1"/>
                </a:solidFill>
                <a:latin typeface="Times New Roman" pitchFamily="-110" charset="0"/>
                <a:ea typeface="+mn-ea"/>
                <a:cs typeface="+mn-cs"/>
              </a:rPr>
              <a:t>; if any of the bits other than the sign bit is one, it adds a</a:t>
            </a:r>
          </a:p>
          <a:p>
            <a:r>
              <a:rPr lang="en-US" sz="1200" b="0" i="0" u="none" strike="noStrike" kern="1200" baseline="0" dirty="0" smtClean="0">
                <a:solidFill>
                  <a:schemeClr val="tx1"/>
                </a:solidFill>
                <a:latin typeface="Times New Roman" pitchFamily="-110" charset="0"/>
                <a:ea typeface="+mn-ea"/>
                <a:cs typeface="+mn-cs"/>
              </a:rPr>
              <a:t>positive amount to the number. Also, it is clear that a negative number must have a</a:t>
            </a:r>
          </a:p>
          <a:p>
            <a:r>
              <a:rPr lang="en-US" sz="1200" b="0" i="0" u="none" strike="noStrike" kern="1200" baseline="0" dirty="0" smtClean="0">
                <a:solidFill>
                  <a:schemeClr val="tx1"/>
                </a:solidFill>
                <a:latin typeface="Times New Roman" pitchFamily="-110" charset="0"/>
                <a:ea typeface="+mn-ea"/>
                <a:cs typeface="+mn-cs"/>
              </a:rPr>
              <a:t>1 at its leftmost position and a positive number must have a 0 in that position. Thus,</a:t>
            </a:r>
          </a:p>
          <a:p>
            <a:r>
              <a:rPr lang="en-US" sz="1200" b="0" i="0" u="none" strike="noStrike" kern="1200" baseline="0" dirty="0" smtClean="0">
                <a:solidFill>
                  <a:schemeClr val="tx1"/>
                </a:solidFill>
                <a:latin typeface="Times New Roman" pitchFamily="-110" charset="0"/>
                <a:ea typeface="+mn-ea"/>
                <a:cs typeface="+mn-cs"/>
              </a:rPr>
              <a:t>the largest positive number is a 0 followed by all 1s, which equals 2</a:t>
            </a:r>
            <a:r>
              <a:rPr lang="en-US" sz="1200" b="1" i="0" u="none" strike="noStrike" kern="1200" baseline="30000" dirty="0" smtClean="0">
                <a:solidFill>
                  <a:schemeClr val="tx1"/>
                </a:solidFill>
                <a:latin typeface="Times New Roman" pitchFamily="-110" charset="0"/>
                <a:ea typeface="+mn-ea"/>
                <a:cs typeface="+mn-cs"/>
              </a:rPr>
              <a:t>n-</a:t>
            </a:r>
            <a:r>
              <a:rPr lang="en-US" sz="1200" b="0" i="0" u="none" strike="noStrike" kern="1200" baseline="30000" dirty="0" smtClean="0">
                <a:solidFill>
                  <a:schemeClr val="tx1"/>
                </a:solidFill>
                <a:latin typeface="Times New Roman" pitchFamily="-110" charset="0"/>
                <a:ea typeface="+mn-ea"/>
                <a:cs typeface="+mn-cs"/>
              </a:rPr>
              <a:t>1 </a:t>
            </a:r>
            <a:r>
              <a:rPr lang="en-US" sz="1200" b="1" i="0" u="none" strike="noStrike" kern="1200" baseline="0" dirty="0" smtClean="0">
                <a:solidFill>
                  <a:schemeClr val="tx1"/>
                </a:solidFill>
                <a:latin typeface="Times New Roman" pitchFamily="-110" charset="0"/>
                <a:ea typeface="+mn-ea"/>
                <a:cs typeface="+mn-cs"/>
              </a:rPr>
              <a:t>- </a:t>
            </a:r>
            <a:r>
              <a:rPr lang="en-US" sz="1200" b="0" i="0" u="none" strike="noStrike" kern="1200" baseline="0" dirty="0" smtClean="0">
                <a:solidFill>
                  <a:schemeClr val="tx1"/>
                </a:solidFill>
                <a:latin typeface="Times New Roman" pitchFamily="-110" charset="0"/>
                <a:ea typeface="+mn-ea"/>
                <a:cs typeface="+mn-cs"/>
              </a:rPr>
              <a:t> 1.</a:t>
            </a:r>
          </a:p>
          <a:p>
            <a:endParaRPr lang="en-US" sz="1200" b="0" i="0" u="none" strike="noStrike"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The rest of Figure 10.2 illustrates the use of the value box to convert from twos</a:t>
            </a:r>
          </a:p>
          <a:p>
            <a:r>
              <a:rPr lang="en-US" sz="1200" b="0" i="0" u="none" strike="noStrike" kern="1200" baseline="0" dirty="0" smtClean="0">
                <a:solidFill>
                  <a:schemeClr val="tx1"/>
                </a:solidFill>
                <a:latin typeface="Times New Roman" pitchFamily="-110" charset="0"/>
                <a:ea typeface="+mn-ea"/>
                <a:cs typeface="+mn-cs"/>
              </a:rPr>
              <a:t>complement to decimal and from decimal to twos complement.</a:t>
            </a:r>
            <a:endParaRPr lang="en-US" dirty="0"/>
          </a:p>
        </p:txBody>
      </p:sp>
      <p:sp>
        <p:nvSpPr>
          <p:cNvPr id="4" name="Footer Placeholder 3"/>
          <p:cNvSpPr>
            <a:spLocks noGrp="1"/>
          </p:cNvSpPr>
          <p:nvPr>
            <p:ph type="ftr" sz="quarter" idx="10"/>
          </p:nvPr>
        </p:nvSpPr>
        <p:spPr/>
        <p:txBody>
          <a:bodyPr/>
          <a:lstStyle/>
          <a:p>
            <a:r>
              <a:rPr lang="en-US" dirty="0" smtClean="0"/>
              <a:t>© 2016 Pearson Education, Inc., Hoboken, NJ. All rights reserved.</a:t>
            </a:r>
            <a:endParaRPr lang="en-US" dirty="0"/>
          </a:p>
        </p:txBody>
      </p:sp>
      <p:sp>
        <p:nvSpPr>
          <p:cNvPr id="5" name="Slide Number Placeholder 4"/>
          <p:cNvSpPr>
            <a:spLocks noGrp="1"/>
          </p:cNvSpPr>
          <p:nvPr>
            <p:ph type="sldNum" sz="quarter" idx="11"/>
          </p:nvPr>
        </p:nvSpPr>
        <p:spPr/>
        <p:txBody>
          <a:bodyPr/>
          <a:lstStyle/>
          <a:p>
            <a:fld id="{C8AE27EA-A634-9140-BAF9-5BB17D98E520}" type="slidenum">
              <a:rPr lang="en-US" smtClean="0"/>
              <a:pPr/>
              <a:t>12</a:t>
            </a:fld>
            <a:endParaRPr lang="en-US" dirty="0"/>
          </a:p>
        </p:txBody>
      </p:sp>
    </p:spTree>
    <p:extLst>
      <p:ext uri="{BB962C8B-B14F-4D97-AF65-F5344CB8AC3E}">
        <p14:creationId xmlns:p14="http://schemas.microsoft.com/office/powerpoint/2010/main" val="1499371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10" charset="0"/>
                <a:ea typeface="+mn-ea"/>
                <a:cs typeface="+mn-cs"/>
              </a:rPr>
              <a:t>A useful illustration of the nature of twos complement representation is a</a:t>
            </a:r>
          </a:p>
          <a:p>
            <a:r>
              <a:rPr lang="en-US" sz="1200" b="0" i="0" u="none" strike="noStrike" kern="1200" baseline="0" dirty="0" smtClean="0">
                <a:solidFill>
                  <a:schemeClr val="tx1"/>
                </a:solidFill>
                <a:latin typeface="Times New Roman" pitchFamily="-110" charset="0"/>
                <a:ea typeface="+mn-ea"/>
                <a:cs typeface="+mn-cs"/>
              </a:rPr>
              <a:t>value box, in which the value on the far right in the box is 1 (2</a:t>
            </a:r>
            <a:r>
              <a:rPr lang="en-US" sz="1200" b="0" i="0" u="none" strike="noStrike" kern="1200" baseline="30000" dirty="0" smtClean="0">
                <a:solidFill>
                  <a:schemeClr val="tx1"/>
                </a:solidFill>
                <a:latin typeface="Times New Roman" pitchFamily="-110" charset="0"/>
                <a:ea typeface="+mn-ea"/>
                <a:cs typeface="+mn-cs"/>
              </a:rPr>
              <a:t>0</a:t>
            </a:r>
            <a:r>
              <a:rPr lang="en-US" sz="1200" b="0" i="0" u="none" strike="noStrike" kern="1200" baseline="0" dirty="0" smtClean="0">
                <a:solidFill>
                  <a:schemeClr val="tx1"/>
                </a:solidFill>
                <a:latin typeface="Times New Roman" pitchFamily="-110" charset="0"/>
                <a:ea typeface="+mn-ea"/>
                <a:cs typeface="+mn-cs"/>
              </a:rPr>
              <a:t> ) and each succeeding</a:t>
            </a:r>
          </a:p>
          <a:p>
            <a:r>
              <a:rPr lang="en-US" sz="1200" b="0" i="0" u="none" strike="noStrike" kern="1200" baseline="0" dirty="0" smtClean="0">
                <a:solidFill>
                  <a:schemeClr val="tx1"/>
                </a:solidFill>
                <a:latin typeface="Times New Roman" pitchFamily="-110" charset="0"/>
                <a:ea typeface="+mn-ea"/>
                <a:cs typeface="+mn-cs"/>
              </a:rPr>
              <a:t>position to the left is double in value, until the leftmost position, which is negated.</a:t>
            </a:r>
          </a:p>
          <a:p>
            <a:r>
              <a:rPr lang="en-US" sz="1200" b="0" i="0" u="none" strike="noStrike" kern="1200" baseline="0" dirty="0" smtClean="0">
                <a:solidFill>
                  <a:schemeClr val="tx1"/>
                </a:solidFill>
                <a:latin typeface="Times New Roman" pitchFamily="-110" charset="0"/>
                <a:ea typeface="+mn-ea"/>
                <a:cs typeface="+mn-cs"/>
              </a:rPr>
              <a:t>As you can see in Figure 10.2a, the most negative twos complement number that</a:t>
            </a:r>
          </a:p>
          <a:p>
            <a:r>
              <a:rPr lang="en-US" sz="1200" b="0" i="0" u="none" strike="noStrike" kern="1200" baseline="0" dirty="0" smtClean="0">
                <a:solidFill>
                  <a:schemeClr val="tx1"/>
                </a:solidFill>
                <a:latin typeface="Times New Roman" pitchFamily="-110" charset="0"/>
                <a:ea typeface="+mn-ea"/>
                <a:cs typeface="+mn-cs"/>
              </a:rPr>
              <a:t>can be represented is </a:t>
            </a:r>
            <a:r>
              <a:rPr lang="en-US" sz="1200" b="1" i="0" u="none" strike="noStrike" kern="1200" baseline="0" dirty="0" smtClean="0">
                <a:solidFill>
                  <a:schemeClr val="tx1"/>
                </a:solidFill>
                <a:latin typeface="Times New Roman" pitchFamily="-110" charset="0"/>
                <a:ea typeface="+mn-ea"/>
                <a:cs typeface="+mn-cs"/>
              </a:rPr>
              <a:t>-</a:t>
            </a:r>
            <a:r>
              <a:rPr lang="en-US" sz="1200" b="0" i="0" u="none" strike="noStrike" kern="1200" baseline="0" dirty="0" smtClean="0">
                <a:solidFill>
                  <a:schemeClr val="tx1"/>
                </a:solidFill>
                <a:latin typeface="Times New Roman" pitchFamily="-110" charset="0"/>
                <a:ea typeface="+mn-ea"/>
                <a:cs typeface="+mn-cs"/>
              </a:rPr>
              <a:t> 2</a:t>
            </a:r>
            <a:r>
              <a:rPr lang="en-US" sz="1200" b="1" i="0" u="none" strike="noStrike" kern="1200" baseline="30000" dirty="0" smtClean="0">
                <a:solidFill>
                  <a:schemeClr val="tx1"/>
                </a:solidFill>
                <a:latin typeface="Times New Roman" pitchFamily="-110" charset="0"/>
                <a:ea typeface="+mn-ea"/>
                <a:cs typeface="+mn-cs"/>
              </a:rPr>
              <a:t>n-</a:t>
            </a:r>
            <a:r>
              <a:rPr lang="en-US" sz="1200" b="0" i="0" u="none" strike="noStrike" kern="1200" baseline="30000" dirty="0" smtClean="0">
                <a:solidFill>
                  <a:schemeClr val="tx1"/>
                </a:solidFill>
                <a:latin typeface="Times New Roman" pitchFamily="-110" charset="0"/>
                <a:ea typeface="+mn-ea"/>
                <a:cs typeface="+mn-cs"/>
              </a:rPr>
              <a:t>1 </a:t>
            </a:r>
            <a:r>
              <a:rPr lang="en-US" sz="1200" b="0" i="0" u="none" strike="noStrike" kern="1200" baseline="0" dirty="0" smtClean="0">
                <a:solidFill>
                  <a:schemeClr val="tx1"/>
                </a:solidFill>
                <a:latin typeface="Times New Roman" pitchFamily="-110" charset="0"/>
                <a:ea typeface="+mn-ea"/>
                <a:cs typeface="+mn-cs"/>
              </a:rPr>
              <a:t>; if any of the bits other than the sign bit is one, it adds a</a:t>
            </a:r>
          </a:p>
          <a:p>
            <a:r>
              <a:rPr lang="en-US" sz="1200" b="0" i="0" u="none" strike="noStrike" kern="1200" baseline="0" dirty="0" smtClean="0">
                <a:solidFill>
                  <a:schemeClr val="tx1"/>
                </a:solidFill>
                <a:latin typeface="Times New Roman" pitchFamily="-110" charset="0"/>
                <a:ea typeface="+mn-ea"/>
                <a:cs typeface="+mn-cs"/>
              </a:rPr>
              <a:t>positive amount to the number. Also, it is clear that a negative number must have a</a:t>
            </a:r>
          </a:p>
          <a:p>
            <a:r>
              <a:rPr lang="en-US" sz="1200" b="0" i="0" u="none" strike="noStrike" kern="1200" baseline="0" dirty="0" smtClean="0">
                <a:solidFill>
                  <a:schemeClr val="tx1"/>
                </a:solidFill>
                <a:latin typeface="Times New Roman" pitchFamily="-110" charset="0"/>
                <a:ea typeface="+mn-ea"/>
                <a:cs typeface="+mn-cs"/>
              </a:rPr>
              <a:t>1 at its leftmost position and a positive number must have a 0 in that position. Thus,</a:t>
            </a:r>
          </a:p>
          <a:p>
            <a:r>
              <a:rPr lang="en-US" sz="1200" b="0" i="0" u="none" strike="noStrike" kern="1200" baseline="0" dirty="0" smtClean="0">
                <a:solidFill>
                  <a:schemeClr val="tx1"/>
                </a:solidFill>
                <a:latin typeface="Times New Roman" pitchFamily="-110" charset="0"/>
                <a:ea typeface="+mn-ea"/>
                <a:cs typeface="+mn-cs"/>
              </a:rPr>
              <a:t>the largest positive number is a 0 followed by all 1s, which equals 2</a:t>
            </a:r>
            <a:r>
              <a:rPr lang="en-US" sz="1200" b="1" i="0" u="none" strike="noStrike" kern="1200" baseline="30000" dirty="0" smtClean="0">
                <a:solidFill>
                  <a:schemeClr val="tx1"/>
                </a:solidFill>
                <a:latin typeface="Times New Roman" pitchFamily="-110" charset="0"/>
                <a:ea typeface="+mn-ea"/>
                <a:cs typeface="+mn-cs"/>
              </a:rPr>
              <a:t>n-</a:t>
            </a:r>
            <a:r>
              <a:rPr lang="en-US" sz="1200" b="0" i="0" u="none" strike="noStrike" kern="1200" baseline="30000" dirty="0" smtClean="0">
                <a:solidFill>
                  <a:schemeClr val="tx1"/>
                </a:solidFill>
                <a:latin typeface="Times New Roman" pitchFamily="-110" charset="0"/>
                <a:ea typeface="+mn-ea"/>
                <a:cs typeface="+mn-cs"/>
              </a:rPr>
              <a:t>1 </a:t>
            </a:r>
            <a:r>
              <a:rPr lang="en-US" sz="1200" b="1" i="0" u="none" strike="noStrike" kern="1200" baseline="0" dirty="0" smtClean="0">
                <a:solidFill>
                  <a:schemeClr val="tx1"/>
                </a:solidFill>
                <a:latin typeface="Times New Roman" pitchFamily="-110" charset="0"/>
                <a:ea typeface="+mn-ea"/>
                <a:cs typeface="+mn-cs"/>
              </a:rPr>
              <a:t>- </a:t>
            </a:r>
            <a:r>
              <a:rPr lang="en-US" sz="1200" b="0" i="0" u="none" strike="noStrike" kern="1200" baseline="0" dirty="0" smtClean="0">
                <a:solidFill>
                  <a:schemeClr val="tx1"/>
                </a:solidFill>
                <a:latin typeface="Times New Roman" pitchFamily="-110" charset="0"/>
                <a:ea typeface="+mn-ea"/>
                <a:cs typeface="+mn-cs"/>
              </a:rPr>
              <a:t> 1.</a:t>
            </a:r>
          </a:p>
          <a:p>
            <a:endParaRPr lang="en-US" sz="1200" b="0" i="0" u="none" strike="noStrike"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The rest of Figure 10.2 illustrates the use of the value box to convert from twos</a:t>
            </a:r>
          </a:p>
          <a:p>
            <a:r>
              <a:rPr lang="en-US" sz="1200" b="0" i="0" u="none" strike="noStrike" kern="1200" baseline="0" dirty="0" smtClean="0">
                <a:solidFill>
                  <a:schemeClr val="tx1"/>
                </a:solidFill>
                <a:latin typeface="Times New Roman" pitchFamily="-110" charset="0"/>
                <a:ea typeface="+mn-ea"/>
                <a:cs typeface="+mn-cs"/>
              </a:rPr>
              <a:t>complement to decimal and from decimal to twos complement.</a:t>
            </a:r>
            <a:endParaRPr lang="en-US" dirty="0"/>
          </a:p>
        </p:txBody>
      </p:sp>
      <p:sp>
        <p:nvSpPr>
          <p:cNvPr id="4" name="Footer Placeholder 3"/>
          <p:cNvSpPr>
            <a:spLocks noGrp="1"/>
          </p:cNvSpPr>
          <p:nvPr>
            <p:ph type="ftr" sz="quarter" idx="10"/>
          </p:nvPr>
        </p:nvSpPr>
        <p:spPr/>
        <p:txBody>
          <a:bodyPr/>
          <a:lstStyle/>
          <a:p>
            <a:r>
              <a:rPr lang="en-US" dirty="0" smtClean="0"/>
              <a:t>© 2016 Pearson Education, Inc., Hoboken, NJ. All rights reserved.</a:t>
            </a:r>
            <a:endParaRPr lang="en-US" dirty="0"/>
          </a:p>
        </p:txBody>
      </p:sp>
      <p:sp>
        <p:nvSpPr>
          <p:cNvPr id="5" name="Slide Number Placeholder 4"/>
          <p:cNvSpPr>
            <a:spLocks noGrp="1"/>
          </p:cNvSpPr>
          <p:nvPr>
            <p:ph type="sldNum" sz="quarter" idx="11"/>
          </p:nvPr>
        </p:nvSpPr>
        <p:spPr/>
        <p:txBody>
          <a:bodyPr/>
          <a:lstStyle/>
          <a:p>
            <a:fld id="{C8AE27EA-A634-9140-BAF9-5BB17D98E520}" type="slidenum">
              <a:rPr lang="en-US" smtClean="0"/>
              <a:pPr/>
              <a:t>13</a:t>
            </a:fld>
            <a:endParaRPr lang="en-US" dirty="0"/>
          </a:p>
        </p:txBody>
      </p:sp>
    </p:spTree>
    <p:extLst>
      <p:ext uri="{BB962C8B-B14F-4D97-AF65-F5344CB8AC3E}">
        <p14:creationId xmlns:p14="http://schemas.microsoft.com/office/powerpoint/2010/main" val="2200140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1322CD-B268-9C4D-A0E6-532DCE695FA9}" type="slidenum">
              <a:rPr lang="en-US"/>
              <a:pPr/>
              <a:t>14</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In sign-magnitude representation, the rule for forming the negation of an integer is</a:t>
            </a:r>
          </a:p>
          <a:p>
            <a:r>
              <a:rPr lang="en-US" sz="1200" kern="1200" baseline="0" dirty="0" smtClean="0">
                <a:solidFill>
                  <a:schemeClr val="tx1"/>
                </a:solidFill>
                <a:latin typeface="Times New Roman" pitchFamily="-110" charset="0"/>
                <a:ea typeface="+mn-ea"/>
                <a:cs typeface="+mn-cs"/>
              </a:rPr>
              <a:t>simple: invert the sign bit. In twos complement notation, the negation of an integer</a:t>
            </a:r>
          </a:p>
          <a:p>
            <a:r>
              <a:rPr lang="en-US" sz="1200" kern="1200" baseline="0" dirty="0" smtClean="0">
                <a:solidFill>
                  <a:schemeClr val="tx1"/>
                </a:solidFill>
                <a:latin typeface="Times New Roman" pitchFamily="-110" charset="0"/>
                <a:ea typeface="+mn-ea"/>
                <a:cs typeface="+mn-cs"/>
              </a:rPr>
              <a:t>can be formed with the following rules:</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1. Take the Boolean complement of each bit of the integer (including the sign</a:t>
            </a:r>
          </a:p>
          <a:p>
            <a:r>
              <a:rPr lang="en-US" sz="1200" kern="1200" baseline="0" dirty="0" smtClean="0">
                <a:solidFill>
                  <a:schemeClr val="tx1"/>
                </a:solidFill>
                <a:latin typeface="Times New Roman" pitchFamily="-110" charset="0"/>
                <a:ea typeface="+mn-ea"/>
                <a:cs typeface="+mn-cs"/>
              </a:rPr>
              <a:t>bit). That is, set each 1 to 0 and each 0 to 1.</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2. Treating the result as an unsigned binary integer, add 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This two-step process is referred to as the </a:t>
            </a:r>
            <a:r>
              <a:rPr lang="en-US" sz="1200" b="1" kern="1200" baseline="0" dirty="0" smtClean="0">
                <a:solidFill>
                  <a:schemeClr val="tx1"/>
                </a:solidFill>
                <a:latin typeface="Times New Roman" pitchFamily="-110" charset="0"/>
                <a:ea typeface="+mn-ea"/>
                <a:cs typeface="+mn-cs"/>
              </a:rPr>
              <a:t>twos complement operation, </a:t>
            </a:r>
            <a:r>
              <a:rPr lang="en-US" sz="1200" b="0" kern="1200" baseline="0" dirty="0" smtClean="0">
                <a:solidFill>
                  <a:schemeClr val="tx1"/>
                </a:solidFill>
                <a:latin typeface="Times New Roman" pitchFamily="-110" charset="0"/>
                <a:ea typeface="+mn-ea"/>
                <a:cs typeface="+mn-cs"/>
              </a:rPr>
              <a:t>or the taking</a:t>
            </a:r>
          </a:p>
          <a:p>
            <a:r>
              <a:rPr lang="en-US" sz="1200" kern="1200" baseline="0" dirty="0" smtClean="0">
                <a:solidFill>
                  <a:schemeClr val="tx1"/>
                </a:solidFill>
                <a:latin typeface="Times New Roman" pitchFamily="-110" charset="0"/>
                <a:ea typeface="+mn-ea"/>
                <a:cs typeface="+mn-cs"/>
              </a:rPr>
              <a:t>of the twos complement of an integer.</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As expected, the negative of the negative of that number is itself:</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8DAC88-49B1-5946-9E73-FAE8D3D6F5A5}" type="slidenum">
              <a:rPr lang="en-US"/>
              <a:pPr/>
              <a:t>15</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There is a </a:t>
            </a:r>
            <a:r>
              <a:rPr lang="en-US" sz="1200" i="1" kern="1200" baseline="0" dirty="0" smtClean="0">
                <a:solidFill>
                  <a:schemeClr val="tx1"/>
                </a:solidFill>
                <a:latin typeface="Times New Roman" pitchFamily="-110" charset="0"/>
                <a:ea typeface="+mn-ea"/>
                <a:cs typeface="+mn-cs"/>
              </a:rPr>
              <a:t>carry out </a:t>
            </a:r>
            <a:r>
              <a:rPr lang="en-US" sz="1200" i="0" kern="1200" baseline="0" dirty="0" smtClean="0">
                <a:solidFill>
                  <a:schemeClr val="tx1"/>
                </a:solidFill>
                <a:latin typeface="Times New Roman" pitchFamily="-110" charset="0"/>
                <a:ea typeface="+mn-ea"/>
                <a:cs typeface="+mn-cs"/>
              </a:rPr>
              <a:t>of the most significant bit position, which is ignored. The result</a:t>
            </a:r>
          </a:p>
          <a:p>
            <a:r>
              <a:rPr lang="en-US" sz="1200" kern="1200" baseline="0" dirty="0" smtClean="0">
                <a:solidFill>
                  <a:schemeClr val="tx1"/>
                </a:solidFill>
                <a:latin typeface="Times New Roman" pitchFamily="-110" charset="0"/>
                <a:ea typeface="+mn-ea"/>
                <a:cs typeface="+mn-cs"/>
              </a:rPr>
              <a:t>is that the negation of 0 is 0, as it should be.</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7805B2-C292-4E40-8B36-A0B5846EF683}" type="slidenum">
              <a:rPr lang="en-US"/>
              <a:pPr/>
              <a:t>16</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 second special case is more of a problem. If we take the negation of the bit</a:t>
            </a:r>
          </a:p>
          <a:p>
            <a:r>
              <a:rPr lang="en-US" sz="1200" kern="1200" baseline="0" dirty="0" smtClean="0">
                <a:solidFill>
                  <a:schemeClr val="tx1"/>
                </a:solidFill>
                <a:latin typeface="Times New Roman" pitchFamily="-110" charset="0"/>
                <a:ea typeface="+mn-ea"/>
                <a:cs typeface="+mn-cs"/>
              </a:rPr>
              <a:t>pattern of 1 followed by </a:t>
            </a:r>
            <a:r>
              <a:rPr lang="en-US" sz="1200" i="1" kern="1200" baseline="0" dirty="0" smtClean="0">
                <a:solidFill>
                  <a:schemeClr val="tx1"/>
                </a:solidFill>
                <a:latin typeface="Times New Roman" pitchFamily="-110" charset="0"/>
                <a:ea typeface="+mn-ea"/>
                <a:cs typeface="+mn-cs"/>
              </a:rPr>
              <a:t>n - 1 </a:t>
            </a:r>
            <a:r>
              <a:rPr lang="en-US" sz="1200" i="0" kern="1200" baseline="0" dirty="0" smtClean="0">
                <a:solidFill>
                  <a:schemeClr val="tx1"/>
                </a:solidFill>
                <a:latin typeface="Times New Roman" pitchFamily="-110" charset="0"/>
                <a:ea typeface="+mn-ea"/>
                <a:cs typeface="+mn-cs"/>
              </a:rPr>
              <a:t>zeros, we get back the same number.</a:t>
            </a:r>
            <a:endParaRPr lang="en-GB" i="0"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Addition in twos complement is illustrated in Figure 10.3. Addition proceeds as if</a:t>
            </a:r>
          </a:p>
          <a:p>
            <a:r>
              <a:rPr lang="en-US" sz="1200" kern="1200" baseline="0" dirty="0" smtClean="0">
                <a:solidFill>
                  <a:schemeClr val="tx1"/>
                </a:solidFill>
                <a:latin typeface="Times New Roman" pitchFamily="-110" charset="0"/>
                <a:ea typeface="+mn-ea"/>
                <a:cs typeface="+mn-cs"/>
              </a:rPr>
              <a:t>the two numbers were unsigned integers. The first four examples illustrate successful</a:t>
            </a:r>
          </a:p>
          <a:p>
            <a:r>
              <a:rPr lang="en-US" sz="1200" kern="1200" baseline="0" dirty="0" smtClean="0">
                <a:solidFill>
                  <a:schemeClr val="tx1"/>
                </a:solidFill>
                <a:latin typeface="Times New Roman" pitchFamily="-110" charset="0"/>
                <a:ea typeface="+mn-ea"/>
                <a:cs typeface="+mn-cs"/>
              </a:rPr>
              <a:t>operations. If the result of the operation is positive, we get a positive number</a:t>
            </a:r>
          </a:p>
          <a:p>
            <a:r>
              <a:rPr lang="en-US" sz="1200" kern="1200" baseline="0" dirty="0" smtClean="0">
                <a:solidFill>
                  <a:schemeClr val="tx1"/>
                </a:solidFill>
                <a:latin typeface="Times New Roman" pitchFamily="-110" charset="0"/>
                <a:ea typeface="+mn-ea"/>
                <a:cs typeface="+mn-cs"/>
              </a:rPr>
              <a:t>in twos complement form, which is the same as in unsigned-integer form. If the</a:t>
            </a:r>
          </a:p>
          <a:p>
            <a:r>
              <a:rPr lang="en-US" sz="1200" kern="1200" baseline="0" dirty="0" smtClean="0">
                <a:solidFill>
                  <a:schemeClr val="tx1"/>
                </a:solidFill>
                <a:latin typeface="Times New Roman" pitchFamily="-110" charset="0"/>
                <a:ea typeface="+mn-ea"/>
                <a:cs typeface="+mn-cs"/>
              </a:rPr>
              <a:t>result of the operation is negative, we get a negative number in twos complement</a:t>
            </a:r>
          </a:p>
          <a:p>
            <a:r>
              <a:rPr lang="en-US" sz="1200" kern="1200" baseline="0" dirty="0" smtClean="0">
                <a:solidFill>
                  <a:schemeClr val="tx1"/>
                </a:solidFill>
                <a:latin typeface="Times New Roman" pitchFamily="-110" charset="0"/>
                <a:ea typeface="+mn-ea"/>
                <a:cs typeface="+mn-cs"/>
              </a:rPr>
              <a:t>form. Note that, in some instances, there is a carry bit beyond the end of the word</a:t>
            </a:r>
          </a:p>
          <a:p>
            <a:r>
              <a:rPr lang="en-US" sz="1200" kern="1200" baseline="0" dirty="0" smtClean="0">
                <a:solidFill>
                  <a:schemeClr val="tx1"/>
                </a:solidFill>
                <a:latin typeface="Times New Roman" pitchFamily="-110" charset="0"/>
                <a:ea typeface="+mn-ea"/>
                <a:cs typeface="+mn-cs"/>
              </a:rPr>
              <a:t>(indicated by shading), which is ignored.</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17</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On any addition, the result may be larger than can be held in the word size</a:t>
            </a:r>
          </a:p>
          <a:p>
            <a:r>
              <a:rPr lang="en-US" sz="1200" kern="1200" baseline="0" dirty="0" smtClean="0">
                <a:solidFill>
                  <a:schemeClr val="tx1"/>
                </a:solidFill>
                <a:latin typeface="Times New Roman" pitchFamily="-110" charset="0"/>
                <a:ea typeface="+mn-ea"/>
                <a:cs typeface="+mn-cs"/>
              </a:rPr>
              <a:t>being used. This condition is called </a:t>
            </a:r>
            <a:r>
              <a:rPr lang="en-US" sz="1200" b="1" kern="1200" baseline="0" dirty="0" smtClean="0">
                <a:solidFill>
                  <a:schemeClr val="tx1"/>
                </a:solidFill>
                <a:latin typeface="Times New Roman" pitchFamily="-110" charset="0"/>
                <a:ea typeface="+mn-ea"/>
                <a:cs typeface="+mn-cs"/>
              </a:rPr>
              <a:t>overflow. </a:t>
            </a:r>
            <a:r>
              <a:rPr lang="en-US" sz="1200" b="0" kern="1200" baseline="0" dirty="0" smtClean="0">
                <a:solidFill>
                  <a:schemeClr val="tx1"/>
                </a:solidFill>
                <a:latin typeface="Times New Roman" pitchFamily="-110" charset="0"/>
                <a:ea typeface="+mn-ea"/>
                <a:cs typeface="+mn-cs"/>
              </a:rPr>
              <a:t>When overflow occurs, the ALU must</a:t>
            </a:r>
          </a:p>
          <a:p>
            <a:r>
              <a:rPr lang="en-US" sz="1200" kern="1200" baseline="0" dirty="0" smtClean="0">
                <a:solidFill>
                  <a:schemeClr val="tx1"/>
                </a:solidFill>
                <a:latin typeface="Times New Roman" pitchFamily="-110" charset="0"/>
                <a:ea typeface="+mn-ea"/>
                <a:cs typeface="+mn-cs"/>
              </a:rPr>
              <a:t>signal this fact so that no attempt is made to use the result.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Figures 10.3e and f show examples of overflow. Note that overflow can occur</a:t>
            </a:r>
          </a:p>
          <a:p>
            <a:r>
              <a:rPr lang="en-US" sz="1200" kern="1200" baseline="0" dirty="0" smtClean="0">
                <a:solidFill>
                  <a:schemeClr val="tx1"/>
                </a:solidFill>
                <a:latin typeface="Times New Roman" pitchFamily="-110" charset="0"/>
                <a:ea typeface="+mn-ea"/>
                <a:cs typeface="+mn-cs"/>
              </a:rPr>
              <a:t>whether or not there is a carry.</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Subtraction rule.</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Thus, subtraction is achieved using addition, as illustrated in Figure 10.4. The</a:t>
            </a:r>
          </a:p>
          <a:p>
            <a:r>
              <a:rPr lang="en-US" sz="1200" kern="1200" baseline="0" dirty="0" smtClean="0">
                <a:solidFill>
                  <a:schemeClr val="tx1"/>
                </a:solidFill>
                <a:latin typeface="Times New Roman" pitchFamily="-110" charset="0"/>
                <a:ea typeface="+mn-ea"/>
                <a:cs typeface="+mn-cs"/>
              </a:rPr>
              <a:t>last two examples demonstrate that the overflow rule still applies.</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C6E408-FF27-0043-B8AA-B5DC98CA9B7E}" type="slidenum">
              <a:rPr lang="en-US"/>
              <a:pPr/>
              <a:t>21</a:t>
            </a:fld>
            <a:endParaRPr lang="en-US" dirty="0"/>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Some insight into twos complement addition and subtraction can be gained by</a:t>
            </a:r>
          </a:p>
          <a:p>
            <a:r>
              <a:rPr lang="en-US" sz="1200" kern="1200" baseline="0" dirty="0" smtClean="0">
                <a:solidFill>
                  <a:schemeClr val="tx1"/>
                </a:solidFill>
                <a:latin typeface="Times New Roman" pitchFamily="-110" charset="0"/>
                <a:ea typeface="+mn-ea"/>
                <a:cs typeface="+mn-cs"/>
              </a:rPr>
              <a:t>looking at a geometric depiction [BENH92], as shown in Figure 10.5. The circle in</a:t>
            </a:r>
          </a:p>
          <a:p>
            <a:r>
              <a:rPr lang="en-US" sz="1200" kern="1200" baseline="0" dirty="0" smtClean="0">
                <a:solidFill>
                  <a:schemeClr val="tx1"/>
                </a:solidFill>
                <a:latin typeface="Times New Roman" pitchFamily="-110" charset="0"/>
                <a:ea typeface="+mn-ea"/>
                <a:cs typeface="+mn-cs"/>
              </a:rPr>
              <a:t>the upper half of each part of the figure is formed by selecting the appropriate segment</a:t>
            </a:r>
          </a:p>
          <a:p>
            <a:r>
              <a:rPr lang="en-US" sz="1200" kern="1200" baseline="0" dirty="0" smtClean="0">
                <a:solidFill>
                  <a:schemeClr val="tx1"/>
                </a:solidFill>
                <a:latin typeface="Times New Roman" pitchFamily="-110" charset="0"/>
                <a:ea typeface="+mn-ea"/>
                <a:cs typeface="+mn-cs"/>
              </a:rPr>
              <a:t>of the number line and joining the endpoints. Note that when the numbers are</a:t>
            </a:r>
          </a:p>
          <a:p>
            <a:r>
              <a:rPr lang="en-US" sz="1200" kern="1200" baseline="0" dirty="0" smtClean="0">
                <a:solidFill>
                  <a:schemeClr val="tx1"/>
                </a:solidFill>
                <a:latin typeface="Times New Roman" pitchFamily="-110" charset="0"/>
                <a:ea typeface="+mn-ea"/>
                <a:cs typeface="+mn-cs"/>
              </a:rPr>
              <a:t>laid out on a circle, the twos complement of any number is horizontally opposite that</a:t>
            </a:r>
          </a:p>
          <a:p>
            <a:r>
              <a:rPr lang="en-US" sz="1200" kern="1200" baseline="0" dirty="0" smtClean="0">
                <a:solidFill>
                  <a:schemeClr val="tx1"/>
                </a:solidFill>
                <a:latin typeface="Times New Roman" pitchFamily="-110" charset="0"/>
                <a:ea typeface="+mn-ea"/>
                <a:cs typeface="+mn-cs"/>
              </a:rPr>
              <a:t>number (indicated by dashed horizontal lines). Starting at any number on the circle,</a:t>
            </a:r>
          </a:p>
          <a:p>
            <a:r>
              <a:rPr lang="en-US" sz="1200" kern="1200" baseline="0" dirty="0" smtClean="0">
                <a:solidFill>
                  <a:schemeClr val="tx1"/>
                </a:solidFill>
                <a:latin typeface="Times New Roman" pitchFamily="-110" charset="0"/>
                <a:ea typeface="+mn-ea"/>
                <a:cs typeface="+mn-cs"/>
              </a:rPr>
              <a:t>we can add positive </a:t>
            </a:r>
            <a:r>
              <a:rPr lang="en-US" sz="1200" i="1" kern="1200" baseline="0" dirty="0" smtClean="0">
                <a:solidFill>
                  <a:schemeClr val="tx1"/>
                </a:solidFill>
                <a:latin typeface="Times New Roman" pitchFamily="-110" charset="0"/>
                <a:ea typeface="+mn-ea"/>
                <a:cs typeface="+mn-cs"/>
              </a:rPr>
              <a:t>k (</a:t>
            </a:r>
            <a:r>
              <a:rPr lang="en-US" sz="1200" i="0" kern="1200" baseline="0" dirty="0" smtClean="0">
                <a:solidFill>
                  <a:schemeClr val="tx1"/>
                </a:solidFill>
                <a:latin typeface="Times New Roman" pitchFamily="-110" charset="0"/>
                <a:ea typeface="+mn-ea"/>
                <a:cs typeface="+mn-cs"/>
              </a:rPr>
              <a:t>or subtract negative</a:t>
            </a:r>
            <a:r>
              <a:rPr lang="en-US" sz="1200" i="1" kern="1200" baseline="0" dirty="0" smtClean="0">
                <a:solidFill>
                  <a:schemeClr val="tx1"/>
                </a:solidFill>
                <a:latin typeface="Times New Roman" pitchFamily="-110" charset="0"/>
                <a:ea typeface="+mn-ea"/>
                <a:cs typeface="+mn-cs"/>
              </a:rPr>
              <a:t> k) </a:t>
            </a:r>
            <a:r>
              <a:rPr lang="en-US" sz="1200" i="0" kern="1200" baseline="0" dirty="0" smtClean="0">
                <a:solidFill>
                  <a:schemeClr val="tx1"/>
                </a:solidFill>
                <a:latin typeface="Times New Roman" pitchFamily="-110" charset="0"/>
                <a:ea typeface="+mn-ea"/>
                <a:cs typeface="+mn-cs"/>
              </a:rPr>
              <a:t>to that number by moving </a:t>
            </a:r>
            <a:r>
              <a:rPr lang="en-US" sz="1200" i="1" kern="1200" baseline="0" dirty="0" smtClean="0">
                <a:solidFill>
                  <a:schemeClr val="tx1"/>
                </a:solidFill>
                <a:latin typeface="Times New Roman" pitchFamily="-110" charset="0"/>
                <a:ea typeface="+mn-ea"/>
                <a:cs typeface="+mn-cs"/>
              </a:rPr>
              <a:t>k </a:t>
            </a:r>
            <a:r>
              <a:rPr lang="en-US" sz="1200" i="0" kern="1200" baseline="0" dirty="0" smtClean="0">
                <a:solidFill>
                  <a:schemeClr val="tx1"/>
                </a:solidFill>
                <a:latin typeface="Times New Roman" pitchFamily="-110" charset="0"/>
                <a:ea typeface="+mn-ea"/>
                <a:cs typeface="+mn-cs"/>
              </a:rPr>
              <a:t>positions</a:t>
            </a:r>
          </a:p>
          <a:p>
            <a:r>
              <a:rPr lang="en-US" sz="1200" kern="1200" baseline="0" dirty="0" smtClean="0">
                <a:solidFill>
                  <a:schemeClr val="tx1"/>
                </a:solidFill>
                <a:latin typeface="Times New Roman" pitchFamily="-110" charset="0"/>
                <a:ea typeface="+mn-ea"/>
                <a:cs typeface="+mn-cs"/>
              </a:rPr>
              <a:t>clockwise, and we can subtract positive </a:t>
            </a:r>
            <a:r>
              <a:rPr lang="en-US" sz="1200" i="1" kern="1200" baseline="0" dirty="0" smtClean="0">
                <a:solidFill>
                  <a:schemeClr val="tx1"/>
                </a:solidFill>
                <a:latin typeface="Times New Roman" pitchFamily="-110" charset="0"/>
                <a:ea typeface="+mn-ea"/>
                <a:cs typeface="+mn-cs"/>
              </a:rPr>
              <a:t>k </a:t>
            </a:r>
            <a:r>
              <a:rPr lang="en-US" sz="1200" i="0" kern="1200" baseline="0" dirty="0" smtClean="0">
                <a:solidFill>
                  <a:schemeClr val="tx1"/>
                </a:solidFill>
                <a:latin typeface="Times New Roman" pitchFamily="-110" charset="0"/>
                <a:ea typeface="+mn-ea"/>
                <a:cs typeface="+mn-cs"/>
              </a:rPr>
              <a:t>(or add negativ</a:t>
            </a:r>
            <a:r>
              <a:rPr lang="en-US" sz="1200" i="1" kern="1200" baseline="0" dirty="0" smtClean="0">
                <a:solidFill>
                  <a:schemeClr val="tx1"/>
                </a:solidFill>
                <a:latin typeface="Times New Roman" pitchFamily="-110" charset="0"/>
                <a:ea typeface="+mn-ea"/>
                <a:cs typeface="+mn-cs"/>
              </a:rPr>
              <a:t>e k) </a:t>
            </a:r>
            <a:r>
              <a:rPr lang="en-US" sz="1200" i="0" kern="1200" baseline="0" dirty="0" smtClean="0">
                <a:solidFill>
                  <a:schemeClr val="tx1"/>
                </a:solidFill>
                <a:latin typeface="Times New Roman" pitchFamily="-110" charset="0"/>
                <a:ea typeface="+mn-ea"/>
                <a:cs typeface="+mn-cs"/>
              </a:rPr>
              <a:t>from that number by</a:t>
            </a:r>
          </a:p>
          <a:p>
            <a:r>
              <a:rPr lang="en-US" sz="1200" kern="1200" baseline="0" dirty="0" smtClean="0">
                <a:solidFill>
                  <a:schemeClr val="tx1"/>
                </a:solidFill>
                <a:latin typeface="Times New Roman" pitchFamily="-110" charset="0"/>
                <a:ea typeface="+mn-ea"/>
                <a:cs typeface="+mn-cs"/>
              </a:rPr>
              <a:t>moving </a:t>
            </a:r>
            <a:r>
              <a:rPr lang="en-US" sz="1200" i="1" kern="1200" baseline="0" dirty="0" smtClean="0">
                <a:solidFill>
                  <a:schemeClr val="tx1"/>
                </a:solidFill>
                <a:latin typeface="Times New Roman" pitchFamily="-110" charset="0"/>
                <a:ea typeface="+mn-ea"/>
                <a:cs typeface="+mn-cs"/>
              </a:rPr>
              <a:t>k </a:t>
            </a:r>
            <a:r>
              <a:rPr lang="en-US" sz="1200" i="0" kern="1200" baseline="0" dirty="0" smtClean="0">
                <a:solidFill>
                  <a:schemeClr val="tx1"/>
                </a:solidFill>
                <a:latin typeface="Times New Roman" pitchFamily="-110" charset="0"/>
                <a:ea typeface="+mn-ea"/>
                <a:cs typeface="+mn-cs"/>
              </a:rPr>
              <a:t>positions counterclockwise. If an arithmetic operation results in traversal</a:t>
            </a:r>
          </a:p>
          <a:p>
            <a:r>
              <a:rPr lang="en-US" sz="1200" kern="1200" baseline="0" dirty="0" smtClean="0">
                <a:solidFill>
                  <a:schemeClr val="tx1"/>
                </a:solidFill>
                <a:latin typeface="Times New Roman" pitchFamily="-110" charset="0"/>
                <a:ea typeface="+mn-ea"/>
                <a:cs typeface="+mn-cs"/>
              </a:rPr>
              <a:t>of the point where the endpoints are joined, an incorrect answer is given (overflow).</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96537B-7D9E-7046-86C8-605610BAA9F3}" type="slidenum">
              <a:rPr lang="en-US"/>
              <a:pPr/>
              <a:t>22</a:t>
            </a:fld>
            <a:endParaRPr lang="en-US" dirty="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Figure 10.6 suggests the data paths and hardware elements needed to accomplish</a:t>
            </a:r>
          </a:p>
          <a:p>
            <a:r>
              <a:rPr lang="en-US" sz="1200" kern="1200" baseline="0" dirty="0" smtClean="0">
                <a:solidFill>
                  <a:schemeClr val="tx1"/>
                </a:solidFill>
                <a:latin typeface="Times New Roman" pitchFamily="-110" charset="0"/>
                <a:ea typeface="+mn-ea"/>
                <a:cs typeface="+mn-cs"/>
              </a:rPr>
              <a:t>addition and subtraction. The central element is a binary adder, which is presented</a:t>
            </a:r>
          </a:p>
          <a:p>
            <a:r>
              <a:rPr lang="en-US" sz="1200" kern="1200" baseline="0" dirty="0" smtClean="0">
                <a:solidFill>
                  <a:schemeClr val="tx1"/>
                </a:solidFill>
                <a:latin typeface="Times New Roman" pitchFamily="-110" charset="0"/>
                <a:ea typeface="+mn-ea"/>
                <a:cs typeface="+mn-cs"/>
              </a:rPr>
              <a:t>two numbers for addition and produces a sum and an overflow indication.</a:t>
            </a:r>
          </a:p>
          <a:p>
            <a:r>
              <a:rPr lang="en-US" sz="1200" kern="1200" baseline="0" dirty="0" smtClean="0">
                <a:solidFill>
                  <a:schemeClr val="tx1"/>
                </a:solidFill>
                <a:latin typeface="Times New Roman" pitchFamily="-110" charset="0"/>
                <a:ea typeface="+mn-ea"/>
                <a:cs typeface="+mn-cs"/>
              </a:rPr>
              <a:t>The binary adder treats the two numbers as unsigned integers. (A logic implementation</a:t>
            </a:r>
          </a:p>
          <a:p>
            <a:r>
              <a:rPr lang="en-US" sz="1200" kern="1200" baseline="0" dirty="0" smtClean="0">
                <a:solidFill>
                  <a:schemeClr val="tx1"/>
                </a:solidFill>
                <a:latin typeface="Times New Roman" pitchFamily="-110" charset="0"/>
                <a:ea typeface="+mn-ea"/>
                <a:cs typeface="+mn-cs"/>
              </a:rPr>
              <a:t>of an adder is given in Chapter 11.) For addition, the two numbers are</a:t>
            </a:r>
          </a:p>
          <a:p>
            <a:r>
              <a:rPr lang="en-US" sz="1200" kern="1200" baseline="0" dirty="0" smtClean="0">
                <a:solidFill>
                  <a:schemeClr val="tx1"/>
                </a:solidFill>
                <a:latin typeface="Times New Roman" pitchFamily="-110" charset="0"/>
                <a:ea typeface="+mn-ea"/>
                <a:cs typeface="+mn-cs"/>
              </a:rPr>
              <a:t>presented to the adder from two registers, designated in this case as A and B registers.</a:t>
            </a:r>
          </a:p>
          <a:p>
            <a:r>
              <a:rPr lang="en-US" sz="1200" kern="1200" baseline="0" dirty="0" smtClean="0">
                <a:solidFill>
                  <a:schemeClr val="tx1"/>
                </a:solidFill>
                <a:latin typeface="Times New Roman" pitchFamily="-110" charset="0"/>
                <a:ea typeface="+mn-ea"/>
                <a:cs typeface="+mn-cs"/>
              </a:rPr>
              <a:t>The result may be stored in one of these registers or in a third. The overflow</a:t>
            </a:r>
          </a:p>
          <a:p>
            <a:r>
              <a:rPr lang="en-US" sz="1200" kern="1200" baseline="0" dirty="0" smtClean="0">
                <a:solidFill>
                  <a:schemeClr val="tx1"/>
                </a:solidFill>
                <a:latin typeface="Times New Roman" pitchFamily="-110" charset="0"/>
                <a:ea typeface="+mn-ea"/>
                <a:cs typeface="+mn-cs"/>
              </a:rPr>
              <a:t>indication is stored in a 1-bit overflow flag (0 = no overflow; 1 = overflow). For</a:t>
            </a:r>
          </a:p>
          <a:p>
            <a:r>
              <a:rPr lang="en-US" sz="1200" kern="1200" baseline="0" dirty="0" smtClean="0">
                <a:solidFill>
                  <a:schemeClr val="tx1"/>
                </a:solidFill>
                <a:latin typeface="Times New Roman" pitchFamily="-110" charset="0"/>
                <a:ea typeface="+mn-ea"/>
                <a:cs typeface="+mn-cs"/>
              </a:rPr>
              <a:t>subtraction, the subtrahend (B register) is passed through a twos complementer</a:t>
            </a:r>
          </a:p>
          <a:p>
            <a:r>
              <a:rPr lang="en-US" sz="1200" kern="1200" baseline="0" dirty="0" smtClean="0">
                <a:solidFill>
                  <a:schemeClr val="tx1"/>
                </a:solidFill>
                <a:latin typeface="Times New Roman" pitchFamily="-110" charset="0"/>
                <a:ea typeface="+mn-ea"/>
                <a:cs typeface="+mn-cs"/>
              </a:rPr>
              <a:t>so that its twos complement is presented to the adder. Note that Figure 10.6 only</a:t>
            </a:r>
          </a:p>
          <a:p>
            <a:r>
              <a:rPr lang="en-US" sz="1200" kern="1200" baseline="0" dirty="0" smtClean="0">
                <a:solidFill>
                  <a:schemeClr val="tx1"/>
                </a:solidFill>
                <a:latin typeface="Times New Roman" pitchFamily="-110" charset="0"/>
                <a:ea typeface="+mn-ea"/>
                <a:cs typeface="+mn-cs"/>
              </a:rPr>
              <a:t>shows the data paths. Control signals are needed to control whether or not the complementer</a:t>
            </a:r>
          </a:p>
          <a:p>
            <a:r>
              <a:rPr lang="en-US" sz="1200" kern="1200" baseline="0" dirty="0" smtClean="0">
                <a:solidFill>
                  <a:schemeClr val="tx1"/>
                </a:solidFill>
                <a:latin typeface="Times New Roman" pitchFamily="-110" charset="0"/>
                <a:ea typeface="+mn-ea"/>
                <a:cs typeface="+mn-cs"/>
              </a:rPr>
              <a:t>is used, depending on whether the operation is addition or subtraction.</a:t>
            </a:r>
          </a:p>
          <a:p>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DB81AD-687E-184A-BB1E-1687D0D8A52A}" type="slidenum">
              <a:rPr lang="en-US"/>
              <a:pPr/>
              <a:t>23</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Compared with addition and subtraction, multiplication is a complex operation,</a:t>
            </a:r>
          </a:p>
          <a:p>
            <a:r>
              <a:rPr lang="en-US" sz="1200" kern="1200" baseline="0" dirty="0" smtClean="0">
                <a:solidFill>
                  <a:schemeClr val="tx1"/>
                </a:solidFill>
                <a:latin typeface="Times New Roman" pitchFamily="-110" charset="0"/>
                <a:ea typeface="+mn-ea"/>
                <a:cs typeface="+mn-cs"/>
              </a:rPr>
              <a:t>whether performed in hardware or software. A wide variety of algorithms have been</a:t>
            </a:r>
          </a:p>
          <a:p>
            <a:r>
              <a:rPr lang="en-US" sz="1200" kern="1200" baseline="0" dirty="0" smtClean="0">
                <a:solidFill>
                  <a:schemeClr val="tx1"/>
                </a:solidFill>
                <a:latin typeface="Times New Roman" pitchFamily="-110" charset="0"/>
                <a:ea typeface="+mn-ea"/>
                <a:cs typeface="+mn-cs"/>
              </a:rPr>
              <a:t>used in various computers. The purpose of this subsection is to give the reader some</a:t>
            </a:r>
          </a:p>
          <a:p>
            <a:r>
              <a:rPr lang="en-US" sz="1200" kern="1200" baseline="0" dirty="0" smtClean="0">
                <a:solidFill>
                  <a:schemeClr val="tx1"/>
                </a:solidFill>
                <a:latin typeface="Times New Roman" pitchFamily="-110" charset="0"/>
                <a:ea typeface="+mn-ea"/>
                <a:cs typeface="+mn-cs"/>
              </a:rPr>
              <a:t>feel for the type of approach typically taken. We begin with the simpler problem of</a:t>
            </a:r>
          </a:p>
          <a:p>
            <a:r>
              <a:rPr lang="en-US" sz="1200" kern="1200" baseline="0" dirty="0" smtClean="0">
                <a:solidFill>
                  <a:schemeClr val="tx1"/>
                </a:solidFill>
                <a:latin typeface="Times New Roman" pitchFamily="-110" charset="0"/>
                <a:ea typeface="+mn-ea"/>
                <a:cs typeface="+mn-cs"/>
              </a:rPr>
              <a:t>multiplying two unsigned (nonnegative) integers, and then we look at one of the most</a:t>
            </a:r>
          </a:p>
          <a:p>
            <a:r>
              <a:rPr lang="en-US" sz="1200" kern="1200" baseline="0" dirty="0" smtClean="0">
                <a:solidFill>
                  <a:schemeClr val="tx1"/>
                </a:solidFill>
                <a:latin typeface="Times New Roman" pitchFamily="-110" charset="0"/>
                <a:ea typeface="+mn-ea"/>
                <a:cs typeface="+mn-cs"/>
              </a:rPr>
              <a:t>common techniques for multiplication of numbers in twos complement representation.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Figure 10.7 illustrates the multiplication of unsigned</a:t>
            </a:r>
          </a:p>
          <a:p>
            <a:r>
              <a:rPr lang="en-US" sz="1200" kern="1200" baseline="0" dirty="0" smtClean="0">
                <a:solidFill>
                  <a:schemeClr val="tx1"/>
                </a:solidFill>
                <a:latin typeface="Times New Roman" pitchFamily="-110" charset="0"/>
                <a:ea typeface="+mn-ea"/>
                <a:cs typeface="+mn-cs"/>
              </a:rPr>
              <a:t>binary integers, as might be carried out using paper and pencil. Several important</a:t>
            </a:r>
          </a:p>
          <a:p>
            <a:r>
              <a:rPr lang="en-US" sz="1200" kern="1200" baseline="0" dirty="0" smtClean="0">
                <a:solidFill>
                  <a:schemeClr val="tx1"/>
                </a:solidFill>
                <a:latin typeface="Times New Roman" pitchFamily="-110" charset="0"/>
                <a:ea typeface="+mn-ea"/>
                <a:cs typeface="+mn-cs"/>
              </a:rPr>
              <a:t>observations can be made:</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1. Multiplication involves the generation of partial products, one for each digit in the</a:t>
            </a:r>
          </a:p>
          <a:p>
            <a:r>
              <a:rPr lang="en-US" sz="1200" kern="1200" baseline="0" dirty="0" smtClean="0">
                <a:solidFill>
                  <a:schemeClr val="tx1"/>
                </a:solidFill>
                <a:latin typeface="Times New Roman" pitchFamily="-110" charset="0"/>
                <a:ea typeface="+mn-ea"/>
                <a:cs typeface="+mn-cs"/>
              </a:rPr>
              <a:t>multiplier. These partial products are then summed to produce the final product.</a:t>
            </a:r>
          </a:p>
          <a:p>
            <a:endParaRPr lang="en-US" sz="120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2. The partial products are easily defined. When the multiplier bit is 0, the partial</a:t>
            </a:r>
          </a:p>
          <a:p>
            <a:r>
              <a:rPr lang="en-US" sz="1200" kern="1200" baseline="0" dirty="0" smtClean="0">
                <a:solidFill>
                  <a:schemeClr val="tx1"/>
                </a:solidFill>
                <a:latin typeface="Times New Roman" pitchFamily="-110" charset="0"/>
                <a:ea typeface="+mn-ea"/>
                <a:cs typeface="+mn-cs"/>
              </a:rPr>
              <a:t>product is 0. When the multiplier is 1, the partial product is the multiplicand.</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3. The total product is produced by summing the partial products. For this operation,</a:t>
            </a:r>
          </a:p>
          <a:p>
            <a:r>
              <a:rPr lang="en-US" sz="1200" kern="1200" baseline="0" dirty="0" smtClean="0">
                <a:solidFill>
                  <a:schemeClr val="tx1"/>
                </a:solidFill>
                <a:latin typeface="Times New Roman" pitchFamily="-110" charset="0"/>
                <a:ea typeface="+mn-ea"/>
                <a:cs typeface="+mn-cs"/>
              </a:rPr>
              <a:t>each successive partial product is shifted one position to the left relative</a:t>
            </a:r>
          </a:p>
          <a:p>
            <a:r>
              <a:rPr lang="en-US" sz="1200" kern="1200" baseline="0" dirty="0" smtClean="0">
                <a:solidFill>
                  <a:schemeClr val="tx1"/>
                </a:solidFill>
                <a:latin typeface="Times New Roman" pitchFamily="-110" charset="0"/>
                <a:ea typeface="+mn-ea"/>
                <a:cs typeface="+mn-cs"/>
              </a:rPr>
              <a:t>to the preceding partial product.</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4. The multiplication of two </a:t>
            </a:r>
            <a:r>
              <a:rPr lang="en-US" sz="1200" b="0" i="1" kern="1200" baseline="0" dirty="0" smtClean="0">
                <a:solidFill>
                  <a:schemeClr val="tx1"/>
                </a:solidFill>
                <a:latin typeface="Times New Roman" pitchFamily="-110" charset="0"/>
                <a:ea typeface="+mn-ea"/>
                <a:cs typeface="+mn-cs"/>
              </a:rPr>
              <a:t>n-bit binary integers results in a product of up to 2n</a:t>
            </a:r>
          </a:p>
          <a:p>
            <a:r>
              <a:rPr lang="en-US" sz="1200" kern="1200" baseline="0" dirty="0" smtClean="0">
                <a:solidFill>
                  <a:schemeClr val="tx1"/>
                </a:solidFill>
                <a:latin typeface="Times New Roman" pitchFamily="-110" charset="0"/>
                <a:ea typeface="+mn-ea"/>
                <a:cs typeface="+mn-cs"/>
              </a:rPr>
              <a:t>bits in length (e.g., 11 * 11 = 1001).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Compared with the pencil-and-paper approach, there are several things we can</a:t>
            </a:r>
          </a:p>
          <a:p>
            <a:r>
              <a:rPr lang="en-US" sz="1200" kern="1200" baseline="0" dirty="0" smtClean="0">
                <a:solidFill>
                  <a:schemeClr val="tx1"/>
                </a:solidFill>
                <a:latin typeface="Times New Roman" pitchFamily="-110" charset="0"/>
                <a:ea typeface="+mn-ea"/>
                <a:cs typeface="+mn-cs"/>
              </a:rPr>
              <a:t>do to make computerized multiplication more efficient. First, we can perform a running</a:t>
            </a:r>
          </a:p>
          <a:p>
            <a:r>
              <a:rPr lang="en-US" sz="1200" kern="1200" baseline="0" dirty="0" smtClean="0">
                <a:solidFill>
                  <a:schemeClr val="tx1"/>
                </a:solidFill>
                <a:latin typeface="Times New Roman" pitchFamily="-110" charset="0"/>
                <a:ea typeface="+mn-ea"/>
                <a:cs typeface="+mn-cs"/>
              </a:rPr>
              <a:t>addition on the partial products rather than waiting until the end. This eliminates</a:t>
            </a:r>
          </a:p>
          <a:p>
            <a:r>
              <a:rPr lang="en-US" sz="1200" kern="1200" baseline="0" dirty="0" smtClean="0">
                <a:solidFill>
                  <a:schemeClr val="tx1"/>
                </a:solidFill>
                <a:latin typeface="Times New Roman" pitchFamily="-110" charset="0"/>
                <a:ea typeface="+mn-ea"/>
                <a:cs typeface="+mn-cs"/>
              </a:rPr>
              <a:t>the need for storage of all the partial products; fewer registers are needed. Second,</a:t>
            </a:r>
          </a:p>
          <a:p>
            <a:r>
              <a:rPr lang="en-US" sz="1200" kern="1200" baseline="0" dirty="0" smtClean="0">
                <a:solidFill>
                  <a:schemeClr val="tx1"/>
                </a:solidFill>
                <a:latin typeface="Times New Roman" pitchFamily="-110" charset="0"/>
                <a:ea typeface="+mn-ea"/>
                <a:cs typeface="+mn-cs"/>
              </a:rPr>
              <a:t>we can save some time on the generation of partial products. For each 1 on the multiplier,</a:t>
            </a:r>
          </a:p>
          <a:p>
            <a:r>
              <a:rPr lang="en-US" sz="1200" kern="1200" baseline="0" dirty="0" smtClean="0">
                <a:solidFill>
                  <a:schemeClr val="tx1"/>
                </a:solidFill>
                <a:latin typeface="Times New Roman" pitchFamily="-110" charset="0"/>
                <a:ea typeface="+mn-ea"/>
                <a:cs typeface="+mn-cs"/>
              </a:rPr>
              <a:t>an add and a shift operation are required; but for each 0, only a shift is required.</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ED6C3C-71C0-6247-89F4-1DC1DD7B240A}" type="slidenum">
              <a:rPr lang="en-US"/>
              <a:pPr/>
              <a:t>24</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Figure 10.8a shows a possible implementation employing these measures. The</a:t>
            </a:r>
          </a:p>
          <a:p>
            <a:r>
              <a:rPr lang="en-US" sz="1200" kern="1200" baseline="0" dirty="0" smtClean="0">
                <a:solidFill>
                  <a:schemeClr val="tx1"/>
                </a:solidFill>
                <a:latin typeface="Times New Roman" pitchFamily="-110" charset="0"/>
                <a:ea typeface="+mn-ea"/>
                <a:cs typeface="+mn-cs"/>
              </a:rPr>
              <a:t>multiplier and multiplicand are loaded into two registers (Q and M). A third register,</a:t>
            </a:r>
          </a:p>
          <a:p>
            <a:r>
              <a:rPr lang="en-US" sz="1200" kern="1200" baseline="0" dirty="0" smtClean="0">
                <a:solidFill>
                  <a:schemeClr val="tx1"/>
                </a:solidFill>
                <a:latin typeface="Times New Roman" pitchFamily="-110" charset="0"/>
                <a:ea typeface="+mn-ea"/>
                <a:cs typeface="+mn-cs"/>
              </a:rPr>
              <a:t>the A register, is also needed and is initially set to 0. There is also a 1-bit C register,</a:t>
            </a:r>
          </a:p>
          <a:p>
            <a:r>
              <a:rPr lang="en-US" sz="1200" kern="1200" baseline="0" dirty="0" smtClean="0">
                <a:solidFill>
                  <a:schemeClr val="tx1"/>
                </a:solidFill>
                <a:latin typeface="Times New Roman" pitchFamily="-110" charset="0"/>
                <a:ea typeface="+mn-ea"/>
                <a:cs typeface="+mn-cs"/>
              </a:rPr>
              <a:t>initialized to 0, which holds a potential carry bit resulting from addition.</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1FF392-6089-A84C-8297-209AC25DB4DF}" type="slidenum">
              <a:rPr lang="en-US"/>
              <a:pPr/>
              <a:t>25</a:t>
            </a:fld>
            <a:endParaRPr lang="en-US" dirty="0"/>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 operation of the multiplier is as follows. Control logic reads the bits of the</a:t>
            </a:r>
          </a:p>
          <a:p>
            <a:r>
              <a:rPr lang="en-US" sz="1200" kern="1200" baseline="0" dirty="0" smtClean="0">
                <a:solidFill>
                  <a:schemeClr val="tx1"/>
                </a:solidFill>
                <a:latin typeface="Times New Roman" pitchFamily="-110" charset="0"/>
                <a:ea typeface="+mn-ea"/>
                <a:cs typeface="+mn-cs"/>
              </a:rPr>
              <a:t>multiplier one at a time. If Q</a:t>
            </a:r>
            <a:r>
              <a:rPr lang="en-US" sz="1200" kern="1200" baseline="-25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is 1, then the multiplicand is added to the A register</a:t>
            </a:r>
          </a:p>
          <a:p>
            <a:r>
              <a:rPr lang="en-US" sz="1200" kern="1200" baseline="0" dirty="0" smtClean="0">
                <a:solidFill>
                  <a:schemeClr val="tx1"/>
                </a:solidFill>
                <a:latin typeface="Times New Roman" pitchFamily="-110" charset="0"/>
                <a:ea typeface="+mn-ea"/>
                <a:cs typeface="+mn-cs"/>
              </a:rPr>
              <a:t>and the result is stored in the A register, with the C bit used for overflow. Then all</a:t>
            </a:r>
          </a:p>
          <a:p>
            <a:r>
              <a:rPr lang="en-US" sz="1200" kern="1200" baseline="0" dirty="0" smtClean="0">
                <a:solidFill>
                  <a:schemeClr val="tx1"/>
                </a:solidFill>
                <a:latin typeface="Times New Roman" pitchFamily="-110" charset="0"/>
                <a:ea typeface="+mn-ea"/>
                <a:cs typeface="+mn-cs"/>
              </a:rPr>
              <a:t>of the bits of the C, A, and Q registers are shifted to the right one bit, so that the C</a:t>
            </a:r>
          </a:p>
          <a:p>
            <a:r>
              <a:rPr lang="en-US" sz="1200" kern="1200" baseline="0" dirty="0" smtClean="0">
                <a:solidFill>
                  <a:schemeClr val="tx1"/>
                </a:solidFill>
                <a:latin typeface="Times New Roman" pitchFamily="-110" charset="0"/>
                <a:ea typeface="+mn-ea"/>
                <a:cs typeface="+mn-cs"/>
              </a:rPr>
              <a:t>bit goes into A</a:t>
            </a:r>
            <a:r>
              <a:rPr lang="en-US" sz="1200" i="1" kern="1200" baseline="-25000" dirty="0" smtClean="0">
                <a:solidFill>
                  <a:schemeClr val="tx1"/>
                </a:solidFill>
                <a:latin typeface="Times New Roman" pitchFamily="-110" charset="0"/>
                <a:ea typeface="+mn-ea"/>
                <a:cs typeface="+mn-cs"/>
              </a:rPr>
              <a:t>n-1</a:t>
            </a:r>
            <a:r>
              <a:rPr lang="en-US" sz="1200" i="1" kern="1200" baseline="0" dirty="0" smtClean="0">
                <a:solidFill>
                  <a:schemeClr val="tx1"/>
                </a:solidFill>
                <a:latin typeface="Times New Roman" pitchFamily="-110" charset="0"/>
                <a:ea typeface="+mn-ea"/>
                <a:cs typeface="+mn-cs"/>
              </a:rPr>
              <a:t>, A</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goes into Q</a:t>
            </a:r>
            <a:r>
              <a:rPr lang="en-US" sz="1200" i="1" kern="1200" baseline="-25000" dirty="0" smtClean="0">
                <a:solidFill>
                  <a:schemeClr val="tx1"/>
                </a:solidFill>
                <a:latin typeface="Times New Roman" pitchFamily="-110" charset="0"/>
                <a:ea typeface="+mn-ea"/>
                <a:cs typeface="+mn-cs"/>
              </a:rPr>
              <a:t>n-1 </a:t>
            </a:r>
            <a:r>
              <a:rPr lang="en-US" sz="1200" i="1" kern="1200" baseline="0" dirty="0" smtClean="0">
                <a:solidFill>
                  <a:schemeClr val="tx1"/>
                </a:solidFill>
                <a:latin typeface="Times New Roman" pitchFamily="-110" charset="0"/>
                <a:ea typeface="+mn-ea"/>
                <a:cs typeface="+mn-cs"/>
              </a:rPr>
              <a:t>and Q</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is lost. If Q</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is 0, then no addition is</a:t>
            </a:r>
          </a:p>
          <a:p>
            <a:r>
              <a:rPr lang="en-US" sz="1200" kern="1200" baseline="0" dirty="0" smtClean="0">
                <a:solidFill>
                  <a:schemeClr val="tx1"/>
                </a:solidFill>
                <a:latin typeface="Times New Roman" pitchFamily="-110" charset="0"/>
                <a:ea typeface="+mn-ea"/>
                <a:cs typeface="+mn-cs"/>
              </a:rPr>
              <a:t>performed, just the shift. This process is repeated for each bit of the original multiplier.</a:t>
            </a:r>
          </a:p>
          <a:p>
            <a:r>
              <a:rPr lang="en-US" sz="1200" kern="1200" baseline="0" dirty="0" smtClean="0">
                <a:solidFill>
                  <a:schemeClr val="tx1"/>
                </a:solidFill>
                <a:latin typeface="Times New Roman" pitchFamily="-110" charset="0"/>
                <a:ea typeface="+mn-ea"/>
                <a:cs typeface="+mn-cs"/>
              </a:rPr>
              <a:t>The resulting 2</a:t>
            </a:r>
            <a:r>
              <a:rPr lang="en-US" sz="1200" i="1" kern="1200" baseline="0" dirty="0" smtClean="0">
                <a:solidFill>
                  <a:schemeClr val="tx1"/>
                </a:solidFill>
                <a:latin typeface="Times New Roman" pitchFamily="-110" charset="0"/>
                <a:ea typeface="+mn-ea"/>
                <a:cs typeface="+mn-cs"/>
              </a:rPr>
              <a:t>n-</a:t>
            </a:r>
            <a:r>
              <a:rPr lang="en-US" sz="1200" i="0" kern="1200" baseline="0" dirty="0" smtClean="0">
                <a:solidFill>
                  <a:schemeClr val="tx1"/>
                </a:solidFill>
                <a:latin typeface="Times New Roman" pitchFamily="-110" charset="0"/>
                <a:ea typeface="+mn-ea"/>
                <a:cs typeface="+mn-cs"/>
              </a:rPr>
              <a:t>bit product is contained in the A and Q registers. A flowchart</a:t>
            </a:r>
          </a:p>
          <a:p>
            <a:r>
              <a:rPr lang="en-US" sz="1200" kern="1200" baseline="0" dirty="0" smtClean="0">
                <a:solidFill>
                  <a:schemeClr val="tx1"/>
                </a:solidFill>
                <a:latin typeface="Times New Roman" pitchFamily="-110" charset="0"/>
                <a:ea typeface="+mn-ea"/>
                <a:cs typeface="+mn-cs"/>
              </a:rPr>
              <a:t>of the operation is shown in Figure 10.9, and an example is given in Figure 10.8b.</a:t>
            </a:r>
          </a:p>
          <a:p>
            <a:r>
              <a:rPr lang="en-US" sz="1200" kern="1200" baseline="0" dirty="0" smtClean="0">
                <a:solidFill>
                  <a:schemeClr val="tx1"/>
                </a:solidFill>
                <a:latin typeface="Times New Roman" pitchFamily="-110" charset="0"/>
                <a:ea typeface="+mn-ea"/>
                <a:cs typeface="+mn-cs"/>
              </a:rPr>
              <a:t>Note that on the second cycle, when the multiplier bit is 0, there is no add operation.</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Figure 10.10 recasts Figure 10.7 to make the generation of partial products by multiplication explicit.</a:t>
            </a:r>
          </a:p>
          <a:p>
            <a:r>
              <a:rPr lang="en-US" sz="1200" kern="1200" baseline="0" dirty="0" smtClean="0">
                <a:solidFill>
                  <a:schemeClr val="tx1"/>
                </a:solidFill>
                <a:latin typeface="Times New Roman" pitchFamily="-110" charset="0"/>
                <a:ea typeface="+mn-ea"/>
                <a:cs typeface="+mn-cs"/>
              </a:rPr>
              <a:t>The only difference in Figure 10.10 is that it recognizes that the partial products</a:t>
            </a:r>
          </a:p>
          <a:p>
            <a:r>
              <a:rPr lang="en-US" sz="1200" kern="1200" baseline="0" dirty="0" smtClean="0">
                <a:solidFill>
                  <a:schemeClr val="tx1"/>
                </a:solidFill>
                <a:latin typeface="Times New Roman" pitchFamily="-110" charset="0"/>
                <a:ea typeface="+mn-ea"/>
                <a:cs typeface="+mn-cs"/>
              </a:rPr>
              <a:t>should be viewed as 2</a:t>
            </a:r>
            <a:r>
              <a:rPr lang="en-US" sz="1200" i="1" kern="1200" baseline="0" dirty="0" smtClean="0">
                <a:solidFill>
                  <a:schemeClr val="tx1"/>
                </a:solidFill>
                <a:latin typeface="Times New Roman" pitchFamily="-110" charset="0"/>
                <a:ea typeface="+mn-ea"/>
                <a:cs typeface="+mn-cs"/>
              </a:rPr>
              <a:t>n-</a:t>
            </a:r>
            <a:r>
              <a:rPr lang="en-US" sz="1200" i="0" kern="1200" baseline="0" dirty="0" smtClean="0">
                <a:solidFill>
                  <a:schemeClr val="tx1"/>
                </a:solidFill>
                <a:latin typeface="Times New Roman" pitchFamily="-110" charset="0"/>
                <a:ea typeface="+mn-ea"/>
                <a:cs typeface="+mn-cs"/>
              </a:rPr>
              <a:t>bit numbers generated from the </a:t>
            </a:r>
            <a:r>
              <a:rPr lang="en-US" sz="1200" i="1" kern="1200" baseline="0" dirty="0" smtClean="0">
                <a:solidFill>
                  <a:schemeClr val="tx1"/>
                </a:solidFill>
                <a:latin typeface="Times New Roman" pitchFamily="-110" charset="0"/>
                <a:ea typeface="+mn-ea"/>
                <a:cs typeface="+mn-cs"/>
              </a:rPr>
              <a:t>n-</a:t>
            </a:r>
            <a:r>
              <a:rPr lang="en-US" sz="1200" i="0" kern="1200" baseline="0" dirty="0" smtClean="0">
                <a:solidFill>
                  <a:schemeClr val="tx1"/>
                </a:solidFill>
                <a:latin typeface="Times New Roman" pitchFamily="-110" charset="0"/>
                <a:ea typeface="+mn-ea"/>
                <a:cs typeface="+mn-cs"/>
              </a:rPr>
              <a:t>bit multiplicand.</a:t>
            </a:r>
          </a:p>
          <a:p>
            <a:endParaRPr lang="en-US" sz="1200" i="0"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Thus, as an unsigned integer, the 4-bit multiplicand 1011 is stored in an 8-bit</a:t>
            </a:r>
          </a:p>
          <a:p>
            <a:r>
              <a:rPr lang="en-US" sz="1200" b="0" i="0" u="none" strike="noStrike" kern="1200" baseline="0" dirty="0" smtClean="0">
                <a:solidFill>
                  <a:schemeClr val="tx1"/>
                </a:solidFill>
                <a:latin typeface="Times New Roman" pitchFamily="-110" charset="0"/>
                <a:ea typeface="+mn-ea"/>
                <a:cs typeface="+mn-cs"/>
              </a:rPr>
              <a:t>word as 00001011. Each partial product (other than that for 2</a:t>
            </a:r>
            <a:r>
              <a:rPr lang="en-US" sz="1200" b="0" i="0" u="none" strike="noStrike" kern="1200" baseline="30000" dirty="0" smtClean="0">
                <a:solidFill>
                  <a:schemeClr val="tx1"/>
                </a:solidFill>
                <a:latin typeface="Times New Roman" pitchFamily="-110" charset="0"/>
                <a:ea typeface="+mn-ea"/>
                <a:cs typeface="+mn-cs"/>
              </a:rPr>
              <a:t>0</a:t>
            </a:r>
            <a:r>
              <a:rPr lang="en-US" sz="1200" b="0" i="0" u="none" strike="noStrike" kern="1200" baseline="0" dirty="0" smtClean="0">
                <a:solidFill>
                  <a:schemeClr val="tx1"/>
                </a:solidFill>
                <a:latin typeface="Times New Roman" pitchFamily="-110" charset="0"/>
                <a:ea typeface="+mn-ea"/>
                <a:cs typeface="+mn-cs"/>
              </a:rPr>
              <a:t> ) consists of this number</a:t>
            </a:r>
          </a:p>
          <a:p>
            <a:r>
              <a:rPr lang="en-US" sz="1200" b="0" i="0" u="none" strike="noStrike" kern="1200" baseline="0" dirty="0" smtClean="0">
                <a:solidFill>
                  <a:schemeClr val="tx1"/>
                </a:solidFill>
                <a:latin typeface="Times New Roman" pitchFamily="-110" charset="0"/>
                <a:ea typeface="+mn-ea"/>
                <a:cs typeface="+mn-cs"/>
              </a:rPr>
              <a:t>shifted to the left, with the unoccupied positions on the right filled with zeros</a:t>
            </a:r>
          </a:p>
          <a:p>
            <a:r>
              <a:rPr lang="en-US" sz="1200" b="0" i="0" u="none" strike="noStrike" kern="1200" baseline="0" dirty="0" smtClean="0">
                <a:solidFill>
                  <a:schemeClr val="tx1"/>
                </a:solidFill>
                <a:latin typeface="Times New Roman" pitchFamily="-110" charset="0"/>
                <a:ea typeface="+mn-ea"/>
                <a:cs typeface="+mn-cs"/>
              </a:rPr>
              <a:t>(e.g., a shift to the left of two places yields 00101100).</a:t>
            </a:r>
            <a:endParaRPr lang="en-US" i="0"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Now we can demonstrate that straightforward multiplication will not work if</a:t>
            </a:r>
          </a:p>
          <a:p>
            <a:r>
              <a:rPr lang="en-US" sz="1200" kern="1200" baseline="0" dirty="0" smtClean="0">
                <a:solidFill>
                  <a:schemeClr val="tx1"/>
                </a:solidFill>
                <a:latin typeface="Times New Roman" pitchFamily="-110" charset="0"/>
                <a:ea typeface="+mn-ea"/>
                <a:cs typeface="+mn-cs"/>
              </a:rPr>
              <a:t>the multiplicand is negative. The problem is that each contribution of the negative</a:t>
            </a:r>
          </a:p>
          <a:p>
            <a:r>
              <a:rPr lang="en-US" sz="1200" kern="1200" baseline="0" dirty="0" smtClean="0">
                <a:solidFill>
                  <a:schemeClr val="tx1"/>
                </a:solidFill>
                <a:latin typeface="Times New Roman" pitchFamily="-110" charset="0"/>
                <a:ea typeface="+mn-ea"/>
                <a:cs typeface="+mn-cs"/>
              </a:rPr>
              <a:t>multiplicand as a partial product must be a negative number on a 2</a:t>
            </a:r>
            <a:r>
              <a:rPr lang="en-US" sz="1200" i="1" kern="1200" baseline="0" dirty="0" smtClean="0">
                <a:solidFill>
                  <a:schemeClr val="tx1"/>
                </a:solidFill>
                <a:latin typeface="Times New Roman" pitchFamily="-110" charset="0"/>
                <a:ea typeface="+mn-ea"/>
                <a:cs typeface="+mn-cs"/>
              </a:rPr>
              <a:t>n</a:t>
            </a:r>
            <a:r>
              <a:rPr lang="en-US" sz="1200" i="0" kern="1200" baseline="0" dirty="0" smtClean="0">
                <a:solidFill>
                  <a:schemeClr val="tx1"/>
                </a:solidFill>
                <a:latin typeface="Times New Roman" pitchFamily="-110" charset="0"/>
                <a:ea typeface="+mn-ea"/>
                <a:cs typeface="+mn-cs"/>
              </a:rPr>
              <a:t>-bit field; the sign</a:t>
            </a:r>
          </a:p>
          <a:p>
            <a:r>
              <a:rPr lang="en-US" sz="1200" kern="1200" baseline="0" dirty="0" smtClean="0">
                <a:solidFill>
                  <a:schemeClr val="tx1"/>
                </a:solidFill>
                <a:latin typeface="Times New Roman" pitchFamily="-110" charset="0"/>
                <a:ea typeface="+mn-ea"/>
                <a:cs typeface="+mn-cs"/>
              </a:rPr>
              <a:t>bits of the partial products must line up. This is demonstrated in Figure 10.11, which</a:t>
            </a:r>
          </a:p>
          <a:p>
            <a:r>
              <a:rPr lang="en-US" sz="1200" kern="1200" baseline="0" dirty="0" smtClean="0">
                <a:solidFill>
                  <a:schemeClr val="tx1"/>
                </a:solidFill>
                <a:latin typeface="Times New Roman" pitchFamily="-110" charset="0"/>
                <a:ea typeface="+mn-ea"/>
                <a:cs typeface="+mn-cs"/>
              </a:rPr>
              <a:t>shows that multiplication of 1001 by 0011. If these are treated as unsigned integers,</a:t>
            </a:r>
          </a:p>
          <a:p>
            <a:r>
              <a:rPr lang="en-US" sz="1200" kern="1200" baseline="0" dirty="0" smtClean="0">
                <a:solidFill>
                  <a:schemeClr val="tx1"/>
                </a:solidFill>
                <a:latin typeface="Times New Roman" pitchFamily="-110" charset="0"/>
                <a:ea typeface="+mn-ea"/>
                <a:cs typeface="+mn-cs"/>
              </a:rPr>
              <a:t>the multiplication of 9 * 3 = 27 proceeds simply. However, if 1001 is interpreted</a:t>
            </a:r>
          </a:p>
          <a:p>
            <a:r>
              <a:rPr lang="en-US" sz="1200" kern="1200" baseline="0" dirty="0" smtClean="0">
                <a:solidFill>
                  <a:schemeClr val="tx1"/>
                </a:solidFill>
                <a:latin typeface="Times New Roman" pitchFamily="-110" charset="0"/>
                <a:ea typeface="+mn-ea"/>
                <a:cs typeface="+mn-cs"/>
              </a:rPr>
              <a:t>as the twos complement value -7, then each partial product must be a negative</a:t>
            </a:r>
          </a:p>
          <a:p>
            <a:r>
              <a:rPr lang="en-US" sz="1200" kern="1200" baseline="0" dirty="0" smtClean="0">
                <a:solidFill>
                  <a:schemeClr val="tx1"/>
                </a:solidFill>
                <a:latin typeface="Times New Roman" pitchFamily="-110" charset="0"/>
                <a:ea typeface="+mn-ea"/>
                <a:cs typeface="+mn-cs"/>
              </a:rPr>
              <a:t>twos complement number of 2</a:t>
            </a:r>
            <a:r>
              <a:rPr lang="en-US" sz="1200" i="1" kern="1200" baseline="0" dirty="0" smtClean="0">
                <a:solidFill>
                  <a:schemeClr val="tx1"/>
                </a:solidFill>
                <a:latin typeface="Times New Roman" pitchFamily="-110" charset="0"/>
                <a:ea typeface="+mn-ea"/>
                <a:cs typeface="+mn-cs"/>
              </a:rPr>
              <a:t>n (8) </a:t>
            </a:r>
            <a:r>
              <a:rPr lang="en-US" sz="1200" i="0" kern="1200" baseline="0" dirty="0" smtClean="0">
                <a:solidFill>
                  <a:schemeClr val="tx1"/>
                </a:solidFill>
                <a:latin typeface="Times New Roman" pitchFamily="-110" charset="0"/>
                <a:ea typeface="+mn-ea"/>
                <a:cs typeface="+mn-cs"/>
              </a:rPr>
              <a:t>bits, as shown in Figure 10.11b. Note that this is</a:t>
            </a:r>
          </a:p>
          <a:p>
            <a:r>
              <a:rPr lang="en-US" sz="1200" kern="1200" baseline="0" dirty="0" smtClean="0">
                <a:solidFill>
                  <a:schemeClr val="tx1"/>
                </a:solidFill>
                <a:latin typeface="Times New Roman" pitchFamily="-110" charset="0"/>
                <a:ea typeface="+mn-ea"/>
                <a:cs typeface="+mn-cs"/>
              </a:rPr>
              <a:t>accomplished by padding out each partial product to the left with binary 1s.</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28</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BBEAF7-98B9-424D-8C84-5485C427F3FF}" type="slidenum">
              <a:rPr lang="en-US"/>
              <a:pPr/>
              <a:t>29</a:t>
            </a:fld>
            <a:endParaRPr lang="en-US" dirty="0"/>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r>
              <a:rPr lang="en-US" sz="1200" b="0" i="0" u="none" strike="noStrike" kern="1200" baseline="0" dirty="0" smtClean="0">
                <a:solidFill>
                  <a:schemeClr val="tx1"/>
                </a:solidFill>
                <a:latin typeface="Times New Roman" pitchFamily="-110" charset="0"/>
                <a:ea typeface="+mn-ea"/>
                <a:cs typeface="+mn-cs"/>
              </a:rPr>
              <a:t>There are a number of ways out of this dilemma. One would be to convert</a:t>
            </a:r>
          </a:p>
          <a:p>
            <a:r>
              <a:rPr lang="en-US" sz="1200" b="0" i="0" u="none" strike="noStrike" kern="1200" baseline="0" dirty="0" smtClean="0">
                <a:solidFill>
                  <a:schemeClr val="tx1"/>
                </a:solidFill>
                <a:latin typeface="Times New Roman" pitchFamily="-110" charset="0"/>
                <a:ea typeface="+mn-ea"/>
                <a:cs typeface="+mn-cs"/>
              </a:rPr>
              <a:t>both multiplier and multiplicand to positive numbers, perform the multiplication,</a:t>
            </a:r>
          </a:p>
          <a:p>
            <a:r>
              <a:rPr lang="en-US" sz="1200" b="0" i="0" u="none" strike="noStrike" kern="1200" baseline="0" dirty="0" smtClean="0">
                <a:solidFill>
                  <a:schemeClr val="tx1"/>
                </a:solidFill>
                <a:latin typeface="Times New Roman" pitchFamily="-110" charset="0"/>
                <a:ea typeface="+mn-ea"/>
                <a:cs typeface="+mn-cs"/>
              </a:rPr>
              <a:t>and then take the twos complement of the result if and only if the sign of the two</a:t>
            </a:r>
          </a:p>
          <a:p>
            <a:r>
              <a:rPr lang="en-US" sz="1200" b="0" i="0" u="none" strike="noStrike" kern="1200" baseline="0" dirty="0" smtClean="0">
                <a:solidFill>
                  <a:schemeClr val="tx1"/>
                </a:solidFill>
                <a:latin typeface="Times New Roman" pitchFamily="-110" charset="0"/>
                <a:ea typeface="+mn-ea"/>
                <a:cs typeface="+mn-cs"/>
              </a:rPr>
              <a:t>original numbers differed. Implementers have preferred to use techniques that</a:t>
            </a:r>
          </a:p>
          <a:p>
            <a:r>
              <a:rPr lang="en-US" sz="1200" b="0" i="0" u="none" strike="noStrike" kern="1200" baseline="0" dirty="0" smtClean="0">
                <a:solidFill>
                  <a:schemeClr val="tx1"/>
                </a:solidFill>
                <a:latin typeface="Times New Roman" pitchFamily="-110" charset="0"/>
                <a:ea typeface="+mn-ea"/>
                <a:cs typeface="+mn-cs"/>
              </a:rPr>
              <a:t>do not require this final transformation step. One of the most common of these is</a:t>
            </a:r>
          </a:p>
          <a:p>
            <a:r>
              <a:rPr lang="en-US" sz="1200" b="0" i="0" u="none" strike="noStrike" kern="1200" baseline="0" dirty="0" smtClean="0">
                <a:solidFill>
                  <a:schemeClr val="tx1"/>
                </a:solidFill>
                <a:latin typeface="Times New Roman" pitchFamily="-110" charset="0"/>
                <a:ea typeface="+mn-ea"/>
                <a:cs typeface="+mn-cs"/>
              </a:rPr>
              <a:t>Booth’s algorithm [BOOT51]. This algorithm also has the benefit of speeding up</a:t>
            </a:r>
          </a:p>
          <a:p>
            <a:r>
              <a:rPr lang="en-US" sz="1200" b="0" i="0" u="none" strike="noStrike" kern="1200" baseline="0" dirty="0" smtClean="0">
                <a:solidFill>
                  <a:schemeClr val="tx1"/>
                </a:solidFill>
                <a:latin typeface="Times New Roman" pitchFamily="-110" charset="0"/>
                <a:ea typeface="+mn-ea"/>
                <a:cs typeface="+mn-cs"/>
              </a:rPr>
              <a:t>the multiplication process, relative to a more straightforward approach.</a:t>
            </a:r>
            <a:endParaRPr lang="en-US" sz="1200" kern="1200" baseline="0" dirty="0" smtClean="0">
              <a:solidFill>
                <a:schemeClr val="tx1"/>
              </a:solidFill>
              <a:latin typeface="Times New Roman" pitchFamily="-110" charset="0"/>
              <a:ea typeface="+mn-ea"/>
              <a:cs typeface="+mn-cs"/>
            </a:endParaRP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Booth’s algorithm is depicted in Figure 10.12 and can be described as follows.</a:t>
            </a:r>
          </a:p>
          <a:p>
            <a:r>
              <a:rPr lang="en-US" sz="1200" kern="1200" baseline="0" dirty="0" smtClean="0">
                <a:solidFill>
                  <a:schemeClr val="tx1"/>
                </a:solidFill>
                <a:latin typeface="Times New Roman" pitchFamily="-110" charset="0"/>
                <a:ea typeface="+mn-ea"/>
                <a:cs typeface="+mn-cs"/>
              </a:rPr>
              <a:t>As before, the multiplier and multiplicand are placed in the Q and M registers,</a:t>
            </a:r>
          </a:p>
          <a:p>
            <a:r>
              <a:rPr lang="en-US" sz="1200" kern="1200" baseline="0" dirty="0" smtClean="0">
                <a:solidFill>
                  <a:schemeClr val="tx1"/>
                </a:solidFill>
                <a:latin typeface="Times New Roman" pitchFamily="-110" charset="0"/>
                <a:ea typeface="+mn-ea"/>
                <a:cs typeface="+mn-cs"/>
              </a:rPr>
              <a:t>respectively. There is also a 1-bit register placed logically to the right of the least</a:t>
            </a:r>
          </a:p>
          <a:p>
            <a:r>
              <a:rPr lang="en-US" sz="1200" kern="1200" baseline="0" dirty="0" smtClean="0">
                <a:solidFill>
                  <a:schemeClr val="tx1"/>
                </a:solidFill>
                <a:latin typeface="Times New Roman" pitchFamily="-110" charset="0"/>
                <a:ea typeface="+mn-ea"/>
                <a:cs typeface="+mn-cs"/>
              </a:rPr>
              <a:t>significant bit (Q</a:t>
            </a:r>
            <a:r>
              <a:rPr lang="en-US" sz="1200" kern="1200" baseline="-25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of the Q register and </a:t>
            </a:r>
            <a:r>
              <a:rPr lang="en-US" sz="8000" kern="1200" baseline="0" dirty="0" smtClean="0">
                <a:solidFill>
                  <a:schemeClr val="tx1"/>
                </a:solidFill>
                <a:latin typeface="Times New Roman" pitchFamily="-110" charset="0"/>
                <a:ea typeface="+mn-ea"/>
                <a:cs typeface="+mn-cs"/>
              </a:rPr>
              <a:t>designated Q</a:t>
            </a:r>
            <a:r>
              <a:rPr lang="en-US" sz="8000" kern="1200" baseline="-25000" dirty="0" smtClean="0">
                <a:solidFill>
                  <a:schemeClr val="tx1"/>
                </a:solidFill>
                <a:latin typeface="Times New Roman" pitchFamily="-110" charset="0"/>
                <a:ea typeface="+mn-ea"/>
                <a:cs typeface="+mn-cs"/>
              </a:rPr>
              <a:t>-1</a:t>
            </a:r>
            <a:r>
              <a:rPr lang="en-US" sz="8000" kern="1200" baseline="0" dirty="0" smtClean="0">
                <a:solidFill>
                  <a:schemeClr val="tx1"/>
                </a:solidFill>
                <a:latin typeface="Times New Roman" pitchFamily="-110" charset="0"/>
                <a:ea typeface="+mn-ea"/>
                <a:cs typeface="+mn-cs"/>
              </a:rPr>
              <a:t> its use is explained </a:t>
            </a:r>
            <a:r>
              <a:rPr lang="en-US" sz="1200" kern="1200" baseline="0" dirty="0" smtClean="0">
                <a:solidFill>
                  <a:schemeClr val="tx1"/>
                </a:solidFill>
                <a:latin typeface="Times New Roman" pitchFamily="-110" charset="0"/>
                <a:ea typeface="+mn-ea"/>
                <a:cs typeface="+mn-cs"/>
              </a:rPr>
              <a:t>shortly.</a:t>
            </a:r>
          </a:p>
          <a:p>
            <a:r>
              <a:rPr lang="en-US" sz="1200" kern="1200" baseline="0" dirty="0" smtClean="0">
                <a:solidFill>
                  <a:schemeClr val="tx1"/>
                </a:solidFill>
                <a:latin typeface="Times New Roman" pitchFamily="-110" charset="0"/>
                <a:ea typeface="+mn-ea"/>
                <a:cs typeface="+mn-cs"/>
              </a:rPr>
              <a:t>The results of the multiplication will appear in the A and Q registers. A and Q</a:t>
            </a:r>
            <a:r>
              <a:rPr lang="en-US" sz="1200" kern="1200" baseline="-25000" dirty="0" smtClean="0">
                <a:solidFill>
                  <a:schemeClr val="tx1"/>
                </a:solidFill>
                <a:latin typeface="Times New Roman" pitchFamily="-110" charset="0"/>
                <a:ea typeface="+mn-ea"/>
                <a:cs typeface="+mn-cs"/>
              </a:rPr>
              <a:t>-1</a:t>
            </a:r>
          </a:p>
          <a:p>
            <a:r>
              <a:rPr lang="en-US" sz="1200" kern="1200" baseline="0" dirty="0" smtClean="0">
                <a:solidFill>
                  <a:schemeClr val="tx1"/>
                </a:solidFill>
                <a:latin typeface="Times New Roman" pitchFamily="-110" charset="0"/>
                <a:ea typeface="+mn-ea"/>
                <a:cs typeface="+mn-cs"/>
              </a:rPr>
              <a:t>are initialized to 0. As before, control logic scans the bits of the multiplier one at a</a:t>
            </a:r>
          </a:p>
          <a:p>
            <a:r>
              <a:rPr lang="en-US" sz="1200" kern="1200" baseline="0" dirty="0" smtClean="0">
                <a:solidFill>
                  <a:schemeClr val="tx1"/>
                </a:solidFill>
                <a:latin typeface="Times New Roman" pitchFamily="-110" charset="0"/>
                <a:ea typeface="+mn-ea"/>
                <a:cs typeface="+mn-cs"/>
              </a:rPr>
              <a:t>time. Now, as each bit is examined, the bit to its right is also examined. If the two</a:t>
            </a:r>
          </a:p>
          <a:p>
            <a:r>
              <a:rPr lang="en-US" sz="1200" kern="1200" baseline="0" dirty="0" smtClean="0">
                <a:solidFill>
                  <a:schemeClr val="tx1"/>
                </a:solidFill>
                <a:latin typeface="Times New Roman" pitchFamily="-110" charset="0"/>
                <a:ea typeface="+mn-ea"/>
                <a:cs typeface="+mn-cs"/>
              </a:rPr>
              <a:t>bits are the same (1–1 or 0–0), then all of the bits of the A, Q, and Q</a:t>
            </a:r>
            <a:r>
              <a:rPr lang="en-US" sz="1200" kern="1200" baseline="-25000" dirty="0" smtClean="0">
                <a:solidFill>
                  <a:schemeClr val="tx1"/>
                </a:solidFill>
                <a:latin typeface="Times New Roman" pitchFamily="-110" charset="0"/>
                <a:ea typeface="+mn-ea"/>
                <a:cs typeface="+mn-cs"/>
              </a:rPr>
              <a:t>-1 </a:t>
            </a:r>
            <a:r>
              <a:rPr lang="en-US" sz="1200" kern="1200" baseline="0" dirty="0" smtClean="0">
                <a:solidFill>
                  <a:schemeClr val="tx1"/>
                </a:solidFill>
                <a:latin typeface="Times New Roman" pitchFamily="-110" charset="0"/>
                <a:ea typeface="+mn-ea"/>
                <a:cs typeface="+mn-cs"/>
              </a:rPr>
              <a:t>registers are</a:t>
            </a:r>
          </a:p>
          <a:p>
            <a:r>
              <a:rPr lang="en-US" sz="1200" kern="1200" baseline="0" dirty="0" smtClean="0">
                <a:solidFill>
                  <a:schemeClr val="tx1"/>
                </a:solidFill>
                <a:latin typeface="Times New Roman" pitchFamily="-110" charset="0"/>
                <a:ea typeface="+mn-ea"/>
                <a:cs typeface="+mn-cs"/>
              </a:rPr>
              <a:t>shifted to the right 1 bit. If the two bits differ, then the multiplicand is added to or</a:t>
            </a:r>
          </a:p>
          <a:p>
            <a:r>
              <a:rPr lang="en-US" sz="1200" kern="1200" baseline="0" dirty="0" smtClean="0">
                <a:solidFill>
                  <a:schemeClr val="tx1"/>
                </a:solidFill>
                <a:latin typeface="Times New Roman" pitchFamily="-110" charset="0"/>
                <a:ea typeface="+mn-ea"/>
                <a:cs typeface="+mn-cs"/>
              </a:rPr>
              <a:t>subtracted from the A register, depending on whether the two bits are 0–1 or 1–0.</a:t>
            </a:r>
          </a:p>
          <a:p>
            <a:r>
              <a:rPr lang="en-US" sz="1200" kern="1200" baseline="0" dirty="0" smtClean="0">
                <a:solidFill>
                  <a:schemeClr val="tx1"/>
                </a:solidFill>
                <a:latin typeface="Times New Roman" pitchFamily="-110" charset="0"/>
                <a:ea typeface="+mn-ea"/>
                <a:cs typeface="+mn-cs"/>
              </a:rPr>
              <a:t>Following the addition or subtraction, the right shift occurs. In either case, the right</a:t>
            </a:r>
          </a:p>
          <a:p>
            <a:r>
              <a:rPr lang="en-US" sz="1200" kern="1200" baseline="0" dirty="0" smtClean="0">
                <a:solidFill>
                  <a:schemeClr val="tx1"/>
                </a:solidFill>
                <a:latin typeface="Times New Roman" pitchFamily="-110" charset="0"/>
                <a:ea typeface="+mn-ea"/>
                <a:cs typeface="+mn-cs"/>
              </a:rPr>
              <a:t>shift is such that the leftmost bit of A, namely</a:t>
            </a:r>
            <a:r>
              <a:rPr lang="en-US" sz="1200" i="1" kern="1200" baseline="0" dirty="0" smtClean="0">
                <a:solidFill>
                  <a:schemeClr val="tx1"/>
                </a:solidFill>
                <a:latin typeface="Times New Roman" pitchFamily="-110" charset="0"/>
                <a:ea typeface="+mn-ea"/>
                <a:cs typeface="+mn-cs"/>
              </a:rPr>
              <a:t>,</a:t>
            </a:r>
            <a:r>
              <a:rPr lang="en-US" sz="1200" kern="1200" baseline="0" dirty="0" smtClean="0">
                <a:solidFill>
                  <a:schemeClr val="tx1"/>
                </a:solidFill>
                <a:latin typeface="Times New Roman" pitchFamily="-110" charset="0"/>
                <a:ea typeface="+mn-ea"/>
                <a:cs typeface="+mn-cs"/>
              </a:rPr>
              <a:t> A</a:t>
            </a:r>
            <a:r>
              <a:rPr lang="en-US" sz="1200" i="1" kern="1200" baseline="-25000" dirty="0" smtClean="0">
                <a:solidFill>
                  <a:schemeClr val="tx1"/>
                </a:solidFill>
                <a:latin typeface="Times New Roman" pitchFamily="-110" charset="0"/>
                <a:ea typeface="+mn-ea"/>
                <a:cs typeface="+mn-cs"/>
              </a:rPr>
              <a:t>n-1 </a:t>
            </a:r>
            <a:r>
              <a:rPr lang="en-US" sz="1200" i="1" kern="1200" baseline="0" dirty="0" smtClean="0">
                <a:solidFill>
                  <a:schemeClr val="tx1"/>
                </a:solidFill>
                <a:latin typeface="Times New Roman" pitchFamily="-110" charset="0"/>
                <a:ea typeface="+mn-ea"/>
                <a:cs typeface="+mn-cs"/>
              </a:rPr>
              <a:t>not only is shifted into A</a:t>
            </a:r>
            <a:r>
              <a:rPr lang="en-US" sz="1200" i="1" kern="1200" baseline="-25000" dirty="0" smtClean="0">
                <a:solidFill>
                  <a:schemeClr val="tx1"/>
                </a:solidFill>
                <a:latin typeface="Times New Roman" pitchFamily="-110" charset="0"/>
                <a:ea typeface="+mn-ea"/>
                <a:cs typeface="+mn-cs"/>
              </a:rPr>
              <a:t>n-2</a:t>
            </a:r>
            <a:r>
              <a:rPr lang="en-US" sz="1200" i="1" kern="1200" baseline="0" dirty="0" smtClean="0">
                <a:solidFill>
                  <a:schemeClr val="tx1"/>
                </a:solidFill>
                <a:latin typeface="Times New Roman" pitchFamily="-110" charset="0"/>
                <a:ea typeface="+mn-ea"/>
                <a:cs typeface="+mn-cs"/>
              </a:rPr>
              <a:t>,</a:t>
            </a:r>
          </a:p>
          <a:p>
            <a:r>
              <a:rPr lang="en-US" sz="1200" kern="1200" baseline="0" dirty="0" smtClean="0">
                <a:solidFill>
                  <a:schemeClr val="tx1"/>
                </a:solidFill>
                <a:latin typeface="Times New Roman" pitchFamily="-110" charset="0"/>
                <a:ea typeface="+mn-ea"/>
                <a:cs typeface="+mn-cs"/>
              </a:rPr>
              <a:t>but also remains in A</a:t>
            </a:r>
            <a:r>
              <a:rPr lang="en-US" sz="1200" i="1" kern="1200" baseline="-25000" dirty="0" smtClean="0">
                <a:solidFill>
                  <a:schemeClr val="tx1"/>
                </a:solidFill>
                <a:latin typeface="Times New Roman" pitchFamily="-110" charset="0"/>
                <a:ea typeface="+mn-ea"/>
                <a:cs typeface="+mn-cs"/>
              </a:rPr>
              <a:t>n-1</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This is required to preserve the sign of the number in A</a:t>
            </a:r>
          </a:p>
          <a:p>
            <a:r>
              <a:rPr lang="en-US" sz="1200" kern="1200" baseline="0" dirty="0" smtClean="0">
                <a:solidFill>
                  <a:schemeClr val="tx1"/>
                </a:solidFill>
                <a:latin typeface="Times New Roman" pitchFamily="-110" charset="0"/>
                <a:ea typeface="+mn-ea"/>
                <a:cs typeface="+mn-cs"/>
              </a:rPr>
              <a:t>and Q. It is known as an </a:t>
            </a:r>
            <a:r>
              <a:rPr lang="en-US" sz="1200" b="1" kern="1200" baseline="0" dirty="0" smtClean="0">
                <a:solidFill>
                  <a:schemeClr val="tx1"/>
                </a:solidFill>
                <a:latin typeface="Times New Roman" pitchFamily="-110" charset="0"/>
                <a:ea typeface="+mn-ea"/>
                <a:cs typeface="+mn-cs"/>
              </a:rPr>
              <a:t>arithmetic shift, </a:t>
            </a:r>
            <a:r>
              <a:rPr lang="en-US" sz="1200" b="0" kern="1200" baseline="0" dirty="0" smtClean="0">
                <a:solidFill>
                  <a:schemeClr val="tx1"/>
                </a:solidFill>
                <a:latin typeface="Times New Roman" pitchFamily="-110" charset="0"/>
                <a:ea typeface="+mn-ea"/>
                <a:cs typeface="+mn-cs"/>
              </a:rPr>
              <a:t>because it preserves the sign bit.</a:t>
            </a:r>
            <a:endParaRPr lang="en-GB" b="0"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Figure 10.13 shows the sequence of events in Booth’s algorithm for the multiplication</a:t>
            </a:r>
          </a:p>
          <a:p>
            <a:r>
              <a:rPr lang="en-US" sz="1200" kern="1200" baseline="0" dirty="0" smtClean="0">
                <a:solidFill>
                  <a:schemeClr val="tx1"/>
                </a:solidFill>
                <a:latin typeface="Times New Roman" pitchFamily="-110" charset="0"/>
                <a:ea typeface="+mn-ea"/>
                <a:cs typeface="+mn-cs"/>
              </a:rPr>
              <a:t>of 7 by 3.</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30</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E5418E-B15E-814F-B2BF-1CA92F30A7EA}" type="slidenum">
              <a:rPr lang="en-US"/>
              <a:pPr/>
              <a:t>31</a:t>
            </a:fld>
            <a:endParaRPr lang="en-US" dirty="0"/>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More compactly, the same operation is depicted in Figure 10.14a.</a:t>
            </a:r>
          </a:p>
          <a:p>
            <a:r>
              <a:rPr lang="en-US" sz="1200" kern="1200" baseline="0" dirty="0" smtClean="0">
                <a:solidFill>
                  <a:schemeClr val="tx1"/>
                </a:solidFill>
                <a:latin typeface="Times New Roman" pitchFamily="-110" charset="0"/>
                <a:ea typeface="+mn-ea"/>
                <a:cs typeface="+mn-cs"/>
              </a:rPr>
              <a:t>The rest of Figure 10.14 gives other examples of the algorithm. As can be seen, it</a:t>
            </a:r>
          </a:p>
          <a:p>
            <a:r>
              <a:rPr lang="en-US" sz="1200" kern="1200" baseline="0" dirty="0" smtClean="0">
                <a:solidFill>
                  <a:schemeClr val="tx1"/>
                </a:solidFill>
                <a:latin typeface="Times New Roman" pitchFamily="-110" charset="0"/>
                <a:ea typeface="+mn-ea"/>
                <a:cs typeface="+mn-cs"/>
              </a:rPr>
              <a:t>works with any combination of positive and negative numbers. Note also the efficiency</a:t>
            </a:r>
          </a:p>
          <a:p>
            <a:r>
              <a:rPr lang="en-US" sz="1200" kern="1200" baseline="0" dirty="0" smtClean="0">
                <a:solidFill>
                  <a:schemeClr val="tx1"/>
                </a:solidFill>
                <a:latin typeface="Times New Roman" pitchFamily="-110" charset="0"/>
                <a:ea typeface="+mn-ea"/>
                <a:cs typeface="+mn-cs"/>
              </a:rPr>
              <a:t>of the algorithm. Blocks of 1s or 0s are skipped over, with an average of only</a:t>
            </a:r>
          </a:p>
          <a:p>
            <a:r>
              <a:rPr lang="en-US" sz="1200" kern="1200" baseline="0" dirty="0" smtClean="0">
                <a:solidFill>
                  <a:schemeClr val="tx1"/>
                </a:solidFill>
                <a:latin typeface="Times New Roman" pitchFamily="-110" charset="0"/>
                <a:ea typeface="+mn-ea"/>
                <a:cs typeface="+mn-cs"/>
              </a:rPr>
              <a:t>one addition or subtraction per block.</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ECDA33-A84D-B442-90D7-954600C6F1E4}" type="slidenum">
              <a:rPr lang="en-US"/>
              <a:pPr/>
              <a:t>32</a:t>
            </a:fld>
            <a:endParaRPr lang="en-US" dirty="0"/>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Division is somewhat more complex than multiplication but is based on the same</a:t>
            </a:r>
          </a:p>
          <a:p>
            <a:r>
              <a:rPr lang="en-US" sz="1200" kern="1200" baseline="0" dirty="0" smtClean="0">
                <a:solidFill>
                  <a:schemeClr val="tx1"/>
                </a:solidFill>
                <a:latin typeface="Times New Roman" pitchFamily="-110" charset="0"/>
                <a:ea typeface="+mn-ea"/>
                <a:cs typeface="+mn-cs"/>
              </a:rPr>
              <a:t>general principles. As before, the basis for the algorithm is the paper-and-pencil</a:t>
            </a:r>
          </a:p>
          <a:p>
            <a:r>
              <a:rPr lang="en-US" sz="1200" kern="1200" baseline="0" dirty="0" smtClean="0">
                <a:solidFill>
                  <a:schemeClr val="tx1"/>
                </a:solidFill>
                <a:latin typeface="Times New Roman" pitchFamily="-110" charset="0"/>
                <a:ea typeface="+mn-ea"/>
                <a:cs typeface="+mn-cs"/>
              </a:rPr>
              <a:t>approach, and the operation involves repetitive shifting and addition or subtraction.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Figure 10.15 shows an example of the long division of unsigned binary integers.</a:t>
            </a:r>
          </a:p>
          <a:p>
            <a:r>
              <a:rPr lang="en-US" sz="1200" kern="1200" baseline="0" dirty="0" smtClean="0">
                <a:solidFill>
                  <a:schemeClr val="tx1"/>
                </a:solidFill>
                <a:latin typeface="Times New Roman" pitchFamily="-110" charset="0"/>
                <a:ea typeface="+mn-ea"/>
                <a:cs typeface="+mn-cs"/>
              </a:rPr>
              <a:t>It is instructive to describe the process in detail. First, the bits of the dividend</a:t>
            </a:r>
          </a:p>
          <a:p>
            <a:r>
              <a:rPr lang="en-US" sz="1200" kern="1200" baseline="0" dirty="0" smtClean="0">
                <a:solidFill>
                  <a:schemeClr val="tx1"/>
                </a:solidFill>
                <a:latin typeface="Times New Roman" pitchFamily="-110" charset="0"/>
                <a:ea typeface="+mn-ea"/>
                <a:cs typeface="+mn-cs"/>
              </a:rPr>
              <a:t>are examined from left to right, until the set of bits examined represents a number</a:t>
            </a:r>
          </a:p>
          <a:p>
            <a:r>
              <a:rPr lang="en-US" sz="1200" kern="1200" baseline="0" dirty="0" smtClean="0">
                <a:solidFill>
                  <a:schemeClr val="tx1"/>
                </a:solidFill>
                <a:latin typeface="Times New Roman" pitchFamily="-110" charset="0"/>
                <a:ea typeface="+mn-ea"/>
                <a:cs typeface="+mn-cs"/>
              </a:rPr>
              <a:t>greater than or equal to the divisor; this is referred to as the divisor being able to</a:t>
            </a:r>
          </a:p>
          <a:p>
            <a:r>
              <a:rPr lang="en-US" sz="1200" kern="1200" baseline="0" dirty="0" smtClean="0">
                <a:solidFill>
                  <a:schemeClr val="tx1"/>
                </a:solidFill>
                <a:latin typeface="Times New Roman" pitchFamily="-110" charset="0"/>
                <a:ea typeface="+mn-ea"/>
                <a:cs typeface="+mn-cs"/>
              </a:rPr>
              <a:t>divide the number. Until this event occurs, 0s are placed in the quotient from left</a:t>
            </a:r>
          </a:p>
          <a:p>
            <a:r>
              <a:rPr lang="en-US" sz="1200" kern="1200" baseline="0" dirty="0" smtClean="0">
                <a:solidFill>
                  <a:schemeClr val="tx1"/>
                </a:solidFill>
                <a:latin typeface="Times New Roman" pitchFamily="-110" charset="0"/>
                <a:ea typeface="+mn-ea"/>
                <a:cs typeface="+mn-cs"/>
              </a:rPr>
              <a:t>to right. When the event occurs, a 1 is placed in the quotient and the divisor is subtracted</a:t>
            </a:r>
          </a:p>
          <a:p>
            <a:r>
              <a:rPr lang="en-US" sz="1200" kern="1200" baseline="0" dirty="0" smtClean="0">
                <a:solidFill>
                  <a:schemeClr val="tx1"/>
                </a:solidFill>
                <a:latin typeface="Times New Roman" pitchFamily="-110" charset="0"/>
                <a:ea typeface="+mn-ea"/>
                <a:cs typeface="+mn-cs"/>
              </a:rPr>
              <a:t>from the partial dividend. The result is referred to as a </a:t>
            </a:r>
            <a:r>
              <a:rPr lang="en-US" sz="1200" i="1" kern="1200" baseline="0" dirty="0" smtClean="0">
                <a:solidFill>
                  <a:schemeClr val="tx1"/>
                </a:solidFill>
                <a:latin typeface="Times New Roman" pitchFamily="-110" charset="0"/>
                <a:ea typeface="+mn-ea"/>
                <a:cs typeface="+mn-cs"/>
              </a:rPr>
              <a:t>partial remainder.</a:t>
            </a:r>
          </a:p>
          <a:p>
            <a:endParaRPr lang="en-US" sz="1200" i="1"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From this point on, the division follows a cyclic pattern. At each cycle, additional</a:t>
            </a:r>
          </a:p>
          <a:p>
            <a:r>
              <a:rPr lang="en-US" sz="1200" kern="1200" baseline="0" dirty="0" smtClean="0">
                <a:solidFill>
                  <a:schemeClr val="tx1"/>
                </a:solidFill>
                <a:latin typeface="Times New Roman" pitchFamily="-110" charset="0"/>
                <a:ea typeface="+mn-ea"/>
                <a:cs typeface="+mn-cs"/>
              </a:rPr>
              <a:t>bits from the dividend are appended to the partial remainder until the result is</a:t>
            </a:r>
          </a:p>
          <a:p>
            <a:r>
              <a:rPr lang="en-US" sz="1200" kern="1200" baseline="0" dirty="0" smtClean="0">
                <a:solidFill>
                  <a:schemeClr val="tx1"/>
                </a:solidFill>
                <a:latin typeface="Times New Roman" pitchFamily="-110" charset="0"/>
                <a:ea typeface="+mn-ea"/>
                <a:cs typeface="+mn-cs"/>
              </a:rPr>
              <a:t>greater than or equal to the divisor. As before, the divisor is subtracted from this</a:t>
            </a:r>
          </a:p>
          <a:p>
            <a:r>
              <a:rPr lang="en-US" sz="1200" kern="1200" baseline="0" dirty="0" smtClean="0">
                <a:solidFill>
                  <a:schemeClr val="tx1"/>
                </a:solidFill>
                <a:latin typeface="Times New Roman" pitchFamily="-110" charset="0"/>
                <a:ea typeface="+mn-ea"/>
                <a:cs typeface="+mn-cs"/>
              </a:rPr>
              <a:t>number to produce a new partial remainder. The process continues until all the bits</a:t>
            </a:r>
          </a:p>
          <a:p>
            <a:r>
              <a:rPr lang="en-US" sz="1200" kern="1200" baseline="0" dirty="0" smtClean="0">
                <a:solidFill>
                  <a:schemeClr val="tx1"/>
                </a:solidFill>
                <a:latin typeface="Times New Roman" pitchFamily="-110" charset="0"/>
                <a:ea typeface="+mn-ea"/>
                <a:cs typeface="+mn-cs"/>
              </a:rPr>
              <a:t>of the dividend are exhausted.</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Figure 10.16 shows a machine algorithm that corresponds to the long division</a:t>
            </a:r>
          </a:p>
          <a:p>
            <a:r>
              <a:rPr lang="en-US" sz="1200" kern="1200" baseline="0" dirty="0" smtClean="0">
                <a:solidFill>
                  <a:schemeClr val="tx1"/>
                </a:solidFill>
                <a:latin typeface="Times New Roman" pitchFamily="-110" charset="0"/>
                <a:ea typeface="+mn-ea"/>
                <a:cs typeface="+mn-cs"/>
              </a:rPr>
              <a:t>process.  The </a:t>
            </a:r>
            <a:r>
              <a:rPr lang="en-US" sz="1200" b="0" i="0" u="none" strike="noStrike" kern="1200" baseline="0" dirty="0" smtClean="0">
                <a:solidFill>
                  <a:schemeClr val="tx1"/>
                </a:solidFill>
                <a:latin typeface="Times New Roman" pitchFamily="-110" charset="0"/>
                <a:ea typeface="+mn-ea"/>
                <a:cs typeface="+mn-cs"/>
              </a:rPr>
              <a:t>divisor is placed in the M register, the dividend in the Q register. At</a:t>
            </a:r>
          </a:p>
          <a:p>
            <a:r>
              <a:rPr lang="en-US" sz="1200" b="0" i="0" u="none" strike="noStrike" kern="1200" baseline="0" dirty="0" smtClean="0">
                <a:solidFill>
                  <a:schemeClr val="tx1"/>
                </a:solidFill>
                <a:latin typeface="Times New Roman" pitchFamily="-110" charset="0"/>
                <a:ea typeface="+mn-ea"/>
                <a:cs typeface="+mn-cs"/>
              </a:rPr>
              <a:t>each step, the A and Q registers together are shifted to the left 1 bit. M is subtracted</a:t>
            </a:r>
          </a:p>
          <a:p>
            <a:r>
              <a:rPr lang="en-US" sz="1200" b="0" i="0" u="none" strike="noStrike" kern="1200" baseline="0" dirty="0" smtClean="0">
                <a:solidFill>
                  <a:schemeClr val="tx1"/>
                </a:solidFill>
                <a:latin typeface="Times New Roman" pitchFamily="-110" charset="0"/>
                <a:ea typeface="+mn-ea"/>
                <a:cs typeface="+mn-cs"/>
              </a:rPr>
              <a:t>from A to determine whether A divides the partial remainder.3  If it does, then Q0</a:t>
            </a:r>
          </a:p>
          <a:p>
            <a:r>
              <a:rPr lang="en-US" sz="1200" b="0" i="0" u="none" strike="noStrike" kern="1200" baseline="0" dirty="0" smtClean="0">
                <a:solidFill>
                  <a:schemeClr val="tx1"/>
                </a:solidFill>
                <a:latin typeface="Times New Roman" pitchFamily="-110" charset="0"/>
                <a:ea typeface="+mn-ea"/>
                <a:cs typeface="+mn-cs"/>
              </a:rPr>
              <a:t> gets a 1bit. Otherwise, Q0  gets a 0 bit and M must be added back to A to restore the</a:t>
            </a:r>
          </a:p>
          <a:p>
            <a:r>
              <a:rPr lang="en-US" sz="1200" b="0" i="0" u="none" strike="noStrike" kern="1200" baseline="0" dirty="0" smtClean="0">
                <a:solidFill>
                  <a:schemeClr val="tx1"/>
                </a:solidFill>
                <a:latin typeface="Times New Roman" pitchFamily="-110" charset="0"/>
                <a:ea typeface="+mn-ea"/>
                <a:cs typeface="+mn-cs"/>
              </a:rPr>
              <a:t>previous value. The count is then decremented, and the process continues for n  steps.</a:t>
            </a:r>
          </a:p>
          <a:p>
            <a:r>
              <a:rPr lang="en-US" sz="1200" b="0" i="0" u="none" strike="noStrike" kern="1200" baseline="0" dirty="0" smtClean="0">
                <a:solidFill>
                  <a:schemeClr val="tx1"/>
                </a:solidFill>
                <a:latin typeface="Times New Roman" pitchFamily="-110" charset="0"/>
                <a:ea typeface="+mn-ea"/>
                <a:cs typeface="+mn-cs"/>
              </a:rPr>
              <a:t>At the end, the quotient is in the Q register and the remainder is in the A register.</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33</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u="none" strike="noStrike" kern="1200" baseline="0" dirty="0" smtClean="0">
                <a:solidFill>
                  <a:schemeClr val="tx1"/>
                </a:solidFill>
                <a:latin typeface="Times New Roman" pitchFamily="-110" charset="0"/>
                <a:ea typeface="+mn-ea"/>
                <a:cs typeface="+mn-cs"/>
              </a:rPr>
              <a:t> This process can, with some difficulty, be extended to negative numbers. We</a:t>
            </a:r>
          </a:p>
          <a:p>
            <a:r>
              <a:rPr lang="en-US" sz="1200" b="0" i="0" u="none" strike="noStrike" kern="1200" baseline="0" dirty="0" smtClean="0">
                <a:solidFill>
                  <a:schemeClr val="tx1"/>
                </a:solidFill>
                <a:latin typeface="Times New Roman" pitchFamily="-110" charset="0"/>
                <a:ea typeface="+mn-ea"/>
                <a:cs typeface="+mn-cs"/>
              </a:rPr>
              <a:t>give here one approach for twos complement numbers. An example of this approach</a:t>
            </a:r>
          </a:p>
          <a:p>
            <a:r>
              <a:rPr lang="en-US" sz="1200" b="0" i="0" u="none" strike="noStrike" kern="1200" baseline="0" dirty="0" smtClean="0">
                <a:solidFill>
                  <a:schemeClr val="tx1"/>
                </a:solidFill>
                <a:latin typeface="Times New Roman" pitchFamily="-110" charset="0"/>
                <a:ea typeface="+mn-ea"/>
                <a:cs typeface="+mn-cs"/>
              </a:rPr>
              <a:t>is shown in Figure 10.17.</a:t>
            </a:r>
          </a:p>
          <a:p>
            <a:endParaRPr lang="en-US" sz="1200" b="0" i="0" u="none" strike="noStrike"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 The reader will note from Figure 10.17 that ( -  7)/(3) and (7)/( -  3) produce</a:t>
            </a:r>
          </a:p>
          <a:p>
            <a:r>
              <a:rPr lang="en-US" sz="1200" b="0" i="0" u="none" strike="noStrike" kern="1200" baseline="0" dirty="0" smtClean="0">
                <a:solidFill>
                  <a:schemeClr val="tx1"/>
                </a:solidFill>
                <a:latin typeface="Times New Roman" pitchFamily="-110" charset="0"/>
                <a:ea typeface="+mn-ea"/>
                <a:cs typeface="+mn-cs"/>
              </a:rPr>
              <a:t>different remainders. We see that the magnitudes of Q  and R  are unaffected by the</a:t>
            </a:r>
          </a:p>
          <a:p>
            <a:r>
              <a:rPr lang="en-US" sz="1200" b="0" i="0" u="none" strike="noStrike" kern="1200" baseline="0" dirty="0" smtClean="0">
                <a:solidFill>
                  <a:schemeClr val="tx1"/>
                </a:solidFill>
                <a:latin typeface="Times New Roman" pitchFamily="-110" charset="0"/>
                <a:ea typeface="+mn-ea"/>
                <a:cs typeface="+mn-cs"/>
              </a:rPr>
              <a:t>input signs and that the signs of Q  and R  are easily derivable from the signs of D  and</a:t>
            </a:r>
          </a:p>
          <a:p>
            <a:r>
              <a:rPr lang="en-US" sz="1200" b="0" i="0" u="none" strike="noStrike" kern="1200" baseline="0" dirty="0" smtClean="0">
                <a:solidFill>
                  <a:schemeClr val="tx1"/>
                </a:solidFill>
                <a:latin typeface="Times New Roman" pitchFamily="-110" charset="0"/>
                <a:ea typeface="+mn-ea"/>
                <a:cs typeface="+mn-cs"/>
              </a:rPr>
              <a:t>V.  Specifically, sign(R ) =  sign(D ) and sign(Q ) =  sign(D ) *  sign(V ). Hence, one</a:t>
            </a:r>
          </a:p>
          <a:p>
            <a:r>
              <a:rPr lang="en-US" sz="1200" b="0" i="0" u="none" strike="noStrike" kern="1200" baseline="0" dirty="0" smtClean="0">
                <a:solidFill>
                  <a:schemeClr val="tx1"/>
                </a:solidFill>
                <a:latin typeface="Times New Roman" pitchFamily="-110" charset="0"/>
                <a:ea typeface="+mn-ea"/>
                <a:cs typeface="+mn-cs"/>
              </a:rPr>
              <a:t>way to do twos complement division is to convert the operands into unsigned values</a:t>
            </a:r>
          </a:p>
          <a:p>
            <a:r>
              <a:rPr lang="en-US" sz="1200" b="0" i="0" u="none" strike="noStrike" kern="1200" baseline="0" dirty="0" smtClean="0">
                <a:solidFill>
                  <a:schemeClr val="tx1"/>
                </a:solidFill>
                <a:latin typeface="Times New Roman" pitchFamily="-110" charset="0"/>
                <a:ea typeface="+mn-ea"/>
                <a:cs typeface="+mn-cs"/>
              </a:rPr>
              <a:t>and, at the end, to account for the signs by complementation where needed. This is</a:t>
            </a:r>
          </a:p>
          <a:p>
            <a:r>
              <a:rPr lang="en-US" sz="1200" b="0" i="0" u="none" strike="noStrike" kern="1200" baseline="0" dirty="0" smtClean="0">
                <a:solidFill>
                  <a:schemeClr val="tx1"/>
                </a:solidFill>
                <a:latin typeface="Times New Roman" pitchFamily="-110" charset="0"/>
                <a:ea typeface="+mn-ea"/>
                <a:cs typeface="+mn-cs"/>
              </a:rPr>
              <a:t>the method of choice for the restoring division algorithm [PARH10].</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34</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0F6B49-0976-5B4E-A789-1E4F355E5DDF}" type="slidenum">
              <a:rPr lang="en-US"/>
              <a:pPr/>
              <a:t>35</a:t>
            </a:fld>
            <a:endParaRPr lang="en-US" dirty="0"/>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With a fixed-point notation (e.g., twos complement) it is possible to represent a</a:t>
            </a:r>
          </a:p>
          <a:p>
            <a:r>
              <a:rPr lang="en-US" sz="1200" kern="1200" baseline="0" dirty="0" smtClean="0">
                <a:solidFill>
                  <a:schemeClr val="tx1"/>
                </a:solidFill>
                <a:latin typeface="Times New Roman" pitchFamily="-110" charset="0"/>
                <a:ea typeface="+mn-ea"/>
                <a:cs typeface="+mn-cs"/>
              </a:rPr>
              <a:t>range of positive and negative integers centered on or near 0. By assuming a fixed</a:t>
            </a:r>
          </a:p>
          <a:p>
            <a:r>
              <a:rPr lang="en-US" sz="1200" kern="1200" baseline="0" dirty="0" smtClean="0">
                <a:solidFill>
                  <a:schemeClr val="tx1"/>
                </a:solidFill>
                <a:latin typeface="Times New Roman" pitchFamily="-110" charset="0"/>
                <a:ea typeface="+mn-ea"/>
                <a:cs typeface="+mn-cs"/>
              </a:rPr>
              <a:t>binary or radix point, this format allows the representation of numbers with a fractional</a:t>
            </a:r>
          </a:p>
          <a:p>
            <a:r>
              <a:rPr lang="en-US" sz="1200" kern="1200" baseline="0" dirty="0" smtClean="0">
                <a:solidFill>
                  <a:schemeClr val="tx1"/>
                </a:solidFill>
                <a:latin typeface="Times New Roman" pitchFamily="-110" charset="0"/>
                <a:ea typeface="+mn-ea"/>
                <a:cs typeface="+mn-cs"/>
              </a:rPr>
              <a:t>component as well.</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This approach has limitations. Very large numbers cannot be represented, nor</a:t>
            </a:r>
          </a:p>
          <a:p>
            <a:r>
              <a:rPr lang="en-US" sz="1200" kern="1200" baseline="0" dirty="0" smtClean="0">
                <a:solidFill>
                  <a:schemeClr val="tx1"/>
                </a:solidFill>
                <a:latin typeface="Times New Roman" pitchFamily="-110" charset="0"/>
                <a:ea typeface="+mn-ea"/>
                <a:cs typeface="+mn-cs"/>
              </a:rPr>
              <a:t>can very small fractions. Furthermore, the fractional part of the quotient in a division</a:t>
            </a:r>
          </a:p>
          <a:p>
            <a:r>
              <a:rPr lang="en-US" sz="1200" kern="1200" baseline="0" dirty="0" smtClean="0">
                <a:solidFill>
                  <a:schemeClr val="tx1"/>
                </a:solidFill>
                <a:latin typeface="Times New Roman" pitchFamily="-110" charset="0"/>
                <a:ea typeface="+mn-ea"/>
                <a:cs typeface="+mn-cs"/>
              </a:rPr>
              <a:t>of two large numbers could be lost.</a:t>
            </a:r>
            <a:endParaRPr lang="en-GB" sz="1200" kern="1200" baseline="0" dirty="0" smtClean="0">
              <a:solidFill>
                <a:schemeClr val="tx1"/>
              </a:solidFill>
              <a:latin typeface="Times New Roman" pitchFamily="-110" charset="0"/>
              <a:ea typeface="+mn-ea"/>
              <a:cs typeface="+mn-cs"/>
            </a:endParaRPr>
          </a:p>
          <a:p>
            <a:endParaRPr lang="en-GB" sz="1200"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 For decimal numbers, we get around this limitation by using scientific</a:t>
            </a:r>
          </a:p>
          <a:p>
            <a:r>
              <a:rPr lang="en-US" sz="1200" b="0" i="0" u="none" strike="noStrike" kern="1200" baseline="0" dirty="0" smtClean="0">
                <a:solidFill>
                  <a:schemeClr val="tx1"/>
                </a:solidFill>
                <a:latin typeface="Times New Roman" pitchFamily="-110" charset="0"/>
                <a:ea typeface="+mn-ea"/>
                <a:cs typeface="+mn-cs"/>
              </a:rPr>
              <a:t>notation. Thus, 976,000,000,000,000 can be represented as 9.76 *  10</a:t>
            </a:r>
            <a:r>
              <a:rPr lang="en-US" sz="1200" b="0" i="0" u="none" strike="noStrike" kern="1200" baseline="30000" dirty="0" smtClean="0">
                <a:solidFill>
                  <a:schemeClr val="tx1"/>
                </a:solidFill>
                <a:latin typeface="Times New Roman" pitchFamily="-110" charset="0"/>
                <a:ea typeface="+mn-ea"/>
                <a:cs typeface="+mn-cs"/>
              </a:rPr>
              <a:t>14</a:t>
            </a:r>
            <a:r>
              <a:rPr lang="en-US" sz="1200" b="0" i="0" u="none" strike="noStrike" kern="1200" baseline="0" dirty="0" smtClean="0">
                <a:solidFill>
                  <a:schemeClr val="tx1"/>
                </a:solidFill>
                <a:latin typeface="Times New Roman" pitchFamily="-110" charset="0"/>
                <a:ea typeface="+mn-ea"/>
                <a:cs typeface="+mn-cs"/>
              </a:rPr>
              <a:t> , and</a:t>
            </a:r>
          </a:p>
          <a:p>
            <a:r>
              <a:rPr lang="en-US" sz="1200" b="0" i="0" u="none" strike="noStrike" kern="1200" baseline="0" dirty="0" smtClean="0">
                <a:solidFill>
                  <a:schemeClr val="tx1"/>
                </a:solidFill>
                <a:latin typeface="Times New Roman" pitchFamily="-110" charset="0"/>
                <a:ea typeface="+mn-ea"/>
                <a:cs typeface="+mn-cs"/>
              </a:rPr>
              <a:t>0.0000000000000976 can be represented as 9.76 *  10</a:t>
            </a:r>
            <a:r>
              <a:rPr lang="en-US" sz="1400" b="0" i="0" u="none" strike="noStrike" kern="1200" baseline="0" dirty="0" smtClean="0">
                <a:solidFill>
                  <a:schemeClr val="tx1"/>
                </a:solidFill>
                <a:latin typeface="Times New Roman" pitchFamily="-110" charset="0"/>
                <a:ea typeface="+mn-ea"/>
                <a:cs typeface="+mn-cs"/>
              </a:rPr>
              <a:t>-</a:t>
            </a:r>
            <a:r>
              <a:rPr lang="en-US" sz="1200" b="0" i="0" u="none" strike="noStrike" kern="1200" baseline="30000" dirty="0" smtClean="0">
                <a:solidFill>
                  <a:schemeClr val="tx1"/>
                </a:solidFill>
                <a:latin typeface="Times New Roman" pitchFamily="-110" charset="0"/>
                <a:ea typeface="+mn-ea"/>
                <a:cs typeface="+mn-cs"/>
              </a:rPr>
              <a:t>14</a:t>
            </a:r>
            <a:r>
              <a:rPr lang="en-US" sz="1200" b="0" i="0" u="none" strike="noStrike" kern="1200" baseline="0" dirty="0" smtClean="0">
                <a:solidFill>
                  <a:schemeClr val="tx1"/>
                </a:solidFill>
                <a:latin typeface="Times New Roman" pitchFamily="-110" charset="0"/>
                <a:ea typeface="+mn-ea"/>
                <a:cs typeface="+mn-cs"/>
              </a:rPr>
              <a:t> , What we have done, in</a:t>
            </a:r>
          </a:p>
          <a:p>
            <a:r>
              <a:rPr lang="en-US" sz="1200" b="0" i="0" u="none" strike="noStrike" kern="1200" baseline="0" dirty="0" smtClean="0">
                <a:solidFill>
                  <a:schemeClr val="tx1"/>
                </a:solidFill>
                <a:latin typeface="Times New Roman" pitchFamily="-110" charset="0"/>
                <a:ea typeface="+mn-ea"/>
                <a:cs typeface="+mn-cs"/>
              </a:rPr>
              <a:t>effect, is dynamically to slide the decimal point to a convenient location and use the</a:t>
            </a:r>
          </a:p>
          <a:p>
            <a:r>
              <a:rPr lang="en-US" sz="1200" b="0" i="0" u="none" strike="noStrike" kern="1200" baseline="0" dirty="0" smtClean="0">
                <a:solidFill>
                  <a:schemeClr val="tx1"/>
                </a:solidFill>
                <a:latin typeface="Times New Roman" pitchFamily="-110" charset="0"/>
                <a:ea typeface="+mn-ea"/>
                <a:cs typeface="+mn-cs"/>
              </a:rPr>
              <a:t>exponent of 10 to keep track of that decimal point. This allows a range of very large</a:t>
            </a:r>
          </a:p>
          <a:p>
            <a:r>
              <a:rPr lang="en-US" sz="1200" b="0" i="0" u="none" strike="noStrike" kern="1200" baseline="0" dirty="0" smtClean="0">
                <a:solidFill>
                  <a:schemeClr val="tx1"/>
                </a:solidFill>
                <a:latin typeface="Times New Roman" pitchFamily="-110" charset="0"/>
                <a:ea typeface="+mn-ea"/>
                <a:cs typeface="+mn-cs"/>
              </a:rPr>
              <a:t>and very small numbers to be represented with only a few digits.</a:t>
            </a:r>
          </a:p>
          <a:p>
            <a:endParaRPr lang="en-US" sz="1200" b="0" i="0" u="none" strike="noStrike"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This same approach can be taken with binary numbers.</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7C2CA4-5592-CB41-A37C-641B33278249}" type="slidenum">
              <a:rPr lang="en-US"/>
              <a:pPr/>
              <a:t>36</a:t>
            </a:fld>
            <a:endParaRPr lang="en-US" dirty="0"/>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 principles used in representing binary floating-point numbers are best</a:t>
            </a:r>
          </a:p>
          <a:p>
            <a:r>
              <a:rPr lang="en-US" sz="1200" kern="1200" baseline="0" dirty="0" smtClean="0">
                <a:solidFill>
                  <a:schemeClr val="tx1"/>
                </a:solidFill>
                <a:latin typeface="Times New Roman" pitchFamily="-110" charset="0"/>
                <a:ea typeface="+mn-ea"/>
                <a:cs typeface="+mn-cs"/>
              </a:rPr>
              <a:t>explained with an example. Figure 10.18a shows a typical 32-bit floating-point format.</a:t>
            </a:r>
          </a:p>
          <a:p>
            <a:r>
              <a:rPr lang="en-US" sz="1200" kern="1200" baseline="0" dirty="0" smtClean="0">
                <a:solidFill>
                  <a:schemeClr val="tx1"/>
                </a:solidFill>
                <a:latin typeface="Times New Roman" pitchFamily="-110" charset="0"/>
                <a:ea typeface="+mn-ea"/>
                <a:cs typeface="+mn-cs"/>
              </a:rPr>
              <a:t>The leftmost bit stores the </a:t>
            </a:r>
            <a:r>
              <a:rPr lang="en-US" sz="1200" b="1" kern="1200" baseline="0" dirty="0" smtClean="0">
                <a:solidFill>
                  <a:schemeClr val="tx1"/>
                </a:solidFill>
                <a:latin typeface="Times New Roman" pitchFamily="-110" charset="0"/>
                <a:ea typeface="+mn-ea"/>
                <a:cs typeface="+mn-cs"/>
              </a:rPr>
              <a:t>sign </a:t>
            </a:r>
            <a:r>
              <a:rPr lang="en-US" sz="1200" b="0" kern="1200" baseline="0" dirty="0" smtClean="0">
                <a:solidFill>
                  <a:schemeClr val="tx1"/>
                </a:solidFill>
                <a:latin typeface="Times New Roman" pitchFamily="-110" charset="0"/>
                <a:ea typeface="+mn-ea"/>
                <a:cs typeface="+mn-cs"/>
              </a:rPr>
              <a:t>of the number (0 = positive, 1 = negative).</a:t>
            </a:r>
          </a:p>
          <a:p>
            <a:r>
              <a:rPr lang="en-US" sz="1200" kern="1200" baseline="0" dirty="0" smtClean="0">
                <a:solidFill>
                  <a:schemeClr val="tx1"/>
                </a:solidFill>
                <a:latin typeface="Times New Roman" pitchFamily="-110" charset="0"/>
                <a:ea typeface="+mn-ea"/>
                <a:cs typeface="+mn-cs"/>
              </a:rPr>
              <a:t>The </a:t>
            </a:r>
            <a:r>
              <a:rPr lang="en-US" sz="1200" b="1" kern="1200" baseline="0" dirty="0" smtClean="0">
                <a:solidFill>
                  <a:schemeClr val="tx1"/>
                </a:solidFill>
                <a:latin typeface="Times New Roman" pitchFamily="-110" charset="0"/>
                <a:ea typeface="+mn-ea"/>
                <a:cs typeface="+mn-cs"/>
              </a:rPr>
              <a:t>exponent </a:t>
            </a:r>
            <a:r>
              <a:rPr lang="en-US" sz="1200" b="0" kern="1200" baseline="0" dirty="0" smtClean="0">
                <a:solidFill>
                  <a:schemeClr val="tx1"/>
                </a:solidFill>
                <a:latin typeface="Times New Roman" pitchFamily="-110" charset="0"/>
                <a:ea typeface="+mn-ea"/>
                <a:cs typeface="+mn-cs"/>
              </a:rPr>
              <a:t>value is stored in the next 8 bits. The representation used is known as</a:t>
            </a:r>
          </a:p>
          <a:p>
            <a:r>
              <a:rPr lang="en-US" sz="1200" kern="1200" baseline="0" dirty="0" smtClean="0">
                <a:solidFill>
                  <a:schemeClr val="tx1"/>
                </a:solidFill>
                <a:latin typeface="Times New Roman" pitchFamily="-110" charset="0"/>
                <a:ea typeface="+mn-ea"/>
                <a:cs typeface="+mn-cs"/>
              </a:rPr>
              <a:t>a </a:t>
            </a:r>
            <a:r>
              <a:rPr lang="en-US" sz="1200" b="1" kern="1200" baseline="0" dirty="0" smtClean="0">
                <a:solidFill>
                  <a:schemeClr val="tx1"/>
                </a:solidFill>
                <a:latin typeface="Times New Roman" pitchFamily="-110" charset="0"/>
                <a:ea typeface="+mn-ea"/>
                <a:cs typeface="+mn-cs"/>
              </a:rPr>
              <a:t>biased representation. </a:t>
            </a:r>
            <a:r>
              <a:rPr lang="en-US" sz="1200" b="0" kern="1200" baseline="0" dirty="0" smtClean="0">
                <a:solidFill>
                  <a:schemeClr val="tx1"/>
                </a:solidFill>
                <a:latin typeface="Times New Roman" pitchFamily="-110" charset="0"/>
                <a:ea typeface="+mn-ea"/>
                <a:cs typeface="+mn-cs"/>
              </a:rPr>
              <a:t>A fixed value, called the bias, is subtracted from the field</a:t>
            </a:r>
          </a:p>
          <a:p>
            <a:r>
              <a:rPr lang="en-US" sz="1200" kern="1200" baseline="0" dirty="0" smtClean="0">
                <a:solidFill>
                  <a:schemeClr val="tx1"/>
                </a:solidFill>
                <a:latin typeface="Times New Roman" pitchFamily="-110" charset="0"/>
                <a:ea typeface="+mn-ea"/>
                <a:cs typeface="+mn-cs"/>
              </a:rPr>
              <a:t>to get the true exponent value. Typically, the bias equals (2</a:t>
            </a:r>
            <a:r>
              <a:rPr lang="en-US" sz="1200" i="1" kern="1200" baseline="30000" dirty="0" smtClean="0">
                <a:solidFill>
                  <a:schemeClr val="tx1"/>
                </a:solidFill>
                <a:latin typeface="Times New Roman" pitchFamily="-110" charset="0"/>
                <a:ea typeface="+mn-ea"/>
                <a:cs typeface="+mn-cs"/>
              </a:rPr>
              <a:t>k-1 </a:t>
            </a:r>
            <a:r>
              <a:rPr lang="en-US" sz="1200" i="1" kern="1200" baseline="0" dirty="0" smtClean="0">
                <a:solidFill>
                  <a:schemeClr val="tx1"/>
                </a:solidFill>
                <a:latin typeface="Times New Roman" pitchFamily="-110" charset="0"/>
                <a:ea typeface="+mn-ea"/>
                <a:cs typeface="+mn-cs"/>
              </a:rPr>
              <a:t>- 1)</a:t>
            </a:r>
            <a:r>
              <a:rPr lang="en-US" sz="1200" i="0" kern="1200" baseline="0" dirty="0" smtClean="0">
                <a:solidFill>
                  <a:schemeClr val="tx1"/>
                </a:solidFill>
                <a:latin typeface="Times New Roman" pitchFamily="-110" charset="0"/>
                <a:ea typeface="+mn-ea"/>
                <a:cs typeface="+mn-cs"/>
              </a:rPr>
              <a:t>, where </a:t>
            </a:r>
            <a:r>
              <a:rPr lang="en-US" sz="1200" i="1" kern="1200" baseline="0" dirty="0" smtClean="0">
                <a:solidFill>
                  <a:schemeClr val="tx1"/>
                </a:solidFill>
                <a:latin typeface="Times New Roman" pitchFamily="-110" charset="0"/>
                <a:ea typeface="+mn-ea"/>
                <a:cs typeface="+mn-cs"/>
              </a:rPr>
              <a:t>k </a:t>
            </a:r>
            <a:r>
              <a:rPr lang="en-US" sz="1200" i="0" kern="1200" baseline="0" dirty="0" smtClean="0">
                <a:solidFill>
                  <a:schemeClr val="tx1"/>
                </a:solidFill>
                <a:latin typeface="Times New Roman" pitchFamily="-110" charset="0"/>
                <a:ea typeface="+mn-ea"/>
                <a:cs typeface="+mn-cs"/>
              </a:rPr>
              <a:t>is the</a:t>
            </a:r>
          </a:p>
          <a:p>
            <a:r>
              <a:rPr lang="en-US" sz="1200" kern="1200" baseline="0" dirty="0" smtClean="0">
                <a:solidFill>
                  <a:schemeClr val="tx1"/>
                </a:solidFill>
                <a:latin typeface="Times New Roman" pitchFamily="-110" charset="0"/>
                <a:ea typeface="+mn-ea"/>
                <a:cs typeface="+mn-cs"/>
              </a:rPr>
              <a:t>number of bits in the binary exponent. In this case, the 8-bit field yields the numbers</a:t>
            </a:r>
          </a:p>
          <a:p>
            <a:r>
              <a:rPr lang="en-US" sz="1200" kern="1200" baseline="0" dirty="0" smtClean="0">
                <a:solidFill>
                  <a:schemeClr val="tx1"/>
                </a:solidFill>
                <a:latin typeface="Times New Roman" pitchFamily="-110" charset="0"/>
                <a:ea typeface="+mn-ea"/>
                <a:cs typeface="+mn-cs"/>
              </a:rPr>
              <a:t>0 through 255. With a bias of 127 (2</a:t>
            </a:r>
            <a:r>
              <a:rPr lang="en-US" sz="1200" kern="1200" baseline="30000" dirty="0" smtClean="0">
                <a:solidFill>
                  <a:schemeClr val="tx1"/>
                </a:solidFill>
                <a:latin typeface="Times New Roman" pitchFamily="-110" charset="0"/>
                <a:ea typeface="+mn-ea"/>
                <a:cs typeface="+mn-cs"/>
              </a:rPr>
              <a:t>7</a:t>
            </a:r>
            <a:r>
              <a:rPr lang="en-US" sz="1200" kern="1200" baseline="0" dirty="0" smtClean="0">
                <a:solidFill>
                  <a:schemeClr val="tx1"/>
                </a:solidFill>
                <a:latin typeface="Times New Roman" pitchFamily="-110" charset="0"/>
                <a:ea typeface="+mn-ea"/>
                <a:cs typeface="+mn-cs"/>
              </a:rPr>
              <a:t> - 1), the true exponent values are in the range</a:t>
            </a:r>
          </a:p>
          <a:p>
            <a:r>
              <a:rPr lang="en-US" sz="1200" kern="1200" baseline="0" dirty="0" smtClean="0">
                <a:solidFill>
                  <a:schemeClr val="tx1"/>
                </a:solidFill>
                <a:latin typeface="Times New Roman" pitchFamily="-110" charset="0"/>
                <a:ea typeface="+mn-ea"/>
                <a:cs typeface="+mn-cs"/>
              </a:rPr>
              <a:t>-127 to +128. In this example, the base is assumed to be 2.</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Times New Roman" pitchFamily="-110" charset="0"/>
                <a:ea typeface="+mn-ea"/>
                <a:cs typeface="+mn-cs"/>
              </a:rPr>
              <a:t>Table 10.2 shows the biased representation for 4-bit integers. Note that when</a:t>
            </a:r>
          </a:p>
          <a:p>
            <a:r>
              <a:rPr lang="en-US" sz="1200" kern="1200" baseline="0" dirty="0" smtClean="0">
                <a:solidFill>
                  <a:schemeClr val="tx1"/>
                </a:solidFill>
                <a:latin typeface="Times New Roman" pitchFamily="-110" charset="0"/>
                <a:ea typeface="+mn-ea"/>
                <a:cs typeface="+mn-cs"/>
              </a:rPr>
              <a:t>the bits of a biased representation are treated as unsigned integers, the relative magnitudes</a:t>
            </a:r>
          </a:p>
          <a:p>
            <a:r>
              <a:rPr lang="en-US" sz="1200" kern="1200" baseline="0" dirty="0" smtClean="0">
                <a:solidFill>
                  <a:schemeClr val="tx1"/>
                </a:solidFill>
                <a:latin typeface="Times New Roman" pitchFamily="-110" charset="0"/>
                <a:ea typeface="+mn-ea"/>
                <a:cs typeface="+mn-cs"/>
              </a:rPr>
              <a:t>of the numbers do not change. For example, in both biased and unsigned</a:t>
            </a:r>
          </a:p>
          <a:p>
            <a:r>
              <a:rPr lang="en-US" sz="1200" kern="1200" baseline="0" dirty="0" smtClean="0">
                <a:solidFill>
                  <a:schemeClr val="tx1"/>
                </a:solidFill>
                <a:latin typeface="Times New Roman" pitchFamily="-110" charset="0"/>
                <a:ea typeface="+mn-ea"/>
                <a:cs typeface="+mn-cs"/>
              </a:rPr>
              <a:t>representations, the largest number is 1111 and the smallest number is 0000. This is</a:t>
            </a:r>
          </a:p>
          <a:p>
            <a:r>
              <a:rPr lang="en-US" sz="1200" kern="1200" baseline="0" dirty="0" smtClean="0">
                <a:solidFill>
                  <a:schemeClr val="tx1"/>
                </a:solidFill>
                <a:latin typeface="Times New Roman" pitchFamily="-110" charset="0"/>
                <a:ea typeface="+mn-ea"/>
                <a:cs typeface="+mn-cs"/>
              </a:rPr>
              <a:t>not true of sign-magnitude or twos complement representation. An advantage of</a:t>
            </a:r>
          </a:p>
          <a:p>
            <a:r>
              <a:rPr lang="en-US" sz="1200" kern="1200" baseline="0" dirty="0" smtClean="0">
                <a:solidFill>
                  <a:schemeClr val="tx1"/>
                </a:solidFill>
                <a:latin typeface="Times New Roman" pitchFamily="-110" charset="0"/>
                <a:ea typeface="+mn-ea"/>
                <a:cs typeface="+mn-cs"/>
              </a:rPr>
              <a:t>biased representation is that nonnegative floating-point numbers can be treated as</a:t>
            </a:r>
          </a:p>
          <a:p>
            <a:r>
              <a:rPr lang="en-US" sz="1200" kern="1200" baseline="0" dirty="0" smtClean="0">
                <a:solidFill>
                  <a:schemeClr val="tx1"/>
                </a:solidFill>
                <a:latin typeface="Times New Roman" pitchFamily="-110" charset="0"/>
                <a:ea typeface="+mn-ea"/>
                <a:cs typeface="+mn-cs"/>
              </a:rPr>
              <a:t>integers for comparison purposes.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final portion of the word (23 bits in this case) is the </a:t>
            </a:r>
            <a:r>
              <a:rPr lang="en-US" sz="1200" b="1" kern="1200" baseline="0" dirty="0" smtClean="0">
                <a:solidFill>
                  <a:schemeClr val="tx1"/>
                </a:solidFill>
                <a:latin typeface="Times New Roman" pitchFamily="-110" charset="0"/>
                <a:ea typeface="+mn-ea"/>
                <a:cs typeface="+mn-cs"/>
              </a:rPr>
              <a:t>significand.</a:t>
            </a:r>
          </a:p>
          <a:p>
            <a:r>
              <a:rPr lang="en-US" sz="1200" kern="1200" baseline="0" dirty="0" smtClean="0">
                <a:solidFill>
                  <a:schemeClr val="tx1"/>
                </a:solidFill>
                <a:latin typeface="Times New Roman" pitchFamily="-110" charset="0"/>
                <a:ea typeface="+mn-ea"/>
                <a:cs typeface="+mn-cs"/>
              </a:rPr>
              <a:t>Any floating-point number can be expressed in many ways.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simplify operations on floating-point numbers, it is typically required that they</a:t>
            </a:r>
          </a:p>
          <a:p>
            <a:r>
              <a:rPr lang="en-US" sz="1200" kern="1200" baseline="0" dirty="0" smtClean="0">
                <a:solidFill>
                  <a:schemeClr val="tx1"/>
                </a:solidFill>
                <a:latin typeface="Times New Roman" pitchFamily="-110" charset="0"/>
                <a:ea typeface="+mn-ea"/>
                <a:cs typeface="+mn-cs"/>
              </a:rPr>
              <a:t>be normalized. A </a:t>
            </a:r>
            <a:r>
              <a:rPr lang="en-US" sz="1200" b="1" kern="1200" baseline="0" dirty="0" smtClean="0">
                <a:solidFill>
                  <a:schemeClr val="tx1"/>
                </a:solidFill>
                <a:latin typeface="Times New Roman" pitchFamily="-110" charset="0"/>
                <a:ea typeface="+mn-ea"/>
                <a:cs typeface="+mn-cs"/>
              </a:rPr>
              <a:t>normal number </a:t>
            </a:r>
            <a:r>
              <a:rPr lang="en-US" sz="1200" b="0" kern="1200" baseline="0" dirty="0" smtClean="0">
                <a:solidFill>
                  <a:schemeClr val="tx1"/>
                </a:solidFill>
                <a:latin typeface="Times New Roman" pitchFamily="-110" charset="0"/>
                <a:ea typeface="+mn-ea"/>
                <a:cs typeface="+mn-cs"/>
              </a:rPr>
              <a:t>is one in which the most significant digit of the</a:t>
            </a:r>
          </a:p>
          <a:p>
            <a:r>
              <a:rPr lang="en-US" sz="1200" kern="1200" baseline="0" dirty="0" smtClean="0">
                <a:solidFill>
                  <a:schemeClr val="tx1"/>
                </a:solidFill>
                <a:latin typeface="Times New Roman" pitchFamily="-110" charset="0"/>
                <a:ea typeface="+mn-ea"/>
                <a:cs typeface="+mn-cs"/>
              </a:rPr>
              <a:t>significand is nonzero. For base 2 representation, a normal number is therefore one</a:t>
            </a:r>
          </a:p>
          <a:p>
            <a:r>
              <a:rPr lang="en-US" sz="1200" kern="1200" baseline="0" dirty="0" smtClean="0">
                <a:solidFill>
                  <a:schemeClr val="tx1"/>
                </a:solidFill>
                <a:latin typeface="Times New Roman" pitchFamily="-110" charset="0"/>
                <a:ea typeface="+mn-ea"/>
                <a:cs typeface="+mn-cs"/>
              </a:rPr>
              <a:t>in which the most significant bit of the significand is one.</a:t>
            </a:r>
            <a:endParaRPr lang="en-US" b="0"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9429C8-F207-024B-9187-13774FA74CE8}" type="slidenum">
              <a:rPr lang="en-US"/>
              <a:pPr/>
              <a:t>44</a:t>
            </a:fld>
            <a:endParaRPr lang="en-US" dirty="0"/>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Figure 10.19 indicates the range of numbers that can be represented</a:t>
            </a:r>
          </a:p>
          <a:p>
            <a:r>
              <a:rPr lang="en-US" sz="1200" kern="1200" baseline="0" dirty="0" smtClean="0">
                <a:solidFill>
                  <a:schemeClr val="tx1"/>
                </a:solidFill>
                <a:latin typeface="Times New Roman" pitchFamily="-110" charset="0"/>
                <a:ea typeface="+mn-ea"/>
                <a:cs typeface="+mn-cs"/>
              </a:rPr>
              <a:t>in a 32-bit word. Using twos complement integer representation, all of the</a:t>
            </a:r>
          </a:p>
          <a:p>
            <a:r>
              <a:rPr lang="en-US" sz="1200" kern="1200" baseline="0" dirty="0" smtClean="0">
                <a:solidFill>
                  <a:schemeClr val="tx1"/>
                </a:solidFill>
                <a:latin typeface="Times New Roman" pitchFamily="-110" charset="0"/>
                <a:ea typeface="+mn-ea"/>
                <a:cs typeface="+mn-cs"/>
              </a:rPr>
              <a:t>integers from -2</a:t>
            </a:r>
            <a:r>
              <a:rPr lang="en-US" sz="1200" kern="1200" baseline="30000" dirty="0" smtClean="0">
                <a:solidFill>
                  <a:schemeClr val="tx1"/>
                </a:solidFill>
                <a:latin typeface="Times New Roman" pitchFamily="-110" charset="0"/>
                <a:ea typeface="+mn-ea"/>
                <a:cs typeface="+mn-cs"/>
              </a:rPr>
              <a:t>31</a:t>
            </a:r>
            <a:r>
              <a:rPr lang="en-US" sz="1200" kern="1200" baseline="0" dirty="0" smtClean="0">
                <a:solidFill>
                  <a:schemeClr val="tx1"/>
                </a:solidFill>
                <a:latin typeface="Times New Roman" pitchFamily="-110" charset="0"/>
                <a:ea typeface="+mn-ea"/>
                <a:cs typeface="+mn-cs"/>
              </a:rPr>
              <a:t> to 2</a:t>
            </a:r>
            <a:r>
              <a:rPr lang="en-US" sz="1200" kern="1200" baseline="30000" dirty="0" smtClean="0">
                <a:solidFill>
                  <a:schemeClr val="tx1"/>
                </a:solidFill>
                <a:latin typeface="Times New Roman" pitchFamily="-110" charset="0"/>
                <a:ea typeface="+mn-ea"/>
                <a:cs typeface="+mn-cs"/>
              </a:rPr>
              <a:t>31</a:t>
            </a:r>
            <a:r>
              <a:rPr lang="en-US" sz="1200" kern="1200" baseline="0" dirty="0" smtClean="0">
                <a:solidFill>
                  <a:schemeClr val="tx1"/>
                </a:solidFill>
                <a:latin typeface="Times New Roman" pitchFamily="-110" charset="0"/>
                <a:ea typeface="+mn-ea"/>
                <a:cs typeface="+mn-cs"/>
              </a:rPr>
              <a:t> - 1 can be represented, for a total of 2</a:t>
            </a:r>
            <a:r>
              <a:rPr lang="en-US" sz="1200" kern="1200" baseline="30000" dirty="0" smtClean="0">
                <a:solidFill>
                  <a:schemeClr val="tx1"/>
                </a:solidFill>
                <a:latin typeface="Times New Roman" pitchFamily="-110" charset="0"/>
                <a:ea typeface="+mn-ea"/>
                <a:cs typeface="+mn-cs"/>
              </a:rPr>
              <a:t>32</a:t>
            </a:r>
            <a:r>
              <a:rPr lang="en-US" sz="1200" kern="1200" baseline="0" dirty="0" smtClean="0">
                <a:solidFill>
                  <a:schemeClr val="tx1"/>
                </a:solidFill>
                <a:latin typeface="Times New Roman" pitchFamily="-110" charset="0"/>
                <a:ea typeface="+mn-ea"/>
                <a:cs typeface="+mn-cs"/>
              </a:rPr>
              <a:t> different numbers.</a:t>
            </a:r>
          </a:p>
          <a:p>
            <a:r>
              <a:rPr lang="en-US" sz="1200" kern="1200" baseline="0" dirty="0" smtClean="0">
                <a:solidFill>
                  <a:schemeClr val="tx1"/>
                </a:solidFill>
                <a:latin typeface="Times New Roman" pitchFamily="-110" charset="0"/>
                <a:ea typeface="+mn-ea"/>
                <a:cs typeface="+mn-cs"/>
              </a:rPr>
              <a:t>With the example floating-point format of Figure 10.18, the following ranges</a:t>
            </a:r>
          </a:p>
          <a:p>
            <a:r>
              <a:rPr lang="en-US" sz="1200" kern="1200" baseline="0" dirty="0" smtClean="0">
                <a:solidFill>
                  <a:schemeClr val="tx1"/>
                </a:solidFill>
                <a:latin typeface="Times New Roman" pitchFamily="-110" charset="0"/>
                <a:ea typeface="+mn-ea"/>
                <a:cs typeface="+mn-cs"/>
              </a:rPr>
              <a:t>of numbers are possible:</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Negative numbers between -(2 - 2</a:t>
            </a:r>
            <a:r>
              <a:rPr lang="en-US" sz="1200" kern="1200" baseline="30000" dirty="0" smtClean="0">
                <a:solidFill>
                  <a:schemeClr val="tx1"/>
                </a:solidFill>
                <a:latin typeface="Times New Roman" pitchFamily="-110" charset="0"/>
                <a:ea typeface="+mn-ea"/>
                <a:cs typeface="+mn-cs"/>
              </a:rPr>
              <a:t>-23</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128</a:t>
            </a:r>
            <a:r>
              <a:rPr lang="en-US" sz="1200" kern="1200" baseline="0" dirty="0" smtClean="0">
                <a:solidFill>
                  <a:schemeClr val="tx1"/>
                </a:solidFill>
                <a:latin typeface="Times New Roman" pitchFamily="-110" charset="0"/>
                <a:ea typeface="+mn-ea"/>
                <a:cs typeface="+mn-cs"/>
              </a:rPr>
              <a:t> and -2</a:t>
            </a:r>
            <a:r>
              <a:rPr lang="en-US" sz="1200" kern="1200" baseline="30000" dirty="0" smtClean="0">
                <a:solidFill>
                  <a:schemeClr val="tx1"/>
                </a:solidFill>
                <a:latin typeface="Times New Roman" pitchFamily="-110" charset="0"/>
                <a:ea typeface="+mn-ea"/>
                <a:cs typeface="+mn-cs"/>
              </a:rPr>
              <a:t>-127</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Positive numbers between 2</a:t>
            </a:r>
            <a:r>
              <a:rPr lang="en-US" sz="1200" kern="1200" baseline="30000" dirty="0" smtClean="0">
                <a:solidFill>
                  <a:schemeClr val="tx1"/>
                </a:solidFill>
                <a:latin typeface="Times New Roman" pitchFamily="-110" charset="0"/>
                <a:ea typeface="+mn-ea"/>
                <a:cs typeface="+mn-cs"/>
              </a:rPr>
              <a:t>-127</a:t>
            </a:r>
            <a:r>
              <a:rPr lang="en-US" sz="1200" kern="1200" baseline="0" dirty="0" smtClean="0">
                <a:solidFill>
                  <a:schemeClr val="tx1"/>
                </a:solidFill>
                <a:latin typeface="Times New Roman" pitchFamily="-110" charset="0"/>
                <a:ea typeface="+mn-ea"/>
                <a:cs typeface="+mn-cs"/>
              </a:rPr>
              <a:t> and (2 - 2</a:t>
            </a:r>
            <a:r>
              <a:rPr lang="en-US" sz="1200" kern="1200" baseline="30000" dirty="0" smtClean="0">
                <a:solidFill>
                  <a:schemeClr val="tx1"/>
                </a:solidFill>
                <a:latin typeface="Times New Roman" pitchFamily="-110" charset="0"/>
                <a:ea typeface="+mn-ea"/>
                <a:cs typeface="+mn-cs"/>
              </a:rPr>
              <a:t>-23</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128</a:t>
            </a:r>
          </a:p>
          <a:p>
            <a:endParaRPr lang="en-US" sz="1200" kern="1200" baseline="3000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Five regions on the number line are not included in these ranges: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Negative numbers less than -(2 - 2</a:t>
            </a:r>
            <a:r>
              <a:rPr lang="en-US" sz="1200" kern="1200" baseline="30000" dirty="0" smtClean="0">
                <a:solidFill>
                  <a:schemeClr val="tx1"/>
                </a:solidFill>
                <a:latin typeface="Times New Roman" pitchFamily="-110" charset="0"/>
                <a:ea typeface="+mn-ea"/>
                <a:cs typeface="+mn-cs"/>
              </a:rPr>
              <a:t>-23</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128</a:t>
            </a:r>
            <a:r>
              <a:rPr lang="en-US" sz="1200" kern="1200" baseline="0" dirty="0" smtClean="0">
                <a:solidFill>
                  <a:schemeClr val="tx1"/>
                </a:solidFill>
                <a:latin typeface="Times New Roman" pitchFamily="-110" charset="0"/>
                <a:ea typeface="+mn-ea"/>
                <a:cs typeface="+mn-cs"/>
              </a:rPr>
              <a:t>, called </a:t>
            </a:r>
            <a:r>
              <a:rPr lang="en-US" sz="1200" b="1" kern="1200" baseline="0" dirty="0" smtClean="0">
                <a:solidFill>
                  <a:schemeClr val="tx1"/>
                </a:solidFill>
                <a:latin typeface="Times New Roman" pitchFamily="-110" charset="0"/>
                <a:ea typeface="+mn-ea"/>
                <a:cs typeface="+mn-cs"/>
              </a:rPr>
              <a:t>negative overflow</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Negative numbers greater than 2</a:t>
            </a:r>
            <a:r>
              <a:rPr lang="en-US" sz="1200" kern="1200" baseline="30000" dirty="0" smtClean="0">
                <a:solidFill>
                  <a:schemeClr val="tx1"/>
                </a:solidFill>
                <a:latin typeface="Times New Roman" pitchFamily="-110" charset="0"/>
                <a:ea typeface="+mn-ea"/>
                <a:cs typeface="+mn-cs"/>
              </a:rPr>
              <a:t>-127</a:t>
            </a:r>
            <a:r>
              <a:rPr lang="en-US" sz="1200" kern="1200" baseline="0" dirty="0" smtClean="0">
                <a:solidFill>
                  <a:schemeClr val="tx1"/>
                </a:solidFill>
                <a:latin typeface="Times New Roman" pitchFamily="-110" charset="0"/>
                <a:ea typeface="+mn-ea"/>
                <a:cs typeface="+mn-cs"/>
              </a:rPr>
              <a:t>, called </a:t>
            </a:r>
            <a:r>
              <a:rPr lang="en-US" sz="1200" b="1" kern="1200" baseline="0" dirty="0" smtClean="0">
                <a:solidFill>
                  <a:schemeClr val="tx1"/>
                </a:solidFill>
                <a:latin typeface="Times New Roman" pitchFamily="-110" charset="0"/>
                <a:ea typeface="+mn-ea"/>
                <a:cs typeface="+mn-cs"/>
              </a:rPr>
              <a:t>negative underflow</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Zero</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Positive numbers less than 2</a:t>
            </a:r>
            <a:r>
              <a:rPr lang="en-US" sz="1200" kern="1200" baseline="30000" dirty="0" smtClean="0">
                <a:solidFill>
                  <a:schemeClr val="tx1"/>
                </a:solidFill>
                <a:latin typeface="Times New Roman" pitchFamily="-110" charset="0"/>
                <a:ea typeface="+mn-ea"/>
                <a:cs typeface="+mn-cs"/>
              </a:rPr>
              <a:t>-127</a:t>
            </a:r>
            <a:r>
              <a:rPr lang="en-US" sz="1200" kern="1200" baseline="0" dirty="0" smtClean="0">
                <a:solidFill>
                  <a:schemeClr val="tx1"/>
                </a:solidFill>
                <a:latin typeface="Times New Roman" pitchFamily="-110" charset="0"/>
                <a:ea typeface="+mn-ea"/>
                <a:cs typeface="+mn-cs"/>
              </a:rPr>
              <a:t>, called </a:t>
            </a:r>
            <a:r>
              <a:rPr lang="en-US" sz="1200" b="1" kern="1200" baseline="0" dirty="0" smtClean="0">
                <a:solidFill>
                  <a:schemeClr val="tx1"/>
                </a:solidFill>
                <a:latin typeface="Times New Roman" pitchFamily="-110" charset="0"/>
                <a:ea typeface="+mn-ea"/>
                <a:cs typeface="+mn-cs"/>
              </a:rPr>
              <a:t>positive underflow</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Positive numbers greater than (2 - 2</a:t>
            </a:r>
            <a:r>
              <a:rPr lang="en-US" sz="1200" kern="1200" baseline="30000" dirty="0" smtClean="0">
                <a:solidFill>
                  <a:schemeClr val="tx1"/>
                </a:solidFill>
                <a:latin typeface="Times New Roman" pitchFamily="-110" charset="0"/>
                <a:ea typeface="+mn-ea"/>
                <a:cs typeface="+mn-cs"/>
              </a:rPr>
              <a:t>-23</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128</a:t>
            </a:r>
            <a:r>
              <a:rPr lang="en-US" sz="1200" kern="1200" baseline="0" dirty="0" smtClean="0">
                <a:solidFill>
                  <a:schemeClr val="tx1"/>
                </a:solidFill>
                <a:latin typeface="Times New Roman" pitchFamily="-110" charset="0"/>
                <a:ea typeface="+mn-ea"/>
                <a:cs typeface="+mn-cs"/>
              </a:rPr>
              <a:t>, called </a:t>
            </a:r>
            <a:r>
              <a:rPr lang="en-US" sz="1200" b="1" kern="1200" baseline="0" dirty="0" smtClean="0">
                <a:solidFill>
                  <a:schemeClr val="tx1"/>
                </a:solidFill>
                <a:latin typeface="Times New Roman" pitchFamily="-110" charset="0"/>
                <a:ea typeface="+mn-ea"/>
                <a:cs typeface="+mn-cs"/>
              </a:rPr>
              <a:t>positive overflow</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representation as presented will not accommodate a value of 0.</a:t>
            </a:r>
          </a:p>
          <a:p>
            <a:r>
              <a:rPr lang="en-US" sz="1200" kern="1200" baseline="0" dirty="0" smtClean="0">
                <a:solidFill>
                  <a:schemeClr val="tx1"/>
                </a:solidFill>
                <a:latin typeface="Times New Roman" pitchFamily="-110" charset="0"/>
                <a:ea typeface="+mn-ea"/>
                <a:cs typeface="+mn-cs"/>
              </a:rPr>
              <a:t>However, as we shall see, actual floating-point representations include a special</a:t>
            </a:r>
          </a:p>
          <a:p>
            <a:r>
              <a:rPr lang="en-US" sz="1200" kern="1200" baseline="0" dirty="0" smtClean="0">
                <a:solidFill>
                  <a:schemeClr val="tx1"/>
                </a:solidFill>
                <a:latin typeface="Times New Roman" pitchFamily="-110" charset="0"/>
                <a:ea typeface="+mn-ea"/>
                <a:cs typeface="+mn-cs"/>
              </a:rPr>
              <a:t>bit pattern to designate zero. Overflow occurs when an arithmetic operation</a:t>
            </a:r>
          </a:p>
          <a:p>
            <a:r>
              <a:rPr lang="en-US" sz="1200" kern="1200" baseline="0" dirty="0" smtClean="0">
                <a:solidFill>
                  <a:schemeClr val="tx1"/>
                </a:solidFill>
                <a:latin typeface="Times New Roman" pitchFamily="-110" charset="0"/>
                <a:ea typeface="+mn-ea"/>
                <a:cs typeface="+mn-cs"/>
              </a:rPr>
              <a:t>results in an absolute value greater than can be expressed with an exponent of 128</a:t>
            </a:r>
          </a:p>
          <a:p>
            <a:r>
              <a:rPr lang="en-US" sz="1200" kern="1200" baseline="0" dirty="0" smtClean="0">
                <a:solidFill>
                  <a:schemeClr val="tx1"/>
                </a:solidFill>
                <a:latin typeface="Times New Roman" pitchFamily="-110" charset="0"/>
                <a:ea typeface="+mn-ea"/>
                <a:cs typeface="+mn-cs"/>
              </a:rPr>
              <a:t>(e.g., 2</a:t>
            </a:r>
            <a:r>
              <a:rPr lang="en-US" sz="1200" kern="1200" baseline="30000" dirty="0" smtClean="0">
                <a:solidFill>
                  <a:schemeClr val="tx1"/>
                </a:solidFill>
                <a:latin typeface="Times New Roman" pitchFamily="-110" charset="0"/>
                <a:ea typeface="+mn-ea"/>
                <a:cs typeface="+mn-cs"/>
              </a:rPr>
              <a:t>120</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100</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220</a:t>
            </a:r>
            <a:r>
              <a:rPr lang="en-US" sz="1200" kern="1200" baseline="0" dirty="0" smtClean="0">
                <a:solidFill>
                  <a:schemeClr val="tx1"/>
                </a:solidFill>
                <a:latin typeface="Times New Roman" pitchFamily="-110" charset="0"/>
                <a:ea typeface="+mn-ea"/>
                <a:cs typeface="+mn-cs"/>
              </a:rPr>
              <a:t>). Underflow occurs when the fractional magnitude is too</a:t>
            </a:r>
          </a:p>
          <a:p>
            <a:r>
              <a:rPr lang="en-US" sz="1200" kern="1200" baseline="0" dirty="0" smtClean="0">
                <a:solidFill>
                  <a:schemeClr val="tx1"/>
                </a:solidFill>
                <a:latin typeface="Times New Roman" pitchFamily="-110" charset="0"/>
                <a:ea typeface="+mn-ea"/>
                <a:cs typeface="+mn-cs"/>
              </a:rPr>
              <a:t>small (e.g., 2</a:t>
            </a:r>
            <a:r>
              <a:rPr lang="en-US" sz="1200" kern="1200" baseline="30000" dirty="0" smtClean="0">
                <a:solidFill>
                  <a:schemeClr val="tx1"/>
                </a:solidFill>
                <a:latin typeface="Times New Roman" pitchFamily="-110" charset="0"/>
                <a:ea typeface="+mn-ea"/>
                <a:cs typeface="+mn-cs"/>
              </a:rPr>
              <a:t>-120 </a:t>
            </a:r>
            <a:r>
              <a:rPr lang="en-US" sz="1200" kern="1200" baseline="0" dirty="0" smtClean="0">
                <a:solidFill>
                  <a:schemeClr val="tx1"/>
                </a:solidFill>
                <a:latin typeface="Times New Roman" pitchFamily="-110" charset="0"/>
                <a:ea typeface="+mn-ea"/>
                <a:cs typeface="+mn-cs"/>
              </a:rPr>
              <a:t>* 2</a:t>
            </a:r>
            <a:r>
              <a:rPr lang="en-US" sz="1200" kern="1200" baseline="30000" dirty="0" smtClean="0">
                <a:solidFill>
                  <a:schemeClr val="tx1"/>
                </a:solidFill>
                <a:latin typeface="Times New Roman" pitchFamily="-110" charset="0"/>
                <a:ea typeface="+mn-ea"/>
                <a:cs typeface="+mn-cs"/>
              </a:rPr>
              <a:t>-100 </a:t>
            </a:r>
            <a:r>
              <a:rPr lang="en-US" sz="1200" kern="1200" baseline="0" dirty="0" smtClean="0">
                <a:solidFill>
                  <a:schemeClr val="tx1"/>
                </a:solidFill>
                <a:latin typeface="Times New Roman" pitchFamily="-110" charset="0"/>
                <a:ea typeface="+mn-ea"/>
                <a:cs typeface="+mn-cs"/>
              </a:rPr>
              <a:t>= 2</a:t>
            </a:r>
            <a:r>
              <a:rPr lang="en-US" sz="1200" kern="1200" baseline="30000" dirty="0" smtClean="0">
                <a:solidFill>
                  <a:schemeClr val="tx1"/>
                </a:solidFill>
                <a:latin typeface="Times New Roman" pitchFamily="-110" charset="0"/>
                <a:ea typeface="+mn-ea"/>
                <a:cs typeface="+mn-cs"/>
              </a:rPr>
              <a:t>-220</a:t>
            </a:r>
            <a:r>
              <a:rPr lang="en-US" sz="1200" kern="1200" baseline="0" dirty="0" smtClean="0">
                <a:solidFill>
                  <a:schemeClr val="tx1"/>
                </a:solidFill>
                <a:latin typeface="Times New Roman" pitchFamily="-110" charset="0"/>
                <a:ea typeface="+mn-ea"/>
                <a:cs typeface="+mn-cs"/>
              </a:rPr>
              <a:t>). Underflow is a less serious problem because</a:t>
            </a:r>
          </a:p>
          <a:p>
            <a:r>
              <a:rPr lang="en-US" sz="1200" kern="1200" baseline="0" dirty="0" smtClean="0">
                <a:solidFill>
                  <a:schemeClr val="tx1"/>
                </a:solidFill>
                <a:latin typeface="Times New Roman" pitchFamily="-110" charset="0"/>
                <a:ea typeface="+mn-ea"/>
                <a:cs typeface="+mn-cs"/>
              </a:rPr>
              <a:t>the result can generally be satisfactorily approximated by 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It is important to note that we are not representing more individual values</a:t>
            </a:r>
          </a:p>
          <a:p>
            <a:r>
              <a:rPr lang="en-US" sz="1200" kern="1200" baseline="0" dirty="0" smtClean="0">
                <a:solidFill>
                  <a:schemeClr val="tx1"/>
                </a:solidFill>
                <a:latin typeface="Times New Roman" pitchFamily="-110" charset="0"/>
                <a:ea typeface="+mn-ea"/>
                <a:cs typeface="+mn-cs"/>
              </a:rPr>
              <a:t>with floating-point notation. The maximum number of different values that can be</a:t>
            </a:r>
          </a:p>
          <a:p>
            <a:r>
              <a:rPr lang="en-US" sz="1200" kern="1200" baseline="0" dirty="0" smtClean="0">
                <a:solidFill>
                  <a:schemeClr val="tx1"/>
                </a:solidFill>
                <a:latin typeface="Times New Roman" pitchFamily="-110" charset="0"/>
                <a:ea typeface="+mn-ea"/>
                <a:cs typeface="+mn-cs"/>
              </a:rPr>
              <a:t>represented with 32 bits is still 2</a:t>
            </a:r>
            <a:r>
              <a:rPr lang="en-US" sz="1200" kern="1200" baseline="30000" dirty="0" smtClean="0">
                <a:solidFill>
                  <a:schemeClr val="tx1"/>
                </a:solidFill>
                <a:latin typeface="Times New Roman" pitchFamily="-110" charset="0"/>
                <a:ea typeface="+mn-ea"/>
                <a:cs typeface="+mn-cs"/>
              </a:rPr>
              <a:t>32</a:t>
            </a:r>
            <a:r>
              <a:rPr lang="en-US" sz="1200" kern="1200" baseline="0" dirty="0" smtClean="0">
                <a:solidFill>
                  <a:schemeClr val="tx1"/>
                </a:solidFill>
                <a:latin typeface="Times New Roman" pitchFamily="-110" charset="0"/>
                <a:ea typeface="+mn-ea"/>
                <a:cs typeface="+mn-cs"/>
              </a:rPr>
              <a:t>. What we have done is to spread those numbers</a:t>
            </a:r>
          </a:p>
          <a:p>
            <a:r>
              <a:rPr lang="en-US" sz="1200" kern="1200" baseline="0" dirty="0" smtClean="0">
                <a:solidFill>
                  <a:schemeClr val="tx1"/>
                </a:solidFill>
                <a:latin typeface="Times New Roman" pitchFamily="-110" charset="0"/>
                <a:ea typeface="+mn-ea"/>
                <a:cs typeface="+mn-cs"/>
              </a:rPr>
              <a:t>out in two ranges, one positive and one negative. In practice, most floating-point</a:t>
            </a:r>
          </a:p>
          <a:p>
            <a:r>
              <a:rPr lang="en-US" sz="1200" kern="1200" baseline="0" dirty="0" smtClean="0">
                <a:solidFill>
                  <a:schemeClr val="tx1"/>
                </a:solidFill>
                <a:latin typeface="Times New Roman" pitchFamily="-110" charset="0"/>
                <a:ea typeface="+mn-ea"/>
                <a:cs typeface="+mn-cs"/>
              </a:rPr>
              <a:t>numbers that one would wish to represent are represented only approximately.</a:t>
            </a:r>
          </a:p>
          <a:p>
            <a:r>
              <a:rPr lang="en-US" sz="1200" kern="1200" baseline="0" dirty="0" smtClean="0">
                <a:solidFill>
                  <a:schemeClr val="tx1"/>
                </a:solidFill>
                <a:latin typeface="Times New Roman" pitchFamily="-110" charset="0"/>
                <a:ea typeface="+mn-ea"/>
                <a:cs typeface="+mn-cs"/>
              </a:rPr>
              <a:t>However, for moderate sized integers, the representation is exact.</a:t>
            </a:r>
            <a:endParaRPr lang="en-GB" sz="1200" kern="1200" baseline="30000" dirty="0">
              <a:solidFill>
                <a:schemeClr val="tx1"/>
              </a:solidFill>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mtClean="0"/>
              <a:t>© 2016 Pearson Education, Inc., Hoboken, NJ. All rights reserved.</a:t>
            </a:r>
            <a:endParaRPr lang="en-US" dirty="0"/>
          </a:p>
        </p:txBody>
      </p:sp>
      <p:sp>
        <p:nvSpPr>
          <p:cNvPr id="5" name="Slide Number Placeholder 4"/>
          <p:cNvSpPr>
            <a:spLocks noGrp="1"/>
          </p:cNvSpPr>
          <p:nvPr>
            <p:ph type="sldNum" sz="quarter" idx="11"/>
          </p:nvPr>
        </p:nvSpPr>
        <p:spPr/>
        <p:txBody>
          <a:bodyPr/>
          <a:lstStyle/>
          <a:p>
            <a:fld id="{C8AE27EA-A634-9140-BAF9-5BB17D98E520}" type="slidenum">
              <a:rPr lang="en-US" smtClean="0"/>
              <a:pPr/>
              <a:t>45</a:t>
            </a:fld>
            <a:endParaRPr lang="en-US" dirty="0"/>
          </a:p>
        </p:txBody>
      </p:sp>
    </p:spTree>
    <p:extLst>
      <p:ext uri="{BB962C8B-B14F-4D97-AF65-F5344CB8AC3E}">
        <p14:creationId xmlns:p14="http://schemas.microsoft.com/office/powerpoint/2010/main" val="3248349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05BF04-A14D-874B-A8CF-9D1B063330CB}" type="slidenum">
              <a:rPr lang="en-US"/>
              <a:pPr/>
              <a:t>46</a:t>
            </a:fld>
            <a:endParaRPr lang="en-US" dirty="0"/>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The most important floating-point representation is defined in IEEE Standard 754,</a:t>
            </a:r>
          </a:p>
          <a:p>
            <a:r>
              <a:rPr lang="en-US" sz="1200" kern="1200" baseline="0" dirty="0" smtClean="0">
                <a:solidFill>
                  <a:schemeClr val="tx1"/>
                </a:solidFill>
                <a:latin typeface="Times New Roman" pitchFamily="-110" charset="0"/>
                <a:ea typeface="+mn-ea"/>
                <a:cs typeface="+mn-cs"/>
              </a:rPr>
              <a:t>adopted in 1985 and revised in 2008. This standard was developed to facilitate the</a:t>
            </a:r>
          </a:p>
          <a:p>
            <a:r>
              <a:rPr lang="en-US" sz="1200" kern="1200" baseline="0" dirty="0" smtClean="0">
                <a:solidFill>
                  <a:schemeClr val="tx1"/>
                </a:solidFill>
                <a:latin typeface="Times New Roman" pitchFamily="-110" charset="0"/>
                <a:ea typeface="+mn-ea"/>
                <a:cs typeface="+mn-cs"/>
              </a:rPr>
              <a:t>portability of programs from one processor to another and to encourage the development</a:t>
            </a:r>
          </a:p>
          <a:p>
            <a:r>
              <a:rPr lang="en-US" sz="1200" kern="1200" baseline="0" dirty="0" smtClean="0">
                <a:solidFill>
                  <a:schemeClr val="tx1"/>
                </a:solidFill>
                <a:latin typeface="Times New Roman" pitchFamily="-110" charset="0"/>
                <a:ea typeface="+mn-ea"/>
                <a:cs typeface="+mn-cs"/>
              </a:rPr>
              <a:t>of sophisticated, numerically oriented programs. The standard has been</a:t>
            </a:r>
          </a:p>
          <a:p>
            <a:r>
              <a:rPr lang="en-US" sz="1200" kern="1200" baseline="0" dirty="0" smtClean="0">
                <a:solidFill>
                  <a:schemeClr val="tx1"/>
                </a:solidFill>
                <a:latin typeface="Times New Roman" pitchFamily="-110" charset="0"/>
                <a:ea typeface="+mn-ea"/>
                <a:cs typeface="+mn-cs"/>
              </a:rPr>
              <a:t>widely adopted and is used on virtually all contemporary processors and arithmetic</a:t>
            </a:r>
          </a:p>
          <a:p>
            <a:r>
              <a:rPr lang="en-US" sz="1200" kern="1200" baseline="0" dirty="0" smtClean="0">
                <a:solidFill>
                  <a:schemeClr val="tx1"/>
                </a:solidFill>
                <a:latin typeface="Times New Roman" pitchFamily="-110" charset="0"/>
                <a:ea typeface="+mn-ea"/>
                <a:cs typeface="+mn-cs"/>
              </a:rPr>
              <a:t>coprocessors. IEEE 754-2008 covers both binary and decimal floating-point representations.</a:t>
            </a:r>
          </a:p>
          <a:p>
            <a:r>
              <a:rPr lang="en-US" sz="1200" kern="1200" baseline="0" dirty="0" smtClean="0">
                <a:solidFill>
                  <a:schemeClr val="tx1"/>
                </a:solidFill>
                <a:latin typeface="Times New Roman" pitchFamily="-110" charset="0"/>
                <a:ea typeface="+mn-ea"/>
                <a:cs typeface="+mn-cs"/>
              </a:rPr>
              <a:t>In this chapter, we deal only with binary representations.</a:t>
            </a:r>
          </a:p>
          <a:p>
            <a:endParaRPr lang="en-US" sz="1200" kern="1200" baseline="0" dirty="0" smtClean="0">
              <a:solidFill>
                <a:schemeClr val="tx1"/>
              </a:solidFill>
              <a:latin typeface="Times New Roman" pitchFamily="-110" charset="0"/>
              <a:ea typeface="+mn-ea"/>
              <a:cs typeface="+mn-cs"/>
            </a:endParaRPr>
          </a:p>
          <a:p>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IEEE 754-2008 defines the following different types of floating-point formats: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a:t>
            </a:r>
            <a:r>
              <a:rPr lang="en-US" sz="1200" b="1" kern="1200" baseline="0" dirty="0" smtClean="0">
                <a:solidFill>
                  <a:schemeClr val="tx1"/>
                </a:solidFill>
                <a:latin typeface="Times New Roman" pitchFamily="-110" charset="0"/>
                <a:ea typeface="+mn-ea"/>
                <a:cs typeface="+mn-cs"/>
              </a:rPr>
              <a:t>Arithmetic format: </a:t>
            </a:r>
            <a:r>
              <a:rPr lang="en-US" sz="1200" b="0" kern="1200" baseline="0" dirty="0" smtClean="0">
                <a:solidFill>
                  <a:schemeClr val="tx1"/>
                </a:solidFill>
                <a:latin typeface="Times New Roman" pitchFamily="-110" charset="0"/>
                <a:ea typeface="+mn-ea"/>
                <a:cs typeface="+mn-cs"/>
              </a:rPr>
              <a:t>All the mandatory operations defined by the standard are</a:t>
            </a:r>
          </a:p>
          <a:p>
            <a:r>
              <a:rPr lang="en-US" sz="1200" kern="1200" baseline="0" dirty="0" smtClean="0">
                <a:solidFill>
                  <a:schemeClr val="tx1"/>
                </a:solidFill>
                <a:latin typeface="Times New Roman" pitchFamily="-110" charset="0"/>
                <a:ea typeface="+mn-ea"/>
                <a:cs typeface="+mn-cs"/>
              </a:rPr>
              <a:t>supported by the format. The format may be used to represent floating-point</a:t>
            </a:r>
          </a:p>
          <a:p>
            <a:r>
              <a:rPr lang="en-US" sz="1200" kern="1200" baseline="0" dirty="0" smtClean="0">
                <a:solidFill>
                  <a:schemeClr val="tx1"/>
                </a:solidFill>
                <a:latin typeface="Times New Roman" pitchFamily="-110" charset="0"/>
                <a:ea typeface="+mn-ea"/>
                <a:cs typeface="+mn-cs"/>
              </a:rPr>
              <a:t>operands or results for the operations described in the standard.</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a:t>
            </a:r>
            <a:r>
              <a:rPr lang="en-US" sz="1200" b="1" kern="1200" baseline="0" dirty="0" smtClean="0">
                <a:solidFill>
                  <a:schemeClr val="tx1"/>
                </a:solidFill>
                <a:latin typeface="Times New Roman" pitchFamily="-110" charset="0"/>
                <a:ea typeface="+mn-ea"/>
                <a:cs typeface="+mn-cs"/>
              </a:rPr>
              <a:t>Basic format: </a:t>
            </a:r>
            <a:r>
              <a:rPr lang="en-US" sz="1200" b="0" kern="1200" baseline="0" dirty="0" smtClean="0">
                <a:solidFill>
                  <a:schemeClr val="tx1"/>
                </a:solidFill>
                <a:latin typeface="Times New Roman" pitchFamily="-110" charset="0"/>
                <a:ea typeface="+mn-ea"/>
                <a:cs typeface="+mn-cs"/>
              </a:rPr>
              <a:t>This format covers five floating-point representations, three</a:t>
            </a:r>
          </a:p>
          <a:p>
            <a:r>
              <a:rPr lang="en-US" sz="1200" kern="1200" baseline="0" dirty="0" smtClean="0">
                <a:solidFill>
                  <a:schemeClr val="tx1"/>
                </a:solidFill>
                <a:latin typeface="Times New Roman" pitchFamily="-110" charset="0"/>
                <a:ea typeface="+mn-ea"/>
                <a:cs typeface="+mn-cs"/>
              </a:rPr>
              <a:t>binary and two decimal, whose encodings are specified by the standard, and</a:t>
            </a:r>
          </a:p>
          <a:p>
            <a:r>
              <a:rPr lang="en-US" sz="1200" kern="1200" baseline="0" dirty="0" smtClean="0">
                <a:solidFill>
                  <a:schemeClr val="tx1"/>
                </a:solidFill>
                <a:latin typeface="Times New Roman" pitchFamily="-110" charset="0"/>
                <a:ea typeface="+mn-ea"/>
                <a:cs typeface="+mn-cs"/>
              </a:rPr>
              <a:t>which can be used for arithmetic. At least one of the basic formats is implemented</a:t>
            </a:r>
          </a:p>
          <a:p>
            <a:r>
              <a:rPr lang="en-US" sz="1200" kern="1200" baseline="0" dirty="0" smtClean="0">
                <a:solidFill>
                  <a:schemeClr val="tx1"/>
                </a:solidFill>
                <a:latin typeface="Times New Roman" pitchFamily="-110" charset="0"/>
                <a:ea typeface="+mn-ea"/>
                <a:cs typeface="+mn-cs"/>
              </a:rPr>
              <a:t>in any conforming implementation.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a:t>
            </a:r>
            <a:r>
              <a:rPr lang="en-US" sz="1200" b="1" kern="1200" baseline="0" dirty="0" smtClean="0">
                <a:solidFill>
                  <a:schemeClr val="tx1"/>
                </a:solidFill>
                <a:latin typeface="Times New Roman" pitchFamily="-110" charset="0"/>
                <a:ea typeface="+mn-ea"/>
                <a:cs typeface="+mn-cs"/>
              </a:rPr>
              <a:t>Interchange format: </a:t>
            </a:r>
            <a:r>
              <a:rPr lang="en-US" sz="1200" b="0" kern="1200" baseline="0" dirty="0" smtClean="0">
                <a:solidFill>
                  <a:schemeClr val="tx1"/>
                </a:solidFill>
                <a:latin typeface="Times New Roman" pitchFamily="-110" charset="0"/>
                <a:ea typeface="+mn-ea"/>
                <a:cs typeface="+mn-cs"/>
              </a:rPr>
              <a:t>A fully specified, fixed-length binary encoding that allows</a:t>
            </a:r>
          </a:p>
          <a:p>
            <a:r>
              <a:rPr lang="en-US" sz="1200" kern="1200" baseline="0" dirty="0" smtClean="0">
                <a:solidFill>
                  <a:schemeClr val="tx1"/>
                </a:solidFill>
                <a:latin typeface="Times New Roman" pitchFamily="-110" charset="0"/>
                <a:ea typeface="+mn-ea"/>
                <a:cs typeface="+mn-cs"/>
              </a:rPr>
              <a:t>data interchange between different platforms and that can be used for storage.</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47</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The three basic binary formats have bit lengths of 32, 64, and 128 bits, with</a:t>
            </a:r>
          </a:p>
          <a:p>
            <a:r>
              <a:rPr lang="en-US" sz="1200" kern="1200" baseline="0" dirty="0" smtClean="0">
                <a:solidFill>
                  <a:schemeClr val="tx1"/>
                </a:solidFill>
                <a:latin typeface="Times New Roman" pitchFamily="-110" charset="0"/>
                <a:ea typeface="+mn-ea"/>
                <a:cs typeface="+mn-cs"/>
              </a:rPr>
              <a:t>exponents of 8, 11, and 15 bits, respectively (Figure 10.21).</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48</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smtClean="0">
                <a:solidFill>
                  <a:schemeClr val="tx1"/>
                </a:solidFill>
                <a:latin typeface="Times New Roman" pitchFamily="-110" charset="0"/>
                <a:ea typeface="+mn-ea"/>
                <a:cs typeface="+mn-cs"/>
              </a:rPr>
              <a:t>Another detail that affects the precision of the result is the rounding</a:t>
            </a:r>
          </a:p>
          <a:p>
            <a:r>
              <a:rPr lang="en-US" sz="1200" kern="1200" baseline="0" dirty="0" smtClean="0">
                <a:solidFill>
                  <a:schemeClr val="tx1"/>
                </a:solidFill>
                <a:latin typeface="Times New Roman" pitchFamily="-110" charset="0"/>
                <a:ea typeface="+mn-ea"/>
                <a:cs typeface="+mn-cs"/>
              </a:rPr>
              <a:t>policy. The result of any operation on the significands is generally stored in a longer</a:t>
            </a:r>
          </a:p>
          <a:p>
            <a:r>
              <a:rPr lang="en-US" sz="1200" kern="1200" baseline="0" dirty="0" smtClean="0">
                <a:solidFill>
                  <a:schemeClr val="tx1"/>
                </a:solidFill>
                <a:latin typeface="Times New Roman" pitchFamily="-110" charset="0"/>
                <a:ea typeface="+mn-ea"/>
                <a:cs typeface="+mn-cs"/>
              </a:rPr>
              <a:t>register. When the result is put back into the floating-point format, the extra bits</a:t>
            </a:r>
          </a:p>
          <a:p>
            <a:r>
              <a:rPr lang="en-US" sz="1200" kern="1200" baseline="0" dirty="0" smtClean="0">
                <a:solidFill>
                  <a:schemeClr val="tx1"/>
                </a:solidFill>
                <a:latin typeface="Times New Roman" pitchFamily="-110" charset="0"/>
                <a:ea typeface="+mn-ea"/>
                <a:cs typeface="+mn-cs"/>
              </a:rPr>
              <a:t>must be eliminated in such a way as to produce a result that is close to the exact</a:t>
            </a:r>
          </a:p>
          <a:p>
            <a:r>
              <a:rPr lang="en-US" sz="1200" kern="1200" baseline="0" dirty="0" smtClean="0">
                <a:solidFill>
                  <a:schemeClr val="tx1"/>
                </a:solidFill>
                <a:latin typeface="Times New Roman" pitchFamily="-110" charset="0"/>
                <a:ea typeface="+mn-ea"/>
                <a:cs typeface="+mn-cs"/>
              </a:rPr>
              <a:t>result. This process is called </a:t>
            </a:r>
            <a:r>
              <a:rPr lang="en-US" sz="1200" b="1" kern="1200" baseline="0" dirty="0" smtClean="0">
                <a:solidFill>
                  <a:schemeClr val="tx1"/>
                </a:solidFill>
                <a:latin typeface="Times New Roman" pitchFamily="-110" charset="0"/>
                <a:ea typeface="+mn-ea"/>
                <a:cs typeface="+mn-cs"/>
              </a:rPr>
              <a:t>rounding.</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 number of techniques have been explored for performing rounding. In fact,</a:t>
            </a:r>
          </a:p>
          <a:p>
            <a:r>
              <a:rPr lang="en-US" sz="1200" kern="1200" baseline="0" dirty="0" smtClean="0">
                <a:solidFill>
                  <a:schemeClr val="tx1"/>
                </a:solidFill>
                <a:latin typeface="Times New Roman" pitchFamily="-110" charset="0"/>
                <a:ea typeface="+mn-ea"/>
                <a:cs typeface="+mn-cs"/>
              </a:rPr>
              <a:t>the IEEE standard lists four alternative approaches: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a:t>
            </a:r>
            <a:r>
              <a:rPr lang="en-US" sz="1200" b="1" kern="1200" baseline="0" dirty="0" smtClean="0">
                <a:solidFill>
                  <a:schemeClr val="tx1"/>
                </a:solidFill>
                <a:latin typeface="Times New Roman" pitchFamily="-110" charset="0"/>
                <a:ea typeface="+mn-ea"/>
                <a:cs typeface="+mn-cs"/>
              </a:rPr>
              <a:t>Round to nearest: </a:t>
            </a:r>
            <a:r>
              <a:rPr lang="en-US" sz="1200" b="0" kern="1200" baseline="0" dirty="0" smtClean="0">
                <a:solidFill>
                  <a:schemeClr val="tx1"/>
                </a:solidFill>
                <a:latin typeface="Times New Roman" pitchFamily="-110" charset="0"/>
                <a:ea typeface="+mn-ea"/>
                <a:cs typeface="+mn-cs"/>
              </a:rPr>
              <a:t>The result is rounded to the nearest representable number.</a:t>
            </a:r>
          </a:p>
          <a:p>
            <a:endParaRPr lang="en-US" sz="120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 </a:t>
            </a:r>
            <a:r>
              <a:rPr lang="en-US" sz="1200" b="1" kern="1200" baseline="0" dirty="0" smtClean="0">
                <a:solidFill>
                  <a:schemeClr val="tx1"/>
                </a:solidFill>
                <a:latin typeface="Times New Roman" pitchFamily="-110" charset="0"/>
                <a:ea typeface="+mn-ea"/>
                <a:cs typeface="+mn-cs"/>
              </a:rPr>
              <a:t>Round toward </a:t>
            </a:r>
            <a:r>
              <a:rPr lang="en-US" sz="1200" dirty="0" smtClean="0"/>
              <a:t>+∞</a:t>
            </a:r>
            <a:r>
              <a:rPr lang="en-US" sz="1200" baseline="30000" dirty="0" smtClean="0"/>
              <a:t> </a:t>
            </a:r>
            <a:r>
              <a:rPr lang="en-US" sz="1200" b="1" kern="1200" baseline="0" dirty="0" smtClean="0">
                <a:solidFill>
                  <a:schemeClr val="tx1"/>
                </a:solidFill>
                <a:latin typeface="Times New Roman" pitchFamily="-110" charset="0"/>
                <a:ea typeface="+mn-ea"/>
                <a:cs typeface="+mn-cs"/>
              </a:rPr>
              <a:t>: </a:t>
            </a:r>
            <a:r>
              <a:rPr lang="en-US" sz="1200" b="0" kern="1200" baseline="0" dirty="0" smtClean="0">
                <a:solidFill>
                  <a:schemeClr val="tx1"/>
                </a:solidFill>
                <a:latin typeface="Times New Roman" pitchFamily="-110" charset="0"/>
                <a:ea typeface="+mn-ea"/>
                <a:cs typeface="+mn-cs"/>
              </a:rPr>
              <a:t>The result is rounded up toward plus infinity.</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 </a:t>
            </a:r>
            <a:r>
              <a:rPr lang="en-US" sz="1200" b="1" kern="1200" baseline="0" dirty="0" smtClean="0">
                <a:solidFill>
                  <a:schemeClr val="tx1"/>
                </a:solidFill>
                <a:latin typeface="Times New Roman" pitchFamily="-110" charset="0"/>
                <a:ea typeface="+mn-ea"/>
                <a:cs typeface="+mn-cs"/>
              </a:rPr>
              <a:t>Round toward </a:t>
            </a:r>
            <a:r>
              <a:rPr lang="en-US" sz="1200" dirty="0" smtClean="0"/>
              <a:t>-∞</a:t>
            </a:r>
            <a:r>
              <a:rPr lang="en-US" sz="1200" b="1" kern="1200" baseline="0" dirty="0" smtClean="0">
                <a:solidFill>
                  <a:schemeClr val="tx1"/>
                </a:solidFill>
                <a:latin typeface="Times New Roman" pitchFamily="-110" charset="0"/>
                <a:ea typeface="+mn-ea"/>
                <a:cs typeface="+mn-cs"/>
              </a:rPr>
              <a:t>: </a:t>
            </a:r>
            <a:r>
              <a:rPr lang="en-US" sz="1200" b="0" kern="1200" baseline="0" dirty="0" smtClean="0">
                <a:solidFill>
                  <a:schemeClr val="tx1"/>
                </a:solidFill>
                <a:latin typeface="Times New Roman" pitchFamily="-110" charset="0"/>
                <a:ea typeface="+mn-ea"/>
                <a:cs typeface="+mn-cs"/>
              </a:rPr>
              <a:t>The result is rounded down toward negative infinity.</a:t>
            </a:r>
          </a:p>
          <a:p>
            <a:endParaRPr lang="en-US" sz="1200" b="0" kern="1200" baseline="0" dirty="0" smtClean="0">
              <a:solidFill>
                <a:schemeClr val="tx1"/>
              </a:solidFill>
              <a:latin typeface="Times New Roman" pitchFamily="-110" charset="0"/>
              <a:ea typeface="+mn-ea"/>
              <a:cs typeface="+mn-cs"/>
            </a:endParaRPr>
          </a:p>
          <a:p>
            <a:r>
              <a:rPr lang="en-US" sz="1200" b="1" kern="1200" baseline="0" dirty="0" smtClean="0">
                <a:solidFill>
                  <a:schemeClr val="tx1"/>
                </a:solidFill>
                <a:latin typeface="Times New Roman" pitchFamily="-110" charset="0"/>
                <a:ea typeface="+mn-ea"/>
                <a:cs typeface="+mn-cs"/>
              </a:rPr>
              <a:t>• Round toward 0: </a:t>
            </a:r>
            <a:r>
              <a:rPr lang="en-US" sz="1200" b="0" kern="1200" baseline="0" dirty="0" smtClean="0">
                <a:solidFill>
                  <a:schemeClr val="tx1"/>
                </a:solidFill>
                <a:latin typeface="Times New Roman" pitchFamily="-110" charset="0"/>
                <a:ea typeface="+mn-ea"/>
                <a:cs typeface="+mn-cs"/>
              </a:rPr>
              <a:t>The result is rounded toward zero.</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Let us consider each of these policies in turn. </a:t>
            </a:r>
            <a:r>
              <a:rPr lang="en-US" sz="1200" b="1" kern="1200" baseline="0" dirty="0" smtClean="0">
                <a:solidFill>
                  <a:schemeClr val="tx1"/>
                </a:solidFill>
                <a:latin typeface="Times New Roman" pitchFamily="-110" charset="0"/>
                <a:ea typeface="+mn-ea"/>
                <a:cs typeface="+mn-cs"/>
              </a:rPr>
              <a:t>Round to nearest </a:t>
            </a:r>
            <a:r>
              <a:rPr lang="en-US" sz="1200" b="0" kern="1200" baseline="0" dirty="0" smtClean="0">
                <a:solidFill>
                  <a:schemeClr val="tx1"/>
                </a:solidFill>
                <a:latin typeface="Times New Roman" pitchFamily="-110" charset="0"/>
                <a:ea typeface="+mn-ea"/>
                <a:cs typeface="+mn-cs"/>
              </a:rPr>
              <a:t>is the default</a:t>
            </a:r>
          </a:p>
          <a:p>
            <a:r>
              <a:rPr lang="en-US" sz="1200" kern="1200" baseline="0" dirty="0" smtClean="0">
                <a:solidFill>
                  <a:schemeClr val="tx1"/>
                </a:solidFill>
                <a:latin typeface="Times New Roman" pitchFamily="-110" charset="0"/>
                <a:ea typeface="+mn-ea"/>
                <a:cs typeface="+mn-cs"/>
              </a:rPr>
              <a:t>rounding mode listed in the standard and is defined as follows: The representable</a:t>
            </a:r>
          </a:p>
          <a:p>
            <a:r>
              <a:rPr lang="en-US" sz="1200" kern="1200" baseline="0" dirty="0" smtClean="0">
                <a:solidFill>
                  <a:schemeClr val="tx1"/>
                </a:solidFill>
                <a:latin typeface="Times New Roman" pitchFamily="-110" charset="0"/>
                <a:ea typeface="+mn-ea"/>
                <a:cs typeface="+mn-cs"/>
              </a:rPr>
              <a:t>value nearest to the infinitely precise result shall be delivered.</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standard also addresses the special case of extra bits of the form 10000.…</a:t>
            </a:r>
          </a:p>
          <a:p>
            <a:r>
              <a:rPr lang="en-US" sz="1200" kern="1200" baseline="0" dirty="0" smtClean="0">
                <a:solidFill>
                  <a:schemeClr val="tx1"/>
                </a:solidFill>
                <a:latin typeface="Times New Roman" pitchFamily="-110" charset="0"/>
                <a:ea typeface="+mn-ea"/>
                <a:cs typeface="+mn-cs"/>
              </a:rPr>
              <a:t>Here the result is exactly halfway between the two possible representable values.</a:t>
            </a:r>
          </a:p>
          <a:p>
            <a:r>
              <a:rPr lang="en-US" sz="1200" kern="1200" baseline="0" dirty="0" smtClean="0">
                <a:solidFill>
                  <a:schemeClr val="tx1"/>
                </a:solidFill>
                <a:latin typeface="Times New Roman" pitchFamily="-110" charset="0"/>
                <a:ea typeface="+mn-ea"/>
                <a:cs typeface="+mn-cs"/>
              </a:rPr>
              <a:t>One possible technique here would be to always truncate, as this would be the simplest</a:t>
            </a:r>
          </a:p>
          <a:p>
            <a:r>
              <a:rPr lang="en-US" sz="1200" kern="1200" baseline="0" dirty="0" smtClean="0">
                <a:solidFill>
                  <a:schemeClr val="tx1"/>
                </a:solidFill>
                <a:latin typeface="Times New Roman" pitchFamily="-110" charset="0"/>
                <a:ea typeface="+mn-ea"/>
                <a:cs typeface="+mn-cs"/>
              </a:rPr>
              <a:t>operation. However, the difficulty with this simple approach is that it introduces</a:t>
            </a:r>
          </a:p>
          <a:p>
            <a:r>
              <a:rPr lang="en-US" sz="1200" kern="1200" baseline="0" dirty="0" smtClean="0">
                <a:solidFill>
                  <a:schemeClr val="tx1"/>
                </a:solidFill>
                <a:latin typeface="Times New Roman" pitchFamily="-110" charset="0"/>
                <a:ea typeface="+mn-ea"/>
                <a:cs typeface="+mn-cs"/>
              </a:rPr>
              <a:t>a small but cumulative bias into a sequence of computations. What is required</a:t>
            </a:r>
          </a:p>
          <a:p>
            <a:r>
              <a:rPr lang="en-US" sz="1200" kern="1200" baseline="0" dirty="0" smtClean="0">
                <a:solidFill>
                  <a:schemeClr val="tx1"/>
                </a:solidFill>
                <a:latin typeface="Times New Roman" pitchFamily="-110" charset="0"/>
                <a:ea typeface="+mn-ea"/>
                <a:cs typeface="+mn-cs"/>
              </a:rPr>
              <a:t>is an unbiased method of rounding. One possible approach would be to round up or</a:t>
            </a:r>
          </a:p>
          <a:p>
            <a:r>
              <a:rPr lang="en-US" sz="1200" kern="1200" baseline="0" dirty="0" smtClean="0">
                <a:solidFill>
                  <a:schemeClr val="tx1"/>
                </a:solidFill>
                <a:latin typeface="Times New Roman" pitchFamily="-110" charset="0"/>
                <a:ea typeface="+mn-ea"/>
                <a:cs typeface="+mn-cs"/>
              </a:rPr>
              <a:t>down on the basis of a random number so that, on average, the result would be unbiased.</a:t>
            </a:r>
          </a:p>
          <a:p>
            <a:r>
              <a:rPr lang="en-US" sz="1200" kern="1200" baseline="0" dirty="0" smtClean="0">
                <a:solidFill>
                  <a:schemeClr val="tx1"/>
                </a:solidFill>
                <a:latin typeface="Times New Roman" pitchFamily="-110" charset="0"/>
                <a:ea typeface="+mn-ea"/>
                <a:cs typeface="+mn-cs"/>
              </a:rPr>
              <a:t>The argument against this approach is that it does not produce predictable,</a:t>
            </a:r>
          </a:p>
          <a:p>
            <a:r>
              <a:rPr lang="en-US" sz="1200" kern="1200" baseline="0" dirty="0" smtClean="0">
                <a:solidFill>
                  <a:schemeClr val="tx1"/>
                </a:solidFill>
                <a:latin typeface="Times New Roman" pitchFamily="-110" charset="0"/>
                <a:ea typeface="+mn-ea"/>
                <a:cs typeface="+mn-cs"/>
              </a:rPr>
              <a:t>deterministic results. The approach taken by the IEEE standard is to force the result</a:t>
            </a:r>
          </a:p>
          <a:p>
            <a:r>
              <a:rPr lang="en-US" sz="1200" kern="1200" baseline="0" dirty="0" smtClean="0">
                <a:solidFill>
                  <a:schemeClr val="tx1"/>
                </a:solidFill>
                <a:latin typeface="Times New Roman" pitchFamily="-110" charset="0"/>
                <a:ea typeface="+mn-ea"/>
                <a:cs typeface="+mn-cs"/>
              </a:rPr>
              <a:t>to be even: If the result of a computation is exactly midway between two representable</a:t>
            </a:r>
          </a:p>
          <a:p>
            <a:r>
              <a:rPr lang="en-US" sz="1200" kern="1200" baseline="0" dirty="0" smtClean="0">
                <a:solidFill>
                  <a:schemeClr val="tx1"/>
                </a:solidFill>
                <a:latin typeface="Times New Roman" pitchFamily="-110" charset="0"/>
                <a:ea typeface="+mn-ea"/>
                <a:cs typeface="+mn-cs"/>
              </a:rPr>
              <a:t>numbers, the value is rounded up if the last representable bit is currently 1 and</a:t>
            </a:r>
          </a:p>
          <a:p>
            <a:r>
              <a:rPr lang="en-US" sz="1200" kern="1200" baseline="0" dirty="0" smtClean="0">
                <a:solidFill>
                  <a:schemeClr val="tx1"/>
                </a:solidFill>
                <a:latin typeface="Times New Roman" pitchFamily="-110" charset="0"/>
                <a:ea typeface="+mn-ea"/>
                <a:cs typeface="+mn-cs"/>
              </a:rPr>
              <a:t>not rounded up if it is currently 0.</a:t>
            </a:r>
            <a:endParaRPr lang="en-US" dirty="0"/>
          </a:p>
        </p:txBody>
      </p:sp>
      <p:sp>
        <p:nvSpPr>
          <p:cNvPr id="4" name="Slide Number Placeholder 3"/>
          <p:cNvSpPr>
            <a:spLocks noGrp="1"/>
          </p:cNvSpPr>
          <p:nvPr>
            <p:ph type="sldNum" sz="quarter" idx="10"/>
          </p:nvPr>
        </p:nvSpPr>
        <p:spPr/>
        <p:txBody>
          <a:bodyPr/>
          <a:lstStyle/>
          <a:p>
            <a:fld id="{C8AE27EA-A634-9140-BAF9-5BB17D98E520}" type="slidenum">
              <a:rPr lang="en-US" smtClean="0"/>
              <a:pPr/>
              <a:t>49</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50</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10 summary.</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smtClean="0"/>
              <a:t>© 2016 Pearson Education, Inc., Hoboken, NJ. All rights reserved.</a:t>
            </a:r>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smtClean="0"/>
              <a:t>© 2016 Pearson Education, Inc., Hoboken, NJ. All rights reserved.</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smtClean="0"/>
              <a:t>© 2016 Pearson Education, Inc., Hoboken, NJ. All rights reserved.</a:t>
            </a:r>
            <a:endParaRPr dirty="0"/>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smtClean="0"/>
              <a:t>© 2016 Pearson Education, Inc., Hoboken, NJ. All rights reserved.</a:t>
            </a:r>
            <a:endParaRPr dirty="0"/>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smtClean="0"/>
              <a:t>© 2016 Pearson Education, Inc., Hoboken, NJ. All rights reserved.</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10</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p:txBody>
          <a:bodyPr/>
          <a:lstStyle/>
          <a:p>
            <a:r>
              <a:rPr lang="en-GB" dirty="0" smtClean="0"/>
              <a:t>© 2016 Pearson Education, Inc., Hoboken, NJ. All rights reserved.</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221088"/>
            <a:ext cx="6191157" cy="833718"/>
          </a:xfrm>
        </p:spPr>
        <p:txBody>
          <a:bodyPr>
            <a:noAutofit/>
          </a:bodyPr>
          <a:lstStyle/>
          <a:p>
            <a:r>
              <a:rPr lang="en-US" sz="5400" dirty="0" smtClean="0">
                <a:effectLst>
                  <a:outerShdw blurRad="38100" dist="38100" dir="2700000" algn="tl">
                    <a:srgbClr val="000000">
                      <a:alpha val="43137"/>
                    </a:srgbClr>
                  </a:outerShdw>
                </a:effectLst>
              </a:rPr>
              <a:t>Chapter </a:t>
            </a:r>
            <a:r>
              <a:rPr lang="en-US" sz="5400" dirty="0">
                <a:effectLst>
                  <a:outerShdw blurRad="38100" dist="38100" dir="2700000" algn="tl">
                    <a:srgbClr val="000000">
                      <a:alpha val="43137"/>
                    </a:srgbClr>
                  </a:outerShdw>
                </a:effectLst>
              </a:rPr>
              <a:t>9</a:t>
            </a:r>
          </a:p>
        </p:txBody>
      </p:sp>
      <p:sp>
        <p:nvSpPr>
          <p:cNvPr id="11" name="Text Placeholder 10"/>
          <p:cNvSpPr>
            <a:spLocks noGrp="1"/>
          </p:cNvSpPr>
          <p:nvPr>
            <p:ph type="body" sz="half" idx="2"/>
          </p:nvPr>
        </p:nvSpPr>
        <p:spPr>
          <a:xfrm>
            <a:off x="533400" y="5085184"/>
            <a:ext cx="8610600" cy="838200"/>
          </a:xfrm>
        </p:spPr>
        <p:txBody>
          <a:bodyPr>
            <a:normAutofit/>
          </a:bodyPr>
          <a:lstStyle/>
          <a:p>
            <a:r>
              <a:rPr lang="en-US" sz="4400" dirty="0" smtClean="0"/>
              <a:t>Computer Arithmetic</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8200" y="457200"/>
            <a:ext cx="7556313" cy="1116106"/>
          </a:xfrm>
        </p:spPr>
        <p:txBody>
          <a:bodyPr/>
          <a:lstStyle/>
          <a:p>
            <a:r>
              <a:rPr lang="en-US" dirty="0">
                <a:effectLst>
                  <a:outerShdw blurRad="38100" dist="38100" dir="2700000" algn="tl">
                    <a:srgbClr val="000000">
                      <a:alpha val="43137"/>
                    </a:srgbClr>
                  </a:outerShdw>
                </a:effectLst>
              </a:rPr>
              <a:t>Arithmetic &amp; Logic </a:t>
            </a:r>
            <a:r>
              <a:rPr lang="en-US" dirty="0" smtClean="0">
                <a:effectLst>
                  <a:outerShdw blurRad="38100" dist="38100" dir="2700000" algn="tl">
                    <a:srgbClr val="000000">
                      <a:alpha val="43137"/>
                    </a:srgbClr>
                  </a:outerShdw>
                </a:effectLst>
              </a:rPr>
              <a:t>Unit (ALU)</a:t>
            </a:r>
            <a:endParaRPr lang="en-US" dirty="0">
              <a:effectLst>
                <a:outerShdw blurRad="38100" dist="38100" dir="2700000" algn="tl">
                  <a:srgbClr val="000000">
                    <a:alpha val="43137"/>
                  </a:srgbClr>
                </a:outerShdw>
              </a:effectLst>
            </a:endParaRPr>
          </a:p>
        </p:txBody>
      </p:sp>
      <p:sp>
        <p:nvSpPr>
          <p:cNvPr id="6147" name="Rectangle 3"/>
          <p:cNvSpPr>
            <a:spLocks noGrp="1" noChangeArrowheads="1"/>
          </p:cNvSpPr>
          <p:nvPr>
            <p:ph idx="1"/>
          </p:nvPr>
        </p:nvSpPr>
        <p:spPr>
          <a:xfrm>
            <a:off x="467544" y="1700808"/>
            <a:ext cx="7556313" cy="4144963"/>
          </a:xfrm>
        </p:spPr>
        <p:txBody>
          <a:bodyPr/>
          <a:lstStyle/>
          <a:p>
            <a:r>
              <a:rPr lang="en-US" dirty="0" smtClean="0"/>
              <a:t>Part of the computer that actually performs arithmetic and logical operations on data</a:t>
            </a:r>
          </a:p>
          <a:p>
            <a:r>
              <a:rPr lang="en-US" dirty="0" smtClean="0"/>
              <a:t>All of the other elements of the computer system are there mainly to bring data into the ALU for it to process and then to take the results back out</a:t>
            </a:r>
          </a:p>
          <a:p>
            <a:r>
              <a:rPr lang="en-US" dirty="0" smtClean="0"/>
              <a:t>Based on the use of simple digital logic devices that can store binary digits and perform simple Boolean logic operations</a:t>
            </a:r>
          </a:p>
          <a:p>
            <a:endParaRPr lang="en-US" dirty="0"/>
          </a:p>
        </p:txBody>
      </p:sp>
      <p:pic>
        <p:nvPicPr>
          <p:cNvPr id="4" name="Picture 3"/>
          <p:cNvPicPr>
            <a:picLocks noChangeAspect="1"/>
          </p:cNvPicPr>
          <p:nvPr/>
        </p:nvPicPr>
        <p:blipFill>
          <a:blip r:embed="rId3"/>
          <a:stretch>
            <a:fillRect/>
          </a:stretch>
        </p:blipFill>
        <p:spPr>
          <a:xfrm>
            <a:off x="3563888" y="4725144"/>
            <a:ext cx="2082800" cy="1485900"/>
          </a:xfrm>
          <a:prstGeom prst="rect">
            <a:avLst/>
          </a:prstGeom>
        </p:spPr>
      </p:pic>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8200" y="457200"/>
            <a:ext cx="7556313" cy="1116106"/>
          </a:xfrm>
        </p:spPr>
        <p:txBody>
          <a:bodyPr/>
          <a:lstStyle/>
          <a:p>
            <a:r>
              <a:rPr lang="en-US" dirty="0">
                <a:effectLst>
                  <a:outerShdw blurRad="38100" dist="38100" dir="2700000" algn="tl">
                    <a:srgbClr val="000000">
                      <a:alpha val="43137"/>
                    </a:srgbClr>
                  </a:outerShdw>
                </a:effectLst>
              </a:rPr>
              <a:t>Arithmetic &amp; Logic </a:t>
            </a:r>
            <a:r>
              <a:rPr lang="en-US" dirty="0" smtClean="0">
                <a:effectLst>
                  <a:outerShdw blurRad="38100" dist="38100" dir="2700000" algn="tl">
                    <a:srgbClr val="000000">
                      <a:alpha val="43137"/>
                    </a:srgbClr>
                  </a:outerShdw>
                </a:effectLst>
              </a:rPr>
              <a:t>Unit (ALU)</a:t>
            </a:r>
            <a:endParaRPr lang="en-US" dirty="0">
              <a:effectLst>
                <a:outerShdw blurRad="38100" dist="38100" dir="2700000" algn="tl">
                  <a:srgbClr val="000000">
                    <a:alpha val="43137"/>
                  </a:srgbClr>
                </a:outerShdw>
              </a:effectLst>
            </a:endParaRPr>
          </a:p>
        </p:txBody>
      </p:sp>
      <p:sp>
        <p:nvSpPr>
          <p:cNvPr id="6147" name="Rectangle 3"/>
          <p:cNvSpPr>
            <a:spLocks noGrp="1" noChangeArrowheads="1"/>
          </p:cNvSpPr>
          <p:nvPr>
            <p:ph idx="1"/>
          </p:nvPr>
        </p:nvSpPr>
        <p:spPr>
          <a:xfrm>
            <a:off x="467544" y="1700808"/>
            <a:ext cx="7556313" cy="4144963"/>
          </a:xfrm>
        </p:spPr>
        <p:txBody>
          <a:bodyPr>
            <a:normAutofit fontScale="92500" lnSpcReduction="10000"/>
          </a:bodyPr>
          <a:lstStyle/>
          <a:p>
            <a:pPr algn="just"/>
            <a:r>
              <a:rPr lang="en-US" dirty="0" smtClean="0"/>
              <a:t>ALU </a:t>
            </a:r>
            <a:r>
              <a:rPr lang="en-US" dirty="0"/>
              <a:t>is interconnected with the rest of the processor. Operands for arithmetic and logic operations are presented to the ALU in registers, and the results of an operation are stored in registers. </a:t>
            </a:r>
            <a:endParaRPr lang="en-US" dirty="0" smtClean="0"/>
          </a:p>
          <a:p>
            <a:pPr algn="just"/>
            <a:r>
              <a:rPr lang="en-US" dirty="0" smtClean="0"/>
              <a:t>These </a:t>
            </a:r>
            <a:r>
              <a:rPr lang="en-US" dirty="0"/>
              <a:t>registers are temporary storage locations within the processor that are connected by signal paths to the ALU. </a:t>
            </a:r>
            <a:endParaRPr lang="en-US" dirty="0" smtClean="0"/>
          </a:p>
          <a:p>
            <a:pPr algn="just"/>
            <a:r>
              <a:rPr lang="en-US" dirty="0" smtClean="0"/>
              <a:t>The </a:t>
            </a:r>
            <a:r>
              <a:rPr lang="en-US" dirty="0"/>
              <a:t>ALU </a:t>
            </a:r>
            <a:r>
              <a:rPr lang="en-US" dirty="0" smtClean="0"/>
              <a:t>also </a:t>
            </a:r>
            <a:r>
              <a:rPr lang="en-US" b="1" dirty="0"/>
              <a:t>set flags </a:t>
            </a:r>
            <a:r>
              <a:rPr lang="en-US" dirty="0"/>
              <a:t>as the result of an operation. </a:t>
            </a:r>
            <a:r>
              <a:rPr lang="en-US" b="1" dirty="0"/>
              <a:t>For example</a:t>
            </a:r>
            <a:r>
              <a:rPr lang="en-US" dirty="0"/>
              <a:t>, an overflow flag is set to 1 if the result of a computation exceeds the length of the register into which it is to be </a:t>
            </a:r>
            <a:r>
              <a:rPr lang="en-US" dirty="0" smtClean="0"/>
              <a:t>stored.</a:t>
            </a:r>
          </a:p>
          <a:p>
            <a:pPr algn="just"/>
            <a:r>
              <a:rPr lang="en-US" dirty="0"/>
              <a:t>The flag values are also stored in registers within the processor. The processor provides signals that control the operation of the ALU and the movement of the data into and out of the ALU.</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extLst>
      <p:ext uri="{BB962C8B-B14F-4D97-AF65-F5344CB8AC3E}">
        <p14:creationId xmlns:p14="http://schemas.microsoft.com/office/powerpoint/2010/main" val="178944066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pdf"/>
          <p:cNvPicPr>
            <a:picLocks noChangeAspect="1"/>
          </p:cNvPicPr>
          <p:nvPr/>
        </p:nvPicPr>
        <p:blipFill rotWithShape="1">
          <a:blip r:embed="rId3">
            <a:extLst>
              <a:ext uri="{28A0092B-C50C-407E-A947-70E740481C1C}">
                <a14:useLocalDpi xmlns:a14="http://schemas.microsoft.com/office/drawing/2010/main" val="0"/>
              </a:ext>
            </a:extLst>
          </a:blip>
          <a:srcRect t="25990" b="25604"/>
          <a:stretch/>
        </p:blipFill>
        <p:spPr>
          <a:xfrm>
            <a:off x="-252536" y="390483"/>
            <a:ext cx="9649072" cy="6044485"/>
          </a:xfrm>
          <a:prstGeom prst="rect">
            <a:avLst/>
          </a:prstGeom>
        </p:spPr>
      </p:pic>
    </p:spTree>
  </p:cSld>
  <p:clrMapOvr>
    <a:masterClrMapping/>
  </p:clrMapOvr>
  <p:transition spd="med">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6.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603448"/>
            <a:ext cx="5832648" cy="7548132"/>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smtClean="0"/>
              <a:t>© 2016 Pearson Education, Inc., Hoboken, NJ. All rights reserved.</a:t>
            </a:r>
            <a:endParaRPr lang="en-US" dirty="0"/>
          </a:p>
        </p:txBody>
      </p:sp>
    </p:spTree>
    <p:extLst>
      <p:ext uri="{BB962C8B-B14F-4D97-AF65-F5344CB8AC3E}">
        <p14:creationId xmlns:p14="http://schemas.microsoft.com/office/powerpoint/2010/main" val="14679531"/>
      </p:ext>
    </p:extLst>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Integer Representation</a:t>
            </a:r>
          </a:p>
        </p:txBody>
      </p:sp>
      <p:sp>
        <p:nvSpPr>
          <p:cNvPr id="7171" name="Rectangle 3"/>
          <p:cNvSpPr>
            <a:spLocks noGrp="1" noChangeArrowheads="1"/>
          </p:cNvSpPr>
          <p:nvPr>
            <p:ph idx="1"/>
          </p:nvPr>
        </p:nvSpPr>
        <p:spPr>
          <a:xfrm>
            <a:off x="498474" y="1828800"/>
            <a:ext cx="7556313" cy="4297363"/>
          </a:xfrm>
        </p:spPr>
        <p:txBody>
          <a:bodyPr>
            <a:normAutofit fontScale="92500"/>
          </a:bodyPr>
          <a:lstStyle/>
          <a:p>
            <a:r>
              <a:rPr lang="en-US" dirty="0" smtClean="0"/>
              <a:t>In the binary number system arbitrary numbers can be represented with: </a:t>
            </a:r>
          </a:p>
          <a:p>
            <a:pPr lvl="1"/>
            <a:r>
              <a:rPr lang="en-US" dirty="0" smtClean="0"/>
              <a:t>The digits zero and one</a:t>
            </a:r>
          </a:p>
          <a:p>
            <a:pPr lvl="1"/>
            <a:r>
              <a:rPr lang="en-US" dirty="0" smtClean="0"/>
              <a:t>The minus sign (for negative numbers)</a:t>
            </a:r>
          </a:p>
          <a:p>
            <a:pPr lvl="1"/>
            <a:r>
              <a:rPr lang="en-US" dirty="0" smtClean="0"/>
              <a:t>The period, or </a:t>
            </a:r>
            <a:r>
              <a:rPr lang="en-US" b="1" i="1" dirty="0" smtClean="0"/>
              <a:t>radix point </a:t>
            </a:r>
            <a:r>
              <a:rPr lang="en-US" dirty="0" smtClean="0"/>
              <a:t>(for numbers with a fractional component)</a:t>
            </a:r>
          </a:p>
          <a:p>
            <a:pPr marL="228600" lvl="1">
              <a:spcBef>
                <a:spcPts val="2000"/>
              </a:spcBef>
              <a:buClr>
                <a:schemeClr val="accent1"/>
              </a:buClr>
            </a:pPr>
            <a:r>
              <a:rPr lang="en-US" sz="2000" dirty="0" smtClean="0"/>
              <a:t>For purposes of computer storage and processing we do not have the benefit of special symbols for the minus sign and radix point</a:t>
            </a:r>
          </a:p>
          <a:p>
            <a:pPr marL="228600" lvl="1">
              <a:spcBef>
                <a:spcPts val="2000"/>
              </a:spcBef>
              <a:buClr>
                <a:schemeClr val="accent1"/>
              </a:buClr>
            </a:pPr>
            <a:r>
              <a:rPr lang="en-US" sz="2000" dirty="0" smtClean="0"/>
              <a:t>Only binary digits (0,1) may be used to represent numbers. </a:t>
            </a:r>
          </a:p>
          <a:p>
            <a:pPr marL="228600" lvl="1">
              <a:spcBef>
                <a:spcPts val="2000"/>
              </a:spcBef>
              <a:buClr>
                <a:schemeClr val="accent1"/>
              </a:buClr>
            </a:pPr>
            <a:r>
              <a:rPr lang="en-US" sz="2000" dirty="0"/>
              <a:t>An 8-bit word can represent the numbers from 0 to 255, such </a:t>
            </a:r>
            <a:r>
              <a:rPr lang="en-US" sz="2000" dirty="0" smtClean="0"/>
              <a:t>as </a:t>
            </a:r>
            <a:r>
              <a:rPr lang="en-US" sz="2000" b="1" dirty="0" smtClean="0"/>
              <a:t>00000000 = 0 , 00000001 = 0 , 00101001 = 41, 10000000 = 128                        </a:t>
            </a:r>
          </a:p>
        </p:txBody>
      </p:sp>
      <p:pic>
        <p:nvPicPr>
          <p:cNvPr id="4" name="Picture 3"/>
          <p:cNvPicPr>
            <a:picLocks noChangeAspect="1"/>
          </p:cNvPicPr>
          <p:nvPr/>
        </p:nvPicPr>
        <p:blipFill>
          <a:blip r:embed="rId3"/>
          <a:stretch>
            <a:fillRect/>
          </a:stretch>
        </p:blipFill>
        <p:spPr>
          <a:xfrm>
            <a:off x="6934200" y="228600"/>
            <a:ext cx="1816100" cy="1720850"/>
          </a:xfrm>
          <a:prstGeom prst="rect">
            <a:avLst/>
          </a:prstGeom>
        </p:spPr>
      </p:pic>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457200" y="304800"/>
            <a:ext cx="7556500" cy="1116012"/>
          </a:xfrm>
        </p:spPr>
        <p:txBody>
          <a:bodyPr/>
          <a:lstStyle/>
          <a:p>
            <a:r>
              <a:rPr lang="en-US" dirty="0">
                <a:effectLst>
                  <a:outerShdw blurRad="38100" dist="38100" dir="2700000" algn="tl">
                    <a:srgbClr val="000000">
                      <a:alpha val="43137"/>
                    </a:srgbClr>
                  </a:outerShdw>
                </a:effectLst>
              </a:rPr>
              <a:t>Sign-</a:t>
            </a:r>
            <a:r>
              <a:rPr lang="en-US" dirty="0" smtClean="0">
                <a:effectLst>
                  <a:outerShdw blurRad="38100" dist="38100" dir="2700000" algn="tl">
                    <a:srgbClr val="000000">
                      <a:alpha val="43137"/>
                    </a:srgbClr>
                  </a:outerShdw>
                </a:effectLst>
              </a:rPr>
              <a:t>Magnitude Representation</a:t>
            </a:r>
            <a:endParaRPr lang="en-US" dirty="0">
              <a:effectLst>
                <a:outerShdw blurRad="38100" dist="38100" dir="2700000" algn="tl">
                  <a:srgbClr val="000000">
                    <a:alpha val="43137"/>
                  </a:srgbClr>
                </a:outerShdw>
              </a:effectLst>
            </a:endParaRPr>
          </a:p>
        </p:txBody>
      </p:sp>
      <p:graphicFrame>
        <p:nvGraphicFramePr>
          <p:cNvPr id="8" name="Content Placeholder 7"/>
          <p:cNvGraphicFramePr>
            <a:graphicFrameLocks noGrp="1"/>
          </p:cNvGraphicFramePr>
          <p:nvPr>
            <p:ph idx="4294967295"/>
            <p:extLst>
              <p:ext uri="{D42A27DB-BD31-4B8C-83A1-F6EECF244321}">
                <p14:modId xmlns:p14="http://schemas.microsoft.com/office/powerpoint/2010/main" val="3970225999"/>
              </p:ext>
            </p:extLst>
          </p:nvPr>
        </p:nvGraphicFramePr>
        <p:xfrm>
          <a:off x="304800" y="1600200"/>
          <a:ext cx="85344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395536" y="1988840"/>
            <a:ext cx="8105974" cy="4170372"/>
          </a:xfrm>
          <a:prstGeom prst="rect">
            <a:avLst/>
          </a:prstGeom>
        </p:spPr>
        <p:txBody>
          <a:bodyPr wrap="square">
            <a:spAutoFit/>
          </a:bodyPr>
          <a:lstStyle/>
          <a:p>
            <a:pPr lvl="1" indent="-228600" eaLnBrk="1" hangingPunct="1">
              <a:spcBef>
                <a:spcPts val="600"/>
              </a:spcBef>
              <a:buClr>
                <a:schemeClr val="accent1">
                  <a:lumMod val="60000"/>
                  <a:lumOff val="40000"/>
                </a:schemeClr>
              </a:buClr>
              <a:buSzPct val="75000"/>
              <a:buFont typeface="Wingdings" pitchFamily="2" charset="2"/>
              <a:buChar char="n"/>
            </a:pPr>
            <a:r>
              <a:rPr lang="en-US" sz="1700" dirty="0" smtClean="0">
                <a:solidFill>
                  <a:schemeClr val="tx1">
                    <a:lumMod val="65000"/>
                    <a:lumOff val="35000"/>
                  </a:schemeClr>
                </a:solidFill>
                <a:latin typeface="+mn-lt"/>
              </a:rPr>
              <a:t>Computers only understand 0 and 1 (binary), No minus sign (−) or decimal point (.) is stored directly so, special methods are used to represent:</a:t>
            </a:r>
          </a:p>
          <a:p>
            <a:pPr marL="1028700" lvl="2" indent="-342900" eaLnBrk="1" hangingPunct="1">
              <a:spcBef>
                <a:spcPts val="600"/>
              </a:spcBef>
              <a:buClr>
                <a:schemeClr val="accent1">
                  <a:lumMod val="60000"/>
                  <a:lumOff val="40000"/>
                </a:schemeClr>
              </a:buClr>
              <a:buSzPct val="75000"/>
              <a:buFont typeface="+mj-lt"/>
              <a:buAutoNum type="arabicPeriod"/>
            </a:pPr>
            <a:r>
              <a:rPr lang="en-US" sz="1700" dirty="0" smtClean="0">
                <a:solidFill>
                  <a:schemeClr val="tx1">
                    <a:lumMod val="65000"/>
                    <a:lumOff val="35000"/>
                  </a:schemeClr>
                </a:solidFill>
                <a:latin typeface="+mn-lt"/>
              </a:rPr>
              <a:t>Positive numbers (0)</a:t>
            </a:r>
          </a:p>
          <a:p>
            <a:pPr marL="1028700" lvl="2" indent="-342900" eaLnBrk="1" hangingPunct="1">
              <a:spcBef>
                <a:spcPts val="600"/>
              </a:spcBef>
              <a:buClr>
                <a:schemeClr val="accent1">
                  <a:lumMod val="60000"/>
                  <a:lumOff val="40000"/>
                </a:schemeClr>
              </a:buClr>
              <a:buSzPct val="75000"/>
              <a:buFont typeface="+mj-lt"/>
              <a:buAutoNum type="arabicPeriod"/>
            </a:pPr>
            <a:r>
              <a:rPr lang="en-US" sz="1700" dirty="0" smtClean="0">
                <a:solidFill>
                  <a:schemeClr val="tx1">
                    <a:lumMod val="65000"/>
                    <a:lumOff val="35000"/>
                  </a:schemeClr>
                </a:solidFill>
                <a:latin typeface="+mn-lt"/>
              </a:rPr>
              <a:t>Negative numbers (1)</a:t>
            </a:r>
            <a:endParaRPr lang="en-US" sz="1700" dirty="0">
              <a:solidFill>
                <a:schemeClr val="tx1">
                  <a:lumMod val="65000"/>
                  <a:lumOff val="35000"/>
                </a:schemeClr>
              </a:solidFill>
              <a:latin typeface="+mn-lt"/>
            </a:endParaRPr>
          </a:p>
          <a:p>
            <a:pPr lvl="1" indent="-228600" eaLnBrk="1" hangingPunct="1">
              <a:spcBef>
                <a:spcPts val="600"/>
              </a:spcBef>
              <a:buClr>
                <a:schemeClr val="accent1">
                  <a:lumMod val="60000"/>
                  <a:lumOff val="40000"/>
                </a:schemeClr>
              </a:buClr>
              <a:buSzPct val="75000"/>
              <a:buFont typeface="Wingdings" pitchFamily="2" charset="2"/>
              <a:buChar char="n"/>
            </a:pPr>
            <a:r>
              <a:rPr lang="en-US" altLang="en-US" sz="1700" b="1" dirty="0" smtClean="0">
                <a:solidFill>
                  <a:schemeClr val="tx1">
                    <a:lumMod val="65000"/>
                    <a:lumOff val="35000"/>
                  </a:schemeClr>
                </a:solidFill>
              </a:rPr>
              <a:t>In </a:t>
            </a:r>
            <a:r>
              <a:rPr lang="en-US" altLang="en-US" sz="1700" b="1" dirty="0">
                <a:solidFill>
                  <a:schemeClr val="tx1">
                    <a:lumMod val="65000"/>
                    <a:lumOff val="35000"/>
                  </a:schemeClr>
                </a:solidFill>
              </a:rPr>
              <a:t>sign-magnitude, </a:t>
            </a:r>
            <a:r>
              <a:rPr lang="en-US" altLang="en-US" sz="1700" dirty="0">
                <a:solidFill>
                  <a:schemeClr val="tx1">
                    <a:lumMod val="65000"/>
                    <a:lumOff val="35000"/>
                  </a:schemeClr>
                </a:solidFill>
              </a:rPr>
              <a:t>we have:</a:t>
            </a:r>
          </a:p>
          <a:p>
            <a:pPr marL="742950" lvl="1" indent="-285750">
              <a:buFont typeface="Arial" panose="020B0604020202020204" pitchFamily="34" charset="0"/>
              <a:buChar char="•"/>
            </a:pPr>
            <a:r>
              <a:rPr lang="en-US" altLang="en-US" sz="1700" b="1" dirty="0">
                <a:solidFill>
                  <a:schemeClr val="tx1">
                    <a:lumMod val="65000"/>
                    <a:lumOff val="35000"/>
                  </a:schemeClr>
                </a:solidFill>
              </a:rPr>
              <a:t>+0 = 00000000 </a:t>
            </a:r>
            <a:endParaRPr lang="en-US" altLang="en-US" sz="1700" b="1" dirty="0" smtClean="0">
              <a:solidFill>
                <a:schemeClr val="tx1">
                  <a:lumMod val="65000"/>
                  <a:lumOff val="35000"/>
                </a:schemeClr>
              </a:solidFill>
            </a:endParaRPr>
          </a:p>
          <a:p>
            <a:pPr marL="742950" lvl="1" indent="-285750">
              <a:buFont typeface="Arial" panose="020B0604020202020204" pitchFamily="34" charset="0"/>
              <a:buChar char="•"/>
            </a:pPr>
            <a:r>
              <a:rPr lang="en-US" altLang="en-US" sz="1700" b="1" dirty="0" smtClean="0">
                <a:solidFill>
                  <a:schemeClr val="tx1">
                    <a:lumMod val="65000"/>
                    <a:lumOff val="35000"/>
                  </a:schemeClr>
                </a:solidFill>
              </a:rPr>
              <a:t>−</a:t>
            </a:r>
            <a:r>
              <a:rPr lang="en-US" altLang="en-US" sz="1700" b="1" dirty="0">
                <a:solidFill>
                  <a:schemeClr val="tx1">
                    <a:lumMod val="65000"/>
                    <a:lumOff val="35000"/>
                  </a:schemeClr>
                </a:solidFill>
              </a:rPr>
              <a:t>0 = 10000000  </a:t>
            </a:r>
            <a:r>
              <a:rPr lang="en-US" altLang="en-US" sz="1700" b="1" dirty="0" smtClean="0">
                <a:solidFill>
                  <a:schemeClr val="tx1">
                    <a:lumMod val="65000"/>
                    <a:lumOff val="35000"/>
                  </a:schemeClr>
                </a:solidFill>
              </a:rPr>
              <a:t>- ❌ </a:t>
            </a:r>
            <a:r>
              <a:rPr lang="en-US" altLang="en-US" sz="1700" b="1" dirty="0">
                <a:solidFill>
                  <a:schemeClr val="tx1">
                    <a:lumMod val="65000"/>
                    <a:lumOff val="35000"/>
                  </a:schemeClr>
                </a:solidFill>
              </a:rPr>
              <a:t>(two zeros</a:t>
            </a:r>
            <a:r>
              <a:rPr lang="en-US" altLang="en-US" sz="1700" b="1" dirty="0" smtClean="0">
                <a:solidFill>
                  <a:schemeClr val="tx1">
                    <a:lumMod val="65000"/>
                    <a:lumOff val="35000"/>
                  </a:schemeClr>
                </a:solidFill>
              </a:rPr>
              <a:t>)</a:t>
            </a:r>
          </a:p>
          <a:p>
            <a:pPr lvl="1" indent="-228600" eaLnBrk="1" hangingPunct="1">
              <a:spcBef>
                <a:spcPts val="600"/>
              </a:spcBef>
              <a:buClr>
                <a:schemeClr val="accent1">
                  <a:lumMod val="60000"/>
                  <a:lumOff val="40000"/>
                </a:schemeClr>
              </a:buClr>
              <a:buSzPct val="75000"/>
              <a:buFont typeface="Wingdings" pitchFamily="2" charset="2"/>
              <a:buChar char="n"/>
            </a:pPr>
            <a:r>
              <a:rPr lang="en-US" altLang="en-US" sz="1700" dirty="0" smtClean="0">
                <a:solidFill>
                  <a:schemeClr val="tx1">
                    <a:lumMod val="65000"/>
                    <a:lumOff val="35000"/>
                  </a:schemeClr>
                </a:solidFill>
              </a:rPr>
              <a:t>To avoid this confusion, we use Two’s Complement in computation</a:t>
            </a:r>
          </a:p>
          <a:p>
            <a:pPr marL="228600" lvl="1" eaLnBrk="1" hangingPunct="1">
              <a:spcBef>
                <a:spcPts val="600"/>
              </a:spcBef>
              <a:buClr>
                <a:schemeClr val="accent1">
                  <a:lumMod val="60000"/>
                  <a:lumOff val="40000"/>
                </a:schemeClr>
              </a:buClr>
              <a:buSzPct val="75000"/>
            </a:pPr>
            <a:endParaRPr lang="en-US" altLang="en-US" sz="1700" dirty="0" smtClean="0">
              <a:solidFill>
                <a:schemeClr val="tx1">
                  <a:lumMod val="65000"/>
                  <a:lumOff val="35000"/>
                </a:schemeClr>
              </a:solidFill>
            </a:endParaRPr>
          </a:p>
          <a:p>
            <a:pPr marL="228600" lvl="1" algn="ctr" eaLnBrk="1" hangingPunct="1">
              <a:spcBef>
                <a:spcPts val="600"/>
              </a:spcBef>
              <a:buClr>
                <a:schemeClr val="accent1">
                  <a:lumMod val="60000"/>
                  <a:lumOff val="40000"/>
                </a:schemeClr>
              </a:buClr>
              <a:buSzPct val="75000"/>
            </a:pPr>
            <a:r>
              <a:rPr lang="en-US" sz="1800" b="1" dirty="0">
                <a:solidFill>
                  <a:schemeClr val="tx1">
                    <a:lumMod val="65000"/>
                    <a:lumOff val="35000"/>
                  </a:schemeClr>
                </a:solidFill>
              </a:rPr>
              <a:t>Two’s complement is used because it makes binary arithmetic simple, efficient, and hardware-friendly.</a:t>
            </a:r>
            <a:endParaRPr lang="en-US" altLang="en-US" sz="1800" b="1" dirty="0">
              <a:solidFill>
                <a:schemeClr val="tx1">
                  <a:lumMod val="65000"/>
                  <a:lumOff val="35000"/>
                </a:schemeClr>
              </a:solidFill>
            </a:endParaRPr>
          </a:p>
          <a:p>
            <a:pPr marL="742950" lvl="1" indent="-285750">
              <a:buFont typeface="Arial" panose="020B0604020202020204" pitchFamily="34" charset="0"/>
              <a:buChar char="•"/>
            </a:pPr>
            <a:endParaRPr lang="en-US" altLang="en-US" sz="1700" b="1" dirty="0">
              <a:solidFill>
                <a:schemeClr val="tx1">
                  <a:lumMod val="65000"/>
                  <a:lumOff val="35000"/>
                </a:schemeClr>
              </a:solidFill>
            </a:endParaRPr>
          </a:p>
          <a:p>
            <a:pPr marL="228600" lvl="1" eaLnBrk="1" hangingPunct="1">
              <a:spcBef>
                <a:spcPts val="600"/>
              </a:spcBef>
              <a:buClr>
                <a:schemeClr val="accent1">
                  <a:lumMod val="60000"/>
                  <a:lumOff val="40000"/>
                </a:schemeClr>
              </a:buClr>
              <a:buSzPct val="75000"/>
            </a:pPr>
            <a:endParaRPr lang="en-US" dirty="0"/>
          </a:p>
        </p:txBody>
      </p:sp>
    </p:spTree>
    <p:extLst>
      <p:ext uri="{BB962C8B-B14F-4D97-AF65-F5344CB8AC3E}">
        <p14:creationId xmlns:p14="http://schemas.microsoft.com/office/powerpoint/2010/main" val="274743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692696"/>
            <a:ext cx="9144000" cy="1846659"/>
          </a:xfrm>
          <a:prstGeom prst="rect">
            <a:avLst/>
          </a:prstGeom>
        </p:spPr>
        <p:txBody>
          <a:bodyPr wrap="square">
            <a:spAutoFit/>
          </a:bodyPr>
          <a:lstStyle/>
          <a:p>
            <a:pPr algn="ctr"/>
            <a:r>
              <a:rPr lang="en-US" sz="2800" dirty="0">
                <a:latin typeface="+mn-lt"/>
              </a:rPr>
              <a:t>Table 10.1  </a:t>
            </a:r>
            <a:endParaRPr lang="en-US" sz="2800" dirty="0" smtClean="0">
              <a:latin typeface="+mn-lt"/>
            </a:endParaRPr>
          </a:p>
          <a:p>
            <a:pPr algn="ctr"/>
            <a:r>
              <a:rPr lang="en-US" sz="2200" dirty="0" smtClean="0">
                <a:latin typeface="+mn-lt"/>
              </a:rPr>
              <a:t>Characteristics </a:t>
            </a:r>
            <a:r>
              <a:rPr lang="en-US" sz="2200" dirty="0">
                <a:latin typeface="+mn-lt"/>
              </a:rPr>
              <a:t>of Twos Complement Representation and </a:t>
            </a:r>
            <a:r>
              <a:rPr lang="en-US" sz="2200" dirty="0" smtClean="0">
                <a:latin typeface="+mn-lt"/>
              </a:rPr>
              <a:t>Arithmetic</a:t>
            </a:r>
          </a:p>
          <a:p>
            <a:pPr lvl="0">
              <a:buFontTx/>
              <a:buChar char="•"/>
            </a:pPr>
            <a:r>
              <a:rPr lang="en-US" altLang="en-US" sz="2000" dirty="0">
                <a:latin typeface="+mn-lt"/>
              </a:rPr>
              <a:t>If first bit = 0 → number is </a:t>
            </a:r>
            <a:r>
              <a:rPr lang="en-US" altLang="en-US" sz="2000" dirty="0" smtClean="0">
                <a:latin typeface="+mn-lt"/>
              </a:rPr>
              <a:t>positive and If </a:t>
            </a:r>
            <a:r>
              <a:rPr lang="en-US" altLang="en-US" sz="2000" dirty="0">
                <a:latin typeface="+mn-lt"/>
              </a:rPr>
              <a:t>first bit = 1 → number is negative </a:t>
            </a:r>
          </a:p>
          <a:p>
            <a:pPr algn="ctr"/>
            <a:endParaRPr lang="en-US" sz="2200" dirty="0">
              <a:latin typeface="+mn-lt"/>
            </a:endParaRPr>
          </a:p>
          <a:p>
            <a:pPr algn="ctr"/>
            <a:r>
              <a:rPr lang="en-US" sz="2200" dirty="0" smtClean="0">
                <a:latin typeface="+mn-lt"/>
              </a:rPr>
              <a:t> </a:t>
            </a:r>
            <a:endParaRPr lang="en-US" sz="2200" dirty="0">
              <a:latin typeface="+mn-lt"/>
            </a:endParaRP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10" name="Picture 9"/>
          <p:cNvPicPr>
            <a:picLocks noChangeAspect="1"/>
          </p:cNvPicPr>
          <p:nvPr/>
        </p:nvPicPr>
        <p:blipFill>
          <a:blip r:embed="rId3"/>
          <a:stretch>
            <a:fillRect/>
          </a:stretch>
        </p:blipFill>
        <p:spPr>
          <a:xfrm>
            <a:off x="107504" y="1988840"/>
            <a:ext cx="8877643" cy="4392488"/>
          </a:xfrm>
          <a:prstGeom prst="rect">
            <a:avLst/>
          </a:prstGeom>
        </p:spPr>
      </p:pic>
    </p:spTree>
  </p:cSld>
  <p:clrMapOvr>
    <a:masterClrMapping/>
  </p:clrMapOvr>
  <p:transition spd="med">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3"/>
          <a:stretch>
            <a:fillRect/>
          </a:stretch>
        </p:blipFill>
        <p:spPr>
          <a:xfrm>
            <a:off x="899592" y="692696"/>
            <a:ext cx="6911032" cy="6012743"/>
          </a:xfrm>
          <a:prstGeom prst="rect">
            <a:avLst/>
          </a:prstGeom>
        </p:spPr>
      </p:pic>
      <p:sp>
        <p:nvSpPr>
          <p:cNvPr id="6" name="Rectangle 5"/>
          <p:cNvSpPr/>
          <p:nvPr/>
        </p:nvSpPr>
        <p:spPr>
          <a:xfrm>
            <a:off x="1681" y="0"/>
            <a:ext cx="9144000" cy="769441"/>
          </a:xfrm>
          <a:prstGeom prst="rect">
            <a:avLst/>
          </a:prstGeom>
        </p:spPr>
        <p:txBody>
          <a:bodyPr wrap="square">
            <a:spAutoFit/>
          </a:bodyPr>
          <a:lstStyle/>
          <a:p>
            <a:pPr algn="ctr"/>
            <a:r>
              <a:rPr lang="en-US" dirty="0"/>
              <a:t>Table 10.2  </a:t>
            </a:r>
            <a:endParaRPr lang="en-US" dirty="0" smtClean="0"/>
          </a:p>
          <a:p>
            <a:pPr algn="ctr"/>
            <a:r>
              <a:rPr lang="en-US" sz="2000" dirty="0" smtClean="0">
                <a:latin typeface="+mn-lt"/>
              </a:rPr>
              <a:t>Alternative </a:t>
            </a:r>
            <a:r>
              <a:rPr lang="en-US" sz="2000" dirty="0">
                <a:latin typeface="+mn-lt"/>
              </a:rPr>
              <a:t>Representations for 4-Bit Integers </a:t>
            </a:r>
          </a:p>
        </p:txBody>
      </p:sp>
    </p:spTree>
  </p:cSld>
  <p:clrMapOvr>
    <a:masterClrMapping/>
  </p:clrMapOvr>
  <p:transition spd="med">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4" name="Rectangle 3"/>
          <p:cNvSpPr/>
          <p:nvPr/>
        </p:nvSpPr>
        <p:spPr>
          <a:xfrm>
            <a:off x="755575" y="2010588"/>
            <a:ext cx="1244251" cy="353943"/>
          </a:xfrm>
          <a:prstGeom prst="rect">
            <a:avLst/>
          </a:prstGeom>
        </p:spPr>
        <p:txBody>
          <a:bodyPr wrap="none">
            <a:spAutoFit/>
          </a:bodyPr>
          <a:lstStyle/>
          <a:p>
            <a:r>
              <a:rPr lang="en-US" sz="1700" dirty="0" smtClean="0">
                <a:solidFill>
                  <a:schemeClr val="tx1">
                    <a:lumMod val="65000"/>
                    <a:lumOff val="35000"/>
                  </a:schemeClr>
                </a:solidFill>
                <a:latin typeface="+mn-lt"/>
              </a:rPr>
              <a:t>Example 1</a:t>
            </a:r>
            <a:endParaRPr lang="en-US" sz="1700" dirty="0">
              <a:solidFill>
                <a:schemeClr val="tx1">
                  <a:lumMod val="65000"/>
                  <a:lumOff val="35000"/>
                </a:schemeClr>
              </a:solidFill>
              <a:latin typeface="+mn-lt"/>
            </a:endParaRPr>
          </a:p>
        </p:txBody>
      </p:sp>
      <p:pic>
        <p:nvPicPr>
          <p:cNvPr id="6" name="Picture 5"/>
          <p:cNvPicPr>
            <a:picLocks noChangeAspect="1"/>
          </p:cNvPicPr>
          <p:nvPr/>
        </p:nvPicPr>
        <p:blipFill>
          <a:blip r:embed="rId3"/>
          <a:stretch>
            <a:fillRect/>
          </a:stretch>
        </p:blipFill>
        <p:spPr>
          <a:xfrm>
            <a:off x="2699792" y="332656"/>
            <a:ext cx="4257675" cy="2876550"/>
          </a:xfrm>
          <a:prstGeom prst="rect">
            <a:avLst/>
          </a:prstGeom>
        </p:spPr>
      </p:pic>
      <p:sp>
        <p:nvSpPr>
          <p:cNvPr id="7" name="Rectangle 6"/>
          <p:cNvSpPr/>
          <p:nvPr/>
        </p:nvSpPr>
        <p:spPr>
          <a:xfrm>
            <a:off x="1619672" y="3209206"/>
            <a:ext cx="6705600" cy="2031325"/>
          </a:xfrm>
          <a:prstGeom prst="rect">
            <a:avLst/>
          </a:prstGeom>
        </p:spPr>
        <p:txBody>
          <a:bodyPr wrap="square">
            <a:spAutoFit/>
          </a:bodyPr>
          <a:lstStyle/>
          <a:p>
            <a:r>
              <a:rPr lang="en-US" sz="1800" dirty="0" smtClean="0">
                <a:solidFill>
                  <a:schemeClr val="accent1"/>
                </a:solidFill>
                <a:latin typeface="+mn-lt"/>
              </a:rPr>
              <a:t>                              -125 </a:t>
            </a:r>
            <a:r>
              <a:rPr lang="en-US" sz="1800" dirty="0">
                <a:solidFill>
                  <a:schemeClr val="accent1"/>
                </a:solidFill>
                <a:latin typeface="+mn-lt"/>
              </a:rPr>
              <a:t>= </a:t>
            </a:r>
            <a:r>
              <a:rPr lang="en-US" sz="1800" dirty="0" smtClean="0">
                <a:solidFill>
                  <a:schemeClr val="accent1"/>
                </a:solidFill>
                <a:latin typeface="+mn-lt"/>
              </a:rPr>
              <a:t>10000011 </a:t>
            </a:r>
            <a:r>
              <a:rPr lang="en-US" sz="1800" dirty="0">
                <a:solidFill>
                  <a:schemeClr val="accent1"/>
                </a:solidFill>
                <a:latin typeface="+mn-lt"/>
              </a:rPr>
              <a:t>(twos complement)</a:t>
            </a:r>
          </a:p>
          <a:p>
            <a:r>
              <a:rPr lang="en-US" sz="1800" dirty="0" smtClean="0">
                <a:solidFill>
                  <a:schemeClr val="accent1"/>
                </a:solidFill>
                <a:latin typeface="+mn-lt"/>
              </a:rPr>
              <a:t>1’s </a:t>
            </a:r>
            <a:r>
              <a:rPr lang="en-US" sz="1800" dirty="0">
                <a:solidFill>
                  <a:schemeClr val="accent1"/>
                </a:solidFill>
                <a:latin typeface="+mn-lt"/>
              </a:rPr>
              <a:t>complement </a:t>
            </a:r>
            <a:r>
              <a:rPr lang="en-US" sz="1800" dirty="0" smtClean="0">
                <a:solidFill>
                  <a:schemeClr val="accent1"/>
                </a:solidFill>
                <a:latin typeface="+mn-lt"/>
              </a:rPr>
              <a:t>         = 01111100</a:t>
            </a:r>
          </a:p>
          <a:p>
            <a:r>
              <a:rPr lang="en-US" sz="1800" dirty="0" smtClean="0">
                <a:solidFill>
                  <a:schemeClr val="accent1"/>
                </a:solidFill>
                <a:latin typeface="+mn-lt"/>
              </a:rPr>
              <a:t>                                         </a:t>
            </a:r>
            <a:r>
              <a:rPr lang="en-US" sz="1800" u="sng" dirty="0" smtClean="0">
                <a:solidFill>
                  <a:schemeClr val="accent1"/>
                </a:solidFill>
                <a:latin typeface="+mn-lt"/>
              </a:rPr>
              <a:t>+              1</a:t>
            </a:r>
          </a:p>
          <a:p>
            <a:r>
              <a:rPr lang="en-US" sz="1800" dirty="0" smtClean="0">
                <a:solidFill>
                  <a:schemeClr val="accent1"/>
                </a:solidFill>
                <a:latin typeface="+mn-lt"/>
              </a:rPr>
              <a:t>2’s </a:t>
            </a:r>
            <a:r>
              <a:rPr lang="en-US" sz="1800" dirty="0">
                <a:solidFill>
                  <a:schemeClr val="accent1"/>
                </a:solidFill>
                <a:latin typeface="+mn-lt"/>
              </a:rPr>
              <a:t>complement            </a:t>
            </a:r>
            <a:r>
              <a:rPr lang="en-US" sz="1800" dirty="0" smtClean="0">
                <a:solidFill>
                  <a:schemeClr val="accent1"/>
                </a:solidFill>
                <a:latin typeface="+mn-lt"/>
              </a:rPr>
              <a:t>  01111101 </a:t>
            </a:r>
          </a:p>
          <a:p>
            <a:r>
              <a:rPr lang="en-US" sz="1800" dirty="0" smtClean="0">
                <a:solidFill>
                  <a:schemeClr val="accent1"/>
                </a:solidFill>
                <a:latin typeface="+mn-lt"/>
              </a:rPr>
              <a:t>Now convert it into decimal</a:t>
            </a:r>
          </a:p>
          <a:p>
            <a:r>
              <a:rPr lang="en-US" sz="1800" dirty="0" smtClean="0">
                <a:solidFill>
                  <a:schemeClr val="accent1"/>
                </a:solidFill>
                <a:latin typeface="+mn-lt"/>
              </a:rPr>
              <a:t>                   01111101 </a:t>
            </a:r>
            <a:r>
              <a:rPr lang="en-US" sz="1800" dirty="0">
                <a:solidFill>
                  <a:schemeClr val="accent1"/>
                </a:solidFill>
                <a:latin typeface="+mn-lt"/>
              </a:rPr>
              <a:t>= </a:t>
            </a:r>
            <a:r>
              <a:rPr lang="en-US" sz="1800" dirty="0" smtClean="0">
                <a:solidFill>
                  <a:schemeClr val="accent1"/>
                </a:solidFill>
                <a:latin typeface="+mn-lt"/>
              </a:rPr>
              <a:t>(0*-128) + (1*64) </a:t>
            </a:r>
            <a:r>
              <a:rPr lang="en-US" sz="1800" dirty="0">
                <a:solidFill>
                  <a:schemeClr val="accent1"/>
                </a:solidFill>
                <a:latin typeface="+mn-lt"/>
              </a:rPr>
              <a:t>+ </a:t>
            </a:r>
            <a:r>
              <a:rPr lang="en-US" sz="1800" dirty="0" smtClean="0">
                <a:solidFill>
                  <a:schemeClr val="accent1"/>
                </a:solidFill>
                <a:latin typeface="+mn-lt"/>
              </a:rPr>
              <a:t>(1*32) </a:t>
            </a:r>
            <a:r>
              <a:rPr lang="en-US" sz="1800" dirty="0">
                <a:solidFill>
                  <a:schemeClr val="accent1"/>
                </a:solidFill>
                <a:latin typeface="+mn-lt"/>
              </a:rPr>
              <a:t>+ </a:t>
            </a:r>
            <a:r>
              <a:rPr lang="en-US" sz="1800" dirty="0" smtClean="0">
                <a:solidFill>
                  <a:schemeClr val="accent1"/>
                </a:solidFill>
                <a:latin typeface="+mn-lt"/>
              </a:rPr>
              <a:t>(1*16) </a:t>
            </a:r>
            <a:r>
              <a:rPr lang="en-US" sz="1800" dirty="0">
                <a:solidFill>
                  <a:schemeClr val="accent1"/>
                </a:solidFill>
                <a:latin typeface="+mn-lt"/>
              </a:rPr>
              <a:t>+ </a:t>
            </a:r>
            <a:r>
              <a:rPr lang="en-US" sz="1800" dirty="0" smtClean="0">
                <a:solidFill>
                  <a:schemeClr val="accent1"/>
                </a:solidFill>
                <a:latin typeface="+mn-lt"/>
              </a:rPr>
              <a:t>          		         (1*8) </a:t>
            </a:r>
            <a:r>
              <a:rPr lang="en-US" sz="1800" dirty="0">
                <a:solidFill>
                  <a:schemeClr val="accent1"/>
                </a:solidFill>
                <a:latin typeface="+mn-lt"/>
              </a:rPr>
              <a:t>+ </a:t>
            </a:r>
            <a:r>
              <a:rPr lang="en-US" sz="1800" dirty="0" smtClean="0">
                <a:solidFill>
                  <a:schemeClr val="accent1"/>
                </a:solidFill>
                <a:latin typeface="+mn-lt"/>
              </a:rPr>
              <a:t>(1*4) </a:t>
            </a:r>
            <a:r>
              <a:rPr lang="en-US" sz="1800" dirty="0">
                <a:solidFill>
                  <a:schemeClr val="accent1"/>
                </a:solidFill>
                <a:latin typeface="+mn-lt"/>
              </a:rPr>
              <a:t>+ </a:t>
            </a:r>
            <a:r>
              <a:rPr lang="en-US" sz="1800" dirty="0" smtClean="0">
                <a:solidFill>
                  <a:schemeClr val="accent1"/>
                </a:solidFill>
                <a:latin typeface="+mn-lt"/>
              </a:rPr>
              <a:t>(0*2) + (1*1) </a:t>
            </a:r>
            <a:r>
              <a:rPr lang="en-US" sz="1800" dirty="0">
                <a:solidFill>
                  <a:schemeClr val="accent1"/>
                </a:solidFill>
                <a:latin typeface="+mn-lt"/>
              </a:rPr>
              <a:t>= </a:t>
            </a:r>
            <a:r>
              <a:rPr lang="en-US" sz="1800" dirty="0" smtClean="0">
                <a:solidFill>
                  <a:schemeClr val="accent1"/>
                </a:solidFill>
                <a:latin typeface="+mn-lt"/>
              </a:rPr>
              <a:t>125</a:t>
            </a:r>
            <a:endParaRPr lang="en-US" sz="1800" dirty="0">
              <a:solidFill>
                <a:schemeClr val="accent1"/>
              </a:solidFill>
              <a:latin typeface="+mn-lt"/>
            </a:endParaRPr>
          </a:p>
        </p:txBody>
      </p:sp>
    </p:spTree>
    <p:extLst>
      <p:ext uri="{BB962C8B-B14F-4D97-AF65-F5344CB8AC3E}">
        <p14:creationId xmlns:p14="http://schemas.microsoft.com/office/powerpoint/2010/main" val="41203772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6" name="Picture 5"/>
          <p:cNvPicPr>
            <a:picLocks noChangeAspect="1"/>
          </p:cNvPicPr>
          <p:nvPr/>
        </p:nvPicPr>
        <p:blipFill>
          <a:blip r:embed="rId3"/>
          <a:stretch>
            <a:fillRect/>
          </a:stretch>
        </p:blipFill>
        <p:spPr>
          <a:xfrm>
            <a:off x="2843808" y="321982"/>
            <a:ext cx="3867150" cy="1209675"/>
          </a:xfrm>
          <a:prstGeom prst="rect">
            <a:avLst/>
          </a:prstGeom>
        </p:spPr>
      </p:pic>
      <p:pic>
        <p:nvPicPr>
          <p:cNvPr id="7" name="Picture 6"/>
          <p:cNvPicPr>
            <a:picLocks noChangeAspect="1"/>
          </p:cNvPicPr>
          <p:nvPr/>
        </p:nvPicPr>
        <p:blipFill>
          <a:blip r:embed="rId4"/>
          <a:stretch>
            <a:fillRect/>
          </a:stretch>
        </p:blipFill>
        <p:spPr>
          <a:xfrm>
            <a:off x="1259632" y="1577321"/>
            <a:ext cx="6153150" cy="1600200"/>
          </a:xfrm>
          <a:prstGeom prst="rect">
            <a:avLst/>
          </a:prstGeom>
        </p:spPr>
      </p:pic>
      <p:sp>
        <p:nvSpPr>
          <p:cNvPr id="8" name="Rectangle 7"/>
          <p:cNvSpPr/>
          <p:nvPr/>
        </p:nvSpPr>
        <p:spPr>
          <a:xfrm>
            <a:off x="2051720" y="3223185"/>
            <a:ext cx="6041057" cy="2031325"/>
          </a:xfrm>
          <a:prstGeom prst="rect">
            <a:avLst/>
          </a:prstGeom>
        </p:spPr>
        <p:txBody>
          <a:bodyPr wrap="square">
            <a:spAutoFit/>
          </a:bodyPr>
          <a:lstStyle/>
          <a:p>
            <a:r>
              <a:rPr lang="en-US" sz="1800" dirty="0">
                <a:solidFill>
                  <a:schemeClr val="accent1"/>
                </a:solidFill>
                <a:latin typeface="+mn-lt"/>
              </a:rPr>
              <a:t> </a:t>
            </a:r>
            <a:r>
              <a:rPr lang="en-US" sz="1800" dirty="0" smtClean="0">
                <a:solidFill>
                  <a:schemeClr val="accent1"/>
                </a:solidFill>
                <a:latin typeface="+mn-lt"/>
              </a:rPr>
              <a:t>                             -120 </a:t>
            </a:r>
            <a:r>
              <a:rPr lang="en-US" sz="1800" dirty="0">
                <a:solidFill>
                  <a:schemeClr val="accent1"/>
                </a:solidFill>
                <a:latin typeface="+mn-lt"/>
              </a:rPr>
              <a:t>= </a:t>
            </a:r>
            <a:r>
              <a:rPr lang="en-US" sz="1800" dirty="0" smtClean="0">
                <a:solidFill>
                  <a:schemeClr val="accent1"/>
                </a:solidFill>
                <a:latin typeface="+mn-lt"/>
              </a:rPr>
              <a:t>10001000 </a:t>
            </a:r>
            <a:r>
              <a:rPr lang="en-US" sz="1800" dirty="0">
                <a:solidFill>
                  <a:schemeClr val="accent1"/>
                </a:solidFill>
                <a:latin typeface="+mn-lt"/>
              </a:rPr>
              <a:t>(twos complement)</a:t>
            </a:r>
          </a:p>
          <a:p>
            <a:r>
              <a:rPr lang="en-US" sz="1800" dirty="0">
                <a:solidFill>
                  <a:schemeClr val="accent1"/>
                </a:solidFill>
                <a:latin typeface="+mn-lt"/>
              </a:rPr>
              <a:t>1’s complement          = </a:t>
            </a:r>
            <a:r>
              <a:rPr lang="en-US" sz="1800" dirty="0" smtClean="0">
                <a:solidFill>
                  <a:schemeClr val="accent1"/>
                </a:solidFill>
                <a:latin typeface="+mn-lt"/>
              </a:rPr>
              <a:t>01110111</a:t>
            </a:r>
            <a:endParaRPr lang="en-US" sz="1800" dirty="0">
              <a:solidFill>
                <a:schemeClr val="accent1"/>
              </a:solidFill>
              <a:latin typeface="+mn-lt"/>
            </a:endParaRPr>
          </a:p>
          <a:p>
            <a:r>
              <a:rPr lang="en-US" sz="1800" dirty="0">
                <a:solidFill>
                  <a:schemeClr val="accent1"/>
                </a:solidFill>
                <a:latin typeface="+mn-lt"/>
              </a:rPr>
              <a:t>                                         +              1</a:t>
            </a:r>
          </a:p>
          <a:p>
            <a:r>
              <a:rPr lang="en-US" sz="1800" dirty="0">
                <a:solidFill>
                  <a:schemeClr val="accent1"/>
                </a:solidFill>
                <a:latin typeface="+mn-lt"/>
              </a:rPr>
              <a:t>2’s complement              </a:t>
            </a:r>
            <a:r>
              <a:rPr lang="en-US" sz="1800" dirty="0" smtClean="0">
                <a:solidFill>
                  <a:schemeClr val="accent1"/>
                </a:solidFill>
                <a:latin typeface="+mn-lt"/>
              </a:rPr>
              <a:t>01111000 </a:t>
            </a:r>
            <a:endParaRPr lang="en-US" sz="1800" dirty="0">
              <a:solidFill>
                <a:schemeClr val="accent1"/>
              </a:solidFill>
              <a:latin typeface="+mn-lt"/>
            </a:endParaRPr>
          </a:p>
          <a:p>
            <a:r>
              <a:rPr lang="en-US" sz="1800" dirty="0">
                <a:solidFill>
                  <a:schemeClr val="accent1"/>
                </a:solidFill>
                <a:latin typeface="+mn-lt"/>
              </a:rPr>
              <a:t>Now convert it into decimal</a:t>
            </a:r>
          </a:p>
          <a:p>
            <a:r>
              <a:rPr lang="en-US" sz="1800" dirty="0">
                <a:solidFill>
                  <a:schemeClr val="accent1"/>
                </a:solidFill>
                <a:latin typeface="+mn-lt"/>
              </a:rPr>
              <a:t>                  </a:t>
            </a:r>
            <a:r>
              <a:rPr lang="en-US" sz="1800" dirty="0" smtClean="0">
                <a:solidFill>
                  <a:schemeClr val="accent1"/>
                </a:solidFill>
                <a:latin typeface="+mn-lt"/>
              </a:rPr>
              <a:t>   01111000 </a:t>
            </a:r>
            <a:r>
              <a:rPr lang="en-US" sz="1800" dirty="0">
                <a:solidFill>
                  <a:schemeClr val="accent1"/>
                </a:solidFill>
                <a:latin typeface="+mn-lt"/>
              </a:rPr>
              <a:t>= (0*-128) + (1*64) + (1*32) + (</a:t>
            </a:r>
            <a:r>
              <a:rPr lang="en-US" sz="1800" dirty="0" smtClean="0">
                <a:solidFill>
                  <a:schemeClr val="accent1"/>
                </a:solidFill>
                <a:latin typeface="+mn-lt"/>
              </a:rPr>
              <a:t>1*16) +   (1*8</a:t>
            </a:r>
            <a:r>
              <a:rPr lang="en-US" sz="1800" dirty="0">
                <a:solidFill>
                  <a:schemeClr val="accent1"/>
                </a:solidFill>
                <a:latin typeface="+mn-lt"/>
              </a:rPr>
              <a:t>) + </a:t>
            </a:r>
            <a:r>
              <a:rPr lang="en-US" sz="1800" dirty="0" smtClean="0">
                <a:solidFill>
                  <a:schemeClr val="accent1"/>
                </a:solidFill>
                <a:latin typeface="+mn-lt"/>
              </a:rPr>
              <a:t>(0*4</a:t>
            </a:r>
            <a:r>
              <a:rPr lang="en-US" sz="1800" dirty="0">
                <a:solidFill>
                  <a:schemeClr val="accent1"/>
                </a:solidFill>
                <a:latin typeface="+mn-lt"/>
              </a:rPr>
              <a:t>) + (0*2) + </a:t>
            </a:r>
            <a:r>
              <a:rPr lang="en-US" sz="1800" dirty="0" smtClean="0">
                <a:solidFill>
                  <a:schemeClr val="accent1"/>
                </a:solidFill>
                <a:latin typeface="+mn-lt"/>
              </a:rPr>
              <a:t>(0*1</a:t>
            </a:r>
            <a:r>
              <a:rPr lang="en-US" sz="1800" dirty="0">
                <a:solidFill>
                  <a:schemeClr val="accent1"/>
                </a:solidFill>
                <a:latin typeface="+mn-lt"/>
              </a:rPr>
              <a:t>) = </a:t>
            </a:r>
            <a:r>
              <a:rPr lang="en-US" sz="1800" dirty="0" smtClean="0">
                <a:solidFill>
                  <a:schemeClr val="accent1"/>
                </a:solidFill>
                <a:latin typeface="+mn-lt"/>
              </a:rPr>
              <a:t>120</a:t>
            </a:r>
            <a:endParaRPr lang="en-US" sz="1800" dirty="0">
              <a:solidFill>
                <a:schemeClr val="accent1"/>
              </a:solidFill>
              <a:latin typeface="+mn-lt"/>
            </a:endParaRPr>
          </a:p>
        </p:txBody>
      </p:sp>
    </p:spTree>
    <p:extLst>
      <p:ext uri="{BB962C8B-B14F-4D97-AF65-F5344CB8AC3E}">
        <p14:creationId xmlns:p14="http://schemas.microsoft.com/office/powerpoint/2010/main" val="889611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62000" y="533400"/>
            <a:ext cx="7556313" cy="1116106"/>
          </a:xfrm>
        </p:spPr>
        <p:txBody>
          <a:bodyPr/>
          <a:lstStyle/>
          <a:p>
            <a:r>
              <a:rPr lang="en-US" dirty="0" smtClean="0">
                <a:effectLst>
                  <a:outerShdw blurRad="38100" dist="38100" dir="2700000" algn="tl">
                    <a:srgbClr val="000000">
                      <a:alpha val="43137"/>
                    </a:srgbClr>
                  </a:outerShdw>
                </a:effectLst>
              </a:rPr>
              <a:t>Integer Arithmetic: Negation</a:t>
            </a:r>
            <a:endParaRPr lang="en-US" dirty="0">
              <a:effectLst>
                <a:outerShdw blurRad="38100" dist="38100" dir="2700000" algn="tl">
                  <a:srgbClr val="000000">
                    <a:alpha val="43137"/>
                  </a:srgbClr>
                </a:outerShdw>
              </a:effectLst>
            </a:endParaRPr>
          </a:p>
        </p:txBody>
      </p:sp>
      <p:sp>
        <p:nvSpPr>
          <p:cNvPr id="12291" name="Rectangle 3"/>
          <p:cNvSpPr>
            <a:spLocks noGrp="1" noChangeArrowheads="1"/>
          </p:cNvSpPr>
          <p:nvPr>
            <p:ph idx="1"/>
          </p:nvPr>
        </p:nvSpPr>
        <p:spPr>
          <a:xfrm>
            <a:off x="539552" y="1628800"/>
            <a:ext cx="7556313" cy="4800600"/>
          </a:xfrm>
        </p:spPr>
        <p:txBody>
          <a:bodyPr/>
          <a:lstStyle/>
          <a:p>
            <a:r>
              <a:rPr lang="en-US" dirty="0" smtClean="0"/>
              <a:t> Twos complement operation</a:t>
            </a:r>
          </a:p>
          <a:p>
            <a:pPr lvl="1"/>
            <a:r>
              <a:rPr lang="en-US" dirty="0" smtClean="0"/>
              <a:t>Take the Boolean complement of each bit of the integer (including the sign bit)</a:t>
            </a:r>
          </a:p>
          <a:p>
            <a:pPr lvl="1"/>
            <a:r>
              <a:rPr lang="en-US" dirty="0" smtClean="0"/>
              <a:t>Treating the result as an unsigned binary integer, add 1</a:t>
            </a:r>
          </a:p>
          <a:p>
            <a:pPr lvl="1">
              <a:buNone/>
            </a:pPr>
            <a:endParaRPr lang="en-US" dirty="0" smtClean="0"/>
          </a:p>
          <a:p>
            <a:pPr lvl="1"/>
            <a:endParaRPr lang="en-US" dirty="0" smtClean="0"/>
          </a:p>
          <a:p>
            <a:pPr lvl="1"/>
            <a:endParaRPr lang="en-US" dirty="0" smtClean="0"/>
          </a:p>
          <a:p>
            <a:pPr lvl="1">
              <a:buNone/>
            </a:pPr>
            <a:endParaRPr lang="en-US" dirty="0" smtClean="0"/>
          </a:p>
          <a:p>
            <a:pPr marL="228600" lvl="1">
              <a:spcBef>
                <a:spcPts val="2000"/>
              </a:spcBef>
              <a:buClr>
                <a:schemeClr val="accent1"/>
              </a:buClr>
            </a:pPr>
            <a:r>
              <a:rPr lang="en-US" sz="2000" dirty="0" smtClean="0"/>
              <a:t>The negative of the negative of that number is itself:</a:t>
            </a:r>
          </a:p>
        </p:txBody>
      </p:sp>
      <p:sp>
        <p:nvSpPr>
          <p:cNvPr id="4" name="Rectangle 3"/>
          <p:cNvSpPr/>
          <p:nvPr/>
        </p:nvSpPr>
        <p:spPr>
          <a:xfrm>
            <a:off x="2438400" y="3276600"/>
            <a:ext cx="6705600" cy="1200329"/>
          </a:xfrm>
          <a:prstGeom prst="rect">
            <a:avLst/>
          </a:prstGeom>
        </p:spPr>
        <p:txBody>
          <a:bodyPr wrap="square">
            <a:spAutoFit/>
          </a:bodyPr>
          <a:lstStyle/>
          <a:p>
            <a:r>
              <a:rPr lang="en-US" sz="1800" dirty="0" smtClean="0">
                <a:solidFill>
                  <a:schemeClr val="accent1"/>
                </a:solidFill>
                <a:latin typeface="+mn-lt"/>
              </a:rPr>
              <a:t>                              +</a:t>
            </a:r>
            <a:r>
              <a:rPr lang="en-US" sz="1800" dirty="0">
                <a:solidFill>
                  <a:schemeClr val="accent1"/>
                </a:solidFill>
                <a:latin typeface="+mn-lt"/>
              </a:rPr>
              <a:t>18 = 00010010 (twos complement)</a:t>
            </a:r>
          </a:p>
          <a:p>
            <a:r>
              <a:rPr lang="en-US" sz="1800" dirty="0">
                <a:solidFill>
                  <a:schemeClr val="accent1"/>
                </a:solidFill>
                <a:latin typeface="+mn-lt"/>
              </a:rPr>
              <a:t>bitwise complement = 11101101</a:t>
            </a:r>
            <a:endParaRPr lang="en-US" sz="1800" dirty="0" smtClean="0">
              <a:solidFill>
                <a:schemeClr val="accent1"/>
              </a:solidFill>
              <a:latin typeface="+mn-lt"/>
            </a:endParaRPr>
          </a:p>
          <a:p>
            <a:r>
              <a:rPr lang="en-US" sz="1800" dirty="0" smtClean="0">
                <a:solidFill>
                  <a:schemeClr val="accent1"/>
                </a:solidFill>
                <a:latin typeface="+mn-lt"/>
              </a:rPr>
              <a:t>                                         </a:t>
            </a:r>
            <a:r>
              <a:rPr lang="en-US" sz="1800" u="sng" dirty="0" smtClean="0">
                <a:solidFill>
                  <a:schemeClr val="accent1"/>
                </a:solidFill>
                <a:latin typeface="+mn-lt"/>
              </a:rPr>
              <a:t>+              1</a:t>
            </a:r>
          </a:p>
          <a:p>
            <a:r>
              <a:rPr lang="en-US" sz="1800" dirty="0" smtClean="0">
                <a:solidFill>
                  <a:schemeClr val="accent1"/>
                </a:solidFill>
                <a:latin typeface="+mn-lt"/>
              </a:rPr>
              <a:t>                                          11101110 </a:t>
            </a:r>
            <a:r>
              <a:rPr lang="en-US" sz="1800" dirty="0">
                <a:solidFill>
                  <a:schemeClr val="accent1"/>
                </a:solidFill>
                <a:latin typeface="+mn-lt"/>
              </a:rPr>
              <a:t>= -18</a:t>
            </a:r>
          </a:p>
        </p:txBody>
      </p:sp>
      <p:sp>
        <p:nvSpPr>
          <p:cNvPr id="6" name="Rectangle 5"/>
          <p:cNvSpPr/>
          <p:nvPr/>
        </p:nvSpPr>
        <p:spPr>
          <a:xfrm>
            <a:off x="2514600" y="5257800"/>
            <a:ext cx="6629400" cy="1200329"/>
          </a:xfrm>
          <a:prstGeom prst="rect">
            <a:avLst/>
          </a:prstGeom>
        </p:spPr>
        <p:txBody>
          <a:bodyPr wrap="square">
            <a:spAutoFit/>
          </a:bodyPr>
          <a:lstStyle/>
          <a:p>
            <a:r>
              <a:rPr lang="en-US" sz="1800" dirty="0">
                <a:solidFill>
                  <a:schemeClr val="accent1"/>
                </a:solidFill>
                <a:latin typeface="+mn-lt"/>
              </a:rPr>
              <a:t>                                -18 =  11101110 (twos complement)</a:t>
            </a:r>
          </a:p>
          <a:p>
            <a:r>
              <a:rPr lang="en-US" sz="1800" dirty="0">
                <a:solidFill>
                  <a:schemeClr val="accent1"/>
                </a:solidFill>
                <a:latin typeface="+mn-lt"/>
              </a:rPr>
              <a:t>bitwise complement =  00010001</a:t>
            </a:r>
          </a:p>
          <a:p>
            <a:r>
              <a:rPr lang="en-US" sz="1800" dirty="0">
                <a:solidFill>
                  <a:schemeClr val="accent1"/>
                </a:solidFill>
                <a:latin typeface="+mn-lt"/>
              </a:rPr>
              <a:t>                                         </a:t>
            </a:r>
            <a:r>
              <a:rPr lang="en-US" sz="1800" u="sng" dirty="0">
                <a:solidFill>
                  <a:schemeClr val="accent1"/>
                </a:solidFill>
                <a:latin typeface="+mn-lt"/>
              </a:rPr>
              <a:t>+               1</a:t>
            </a:r>
          </a:p>
          <a:p>
            <a:r>
              <a:rPr lang="en-US" sz="1800" dirty="0">
                <a:solidFill>
                  <a:schemeClr val="accent1"/>
                </a:solidFill>
                <a:latin typeface="+mn-lt"/>
              </a:rPr>
              <a:t>                                            00010010 = +18</a:t>
            </a:r>
          </a:p>
        </p:txBody>
      </p:sp>
      <p:sp>
        <p:nvSpPr>
          <p:cNvPr id="2" name="Footer Placeholder 1"/>
          <p:cNvSpPr>
            <a:spLocks noGrp="1"/>
          </p:cNvSpPr>
          <p:nvPr>
            <p:ph type="ftr" sz="quarter" idx="11"/>
          </p:nvPr>
        </p:nvSpPr>
        <p:spPr/>
        <p:txBody>
          <a:bodyPr/>
          <a:lstStyle/>
          <a:p>
            <a:r>
              <a:rPr lang="en-US" dirty="0" smtClean="0"/>
              <a:t>Negate means take 2’s complement</a:t>
            </a:r>
            <a:endParaRPr lang="en-US"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14400" y="533400"/>
            <a:ext cx="7556313" cy="1116106"/>
          </a:xfrm>
        </p:spPr>
        <p:txBody>
          <a:bodyPr/>
          <a:lstStyle/>
          <a:p>
            <a:r>
              <a:rPr lang="en-US" dirty="0">
                <a:effectLst>
                  <a:outerShdw blurRad="38100" dist="38100" dir="2700000" algn="tl">
                    <a:srgbClr val="000000">
                      <a:alpha val="43137"/>
                    </a:srgbClr>
                  </a:outerShdw>
                </a:effectLst>
              </a:rPr>
              <a:t>Negation Special Case 1</a:t>
            </a:r>
          </a:p>
        </p:txBody>
      </p:sp>
      <p:sp>
        <p:nvSpPr>
          <p:cNvPr id="12291" name="Rectangle 3"/>
          <p:cNvSpPr>
            <a:spLocks noGrp="1" noChangeArrowheads="1"/>
          </p:cNvSpPr>
          <p:nvPr>
            <p:ph type="body" idx="1"/>
          </p:nvPr>
        </p:nvSpPr>
        <p:spPr/>
        <p:txBody>
          <a:bodyPr/>
          <a:lstStyle/>
          <a:p>
            <a:pPr>
              <a:buNone/>
            </a:pPr>
            <a:r>
              <a:rPr lang="en-US" dirty="0" smtClean="0"/>
              <a:t>			    0    </a:t>
            </a:r>
            <a:r>
              <a:rPr lang="en-US" dirty="0"/>
              <a:t>=                </a:t>
            </a:r>
            <a:r>
              <a:rPr lang="en-US" dirty="0" smtClean="0"/>
              <a:t>00000000    (twos complement)</a:t>
            </a:r>
          </a:p>
          <a:p>
            <a:pPr>
              <a:buNone/>
            </a:pPr>
            <a:r>
              <a:rPr lang="en-US" dirty="0" smtClean="0"/>
              <a:t>Bitwise complement  =                 11111111</a:t>
            </a:r>
            <a:endParaRPr lang="en-US" dirty="0"/>
          </a:p>
          <a:p>
            <a:pPr>
              <a:buNone/>
            </a:pPr>
            <a:r>
              <a:rPr lang="en-US" dirty="0"/>
              <a:t>Add 1 to LSB             </a:t>
            </a:r>
            <a:r>
              <a:rPr lang="en-US" dirty="0" smtClean="0"/>
              <a:t> 	            </a:t>
            </a:r>
            <a:r>
              <a:rPr lang="en-US" u="sng" dirty="0" smtClean="0"/>
              <a:t>+                 1</a:t>
            </a:r>
            <a:endParaRPr lang="en-US" u="sng" dirty="0"/>
          </a:p>
          <a:p>
            <a:pPr>
              <a:buNone/>
            </a:pPr>
            <a:r>
              <a:rPr lang="en-US" dirty="0"/>
              <a:t>Result          </a:t>
            </a:r>
            <a:r>
              <a:rPr lang="en-US" dirty="0" smtClean="0"/>
              <a:t> 			100000000</a:t>
            </a:r>
          </a:p>
          <a:p>
            <a:pPr>
              <a:buNone/>
            </a:pPr>
            <a:endParaRPr lang="en-US" sz="1200" dirty="0" smtClean="0"/>
          </a:p>
          <a:p>
            <a:pPr>
              <a:buNone/>
            </a:pPr>
            <a:r>
              <a:rPr lang="en-US" dirty="0" smtClean="0"/>
              <a:t>Overflow </a:t>
            </a:r>
            <a:r>
              <a:rPr lang="en-US" dirty="0"/>
              <a:t>is ignored, so:</a:t>
            </a:r>
            <a:endParaRPr lang="en-US" dirty="0" smtClean="0"/>
          </a:p>
          <a:p>
            <a:pPr>
              <a:buNone/>
            </a:pPr>
            <a:r>
              <a:rPr lang="en-US" dirty="0" smtClean="0"/>
              <a:t>		- </a:t>
            </a:r>
            <a:r>
              <a:rPr lang="en-US" dirty="0"/>
              <a:t>0 = 0</a:t>
            </a:r>
            <a:r>
              <a:rPr lang="en-US" dirty="0" smtClean="0"/>
              <a:t> </a:t>
            </a:r>
            <a:endParaRPr lang="en-US" dirty="0"/>
          </a:p>
        </p:txBody>
      </p:sp>
      <p:sp>
        <p:nvSpPr>
          <p:cNvPr id="2" name="Footer Placeholder 1"/>
          <p:cNvSpPr>
            <a:spLocks noGrp="1"/>
          </p:cNvSpPr>
          <p:nvPr>
            <p:ph type="ftr" sz="quarter" idx="11"/>
          </p:nvPr>
        </p:nvSpPr>
        <p:spPr>
          <a:xfrm>
            <a:off x="309210" y="5742452"/>
            <a:ext cx="8834790" cy="767422"/>
          </a:xfrm>
        </p:spPr>
        <p:txBody>
          <a:bodyPr/>
          <a:lstStyle/>
          <a:p>
            <a:r>
              <a:rPr lang="en-US" sz="2000" dirty="0">
                <a:latin typeface="+mn-lt"/>
              </a:rPr>
              <a:t>There is a carry out of the most significant bit position, which is ignored. The result is that the negation of 0 is 0, as it should be.</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Negation Special Case 2</a:t>
            </a:r>
          </a:p>
        </p:txBody>
      </p:sp>
      <p:sp>
        <p:nvSpPr>
          <p:cNvPr id="13315" name="Rectangle 3"/>
          <p:cNvSpPr>
            <a:spLocks noGrp="1" noChangeArrowheads="1"/>
          </p:cNvSpPr>
          <p:nvPr>
            <p:ph idx="1"/>
          </p:nvPr>
        </p:nvSpPr>
        <p:spPr>
          <a:xfrm>
            <a:off x="498474" y="1905000"/>
            <a:ext cx="7556313" cy="4221163"/>
          </a:xfrm>
        </p:spPr>
        <p:txBody>
          <a:bodyPr>
            <a:normAutofit lnSpcReduction="10000"/>
          </a:bodyPr>
          <a:lstStyle/>
          <a:p>
            <a:pPr>
              <a:buNone/>
            </a:pPr>
            <a:r>
              <a:rPr lang="en-US" dirty="0" smtClean="0"/>
              <a:t>		             -</a:t>
            </a:r>
            <a:r>
              <a:rPr lang="en-US" dirty="0"/>
              <a:t>128</a:t>
            </a:r>
            <a:r>
              <a:rPr lang="en-US" dirty="0" smtClean="0"/>
              <a:t>     =        10000000    (twos complement)</a:t>
            </a:r>
          </a:p>
          <a:p>
            <a:pPr>
              <a:buNone/>
            </a:pPr>
            <a:r>
              <a:rPr lang="en-US" dirty="0"/>
              <a:t>B</a:t>
            </a:r>
            <a:r>
              <a:rPr lang="en-US" dirty="0" smtClean="0"/>
              <a:t>itwise complement   =         </a:t>
            </a:r>
            <a:r>
              <a:rPr lang="en-US" dirty="0"/>
              <a:t>01111111</a:t>
            </a:r>
          </a:p>
          <a:p>
            <a:pPr>
              <a:buNone/>
            </a:pPr>
            <a:r>
              <a:rPr lang="en-US" dirty="0"/>
              <a:t>Add 1 to LSB           </a:t>
            </a:r>
            <a:r>
              <a:rPr lang="en-US" dirty="0" smtClean="0"/>
              <a:t>               </a:t>
            </a:r>
            <a:r>
              <a:rPr lang="en-US" u="sng" dirty="0" smtClean="0"/>
              <a:t>+                1</a:t>
            </a:r>
            <a:endParaRPr lang="en-US" u="sng" dirty="0"/>
          </a:p>
          <a:p>
            <a:pPr>
              <a:buNone/>
            </a:pPr>
            <a:r>
              <a:rPr lang="en-US" dirty="0"/>
              <a:t>Result           </a:t>
            </a:r>
            <a:r>
              <a:rPr lang="en-US" dirty="0" smtClean="0"/>
              <a:t> 		         10000000</a:t>
            </a:r>
            <a:endParaRPr lang="en-US" dirty="0"/>
          </a:p>
          <a:p>
            <a:pPr>
              <a:buNone/>
            </a:pPr>
            <a:r>
              <a:rPr lang="en-US" dirty="0"/>
              <a:t>So:</a:t>
            </a:r>
          </a:p>
          <a:p>
            <a:pPr>
              <a:buNone/>
            </a:pPr>
            <a:r>
              <a:rPr lang="en-US" dirty="0"/>
              <a:t>-(-128) = -128   X</a:t>
            </a:r>
          </a:p>
          <a:p>
            <a:pPr>
              <a:buNone/>
            </a:pPr>
            <a:r>
              <a:rPr lang="en-US" dirty="0"/>
              <a:t>Monitor MSB (sign bit)</a:t>
            </a:r>
          </a:p>
          <a:p>
            <a:pPr>
              <a:buNone/>
            </a:pPr>
            <a:r>
              <a:rPr lang="en-US" dirty="0"/>
              <a:t>It should change during negation</a:t>
            </a:r>
          </a:p>
          <a:p>
            <a:endParaRPr lang="en-US" dirty="0"/>
          </a:p>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TextBox 4"/>
          <p:cNvSpPr txBox="1"/>
          <p:nvPr/>
        </p:nvSpPr>
        <p:spPr>
          <a:xfrm>
            <a:off x="7884964" y="176412"/>
            <a:ext cx="1259036" cy="509388"/>
          </a:xfrm>
          <a:prstGeom prst="rect">
            <a:avLst/>
          </a:prstGeom>
        </p:spPr>
        <p:txBody>
          <a:bodyPr wrap="square" rtlCol="0">
            <a:spAutoFit/>
          </a:bodyPr>
          <a:lstStyle/>
          <a:p>
            <a:endParaRPr lang="en-US" dirty="0"/>
          </a:p>
        </p:txBody>
      </p:sp>
      <p:sp>
        <p:nvSpPr>
          <p:cNvPr id="6" name="Footer Placeholder 5"/>
          <p:cNvSpPr>
            <a:spLocks noGrp="1"/>
          </p:cNvSpPr>
          <p:nvPr>
            <p:ph type="ftr" sz="quarter" idx="11"/>
          </p:nvPr>
        </p:nvSpPr>
        <p:spPr/>
        <p:txBody>
          <a:bodyPr/>
          <a:lstStyle/>
          <a:p>
            <a:r>
              <a:rPr lang="en-US" dirty="0" smtClean="0"/>
              <a:t>Carry Flag = Unsigned and Overflow/ Flag = Signed Numbers (2’s complement) </a:t>
            </a:r>
            <a:endParaRPr lang="en-US" dirty="0"/>
          </a:p>
        </p:txBody>
      </p:sp>
      <p:pic>
        <p:nvPicPr>
          <p:cNvPr id="3" name="Picture 2"/>
          <p:cNvPicPr>
            <a:picLocks noChangeAspect="1"/>
          </p:cNvPicPr>
          <p:nvPr/>
        </p:nvPicPr>
        <p:blipFill>
          <a:blip r:embed="rId3"/>
          <a:stretch>
            <a:fillRect/>
          </a:stretch>
        </p:blipFill>
        <p:spPr>
          <a:xfrm>
            <a:off x="18326" y="44624"/>
            <a:ext cx="8874154" cy="6262779"/>
          </a:xfrm>
          <a:prstGeom prst="rect">
            <a:avLst/>
          </a:prstGeom>
        </p:spPr>
      </p:pic>
    </p:spTree>
  </p:cSld>
  <p:clrMapOvr>
    <a:masterClrMapping/>
  </p:clrMapOvr>
  <p:transition spd="med">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9100" y="260648"/>
            <a:ext cx="6503640" cy="5693866"/>
          </a:xfrm>
          <a:prstGeom prst="rect">
            <a:avLst/>
          </a:prstGeom>
        </p:spPr>
        <p:txBody>
          <a:bodyPr wrap="square">
            <a:spAutoFit/>
          </a:bodyPr>
          <a:lstStyle/>
          <a:p>
            <a:r>
              <a:rPr lang="en-US" sz="3600" dirty="0" smtClean="0">
                <a:solidFill>
                  <a:schemeClr val="accent1"/>
                </a:solidFill>
                <a:effectLst>
                  <a:outerShdw blurRad="38100" dist="38100" dir="2700000" algn="tl">
                    <a:srgbClr val="000000">
                      <a:alpha val="43137"/>
                    </a:srgbClr>
                  </a:outerShdw>
                </a:effectLst>
                <a:latin typeface="+mj-lt"/>
                <a:ea typeface="+mj-ea"/>
                <a:cs typeface="+mj-cs"/>
              </a:rPr>
              <a:t>       OVERFLOW </a:t>
            </a:r>
            <a:r>
              <a:rPr lang="en-US" sz="3600" dirty="0">
                <a:solidFill>
                  <a:schemeClr val="accent1"/>
                </a:solidFill>
                <a:effectLst>
                  <a:outerShdw blurRad="38100" dist="38100" dir="2700000" algn="tl">
                    <a:srgbClr val="000000">
                      <a:alpha val="43137"/>
                    </a:srgbClr>
                  </a:outerShdw>
                </a:effectLst>
                <a:latin typeface="+mj-lt"/>
                <a:ea typeface="+mj-ea"/>
                <a:cs typeface="+mj-cs"/>
              </a:rPr>
              <a:t>RULE: </a:t>
            </a:r>
          </a:p>
          <a:p>
            <a:endParaRPr lang="en-US" sz="3600" b="1" dirty="0">
              <a:solidFill>
                <a:schemeClr val="accent1"/>
              </a:solidFill>
              <a:latin typeface="+mn-lt"/>
            </a:endParaRPr>
          </a:p>
          <a:p>
            <a:r>
              <a:rPr lang="en-US" sz="3600" dirty="0" smtClean="0">
                <a:solidFill>
                  <a:schemeClr val="accent1"/>
                </a:solidFill>
                <a:latin typeface="+mn-lt"/>
              </a:rPr>
              <a:t>If </a:t>
            </a:r>
            <a:r>
              <a:rPr lang="en-US" sz="3600" dirty="0">
                <a:solidFill>
                  <a:schemeClr val="accent1"/>
                </a:solidFill>
                <a:latin typeface="+mn-lt"/>
              </a:rPr>
              <a:t>two numbers are added, and they are both positive </a:t>
            </a:r>
            <a:r>
              <a:rPr lang="en-US" sz="3600" dirty="0" smtClean="0">
                <a:solidFill>
                  <a:schemeClr val="accent1"/>
                </a:solidFill>
                <a:latin typeface="+mn-lt"/>
              </a:rPr>
              <a:t>or both </a:t>
            </a:r>
            <a:r>
              <a:rPr lang="en-US" sz="3600" dirty="0">
                <a:solidFill>
                  <a:schemeClr val="accent1"/>
                </a:solidFill>
                <a:latin typeface="+mn-lt"/>
              </a:rPr>
              <a:t>negative, then overflow occurs if and only if the result has the opposite sign</a:t>
            </a:r>
            <a:r>
              <a:rPr lang="en-US" sz="3600" dirty="0" smtClean="0">
                <a:solidFill>
                  <a:schemeClr val="accent1"/>
                </a:solidFill>
                <a:latin typeface="+mn-lt"/>
              </a:rPr>
              <a:t>.</a:t>
            </a:r>
          </a:p>
          <a:p>
            <a:pPr algn="just"/>
            <a:endParaRPr lang="en-US" sz="2800" dirty="0" smtClean="0">
              <a:solidFill>
                <a:schemeClr val="accent1"/>
              </a:solidFill>
              <a:latin typeface="+mn-lt"/>
            </a:endParaRPr>
          </a:p>
          <a:p>
            <a:pPr algn="just"/>
            <a:r>
              <a:rPr lang="en-US" sz="2800" dirty="0">
                <a:solidFill>
                  <a:schemeClr val="accent1"/>
                </a:solidFill>
                <a:latin typeface="+mn-lt"/>
              </a:rPr>
              <a:t> </a:t>
            </a:r>
            <a:r>
              <a:rPr lang="en-US" sz="2800" dirty="0" smtClean="0">
                <a:solidFill>
                  <a:schemeClr val="accent1"/>
                </a:solidFill>
                <a:latin typeface="+mn-lt"/>
              </a:rPr>
              <a:t>Ex: </a:t>
            </a:r>
            <a:r>
              <a:rPr lang="en-US" sz="2800" dirty="0"/>
              <a:t>8-bit max positive = </a:t>
            </a:r>
            <a:r>
              <a:rPr lang="en-US" sz="2800" b="1" dirty="0"/>
              <a:t>+</a:t>
            </a:r>
            <a:r>
              <a:rPr lang="en-US" sz="2800" b="1" dirty="0" smtClean="0"/>
              <a:t>127/ -128</a:t>
            </a:r>
          </a:p>
          <a:p>
            <a:pPr algn="just"/>
            <a:r>
              <a:rPr lang="en-US" sz="2800" dirty="0" smtClean="0"/>
              <a:t> 100+50=150, but </a:t>
            </a:r>
            <a:r>
              <a:rPr lang="en-US" sz="2800" dirty="0"/>
              <a:t>150 cannot fit in</a:t>
            </a:r>
            <a:r>
              <a:rPr lang="en-US" sz="2800" b="1" dirty="0"/>
              <a:t> </a:t>
            </a:r>
            <a:endParaRPr lang="en-US" sz="2800" b="1" dirty="0" smtClean="0"/>
          </a:p>
          <a:p>
            <a:pPr algn="just"/>
            <a:r>
              <a:rPr lang="en-US" sz="2800" b="1" dirty="0"/>
              <a:t> </a:t>
            </a:r>
            <a:r>
              <a:rPr lang="en-US" sz="2800" b="1" dirty="0" smtClean="0"/>
              <a:t>8-bit</a:t>
            </a:r>
            <a:r>
              <a:rPr lang="en-US" sz="2800" b="1" dirty="0"/>
              <a:t>, </a:t>
            </a:r>
            <a:r>
              <a:rPr lang="en-US" dirty="0">
                <a:solidFill>
                  <a:schemeClr val="accent1"/>
                </a:solidFill>
                <a:latin typeface="+mn-lt"/>
              </a:rPr>
              <a:t>Overflow </a:t>
            </a:r>
            <a:r>
              <a:rPr lang="en-US" dirty="0" smtClean="0">
                <a:solidFill>
                  <a:schemeClr val="accent1"/>
                </a:solidFill>
                <a:latin typeface="+mn-lt"/>
              </a:rPr>
              <a:t>occurred!</a:t>
            </a:r>
            <a:endParaRPr lang="en-US" dirty="0">
              <a:solidFill>
                <a:schemeClr val="accent1"/>
              </a:solidFill>
              <a:latin typeface="+mn-lt"/>
            </a:endParaRPr>
          </a:p>
        </p:txBody>
      </p:sp>
      <p:sp>
        <p:nvSpPr>
          <p:cNvPr id="6" name="Rectangle 5"/>
          <p:cNvSpPr/>
          <p:nvPr/>
        </p:nvSpPr>
        <p:spPr>
          <a:xfrm>
            <a:off x="7010400" y="990600"/>
            <a:ext cx="1752600" cy="461665"/>
          </a:xfrm>
          <a:prstGeom prst="rect">
            <a:avLst/>
          </a:prstGeom>
        </p:spPr>
        <p:txBody>
          <a:bodyPr wrap="square">
            <a:spAutoFit/>
          </a:bodyPr>
          <a:lstStyle/>
          <a:p>
            <a:pPr algn="ctr"/>
            <a:r>
              <a:rPr lang="en-US" dirty="0" smtClean="0">
                <a:latin typeface="+mn-lt"/>
              </a:rPr>
              <a:t>Overflow</a:t>
            </a:r>
            <a:endParaRPr lang="en-US" dirty="0">
              <a:latin typeface="+mn-lt"/>
            </a:endParaRPr>
          </a:p>
        </p:txBody>
      </p:sp>
      <p:sp>
        <p:nvSpPr>
          <p:cNvPr id="7" name="Rectangle 6"/>
          <p:cNvSpPr/>
          <p:nvPr/>
        </p:nvSpPr>
        <p:spPr>
          <a:xfrm>
            <a:off x="7086600" y="3200400"/>
            <a:ext cx="1524000" cy="461665"/>
          </a:xfrm>
          <a:prstGeom prst="rect">
            <a:avLst/>
          </a:prstGeom>
        </p:spPr>
        <p:txBody>
          <a:bodyPr wrap="square">
            <a:spAutoFit/>
          </a:bodyPr>
          <a:lstStyle/>
          <a:p>
            <a:pPr algn="ctr"/>
            <a:r>
              <a:rPr lang="en-US" dirty="0">
                <a:latin typeface="+mn-lt"/>
              </a:rPr>
              <a:t>Rule</a:t>
            </a:r>
          </a:p>
        </p:txBody>
      </p:sp>
      <p:sp useBgFill="1">
        <p:nvSpPr>
          <p:cNvPr id="9" name="TextBox 8"/>
          <p:cNvSpPr txBox="1"/>
          <p:nvPr/>
        </p:nvSpPr>
        <p:spPr>
          <a:xfrm>
            <a:off x="228600" y="4569060"/>
            <a:ext cx="381000" cy="688740"/>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87624" y="1484784"/>
            <a:ext cx="5458544" cy="5078314"/>
          </a:xfrm>
          <a:prstGeom prst="rect">
            <a:avLst/>
          </a:prstGeom>
        </p:spPr>
        <p:txBody>
          <a:bodyPr wrap="square">
            <a:spAutoFit/>
          </a:bodyPr>
          <a:lstStyle/>
          <a:p>
            <a:r>
              <a:rPr lang="en-US" sz="3600" dirty="0" smtClean="0">
                <a:solidFill>
                  <a:schemeClr val="accent1"/>
                </a:solidFill>
                <a:effectLst>
                  <a:outerShdw blurRad="38100" dist="38100" dir="2700000" algn="tl">
                    <a:srgbClr val="000000">
                      <a:alpha val="43137"/>
                    </a:srgbClr>
                  </a:outerShdw>
                </a:effectLst>
                <a:latin typeface="+mj-lt"/>
                <a:ea typeface="+mj-ea"/>
                <a:cs typeface="+mj-cs"/>
              </a:rPr>
              <a:t>SUBTRACTION </a:t>
            </a:r>
            <a:r>
              <a:rPr lang="en-US" sz="3600" dirty="0">
                <a:solidFill>
                  <a:schemeClr val="accent1"/>
                </a:solidFill>
                <a:effectLst>
                  <a:outerShdw blurRad="38100" dist="38100" dir="2700000" algn="tl">
                    <a:srgbClr val="000000">
                      <a:alpha val="43137"/>
                    </a:srgbClr>
                  </a:outerShdw>
                </a:effectLst>
                <a:latin typeface="+mj-lt"/>
                <a:ea typeface="+mj-ea"/>
                <a:cs typeface="+mj-cs"/>
              </a:rPr>
              <a:t>RULE: </a:t>
            </a:r>
          </a:p>
          <a:p>
            <a:endParaRPr lang="en-US" sz="3600" b="1" dirty="0" smtClean="0">
              <a:solidFill>
                <a:schemeClr val="accent1"/>
              </a:solidFill>
              <a:latin typeface="+mn-lt"/>
            </a:endParaRPr>
          </a:p>
          <a:p>
            <a:r>
              <a:rPr lang="en-US" sz="3600" dirty="0" smtClean="0">
                <a:solidFill>
                  <a:schemeClr val="accent1"/>
                </a:solidFill>
                <a:latin typeface="+mn-lt"/>
              </a:rPr>
              <a:t>To </a:t>
            </a:r>
            <a:r>
              <a:rPr lang="en-US" sz="3600" dirty="0">
                <a:solidFill>
                  <a:schemeClr val="accent1"/>
                </a:solidFill>
                <a:latin typeface="+mn-lt"/>
              </a:rPr>
              <a:t>subtract one number (subtrahend) from </a:t>
            </a:r>
            <a:r>
              <a:rPr lang="en-US" sz="3600" dirty="0" smtClean="0">
                <a:solidFill>
                  <a:schemeClr val="accent1"/>
                </a:solidFill>
                <a:latin typeface="+mn-lt"/>
              </a:rPr>
              <a:t>another (</a:t>
            </a:r>
            <a:r>
              <a:rPr lang="en-US" sz="3600" dirty="0">
                <a:solidFill>
                  <a:schemeClr val="accent1"/>
                </a:solidFill>
                <a:latin typeface="+mn-lt"/>
              </a:rPr>
              <a:t>minuend), take the twos complement (negation) of the subtrahend and add it</a:t>
            </a:r>
          </a:p>
          <a:p>
            <a:r>
              <a:rPr lang="en-US" sz="3600" dirty="0">
                <a:solidFill>
                  <a:schemeClr val="accent1"/>
                </a:solidFill>
                <a:latin typeface="+mn-lt"/>
              </a:rPr>
              <a:t>to the minuend.</a:t>
            </a:r>
          </a:p>
        </p:txBody>
      </p:sp>
      <p:sp>
        <p:nvSpPr>
          <p:cNvPr id="6" name="Rectangle 5"/>
          <p:cNvSpPr/>
          <p:nvPr/>
        </p:nvSpPr>
        <p:spPr>
          <a:xfrm>
            <a:off x="6858000" y="990600"/>
            <a:ext cx="1981200" cy="461665"/>
          </a:xfrm>
          <a:prstGeom prst="rect">
            <a:avLst/>
          </a:prstGeom>
        </p:spPr>
        <p:txBody>
          <a:bodyPr wrap="square">
            <a:spAutoFit/>
          </a:bodyPr>
          <a:lstStyle/>
          <a:p>
            <a:pPr algn="ctr"/>
            <a:r>
              <a:rPr lang="en-US" dirty="0">
                <a:latin typeface="+mn-lt"/>
              </a:rPr>
              <a:t>Subtraction</a:t>
            </a:r>
          </a:p>
        </p:txBody>
      </p:sp>
      <p:sp>
        <p:nvSpPr>
          <p:cNvPr id="7" name="Rectangle 6"/>
          <p:cNvSpPr/>
          <p:nvPr/>
        </p:nvSpPr>
        <p:spPr>
          <a:xfrm>
            <a:off x="7086600" y="3200400"/>
            <a:ext cx="1524000" cy="461665"/>
          </a:xfrm>
          <a:prstGeom prst="rect">
            <a:avLst/>
          </a:prstGeom>
        </p:spPr>
        <p:txBody>
          <a:bodyPr wrap="square">
            <a:spAutoFit/>
          </a:bodyPr>
          <a:lstStyle/>
          <a:p>
            <a:pPr algn="ctr"/>
            <a:r>
              <a:rPr lang="en-US" dirty="0">
                <a:latin typeface="+mn-lt"/>
              </a:rPr>
              <a:t>Rule</a:t>
            </a:r>
          </a:p>
        </p:txBody>
      </p:sp>
      <p:sp useBgFill="1">
        <p:nvSpPr>
          <p:cNvPr id="9" name="TextBox 8"/>
          <p:cNvSpPr txBox="1"/>
          <p:nvPr/>
        </p:nvSpPr>
        <p:spPr>
          <a:xfrm>
            <a:off x="228600" y="4569060"/>
            <a:ext cx="381000" cy="688740"/>
          </a:xfrm>
          <a:prstGeom prst="rect">
            <a:avLst/>
          </a:prstGeom>
        </p:spPr>
        <p:txBody>
          <a:bodyPr wrap="square" rtlCol="0">
            <a:spAutoFit/>
          </a:bodyPr>
          <a:lstStyle/>
          <a:p>
            <a:endParaRPr lang="en-US" dirty="0"/>
          </a:p>
        </p:txBody>
      </p:sp>
      <p:pic>
        <p:nvPicPr>
          <p:cNvPr id="8" name="Picture 7"/>
          <p:cNvPicPr>
            <a:picLocks noChangeAspect="1"/>
          </p:cNvPicPr>
          <p:nvPr/>
        </p:nvPicPr>
        <p:blipFill>
          <a:blip r:embed="rId3"/>
          <a:stretch>
            <a:fillRect/>
          </a:stretch>
        </p:blipFill>
        <p:spPr>
          <a:xfrm>
            <a:off x="0" y="0"/>
            <a:ext cx="1919999" cy="1931161"/>
          </a:xfrm>
          <a:prstGeom prst="rect">
            <a:avLst/>
          </a:prstGeom>
        </p:spPr>
      </p:pic>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inus 6"/>
          <p:cNvSpPr/>
          <p:nvPr/>
        </p:nvSpPr>
        <p:spPr>
          <a:xfrm>
            <a:off x="304800" y="0"/>
            <a:ext cx="1447800" cy="1219200"/>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useBgFill="1">
        <p:nvSpPr>
          <p:cNvPr id="8" name="TextBox 7"/>
          <p:cNvSpPr txBox="1"/>
          <p:nvPr/>
        </p:nvSpPr>
        <p:spPr>
          <a:xfrm>
            <a:off x="8079000" y="176412"/>
            <a:ext cx="836399" cy="509388"/>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4.pdf"/>
          <p:cNvPicPr>
            <a:picLocks noChangeAspect="1"/>
          </p:cNvPicPr>
          <p:nvPr/>
        </p:nvPicPr>
        <p:blipFill rotWithShape="1">
          <a:blip r:embed="rId3">
            <a:extLst>
              <a:ext uri="{28A0092B-C50C-407E-A947-70E740481C1C}">
                <a14:useLocalDpi xmlns:a14="http://schemas.microsoft.com/office/drawing/2010/main" val="0"/>
              </a:ext>
            </a:extLst>
          </a:blip>
          <a:srcRect l="7121" t="8284" r="7314" b="30477"/>
          <a:stretch/>
        </p:blipFill>
        <p:spPr>
          <a:xfrm>
            <a:off x="1763688" y="75987"/>
            <a:ext cx="7056784" cy="6535966"/>
          </a:xfrm>
          <a:prstGeom prst="rect">
            <a:avLst/>
          </a:prstGeom>
        </p:spPr>
      </p:pic>
    </p:spTree>
  </p:cSld>
  <p:clrMapOvr>
    <a:masterClrMapping/>
  </p:clrMapOvr>
  <p:transition spd="med">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5.pdf"/>
          <p:cNvPicPr>
            <a:picLocks noChangeAspect="1"/>
          </p:cNvPicPr>
          <p:nvPr/>
        </p:nvPicPr>
        <p:blipFill rotWithShape="1">
          <a:blip r:embed="rId3">
            <a:extLst>
              <a:ext uri="{28A0092B-C50C-407E-A947-70E740481C1C}">
                <a14:useLocalDpi xmlns:a14="http://schemas.microsoft.com/office/drawing/2010/main" val="0"/>
              </a:ext>
            </a:extLst>
          </a:blip>
          <a:srcRect t="19167" b="15046"/>
          <a:stretch/>
        </p:blipFill>
        <p:spPr>
          <a:xfrm>
            <a:off x="539552" y="0"/>
            <a:ext cx="7776864" cy="6620900"/>
          </a:xfrm>
          <a:prstGeom prst="rect">
            <a:avLst/>
          </a:prstGeom>
        </p:spPr>
      </p:pic>
    </p:spTree>
  </p:cSld>
  <p:clrMapOvr>
    <a:masterClrMapping/>
  </p:clrMapOvr>
  <p:transition spd="med">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6.pdf"/>
          <p:cNvPicPr>
            <a:picLocks noChangeAspect="1"/>
          </p:cNvPicPr>
          <p:nvPr/>
        </p:nvPicPr>
        <p:blipFill rotWithShape="1">
          <a:blip r:embed="rId3">
            <a:extLst>
              <a:ext uri="{28A0092B-C50C-407E-A947-70E740481C1C}">
                <a14:useLocalDpi xmlns:a14="http://schemas.microsoft.com/office/drawing/2010/main" val="0"/>
              </a:ext>
            </a:extLst>
          </a:blip>
          <a:srcRect t="15105" b="18620"/>
          <a:stretch/>
        </p:blipFill>
        <p:spPr>
          <a:xfrm>
            <a:off x="899592" y="-1384"/>
            <a:ext cx="7722545" cy="6623357"/>
          </a:xfrm>
          <a:prstGeom prst="rect">
            <a:avLst/>
          </a:prstGeom>
        </p:spPr>
      </p:pic>
    </p:spTree>
  </p:cSld>
  <p:clrMapOvr>
    <a:masterClrMapping/>
  </p:clrMapOvr>
  <p:transition spd="med">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TextBox 4"/>
          <p:cNvSpPr txBox="1"/>
          <p:nvPr/>
        </p:nvSpPr>
        <p:spPr>
          <a:xfrm>
            <a:off x="7955522" y="158770"/>
            <a:ext cx="1188477" cy="527030"/>
          </a:xfrm>
          <a:prstGeom prst="rect">
            <a:avLst/>
          </a:prstGeom>
        </p:spPr>
        <p:txBody>
          <a:bodyPr wrap="square" rtlCol="0">
            <a:spAutoFit/>
          </a:bodyPr>
          <a:lstStyle/>
          <a:p>
            <a:endParaRPr lang="en-US" dirty="0"/>
          </a:p>
        </p:txBody>
      </p:sp>
      <p:sp>
        <p:nvSpPr>
          <p:cNvPr id="7" name="Multiply 6"/>
          <p:cNvSpPr/>
          <p:nvPr/>
        </p:nvSpPr>
        <p:spPr>
          <a:xfrm>
            <a:off x="179512" y="228600"/>
            <a:ext cx="1656184" cy="1760240"/>
          </a:xfrm>
          <a:prstGeom prst="mathMultipl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7.pdf"/>
          <p:cNvPicPr>
            <a:picLocks noChangeAspect="1"/>
          </p:cNvPicPr>
          <p:nvPr/>
        </p:nvPicPr>
        <p:blipFill rotWithShape="1">
          <a:blip r:embed="rId3">
            <a:extLst>
              <a:ext uri="{28A0092B-C50C-407E-A947-70E740481C1C}">
                <a14:useLocalDpi xmlns:a14="http://schemas.microsoft.com/office/drawing/2010/main" val="0"/>
              </a:ext>
            </a:extLst>
          </a:blip>
          <a:srcRect t="32325" b="28040"/>
          <a:stretch/>
        </p:blipFill>
        <p:spPr>
          <a:xfrm>
            <a:off x="-468560" y="908720"/>
            <a:ext cx="10529184" cy="5400600"/>
          </a:xfrm>
          <a:prstGeom prst="rect">
            <a:avLst/>
          </a:prstGeom>
        </p:spPr>
      </p:pic>
      <p:sp>
        <p:nvSpPr>
          <p:cNvPr id="6" name="Rectangle 5"/>
          <p:cNvSpPr/>
          <p:nvPr/>
        </p:nvSpPr>
        <p:spPr>
          <a:xfrm>
            <a:off x="6948264" y="632207"/>
            <a:ext cx="1656184" cy="461665"/>
          </a:xfrm>
          <a:prstGeom prst="rect">
            <a:avLst/>
          </a:prstGeom>
        </p:spPr>
        <p:txBody>
          <a:bodyPr wrap="square">
            <a:spAutoFit/>
          </a:bodyPr>
          <a:lstStyle/>
          <a:p>
            <a:r>
              <a:rPr lang="en-US" dirty="0" smtClean="0"/>
              <a:t>Space : 2n</a:t>
            </a:r>
            <a:endParaRPr lang="en-US" dirty="0"/>
          </a:p>
        </p:txBody>
      </p:sp>
    </p:spTree>
  </p:cSld>
  <p:clrMapOvr>
    <a:masterClrMapping/>
  </p:clrMapOvr>
  <p:transition spd="med">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p:cNvPicPr>
            <a:picLocks noChangeAspect="1"/>
          </p:cNvPicPr>
          <p:nvPr/>
        </p:nvPicPr>
        <p:blipFill>
          <a:blip r:embed="rId3"/>
          <a:stretch>
            <a:fillRect/>
          </a:stretch>
        </p:blipFill>
        <p:spPr>
          <a:xfrm>
            <a:off x="251520" y="188640"/>
            <a:ext cx="8712967" cy="6361138"/>
          </a:xfrm>
          <a:prstGeom prst="rect">
            <a:avLst/>
          </a:prstGeom>
        </p:spPr>
      </p:pic>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9.pdf"/>
          <p:cNvPicPr>
            <a:picLocks noChangeAspect="1"/>
          </p:cNvPicPr>
          <p:nvPr/>
        </p:nvPicPr>
        <p:blipFill rotWithShape="1">
          <a:blip r:embed="rId3">
            <a:extLst>
              <a:ext uri="{28A0092B-C50C-407E-A947-70E740481C1C}">
                <a14:useLocalDpi xmlns:a14="http://schemas.microsoft.com/office/drawing/2010/main" val="0"/>
              </a:ext>
            </a:extLst>
          </a:blip>
          <a:srcRect t="6172" b="13259"/>
          <a:stretch/>
        </p:blipFill>
        <p:spPr>
          <a:xfrm>
            <a:off x="1331640" y="-1"/>
            <a:ext cx="6336703" cy="6606973"/>
          </a:xfrm>
          <a:prstGeom prst="rect">
            <a:avLst/>
          </a:prstGeom>
        </p:spPr>
      </p:pic>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6" name="Picture 5" descr="f10.pdf"/>
          <p:cNvPicPr>
            <a:picLocks noChangeAspect="1"/>
          </p:cNvPicPr>
          <p:nvPr/>
        </p:nvPicPr>
        <p:blipFill rotWithShape="1">
          <a:blip r:embed="rId3">
            <a:extLst>
              <a:ext uri="{28A0092B-C50C-407E-A947-70E740481C1C}">
                <a14:useLocalDpi xmlns:a14="http://schemas.microsoft.com/office/drawing/2010/main" val="0"/>
              </a:ext>
            </a:extLst>
          </a:blip>
          <a:srcRect l="8592" t="7310" r="8996" b="64264"/>
          <a:stretch/>
        </p:blipFill>
        <p:spPr>
          <a:xfrm>
            <a:off x="-25252" y="1196752"/>
            <a:ext cx="9206714" cy="4109723"/>
          </a:xfrm>
          <a:prstGeom prst="rect">
            <a:avLst/>
          </a:prstGeom>
        </p:spPr>
      </p:pic>
      <p:sp>
        <p:nvSpPr>
          <p:cNvPr id="4" name="Rectangle 3"/>
          <p:cNvSpPr/>
          <p:nvPr/>
        </p:nvSpPr>
        <p:spPr>
          <a:xfrm>
            <a:off x="6948264" y="632207"/>
            <a:ext cx="1656184" cy="461665"/>
          </a:xfrm>
          <a:prstGeom prst="rect">
            <a:avLst/>
          </a:prstGeom>
        </p:spPr>
        <p:txBody>
          <a:bodyPr wrap="square">
            <a:spAutoFit/>
          </a:bodyPr>
          <a:lstStyle/>
          <a:p>
            <a:r>
              <a:rPr lang="en-US" dirty="0" smtClean="0"/>
              <a:t>Space : 2n</a:t>
            </a:r>
            <a:endParaRPr lang="en-US" dirty="0"/>
          </a:p>
        </p:txBody>
      </p:sp>
    </p:spTree>
  </p:cSld>
  <p:clrMapOvr>
    <a:masterClrMapping/>
  </p:clrMapOvr>
  <p:transition spd="med">
    <p:dissolv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 in Binary </a:t>
            </a:r>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316190" y="1472004"/>
            <a:ext cx="7920880" cy="5724644"/>
          </a:xfrm>
          <a:prstGeom prst="rect">
            <a:avLst/>
          </a:prstGeom>
        </p:spPr>
        <p:txBody>
          <a:bodyPr wrap="square">
            <a:spAutoFit/>
          </a:bodyPr>
          <a:lstStyle/>
          <a:p>
            <a:pPr algn="just"/>
            <a:r>
              <a:rPr lang="en-US" sz="2000" dirty="0">
                <a:solidFill>
                  <a:schemeClr val="tx1">
                    <a:lumMod val="65000"/>
                    <a:lumOff val="35000"/>
                  </a:schemeClr>
                </a:solidFill>
                <a:latin typeface="+mn-lt"/>
              </a:rPr>
              <a:t>In digital systems, multiplication depends on whether numbers are </a:t>
            </a:r>
            <a:r>
              <a:rPr lang="en-US" sz="2000" b="1" dirty="0">
                <a:solidFill>
                  <a:schemeClr val="tx1">
                    <a:lumMod val="65000"/>
                    <a:lumOff val="35000"/>
                  </a:schemeClr>
                </a:solidFill>
                <a:latin typeface="+mn-lt"/>
              </a:rPr>
              <a:t>unsigned </a:t>
            </a:r>
            <a:r>
              <a:rPr lang="en-US" sz="2000" dirty="0">
                <a:solidFill>
                  <a:schemeClr val="tx1">
                    <a:lumMod val="65000"/>
                    <a:lumOff val="35000"/>
                  </a:schemeClr>
                </a:solidFill>
                <a:latin typeface="+mn-lt"/>
              </a:rPr>
              <a:t>or </a:t>
            </a:r>
            <a:r>
              <a:rPr lang="en-US" sz="2000" b="1" dirty="0">
                <a:solidFill>
                  <a:schemeClr val="tx1">
                    <a:lumMod val="65000"/>
                    <a:lumOff val="35000"/>
                  </a:schemeClr>
                </a:solidFill>
                <a:latin typeface="+mn-lt"/>
              </a:rPr>
              <a:t>signed (2’s complement</a:t>
            </a:r>
            <a:r>
              <a:rPr lang="en-US" sz="2000" dirty="0" smtClean="0">
                <a:solidFill>
                  <a:schemeClr val="tx1">
                    <a:lumMod val="65000"/>
                    <a:lumOff val="35000"/>
                  </a:schemeClr>
                </a:solidFill>
                <a:latin typeface="+mn-lt"/>
              </a:rPr>
              <a:t>).</a:t>
            </a:r>
          </a:p>
          <a:p>
            <a:pPr algn="just"/>
            <a:endParaRPr lang="en-US" sz="2000" dirty="0" smtClean="0">
              <a:solidFill>
                <a:schemeClr val="tx1">
                  <a:lumMod val="65000"/>
                  <a:lumOff val="35000"/>
                </a:schemeClr>
              </a:solidFill>
              <a:latin typeface="+mn-lt"/>
            </a:endParaRPr>
          </a:p>
          <a:p>
            <a:pPr marL="457200" indent="-457200" algn="just">
              <a:buFont typeface="+mj-lt"/>
              <a:buAutoNum type="arabicPeriod"/>
            </a:pPr>
            <a:r>
              <a:rPr lang="en-US" altLang="en-US" sz="2000" b="1" dirty="0" smtClean="0">
                <a:solidFill>
                  <a:schemeClr val="tx1">
                    <a:lumMod val="65000"/>
                    <a:lumOff val="35000"/>
                  </a:schemeClr>
                </a:solidFill>
                <a:latin typeface="+mn-lt"/>
              </a:rPr>
              <a:t>Unsigned </a:t>
            </a:r>
            <a:r>
              <a:rPr lang="en-US" altLang="en-US" sz="2000" b="1" dirty="0">
                <a:solidFill>
                  <a:schemeClr val="tx1">
                    <a:lumMod val="65000"/>
                    <a:lumOff val="35000"/>
                  </a:schemeClr>
                </a:solidFill>
                <a:latin typeface="+mn-lt"/>
              </a:rPr>
              <a:t>Multiplication</a:t>
            </a:r>
          </a:p>
          <a:p>
            <a:pPr lvl="1" algn="just">
              <a:buFontTx/>
              <a:buChar char="•"/>
            </a:pPr>
            <a:r>
              <a:rPr lang="en-US" altLang="en-US" sz="2000" dirty="0">
                <a:solidFill>
                  <a:schemeClr val="tx1">
                    <a:lumMod val="65000"/>
                    <a:lumOff val="35000"/>
                  </a:schemeClr>
                </a:solidFill>
                <a:latin typeface="+mn-lt"/>
              </a:rPr>
              <a:t>All bits represent magnitude (no sign). </a:t>
            </a:r>
          </a:p>
          <a:p>
            <a:pPr lvl="1" algn="just">
              <a:buFontTx/>
              <a:buChar char="•"/>
            </a:pPr>
            <a:r>
              <a:rPr lang="en-US" altLang="en-US" sz="2000" dirty="0">
                <a:solidFill>
                  <a:schemeClr val="tx1">
                    <a:lumMod val="65000"/>
                    <a:lumOff val="35000"/>
                  </a:schemeClr>
                </a:solidFill>
                <a:latin typeface="+mn-lt"/>
              </a:rPr>
              <a:t>Perform normal binary multiplication (just like decimal</a:t>
            </a:r>
            <a:r>
              <a:rPr lang="en-US" altLang="en-US" sz="2000" dirty="0" smtClean="0">
                <a:solidFill>
                  <a:schemeClr val="tx1">
                    <a:lumMod val="65000"/>
                    <a:lumOff val="35000"/>
                  </a:schemeClr>
                </a:solidFill>
                <a:latin typeface="+mn-lt"/>
              </a:rPr>
              <a:t>).</a:t>
            </a:r>
          </a:p>
          <a:p>
            <a:pPr lvl="1">
              <a:buFontTx/>
              <a:buChar char="•"/>
            </a:pPr>
            <a:r>
              <a:rPr lang="en-US" altLang="en-US" sz="2000" b="1" dirty="0" smtClean="0">
                <a:solidFill>
                  <a:schemeClr val="tx1">
                    <a:lumMod val="65000"/>
                    <a:lumOff val="35000"/>
                  </a:schemeClr>
                </a:solidFill>
                <a:latin typeface="+mn-lt"/>
              </a:rPr>
              <a:t>Example: 5 </a:t>
            </a:r>
            <a:r>
              <a:rPr lang="en-US" altLang="en-US" sz="2000" b="1" dirty="0">
                <a:solidFill>
                  <a:schemeClr val="tx1">
                    <a:lumMod val="65000"/>
                    <a:lumOff val="35000"/>
                  </a:schemeClr>
                </a:solidFill>
                <a:latin typeface="+mn-lt"/>
              </a:rPr>
              <a:t>× 3 = 101 × 011 = 1111 (15</a:t>
            </a:r>
            <a:r>
              <a:rPr lang="en-US" altLang="en-US" sz="2000" b="1" dirty="0" smtClean="0">
                <a:solidFill>
                  <a:schemeClr val="tx1">
                    <a:lumMod val="65000"/>
                    <a:lumOff val="35000"/>
                  </a:schemeClr>
                </a:solidFill>
                <a:latin typeface="+mn-lt"/>
              </a:rPr>
              <a:t>)</a:t>
            </a:r>
          </a:p>
          <a:p>
            <a:pPr lvl="1"/>
            <a:endParaRPr lang="en-US" altLang="en-US" sz="2000" b="1" dirty="0">
              <a:solidFill>
                <a:schemeClr val="tx1">
                  <a:lumMod val="65000"/>
                  <a:lumOff val="35000"/>
                </a:schemeClr>
              </a:solidFill>
              <a:latin typeface="+mn-lt"/>
            </a:endParaRPr>
          </a:p>
          <a:p>
            <a:pPr marL="457200" lvl="0" indent="-457200" algn="just">
              <a:buFont typeface="+mj-lt"/>
              <a:buAutoNum type="arabicPeriod"/>
            </a:pPr>
            <a:r>
              <a:rPr lang="en-US" altLang="en-US" sz="2000" b="1" dirty="0" smtClean="0">
                <a:solidFill>
                  <a:schemeClr val="tx1">
                    <a:lumMod val="65000"/>
                    <a:lumOff val="35000"/>
                  </a:schemeClr>
                </a:solidFill>
                <a:latin typeface="+mn-lt"/>
              </a:rPr>
              <a:t>Signed </a:t>
            </a:r>
            <a:r>
              <a:rPr lang="en-US" altLang="en-US" sz="2000" b="1" dirty="0">
                <a:solidFill>
                  <a:schemeClr val="tx1">
                    <a:lumMod val="65000"/>
                    <a:lumOff val="35000"/>
                  </a:schemeClr>
                </a:solidFill>
                <a:latin typeface="+mn-lt"/>
              </a:rPr>
              <a:t>Multiplication (2’s Complement)</a:t>
            </a:r>
          </a:p>
          <a:p>
            <a:pPr lvl="1" algn="just">
              <a:buFontTx/>
              <a:buChar char="•"/>
            </a:pPr>
            <a:r>
              <a:rPr lang="en-US" altLang="en-US" sz="2000" dirty="0" smtClean="0">
                <a:solidFill>
                  <a:schemeClr val="tx1">
                    <a:lumMod val="65000"/>
                    <a:lumOff val="35000"/>
                  </a:schemeClr>
                </a:solidFill>
                <a:latin typeface="+mn-lt"/>
              </a:rPr>
              <a:t> MSB </a:t>
            </a:r>
            <a:r>
              <a:rPr lang="en-US" altLang="en-US" sz="2000" dirty="0">
                <a:solidFill>
                  <a:schemeClr val="tx1">
                    <a:lumMod val="65000"/>
                    <a:lumOff val="35000"/>
                  </a:schemeClr>
                </a:solidFill>
                <a:latin typeface="+mn-lt"/>
              </a:rPr>
              <a:t>represents the sign: </a:t>
            </a:r>
          </a:p>
          <a:p>
            <a:pPr lvl="2" algn="just">
              <a:buFontTx/>
              <a:buChar char="•"/>
            </a:pPr>
            <a:r>
              <a:rPr lang="en-US" altLang="en-US" sz="2000" dirty="0" smtClean="0">
                <a:solidFill>
                  <a:schemeClr val="tx1">
                    <a:lumMod val="65000"/>
                    <a:lumOff val="35000"/>
                  </a:schemeClr>
                </a:solidFill>
                <a:latin typeface="+mn-lt"/>
              </a:rPr>
              <a:t> 0 </a:t>
            </a:r>
            <a:r>
              <a:rPr lang="en-US" altLang="en-US" sz="2000" dirty="0">
                <a:solidFill>
                  <a:schemeClr val="tx1">
                    <a:lumMod val="65000"/>
                    <a:lumOff val="35000"/>
                  </a:schemeClr>
                </a:solidFill>
                <a:latin typeface="+mn-lt"/>
              </a:rPr>
              <a:t>→ positive </a:t>
            </a:r>
          </a:p>
          <a:p>
            <a:pPr lvl="2" algn="just">
              <a:buFontTx/>
              <a:buChar char="•"/>
            </a:pPr>
            <a:r>
              <a:rPr lang="en-US" altLang="en-US" sz="2000" dirty="0" smtClean="0">
                <a:solidFill>
                  <a:schemeClr val="tx1">
                    <a:lumMod val="65000"/>
                    <a:lumOff val="35000"/>
                  </a:schemeClr>
                </a:solidFill>
                <a:latin typeface="+mn-lt"/>
              </a:rPr>
              <a:t> 1 </a:t>
            </a:r>
            <a:r>
              <a:rPr lang="en-US" altLang="en-US" sz="2000" dirty="0">
                <a:solidFill>
                  <a:schemeClr val="tx1">
                    <a:lumMod val="65000"/>
                    <a:lumOff val="35000"/>
                  </a:schemeClr>
                </a:solidFill>
                <a:latin typeface="+mn-lt"/>
              </a:rPr>
              <a:t>→ negative </a:t>
            </a:r>
          </a:p>
          <a:p>
            <a:pPr lvl="1" algn="just">
              <a:buFontTx/>
              <a:buChar char="•"/>
            </a:pPr>
            <a:r>
              <a:rPr lang="en-US" altLang="en-US" sz="2000" dirty="0" smtClean="0">
                <a:solidFill>
                  <a:schemeClr val="tx1">
                    <a:lumMod val="65000"/>
                    <a:lumOff val="35000"/>
                  </a:schemeClr>
                </a:solidFill>
                <a:latin typeface="+mn-lt"/>
              </a:rPr>
              <a:t> We </a:t>
            </a:r>
            <a:r>
              <a:rPr lang="en-US" altLang="en-US" sz="2000" dirty="0">
                <a:solidFill>
                  <a:schemeClr val="tx1">
                    <a:lumMod val="65000"/>
                    <a:lumOff val="35000"/>
                  </a:schemeClr>
                </a:solidFill>
                <a:latin typeface="+mn-lt"/>
              </a:rPr>
              <a:t>cannot directly multiply like unsigned because: </a:t>
            </a:r>
          </a:p>
          <a:p>
            <a:pPr lvl="2" algn="just">
              <a:buFontTx/>
              <a:buChar char="•"/>
            </a:pPr>
            <a:r>
              <a:rPr lang="en-US" altLang="en-US" sz="2000" dirty="0" smtClean="0">
                <a:solidFill>
                  <a:schemeClr val="tx1">
                    <a:lumMod val="65000"/>
                    <a:lumOff val="35000"/>
                  </a:schemeClr>
                </a:solidFill>
                <a:latin typeface="+mn-lt"/>
              </a:rPr>
              <a:t> The </a:t>
            </a:r>
            <a:r>
              <a:rPr lang="en-US" altLang="en-US" sz="2000" dirty="0">
                <a:solidFill>
                  <a:schemeClr val="tx1">
                    <a:lumMod val="65000"/>
                    <a:lumOff val="35000"/>
                  </a:schemeClr>
                </a:solidFill>
                <a:latin typeface="+mn-lt"/>
              </a:rPr>
              <a:t>MSB is not a normal value bit </a:t>
            </a:r>
          </a:p>
          <a:p>
            <a:pPr lvl="2" algn="just">
              <a:buFontTx/>
              <a:buChar char="•"/>
            </a:pPr>
            <a:r>
              <a:rPr lang="en-US" altLang="en-US" sz="2000" dirty="0" smtClean="0">
                <a:solidFill>
                  <a:schemeClr val="tx1">
                    <a:lumMod val="65000"/>
                    <a:lumOff val="35000"/>
                  </a:schemeClr>
                </a:solidFill>
                <a:latin typeface="+mn-lt"/>
              </a:rPr>
              <a:t> It </a:t>
            </a:r>
            <a:r>
              <a:rPr lang="en-US" altLang="en-US" sz="2000" dirty="0">
                <a:solidFill>
                  <a:schemeClr val="tx1">
                    <a:lumMod val="65000"/>
                    <a:lumOff val="35000"/>
                  </a:schemeClr>
                </a:solidFill>
                <a:latin typeface="+mn-lt"/>
              </a:rPr>
              <a:t>represents negative weight</a:t>
            </a:r>
          </a:p>
          <a:p>
            <a:pPr lvl="0" algn="just"/>
            <a:endParaRPr lang="en-US" altLang="en-US" sz="1800" dirty="0">
              <a:latin typeface="Arial" panose="020B0604020202020204" pitchFamily="34" charset="0"/>
            </a:endParaRPr>
          </a:p>
          <a:p>
            <a:pPr algn="just"/>
            <a:endParaRPr lang="en-US" dirty="0" smtClean="0"/>
          </a:p>
          <a:p>
            <a:pPr algn="just"/>
            <a:endParaRPr lang="en-US" dirty="0"/>
          </a:p>
        </p:txBody>
      </p:sp>
    </p:spTree>
    <p:extLst>
      <p:ext uri="{BB962C8B-B14F-4D97-AF65-F5344CB8AC3E}">
        <p14:creationId xmlns:p14="http://schemas.microsoft.com/office/powerpoint/2010/main" val="269014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2" name="Picture 1"/>
          <p:cNvPicPr>
            <a:picLocks noChangeAspect="1"/>
          </p:cNvPicPr>
          <p:nvPr/>
        </p:nvPicPr>
        <p:blipFill>
          <a:blip r:embed="rId3"/>
          <a:stretch>
            <a:fillRect/>
          </a:stretch>
        </p:blipFill>
        <p:spPr>
          <a:xfrm>
            <a:off x="-23697" y="764704"/>
            <a:ext cx="9182595" cy="4950821"/>
          </a:xfrm>
          <a:prstGeom prst="rect">
            <a:avLst/>
          </a:prstGeom>
        </p:spPr>
      </p:pic>
    </p:spTree>
  </p:cSld>
  <p:clrMapOvr>
    <a:masterClrMapping/>
  </p:clrMapOvr>
  <p:transition spd="med">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TextBox 6"/>
          <p:cNvSpPr txBox="1"/>
          <p:nvPr/>
        </p:nvSpPr>
        <p:spPr>
          <a:xfrm>
            <a:off x="228600" y="4637950"/>
            <a:ext cx="380999" cy="619850"/>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2.pdf"/>
          <p:cNvPicPr>
            <a:picLocks noChangeAspect="1"/>
          </p:cNvPicPr>
          <p:nvPr/>
        </p:nvPicPr>
        <p:blipFill rotWithShape="1">
          <a:blip r:embed="rId3">
            <a:extLst>
              <a:ext uri="{28A0092B-C50C-407E-A947-70E740481C1C}">
                <a14:useLocalDpi xmlns:a14="http://schemas.microsoft.com/office/drawing/2010/main" val="0"/>
              </a:ext>
            </a:extLst>
          </a:blip>
          <a:srcRect t="6172" b="13259"/>
          <a:stretch/>
        </p:blipFill>
        <p:spPr>
          <a:xfrm>
            <a:off x="1403648" y="-112661"/>
            <a:ext cx="6435528" cy="6710013"/>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2" name="Picture 1"/>
          <p:cNvPicPr>
            <a:picLocks noChangeAspect="1"/>
          </p:cNvPicPr>
          <p:nvPr/>
        </p:nvPicPr>
        <p:blipFill>
          <a:blip r:embed="rId3"/>
          <a:stretch>
            <a:fillRect/>
          </a:stretch>
        </p:blipFill>
        <p:spPr>
          <a:xfrm>
            <a:off x="201706" y="618768"/>
            <a:ext cx="8761583" cy="6263208"/>
          </a:xfrm>
          <a:prstGeom prst="rect">
            <a:avLst/>
          </a:prstGeom>
        </p:spPr>
      </p:pic>
    </p:spTree>
  </p:cSld>
  <p:clrMapOvr>
    <a:masterClrMapping/>
  </p:clrMapOvr>
  <p:transition spd="med">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4.pdf"/>
          <p:cNvPicPr>
            <a:picLocks noChangeAspect="1"/>
          </p:cNvPicPr>
          <p:nvPr/>
        </p:nvPicPr>
        <p:blipFill rotWithShape="1">
          <a:blip r:embed="rId3">
            <a:extLst>
              <a:ext uri="{28A0092B-C50C-407E-A947-70E740481C1C}">
                <a14:useLocalDpi xmlns:a14="http://schemas.microsoft.com/office/drawing/2010/main" val="0"/>
              </a:ext>
            </a:extLst>
          </a:blip>
          <a:srcRect l="9853" t="6660" r="10257" b="50294"/>
          <a:stretch/>
        </p:blipFill>
        <p:spPr>
          <a:xfrm>
            <a:off x="-324544" y="188640"/>
            <a:ext cx="9468544" cy="6602390"/>
          </a:xfrm>
          <a:prstGeom prst="rect">
            <a:avLst/>
          </a:prstGeom>
        </p:spPr>
      </p:pic>
    </p:spTree>
  </p:cSld>
  <p:clrMapOvr>
    <a:masterClrMapping/>
  </p:clrMapOvr>
  <p:transition spd="med">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TextBox 5"/>
          <p:cNvSpPr txBox="1"/>
          <p:nvPr/>
        </p:nvSpPr>
        <p:spPr>
          <a:xfrm>
            <a:off x="7920242" y="141129"/>
            <a:ext cx="1223757" cy="697071"/>
          </a:xfrm>
          <a:prstGeom prst="rect">
            <a:avLst/>
          </a:prstGeom>
        </p:spPr>
        <p:txBody>
          <a:bodyPr wrap="square" rtlCol="0">
            <a:spAutoFit/>
          </a:bodyPr>
          <a:lstStyle/>
          <a:p>
            <a:endParaRPr lang="en-US" dirty="0"/>
          </a:p>
        </p:txBody>
      </p:sp>
      <p:sp>
        <p:nvSpPr>
          <p:cNvPr id="7" name="Division 6"/>
          <p:cNvSpPr/>
          <p:nvPr/>
        </p:nvSpPr>
        <p:spPr>
          <a:xfrm>
            <a:off x="609600" y="304800"/>
            <a:ext cx="1600200" cy="1447800"/>
          </a:xfrm>
          <a:prstGeom prst="mathDivid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5.pdf"/>
          <p:cNvPicPr>
            <a:picLocks noChangeAspect="1"/>
          </p:cNvPicPr>
          <p:nvPr/>
        </p:nvPicPr>
        <p:blipFill rotWithShape="1">
          <a:blip r:embed="rId3">
            <a:extLst>
              <a:ext uri="{28A0092B-C50C-407E-A947-70E740481C1C}">
                <a14:useLocalDpi xmlns:a14="http://schemas.microsoft.com/office/drawing/2010/main" val="0"/>
              </a:ext>
            </a:extLst>
          </a:blip>
          <a:srcRect t="32162" b="29502"/>
          <a:stretch/>
        </p:blipFill>
        <p:spPr>
          <a:xfrm>
            <a:off x="-396552" y="1340768"/>
            <a:ext cx="10663410" cy="5290121"/>
          </a:xfrm>
          <a:prstGeom prst="rect">
            <a:avLst/>
          </a:prstGeom>
        </p:spPr>
      </p:pic>
    </p:spTree>
  </p:cSld>
  <p:clrMapOvr>
    <a:masterClrMapping/>
  </p:clrMapOvr>
  <p:transition spd="med">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6.pdf"/>
          <p:cNvPicPr>
            <a:picLocks noChangeAspect="1"/>
          </p:cNvPicPr>
          <p:nvPr/>
        </p:nvPicPr>
        <p:blipFill rotWithShape="1">
          <a:blip r:embed="rId3">
            <a:extLst>
              <a:ext uri="{28A0092B-C50C-407E-A947-70E740481C1C}">
                <a14:useLocalDpi xmlns:a14="http://schemas.microsoft.com/office/drawing/2010/main" val="0"/>
              </a:ext>
            </a:extLst>
          </a:blip>
          <a:srcRect t="5847" b="6761"/>
          <a:stretch/>
        </p:blipFill>
        <p:spPr>
          <a:xfrm>
            <a:off x="1475656" y="-98891"/>
            <a:ext cx="5832648" cy="6596379"/>
          </a:xfrm>
          <a:prstGeom prst="rect">
            <a:avLst/>
          </a:prstGeom>
        </p:spPr>
      </p:pic>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2" name="Picture 1"/>
          <p:cNvPicPr>
            <a:picLocks noChangeAspect="1"/>
          </p:cNvPicPr>
          <p:nvPr/>
        </p:nvPicPr>
        <p:blipFill>
          <a:blip r:embed="rId3"/>
          <a:stretch>
            <a:fillRect/>
          </a:stretch>
        </p:blipFill>
        <p:spPr>
          <a:xfrm>
            <a:off x="213186" y="612648"/>
            <a:ext cx="8930814" cy="5783544"/>
          </a:xfrm>
          <a:prstGeom prst="rect">
            <a:avLst/>
          </a:prstGeom>
        </p:spPr>
      </p:pic>
      <p:sp>
        <p:nvSpPr>
          <p:cNvPr id="4" name="Rectangle 3"/>
          <p:cNvSpPr/>
          <p:nvPr/>
        </p:nvSpPr>
        <p:spPr>
          <a:xfrm>
            <a:off x="3263163" y="570437"/>
            <a:ext cx="4572000" cy="400110"/>
          </a:xfrm>
          <a:prstGeom prst="rect">
            <a:avLst/>
          </a:prstGeom>
        </p:spPr>
        <p:txBody>
          <a:bodyPr>
            <a:spAutoFit/>
          </a:bodyPr>
          <a:lstStyle/>
          <a:p>
            <a:r>
              <a:rPr lang="en-US" sz="2000" dirty="0">
                <a:solidFill>
                  <a:schemeClr val="tx1">
                    <a:lumMod val="65000"/>
                    <a:lumOff val="35000"/>
                  </a:schemeClr>
                </a:solidFill>
                <a:latin typeface="+mn-lt"/>
              </a:rPr>
              <a:t>Q = 0111 (</a:t>
            </a:r>
            <a:r>
              <a:rPr lang="en-US" sz="2000" dirty="0" smtClean="0">
                <a:solidFill>
                  <a:schemeClr val="tx1">
                    <a:lumMod val="65000"/>
                    <a:lumOff val="35000"/>
                  </a:schemeClr>
                </a:solidFill>
                <a:latin typeface="+mn-lt"/>
              </a:rPr>
              <a:t>7), M </a:t>
            </a:r>
            <a:r>
              <a:rPr lang="en-US" sz="2000" dirty="0">
                <a:solidFill>
                  <a:schemeClr val="tx1">
                    <a:lumMod val="65000"/>
                    <a:lumOff val="35000"/>
                  </a:schemeClr>
                </a:solidFill>
                <a:latin typeface="+mn-lt"/>
              </a:rPr>
              <a:t>= 0011 (3)</a:t>
            </a:r>
          </a:p>
        </p:txBody>
      </p:sp>
    </p:spTree>
  </p:cSld>
  <p:clrMapOvr>
    <a:masterClrMapping/>
  </p:clrMapOvr>
  <p:transition spd="med">
    <p:dissolv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smtClean="0">
                <a:effectLst>
                  <a:outerShdw blurRad="38100" dist="38100" dir="2700000" algn="tl">
                    <a:srgbClr val="000000">
                      <a:alpha val="43137"/>
                    </a:srgbClr>
                  </a:outerShdw>
                </a:effectLst>
              </a:rPr>
              <a:t>Floating-Point Representation</a:t>
            </a:r>
            <a:endParaRPr lang="en-US"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p:txBody>
          <a:bodyPr>
            <a:normAutofit/>
          </a:bodyPr>
          <a:lstStyle/>
          <a:p>
            <a:r>
              <a:rPr lang="en-US" dirty="0" smtClean="0"/>
              <a:t>With a fixed-point notation it is possible to represent a range of positive and negative integers centered on or near 0</a:t>
            </a:r>
          </a:p>
          <a:p>
            <a:r>
              <a:rPr lang="en-US" dirty="0" smtClean="0"/>
              <a:t>By assuming a </a:t>
            </a:r>
            <a:r>
              <a:rPr lang="en-US" b="1" dirty="0" smtClean="0"/>
              <a:t>fixed binary or radix point, </a:t>
            </a:r>
            <a:r>
              <a:rPr lang="en-US" dirty="0" smtClean="0"/>
              <a:t>this format allows the representation of numbers with a fractional component as well</a:t>
            </a:r>
          </a:p>
          <a:p>
            <a:r>
              <a:rPr lang="en-US" dirty="0" smtClean="0"/>
              <a:t>Limitations:</a:t>
            </a:r>
          </a:p>
          <a:p>
            <a:pPr lvl="1"/>
            <a:r>
              <a:rPr lang="en-US" dirty="0" smtClean="0"/>
              <a:t>Very large numbers cannot be represented nor can very small fractions</a:t>
            </a:r>
          </a:p>
          <a:p>
            <a:pPr lvl="1"/>
            <a:r>
              <a:rPr lang="en-US" dirty="0" smtClean="0"/>
              <a:t>The fractional part of the quotient in a division of two large numbers could be lost</a:t>
            </a:r>
            <a:endParaRPr lang="en-US" dirty="0"/>
          </a:p>
        </p:txBody>
      </p:sp>
      <p:sp>
        <p:nvSpPr>
          <p:cNvPr id="5" name="Text Placeholder 4"/>
          <p:cNvSpPr>
            <a:spLocks noGrp="1"/>
          </p:cNvSpPr>
          <p:nvPr>
            <p:ph type="body" sz="half" idx="2"/>
          </p:nvPr>
        </p:nvSpPr>
        <p:spPr>
          <a:xfrm>
            <a:off x="1219200" y="1143000"/>
            <a:ext cx="2168482" cy="774700"/>
          </a:xfrm>
        </p:spPr>
        <p:txBody>
          <a:bodyPr/>
          <a:lstStyle/>
          <a:p>
            <a:r>
              <a:rPr lang="en-US" sz="3200" dirty="0" smtClean="0"/>
              <a:t>Principles</a:t>
            </a:r>
            <a:endParaRPr lang="en-US" sz="3200"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4" name="Picture 3"/>
          <p:cNvPicPr>
            <a:picLocks noChangeAspect="1"/>
          </p:cNvPicPr>
          <p:nvPr/>
        </p:nvPicPr>
        <p:blipFill>
          <a:blip r:embed="rId3"/>
          <a:stretch>
            <a:fillRect/>
          </a:stretch>
        </p:blipFill>
        <p:spPr>
          <a:xfrm>
            <a:off x="27384" y="1222345"/>
            <a:ext cx="8712967" cy="2002081"/>
          </a:xfrm>
          <a:prstGeom prst="rect">
            <a:avLst/>
          </a:prstGeom>
        </p:spPr>
      </p:pic>
      <p:pic>
        <p:nvPicPr>
          <p:cNvPr id="5" name="Picture 4"/>
          <p:cNvPicPr>
            <a:picLocks noChangeAspect="1"/>
          </p:cNvPicPr>
          <p:nvPr/>
        </p:nvPicPr>
        <p:blipFill>
          <a:blip r:embed="rId4"/>
          <a:stretch>
            <a:fillRect/>
          </a:stretch>
        </p:blipFill>
        <p:spPr>
          <a:xfrm>
            <a:off x="971600" y="2996952"/>
            <a:ext cx="8047199" cy="855411"/>
          </a:xfrm>
          <a:prstGeom prst="rect">
            <a:avLst/>
          </a:prstGeom>
        </p:spPr>
      </p:pic>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82294" y="6249644"/>
            <a:ext cx="8546758" cy="335374"/>
          </a:xfrm>
        </p:spPr>
        <p:txBody>
          <a:bodyPr/>
          <a:lstStyle/>
          <a:p>
            <a:r>
              <a:rPr lang="en-US" sz="1400" b="1" dirty="0" smtClean="0"/>
              <a:t>Note! </a:t>
            </a:r>
          </a:p>
          <a:p>
            <a:r>
              <a:rPr lang="en-US" sz="1400" dirty="0" smtClean="0"/>
              <a:t>We can ignore the point in fixed numbers but we can’t in floating numbers. </a:t>
            </a:r>
          </a:p>
          <a:p>
            <a:r>
              <a:rPr lang="en-US" sz="1400" dirty="0" smtClean="0"/>
              <a:t>We need to convert floating numbers into fixed numbers that is known as </a:t>
            </a:r>
            <a:r>
              <a:rPr lang="en-US" sz="1400" b="1" dirty="0" smtClean="0"/>
              <a:t>Normalization</a:t>
            </a:r>
            <a:endParaRPr lang="en-US" sz="1400" b="1" dirty="0"/>
          </a:p>
        </p:txBody>
      </p:sp>
      <p:sp>
        <p:nvSpPr>
          <p:cNvPr id="4" name="Rectangle 3"/>
          <p:cNvSpPr/>
          <p:nvPr/>
        </p:nvSpPr>
        <p:spPr>
          <a:xfrm>
            <a:off x="1763688" y="366976"/>
            <a:ext cx="1944216" cy="5078313"/>
          </a:xfrm>
          <a:prstGeom prst="rect">
            <a:avLst/>
          </a:prstGeom>
        </p:spPr>
        <p:txBody>
          <a:bodyPr wrap="square">
            <a:spAutoFit/>
          </a:bodyPr>
          <a:lstStyle/>
          <a:p>
            <a:pPr>
              <a:lnSpc>
                <a:spcPct val="150000"/>
              </a:lnSpc>
            </a:pPr>
            <a:endParaRPr lang="en-US" sz="3600" b="1" dirty="0" smtClean="0">
              <a:solidFill>
                <a:schemeClr val="accent1"/>
              </a:solidFill>
              <a:latin typeface="+mn-lt"/>
            </a:endParaRPr>
          </a:p>
          <a:p>
            <a:pPr>
              <a:lnSpc>
                <a:spcPct val="150000"/>
              </a:lnSpc>
            </a:pPr>
            <a:r>
              <a:rPr lang="en-US" sz="3600" dirty="0" smtClean="0">
                <a:solidFill>
                  <a:schemeClr val="accent1"/>
                </a:solidFill>
                <a:latin typeface="+mn-lt"/>
              </a:rPr>
              <a:t>74.5</a:t>
            </a:r>
          </a:p>
          <a:p>
            <a:pPr>
              <a:lnSpc>
                <a:spcPct val="150000"/>
              </a:lnSpc>
            </a:pPr>
            <a:r>
              <a:rPr lang="en-US" sz="3600" dirty="0" smtClean="0">
                <a:solidFill>
                  <a:schemeClr val="accent1"/>
                </a:solidFill>
                <a:latin typeface="+mn-lt"/>
              </a:rPr>
              <a:t>649</a:t>
            </a:r>
          </a:p>
          <a:p>
            <a:pPr>
              <a:lnSpc>
                <a:spcPct val="150000"/>
              </a:lnSpc>
            </a:pPr>
            <a:r>
              <a:rPr lang="en-US" sz="3600" dirty="0" smtClean="0">
                <a:solidFill>
                  <a:schemeClr val="accent1"/>
                </a:solidFill>
                <a:latin typeface="+mn-lt"/>
              </a:rPr>
              <a:t>.847</a:t>
            </a:r>
          </a:p>
          <a:p>
            <a:pPr>
              <a:lnSpc>
                <a:spcPct val="150000"/>
              </a:lnSpc>
            </a:pPr>
            <a:r>
              <a:rPr lang="en-US" sz="3600" dirty="0" smtClean="0">
                <a:solidFill>
                  <a:schemeClr val="accent1"/>
                </a:solidFill>
                <a:latin typeface="+mn-lt"/>
              </a:rPr>
              <a:t>5.63</a:t>
            </a:r>
          </a:p>
          <a:p>
            <a:pPr>
              <a:lnSpc>
                <a:spcPct val="150000"/>
              </a:lnSpc>
            </a:pPr>
            <a:endParaRPr lang="en-US" sz="3600" dirty="0">
              <a:solidFill>
                <a:schemeClr val="accent1"/>
              </a:solidFill>
              <a:latin typeface="+mn-lt"/>
            </a:endParaRPr>
          </a:p>
        </p:txBody>
      </p:sp>
      <p:sp>
        <p:nvSpPr>
          <p:cNvPr id="5" name="Rectangle 4"/>
          <p:cNvSpPr/>
          <p:nvPr/>
        </p:nvSpPr>
        <p:spPr>
          <a:xfrm>
            <a:off x="5352492" y="402392"/>
            <a:ext cx="1944216" cy="5078313"/>
          </a:xfrm>
          <a:prstGeom prst="rect">
            <a:avLst/>
          </a:prstGeom>
        </p:spPr>
        <p:txBody>
          <a:bodyPr wrap="square">
            <a:spAutoFit/>
          </a:bodyPr>
          <a:lstStyle/>
          <a:p>
            <a:pPr>
              <a:lnSpc>
                <a:spcPct val="150000"/>
              </a:lnSpc>
            </a:pPr>
            <a:endParaRPr lang="en-US" sz="3600" b="1" dirty="0" smtClean="0">
              <a:solidFill>
                <a:schemeClr val="accent1"/>
              </a:solidFill>
              <a:latin typeface="+mn-lt"/>
            </a:endParaRPr>
          </a:p>
          <a:p>
            <a:pPr>
              <a:lnSpc>
                <a:spcPct val="150000"/>
              </a:lnSpc>
            </a:pPr>
            <a:r>
              <a:rPr lang="en-US" sz="3600" dirty="0" smtClean="0">
                <a:solidFill>
                  <a:schemeClr val="accent1"/>
                </a:solidFill>
                <a:latin typeface="+mn-lt"/>
              </a:rPr>
              <a:t>7.45</a:t>
            </a:r>
          </a:p>
          <a:p>
            <a:pPr>
              <a:lnSpc>
                <a:spcPct val="150000"/>
              </a:lnSpc>
            </a:pPr>
            <a:r>
              <a:rPr lang="en-US" sz="3600" dirty="0" smtClean="0">
                <a:solidFill>
                  <a:schemeClr val="accent1"/>
                </a:solidFill>
                <a:latin typeface="+mn-lt"/>
              </a:rPr>
              <a:t>6.49</a:t>
            </a:r>
          </a:p>
          <a:p>
            <a:pPr>
              <a:lnSpc>
                <a:spcPct val="150000"/>
              </a:lnSpc>
            </a:pPr>
            <a:r>
              <a:rPr lang="en-US" sz="3600" dirty="0" smtClean="0">
                <a:solidFill>
                  <a:schemeClr val="accent1"/>
                </a:solidFill>
                <a:latin typeface="+mn-lt"/>
              </a:rPr>
              <a:t>8.47</a:t>
            </a:r>
          </a:p>
          <a:p>
            <a:pPr>
              <a:lnSpc>
                <a:spcPct val="150000"/>
              </a:lnSpc>
            </a:pPr>
            <a:r>
              <a:rPr lang="en-US" sz="3600" dirty="0" smtClean="0">
                <a:solidFill>
                  <a:schemeClr val="accent1"/>
                </a:solidFill>
                <a:latin typeface="+mn-lt"/>
              </a:rPr>
              <a:t>5.63</a:t>
            </a:r>
          </a:p>
          <a:p>
            <a:pPr>
              <a:lnSpc>
                <a:spcPct val="150000"/>
              </a:lnSpc>
            </a:pPr>
            <a:endParaRPr lang="en-US" sz="3600" dirty="0">
              <a:solidFill>
                <a:schemeClr val="accent1"/>
              </a:solidFill>
              <a:latin typeface="+mn-lt"/>
            </a:endParaRPr>
          </a:p>
        </p:txBody>
      </p:sp>
      <p:pic>
        <p:nvPicPr>
          <p:cNvPr id="6" name="Picture 5"/>
          <p:cNvPicPr>
            <a:picLocks noChangeAspect="1"/>
          </p:cNvPicPr>
          <p:nvPr/>
        </p:nvPicPr>
        <p:blipFill>
          <a:blip r:embed="rId2"/>
          <a:stretch>
            <a:fillRect/>
          </a:stretch>
        </p:blipFill>
        <p:spPr>
          <a:xfrm>
            <a:off x="107504" y="64935"/>
            <a:ext cx="7851734" cy="5415770"/>
          </a:xfrm>
          <a:prstGeom prst="rect">
            <a:avLst/>
          </a:prstGeom>
        </p:spPr>
      </p:pic>
      <p:sp>
        <p:nvSpPr>
          <p:cNvPr id="7" name="Rectangle 6"/>
          <p:cNvSpPr/>
          <p:nvPr/>
        </p:nvSpPr>
        <p:spPr>
          <a:xfrm>
            <a:off x="4911356" y="5171077"/>
            <a:ext cx="3870176" cy="707886"/>
          </a:xfrm>
          <a:prstGeom prst="rect">
            <a:avLst/>
          </a:prstGeom>
        </p:spPr>
        <p:txBody>
          <a:bodyPr wrap="square">
            <a:spAutoFit/>
          </a:bodyPr>
          <a:lstStyle/>
          <a:p>
            <a:pPr algn="ctr"/>
            <a:r>
              <a:rPr lang="en-US" sz="2000" dirty="0">
                <a:solidFill>
                  <a:schemeClr val="tx1">
                    <a:lumMod val="65000"/>
                    <a:lumOff val="35000"/>
                  </a:schemeClr>
                </a:solidFill>
                <a:latin typeface="+mn-lt"/>
              </a:rPr>
              <a:t>The decimal (</a:t>
            </a:r>
            <a:r>
              <a:rPr lang="en-US" sz="2000" b="1" dirty="0">
                <a:solidFill>
                  <a:schemeClr val="tx1">
                    <a:lumMod val="65000"/>
                    <a:lumOff val="35000"/>
                  </a:schemeClr>
                </a:solidFill>
                <a:latin typeface="+mn-lt"/>
              </a:rPr>
              <a:t>binary</a:t>
            </a:r>
            <a:r>
              <a:rPr lang="en-US" sz="2000" dirty="0">
                <a:solidFill>
                  <a:schemeClr val="tx1">
                    <a:lumMod val="65000"/>
                    <a:lumOff val="35000"/>
                  </a:schemeClr>
                </a:solidFill>
                <a:latin typeface="+mn-lt"/>
              </a:rPr>
              <a:t>) point is fixed at a specific position.</a:t>
            </a:r>
          </a:p>
        </p:txBody>
      </p:sp>
      <p:sp>
        <p:nvSpPr>
          <p:cNvPr id="8" name="Rectangle 7"/>
          <p:cNvSpPr/>
          <p:nvPr/>
        </p:nvSpPr>
        <p:spPr>
          <a:xfrm>
            <a:off x="979474" y="5068498"/>
            <a:ext cx="3942184" cy="707886"/>
          </a:xfrm>
          <a:prstGeom prst="rect">
            <a:avLst/>
          </a:prstGeom>
        </p:spPr>
        <p:txBody>
          <a:bodyPr wrap="square">
            <a:spAutoFit/>
          </a:bodyPr>
          <a:lstStyle/>
          <a:p>
            <a:pPr algn="ctr"/>
            <a:r>
              <a:rPr lang="en-US" sz="2000" dirty="0">
                <a:solidFill>
                  <a:schemeClr val="tx1">
                    <a:lumMod val="65000"/>
                    <a:lumOff val="35000"/>
                  </a:schemeClr>
                </a:solidFill>
                <a:latin typeface="+mn-lt"/>
              </a:rPr>
              <a:t>The decimal point “floats” (can move).</a:t>
            </a:r>
          </a:p>
        </p:txBody>
      </p:sp>
    </p:spTree>
    <p:extLst>
      <p:ext uri="{BB962C8B-B14F-4D97-AF65-F5344CB8AC3E}">
        <p14:creationId xmlns:p14="http://schemas.microsoft.com/office/powerpoint/2010/main" val="3238666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498474" y="134471"/>
            <a:ext cx="7556313" cy="995082"/>
          </a:xfrm>
        </p:spPr>
        <p:txBody>
          <a:bodyPr/>
          <a:lstStyle/>
          <a:p>
            <a:r>
              <a:rPr lang="en-US" dirty="0" smtClean="0">
                <a:effectLst>
                  <a:outerShdw blurRad="38100" dist="38100" dir="2700000" algn="tl">
                    <a:srgbClr val="000000">
                      <a:alpha val="43137"/>
                    </a:srgbClr>
                  </a:outerShdw>
                </a:effectLst>
              </a:rPr>
              <a:t>Normalization</a:t>
            </a:r>
            <a:endParaRPr lang="en-US" dirty="0">
              <a:effectLst>
                <a:outerShdw blurRad="38100" dist="38100" dir="2700000" algn="tl">
                  <a:srgbClr val="000000">
                    <a:alpha val="43137"/>
                  </a:srgbClr>
                </a:outerShdw>
              </a:effectLst>
            </a:endParaRPr>
          </a:p>
        </p:txBody>
      </p:sp>
      <p:pic>
        <p:nvPicPr>
          <p:cNvPr id="8" name="Picture 7"/>
          <p:cNvPicPr>
            <a:picLocks noChangeAspect="1"/>
          </p:cNvPicPr>
          <p:nvPr/>
        </p:nvPicPr>
        <p:blipFill>
          <a:blip r:embed="rId2"/>
          <a:stretch>
            <a:fillRect/>
          </a:stretch>
        </p:blipFill>
        <p:spPr>
          <a:xfrm>
            <a:off x="323528" y="980728"/>
            <a:ext cx="4541050" cy="4402038"/>
          </a:xfrm>
          <a:prstGeom prst="rect">
            <a:avLst/>
          </a:prstGeom>
        </p:spPr>
      </p:pic>
      <p:sp>
        <p:nvSpPr>
          <p:cNvPr id="9" name="Rectangle 8"/>
          <p:cNvSpPr/>
          <p:nvPr/>
        </p:nvSpPr>
        <p:spPr>
          <a:xfrm>
            <a:off x="3551577" y="938370"/>
            <a:ext cx="2626001" cy="3407856"/>
          </a:xfrm>
          <a:prstGeom prst="rect">
            <a:avLst/>
          </a:prstGeom>
        </p:spPr>
        <p:txBody>
          <a:bodyPr wrap="square">
            <a:spAutoFit/>
          </a:bodyPr>
          <a:lstStyle/>
          <a:p>
            <a:pPr>
              <a:lnSpc>
                <a:spcPct val="200000"/>
              </a:lnSpc>
            </a:pPr>
            <a:r>
              <a:rPr lang="en-US" sz="2800" dirty="0" smtClean="0">
                <a:solidFill>
                  <a:schemeClr val="accent1"/>
                </a:solidFill>
                <a:effectLst>
                  <a:outerShdw blurRad="38100" dist="38100" dir="2700000" algn="tl">
                    <a:srgbClr val="000000">
                      <a:alpha val="43137"/>
                    </a:srgbClr>
                  </a:outerShdw>
                </a:effectLst>
                <a:latin typeface="+mj-lt"/>
                <a:ea typeface="+mj-ea"/>
                <a:cs typeface="+mj-cs"/>
              </a:rPr>
              <a:t>7.45 * 10 </a:t>
            </a:r>
            <a:r>
              <a:rPr lang="en-US" sz="2800" baseline="30000" dirty="0" smtClean="0">
                <a:solidFill>
                  <a:schemeClr val="accent1"/>
                </a:solidFill>
                <a:effectLst>
                  <a:outerShdw blurRad="38100" dist="38100" dir="2700000" algn="tl">
                    <a:srgbClr val="000000">
                      <a:alpha val="43137"/>
                    </a:srgbClr>
                  </a:outerShdw>
                </a:effectLst>
                <a:latin typeface="+mj-lt"/>
                <a:ea typeface="+mj-ea"/>
                <a:cs typeface="+mj-cs"/>
              </a:rPr>
              <a:t>1</a:t>
            </a:r>
            <a:endParaRPr lang="en-US" sz="2800" baseline="30000" dirty="0">
              <a:solidFill>
                <a:schemeClr val="accent1"/>
              </a:solidFill>
              <a:effectLst>
                <a:outerShdw blurRad="38100" dist="38100" dir="2700000" algn="tl">
                  <a:srgbClr val="000000">
                    <a:alpha val="43137"/>
                  </a:srgbClr>
                </a:outerShdw>
              </a:effectLst>
              <a:latin typeface="+mj-lt"/>
              <a:ea typeface="+mj-ea"/>
              <a:cs typeface="+mj-cs"/>
            </a:endParaRPr>
          </a:p>
          <a:p>
            <a:pPr>
              <a:lnSpc>
                <a:spcPct val="200000"/>
              </a:lnSpc>
            </a:pPr>
            <a:r>
              <a:rPr lang="en-US" sz="2800" dirty="0" smtClean="0">
                <a:solidFill>
                  <a:schemeClr val="accent1"/>
                </a:solidFill>
                <a:effectLst>
                  <a:outerShdw blurRad="38100" dist="38100" dir="2700000" algn="tl">
                    <a:srgbClr val="000000">
                      <a:alpha val="43137"/>
                    </a:srgbClr>
                  </a:outerShdw>
                </a:effectLst>
                <a:latin typeface="+mj-lt"/>
                <a:ea typeface="+mj-ea"/>
                <a:cs typeface="+mj-cs"/>
              </a:rPr>
              <a:t>6.49 * 10 </a:t>
            </a:r>
            <a:r>
              <a:rPr lang="en-US" sz="2800" baseline="30000" dirty="0" smtClean="0">
                <a:solidFill>
                  <a:schemeClr val="accent1"/>
                </a:solidFill>
                <a:effectLst>
                  <a:outerShdw blurRad="38100" dist="38100" dir="2700000" algn="tl">
                    <a:srgbClr val="000000">
                      <a:alpha val="43137"/>
                    </a:srgbClr>
                  </a:outerShdw>
                </a:effectLst>
                <a:latin typeface="+mj-lt"/>
                <a:ea typeface="+mj-ea"/>
                <a:cs typeface="+mj-cs"/>
              </a:rPr>
              <a:t>2</a:t>
            </a:r>
            <a:endParaRPr lang="en-US" sz="2800" dirty="0" smtClean="0">
              <a:solidFill>
                <a:schemeClr val="accent1"/>
              </a:solidFill>
              <a:effectLst>
                <a:outerShdw blurRad="38100" dist="38100" dir="2700000" algn="tl">
                  <a:srgbClr val="000000">
                    <a:alpha val="43137"/>
                  </a:srgbClr>
                </a:outerShdw>
              </a:effectLst>
              <a:latin typeface="+mj-lt"/>
              <a:ea typeface="+mj-ea"/>
              <a:cs typeface="+mj-cs"/>
            </a:endParaRPr>
          </a:p>
          <a:p>
            <a:pPr>
              <a:lnSpc>
                <a:spcPct val="200000"/>
              </a:lnSpc>
            </a:pPr>
            <a:r>
              <a:rPr lang="en-US" sz="2800" dirty="0" smtClean="0">
                <a:solidFill>
                  <a:schemeClr val="accent1"/>
                </a:solidFill>
                <a:effectLst>
                  <a:outerShdw blurRad="38100" dist="38100" dir="2700000" algn="tl">
                    <a:srgbClr val="000000">
                      <a:alpha val="43137"/>
                    </a:srgbClr>
                  </a:outerShdw>
                </a:effectLst>
                <a:latin typeface="+mj-lt"/>
                <a:ea typeface="+mj-ea"/>
                <a:cs typeface="+mj-cs"/>
              </a:rPr>
              <a:t>8.47 * 10 </a:t>
            </a:r>
            <a:r>
              <a:rPr lang="en-US" sz="2800" baseline="30000" dirty="0" smtClean="0">
                <a:solidFill>
                  <a:schemeClr val="accent1"/>
                </a:solidFill>
                <a:effectLst>
                  <a:outerShdw blurRad="38100" dist="38100" dir="2700000" algn="tl">
                    <a:srgbClr val="000000">
                      <a:alpha val="43137"/>
                    </a:srgbClr>
                  </a:outerShdw>
                </a:effectLst>
                <a:latin typeface="+mj-lt"/>
                <a:ea typeface="+mj-ea"/>
                <a:cs typeface="+mj-cs"/>
              </a:rPr>
              <a:t>-1</a:t>
            </a:r>
          </a:p>
          <a:p>
            <a:pPr>
              <a:lnSpc>
                <a:spcPct val="200000"/>
              </a:lnSpc>
            </a:pPr>
            <a:r>
              <a:rPr lang="en-US" sz="2800" dirty="0" smtClean="0">
                <a:solidFill>
                  <a:schemeClr val="accent1"/>
                </a:solidFill>
                <a:effectLst>
                  <a:outerShdw blurRad="38100" dist="38100" dir="2700000" algn="tl">
                    <a:srgbClr val="000000">
                      <a:alpha val="43137"/>
                    </a:srgbClr>
                  </a:outerShdw>
                </a:effectLst>
                <a:latin typeface="+mj-lt"/>
                <a:ea typeface="+mj-ea"/>
                <a:cs typeface="+mj-cs"/>
              </a:rPr>
              <a:t>5.63 * 10 </a:t>
            </a:r>
            <a:r>
              <a:rPr lang="en-US" sz="2800" baseline="30000" dirty="0" smtClean="0">
                <a:solidFill>
                  <a:schemeClr val="accent1"/>
                </a:solidFill>
                <a:effectLst>
                  <a:outerShdw blurRad="38100" dist="38100" dir="2700000" algn="tl">
                    <a:srgbClr val="000000">
                      <a:alpha val="43137"/>
                    </a:srgbClr>
                  </a:outerShdw>
                </a:effectLst>
                <a:latin typeface="+mj-lt"/>
                <a:ea typeface="+mj-ea"/>
                <a:cs typeface="+mj-cs"/>
              </a:rPr>
              <a:t>0</a:t>
            </a:r>
            <a:endParaRPr lang="en-US" sz="2800" baseline="30000" dirty="0">
              <a:solidFill>
                <a:schemeClr val="accent1"/>
              </a:solidFill>
              <a:effectLst>
                <a:outerShdw blurRad="38100" dist="38100" dir="2700000" algn="tl">
                  <a:srgbClr val="000000">
                    <a:alpha val="43137"/>
                  </a:srgbClr>
                </a:outerShdw>
              </a:effectLst>
              <a:latin typeface="+mj-lt"/>
              <a:ea typeface="+mj-ea"/>
              <a:cs typeface="+mj-cs"/>
            </a:endParaRPr>
          </a:p>
        </p:txBody>
      </p:sp>
      <p:pic>
        <p:nvPicPr>
          <p:cNvPr id="12" name="Picture 11"/>
          <p:cNvPicPr>
            <a:picLocks noChangeAspect="1"/>
          </p:cNvPicPr>
          <p:nvPr/>
        </p:nvPicPr>
        <p:blipFill>
          <a:blip r:embed="rId3"/>
          <a:stretch>
            <a:fillRect/>
          </a:stretch>
        </p:blipFill>
        <p:spPr>
          <a:xfrm>
            <a:off x="4139952" y="4397145"/>
            <a:ext cx="4857750" cy="1590675"/>
          </a:xfrm>
          <a:prstGeom prst="rect">
            <a:avLst/>
          </a:prstGeom>
        </p:spPr>
      </p:pic>
      <p:sp>
        <p:nvSpPr>
          <p:cNvPr id="13" name="Rectangle 12"/>
          <p:cNvSpPr/>
          <p:nvPr/>
        </p:nvSpPr>
        <p:spPr>
          <a:xfrm>
            <a:off x="2362200" y="5721191"/>
            <a:ext cx="6781800" cy="1015663"/>
          </a:xfrm>
          <a:prstGeom prst="rect">
            <a:avLst/>
          </a:prstGeom>
        </p:spPr>
        <p:txBody>
          <a:bodyPr wrap="square">
            <a:spAutoFit/>
          </a:bodyPr>
          <a:lstStyle/>
          <a:p>
            <a:pPr algn="ctr"/>
            <a:r>
              <a:rPr lang="en-US" sz="2000" b="1" dirty="0" smtClean="0">
                <a:solidFill>
                  <a:schemeClr val="tx1">
                    <a:lumMod val="65000"/>
                    <a:lumOff val="35000"/>
                  </a:schemeClr>
                </a:solidFill>
                <a:latin typeface="+mn-lt"/>
              </a:rPr>
              <a:t>The </a:t>
            </a:r>
            <a:r>
              <a:rPr lang="en-US" sz="2000" b="1" dirty="0">
                <a:solidFill>
                  <a:schemeClr val="tx1">
                    <a:lumMod val="65000"/>
                    <a:lumOff val="35000"/>
                  </a:schemeClr>
                </a:solidFill>
                <a:latin typeface="+mn-lt"/>
              </a:rPr>
              <a:t>exponent </a:t>
            </a:r>
            <a:r>
              <a:rPr lang="en-US" sz="2000" dirty="0">
                <a:solidFill>
                  <a:schemeClr val="tx1">
                    <a:lumMod val="65000"/>
                    <a:lumOff val="35000"/>
                  </a:schemeClr>
                </a:solidFill>
                <a:latin typeface="+mn-lt"/>
              </a:rPr>
              <a:t>determines how far the binary point moves, while </a:t>
            </a:r>
            <a:r>
              <a:rPr lang="en-US" sz="2000" b="1" dirty="0">
                <a:solidFill>
                  <a:schemeClr val="tx1">
                    <a:lumMod val="65000"/>
                    <a:lumOff val="35000"/>
                  </a:schemeClr>
                </a:solidFill>
                <a:latin typeface="+mn-lt"/>
              </a:rPr>
              <a:t>the mantissa (significand) </a:t>
            </a:r>
            <a:r>
              <a:rPr lang="en-US" sz="2000" dirty="0">
                <a:solidFill>
                  <a:schemeClr val="tx1">
                    <a:lumMod val="65000"/>
                    <a:lumOff val="35000"/>
                  </a:schemeClr>
                </a:solidFill>
                <a:latin typeface="+mn-lt"/>
              </a:rPr>
              <a:t>represents the actual digits of the number</a:t>
            </a:r>
          </a:p>
        </p:txBody>
      </p:sp>
    </p:spTree>
    <p:extLst>
      <p:ext uri="{BB962C8B-B14F-4D97-AF65-F5344CB8AC3E}">
        <p14:creationId xmlns:p14="http://schemas.microsoft.com/office/powerpoint/2010/main" val="2801317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6406" y="286936"/>
            <a:ext cx="9096284" cy="6525344"/>
          </a:xfrm>
          <a:prstGeom prst="rect">
            <a:avLst/>
          </a:prstGeom>
        </p:spPr>
      </p:pic>
    </p:spTree>
    <p:extLst>
      <p:ext uri="{BB962C8B-B14F-4D97-AF65-F5344CB8AC3E}">
        <p14:creationId xmlns:p14="http://schemas.microsoft.com/office/powerpoint/2010/main" val="34448261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5536" y="476672"/>
            <a:ext cx="3557410" cy="3600400"/>
          </a:xfrm>
          <a:prstGeom prst="rect">
            <a:avLst/>
          </a:prstGeom>
        </p:spPr>
      </p:pic>
      <p:sp>
        <p:nvSpPr>
          <p:cNvPr id="5" name="Rectangle 4"/>
          <p:cNvSpPr/>
          <p:nvPr/>
        </p:nvSpPr>
        <p:spPr>
          <a:xfrm>
            <a:off x="3928910" y="620688"/>
            <a:ext cx="3024336" cy="4147354"/>
          </a:xfrm>
          <a:prstGeom prst="rect">
            <a:avLst/>
          </a:prstGeom>
        </p:spPr>
        <p:txBody>
          <a:bodyPr wrap="square">
            <a:spAutoFit/>
          </a:bodyPr>
          <a:lstStyle/>
          <a:p>
            <a:pPr>
              <a:lnSpc>
                <a:spcPct val="150000"/>
              </a:lnSpc>
            </a:pPr>
            <a:r>
              <a:rPr lang="en-US" sz="3600" dirty="0" smtClean="0">
                <a:solidFill>
                  <a:schemeClr val="accent1"/>
                </a:solidFill>
                <a:latin typeface="+mn-lt"/>
              </a:rPr>
              <a:t>1.01001 * 2 </a:t>
            </a:r>
            <a:r>
              <a:rPr lang="en-US" sz="3600" baseline="30000" dirty="0" smtClean="0">
                <a:solidFill>
                  <a:schemeClr val="accent1"/>
                </a:solidFill>
                <a:latin typeface="+mn-lt"/>
              </a:rPr>
              <a:t>2</a:t>
            </a:r>
          </a:p>
          <a:p>
            <a:pPr>
              <a:lnSpc>
                <a:spcPct val="150000"/>
              </a:lnSpc>
            </a:pPr>
            <a:r>
              <a:rPr lang="en-US" sz="3600" dirty="0" smtClean="0">
                <a:solidFill>
                  <a:schemeClr val="accent1"/>
                </a:solidFill>
              </a:rPr>
              <a:t>1.111101 </a:t>
            </a:r>
            <a:r>
              <a:rPr lang="en-US" sz="3600" dirty="0">
                <a:solidFill>
                  <a:schemeClr val="accent1"/>
                </a:solidFill>
              </a:rPr>
              <a:t>* 2 </a:t>
            </a:r>
            <a:r>
              <a:rPr lang="en-US" sz="3600" baseline="30000" dirty="0">
                <a:solidFill>
                  <a:schemeClr val="accent1"/>
                </a:solidFill>
              </a:rPr>
              <a:t>4</a:t>
            </a:r>
            <a:endParaRPr lang="en-US" sz="3600" dirty="0">
              <a:solidFill>
                <a:schemeClr val="accent1"/>
              </a:solidFill>
            </a:endParaRPr>
          </a:p>
          <a:p>
            <a:pPr>
              <a:lnSpc>
                <a:spcPct val="150000"/>
              </a:lnSpc>
            </a:pPr>
            <a:r>
              <a:rPr lang="en-US" sz="3600" dirty="0" smtClean="0">
                <a:solidFill>
                  <a:schemeClr val="accent1"/>
                </a:solidFill>
              </a:rPr>
              <a:t>1.01 </a:t>
            </a:r>
            <a:r>
              <a:rPr lang="en-US" sz="3600" dirty="0">
                <a:solidFill>
                  <a:schemeClr val="accent1"/>
                </a:solidFill>
              </a:rPr>
              <a:t>* 2 </a:t>
            </a:r>
            <a:r>
              <a:rPr lang="en-US" sz="3600" baseline="30000" dirty="0" smtClean="0">
                <a:solidFill>
                  <a:schemeClr val="accent1"/>
                </a:solidFill>
              </a:rPr>
              <a:t>-2</a:t>
            </a:r>
            <a:endParaRPr lang="en-US" sz="3600" dirty="0">
              <a:solidFill>
                <a:schemeClr val="accent1"/>
              </a:solidFill>
            </a:endParaRPr>
          </a:p>
          <a:p>
            <a:pPr>
              <a:lnSpc>
                <a:spcPct val="150000"/>
              </a:lnSpc>
            </a:pPr>
            <a:r>
              <a:rPr lang="en-US" sz="3600" dirty="0" smtClean="0">
                <a:solidFill>
                  <a:schemeClr val="accent1"/>
                </a:solidFill>
              </a:rPr>
              <a:t>- 1.001 </a:t>
            </a:r>
            <a:r>
              <a:rPr lang="en-US" sz="3600" dirty="0">
                <a:solidFill>
                  <a:schemeClr val="accent1"/>
                </a:solidFill>
              </a:rPr>
              <a:t>* 2 </a:t>
            </a:r>
            <a:r>
              <a:rPr lang="en-US" sz="3600" baseline="30000" dirty="0">
                <a:solidFill>
                  <a:schemeClr val="accent1"/>
                </a:solidFill>
              </a:rPr>
              <a:t>1</a:t>
            </a:r>
            <a:endParaRPr lang="en-US" sz="3600" dirty="0">
              <a:solidFill>
                <a:schemeClr val="accent1"/>
              </a:solidFill>
            </a:endParaRPr>
          </a:p>
          <a:p>
            <a:pPr>
              <a:lnSpc>
                <a:spcPct val="150000"/>
              </a:lnSpc>
            </a:pPr>
            <a:endParaRPr lang="en-US" sz="3600" dirty="0">
              <a:solidFill>
                <a:schemeClr val="accent1"/>
              </a:solidFill>
              <a:latin typeface="+mn-lt"/>
            </a:endParaRPr>
          </a:p>
        </p:txBody>
      </p:sp>
      <p:cxnSp>
        <p:nvCxnSpPr>
          <p:cNvPr id="7" name="Straight Arrow Connector 6"/>
          <p:cNvCxnSpPr/>
          <p:nvPr/>
        </p:nvCxnSpPr>
        <p:spPr>
          <a:xfrm>
            <a:off x="4716016" y="3933056"/>
            <a:ext cx="0" cy="50405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2269925099"/>
              </p:ext>
            </p:extLst>
          </p:nvPr>
        </p:nvGraphicFramePr>
        <p:xfrm>
          <a:off x="1835696" y="4626153"/>
          <a:ext cx="6096000" cy="37084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val="1832453531"/>
                    </a:ext>
                  </a:extLst>
                </a:gridCol>
                <a:gridCol w="2032000">
                  <a:extLst>
                    <a:ext uri="{9D8B030D-6E8A-4147-A177-3AD203B41FA5}">
                      <a16:colId xmlns:a16="http://schemas.microsoft.com/office/drawing/2014/main" val="2488068505"/>
                    </a:ext>
                  </a:extLst>
                </a:gridCol>
                <a:gridCol w="2032000">
                  <a:extLst>
                    <a:ext uri="{9D8B030D-6E8A-4147-A177-3AD203B41FA5}">
                      <a16:colId xmlns:a16="http://schemas.microsoft.com/office/drawing/2014/main" val="2145074256"/>
                    </a:ext>
                  </a:extLst>
                </a:gridCol>
              </a:tblGrid>
              <a:tr h="370840">
                <a:tc>
                  <a:txBody>
                    <a:bodyPr/>
                    <a:lstStyle/>
                    <a:p>
                      <a:pPr algn="ctr"/>
                      <a:r>
                        <a:rPr lang="en-US" dirty="0" smtClean="0"/>
                        <a:t>1</a:t>
                      </a:r>
                      <a:endParaRPr lang="en-US" dirty="0"/>
                    </a:p>
                  </a:txBody>
                  <a:tcPr/>
                </a:tc>
                <a:tc>
                  <a:txBody>
                    <a:bodyPr/>
                    <a:lstStyle/>
                    <a:p>
                      <a:pPr algn="ctr"/>
                      <a:r>
                        <a:rPr lang="en-US" dirty="0" smtClean="0"/>
                        <a:t>1</a:t>
                      </a:r>
                      <a:endParaRPr lang="en-US" dirty="0"/>
                    </a:p>
                  </a:txBody>
                  <a:tcPr/>
                </a:tc>
                <a:tc>
                  <a:txBody>
                    <a:bodyPr/>
                    <a:lstStyle/>
                    <a:p>
                      <a:pPr algn="ctr"/>
                      <a:r>
                        <a:rPr lang="en-US" dirty="0" smtClean="0"/>
                        <a:t>001</a:t>
                      </a:r>
                      <a:endParaRPr lang="en-US" dirty="0"/>
                    </a:p>
                  </a:txBody>
                  <a:tcPr/>
                </a:tc>
                <a:extLst>
                  <a:ext uri="{0D108BD9-81ED-4DB2-BD59-A6C34878D82A}">
                    <a16:rowId xmlns:a16="http://schemas.microsoft.com/office/drawing/2014/main" val="1607527858"/>
                  </a:ext>
                </a:extLst>
              </a:tr>
            </a:tbl>
          </a:graphicData>
        </a:graphic>
      </p:graphicFrame>
      <p:sp>
        <p:nvSpPr>
          <p:cNvPr id="9" name="Rectangle 8"/>
          <p:cNvSpPr/>
          <p:nvPr/>
        </p:nvSpPr>
        <p:spPr>
          <a:xfrm>
            <a:off x="1259632" y="5546074"/>
            <a:ext cx="6607494" cy="1323439"/>
          </a:xfrm>
          <a:prstGeom prst="rect">
            <a:avLst/>
          </a:prstGeom>
        </p:spPr>
        <p:txBody>
          <a:bodyPr wrap="square">
            <a:spAutoFit/>
          </a:bodyPr>
          <a:lstStyle/>
          <a:p>
            <a:r>
              <a:rPr lang="en-US" sz="2800" b="1" dirty="0" smtClean="0"/>
              <a:t> </a:t>
            </a:r>
            <a:r>
              <a:rPr lang="en-US" b="1" dirty="0">
                <a:solidFill>
                  <a:schemeClr val="tx1">
                    <a:lumMod val="65000"/>
                    <a:lumOff val="35000"/>
                  </a:schemeClr>
                </a:solidFill>
                <a:latin typeface="+mn-lt"/>
              </a:rPr>
              <a:t>Explicit </a:t>
            </a:r>
            <a:r>
              <a:rPr lang="en-US" b="1" dirty="0" smtClean="0">
                <a:solidFill>
                  <a:schemeClr val="tx1">
                    <a:lumMod val="65000"/>
                    <a:lumOff val="35000"/>
                  </a:schemeClr>
                </a:solidFill>
                <a:latin typeface="+mn-lt"/>
              </a:rPr>
              <a:t>Normalization = </a:t>
            </a:r>
            <a:r>
              <a:rPr lang="en-US" b="1" dirty="0">
                <a:solidFill>
                  <a:schemeClr val="tx1">
                    <a:lumMod val="65000"/>
                    <a:lumOff val="35000"/>
                  </a:schemeClr>
                </a:solidFill>
                <a:latin typeface="+mn-lt"/>
              </a:rPr>
              <a:t>(-1) </a:t>
            </a:r>
            <a:r>
              <a:rPr lang="en-US" b="1" baseline="30000" dirty="0">
                <a:solidFill>
                  <a:schemeClr val="tx1">
                    <a:lumMod val="65000"/>
                    <a:lumOff val="35000"/>
                  </a:schemeClr>
                </a:solidFill>
                <a:latin typeface="+mn-lt"/>
              </a:rPr>
              <a:t>s</a:t>
            </a:r>
            <a:r>
              <a:rPr lang="en-US" b="1" dirty="0">
                <a:solidFill>
                  <a:schemeClr val="tx1">
                    <a:lumMod val="65000"/>
                    <a:lumOff val="35000"/>
                  </a:schemeClr>
                </a:solidFill>
                <a:latin typeface="+mn-lt"/>
              </a:rPr>
              <a:t> * 0.M * 2 </a:t>
            </a:r>
            <a:r>
              <a:rPr lang="en-US" b="1" baseline="30000" dirty="0">
                <a:solidFill>
                  <a:schemeClr val="tx1">
                    <a:lumMod val="65000"/>
                    <a:lumOff val="35000"/>
                  </a:schemeClr>
                </a:solidFill>
                <a:latin typeface="+mn-lt"/>
              </a:rPr>
              <a:t>E</a:t>
            </a:r>
            <a:r>
              <a:rPr lang="en-US" b="1" dirty="0">
                <a:solidFill>
                  <a:schemeClr val="tx1">
                    <a:lumMod val="65000"/>
                    <a:lumOff val="35000"/>
                  </a:schemeClr>
                </a:solidFill>
                <a:latin typeface="+mn-lt"/>
              </a:rPr>
              <a:t>  </a:t>
            </a:r>
          </a:p>
          <a:p>
            <a:r>
              <a:rPr lang="en-US" b="1" dirty="0">
                <a:solidFill>
                  <a:schemeClr val="tx1">
                    <a:lumMod val="65000"/>
                    <a:lumOff val="35000"/>
                  </a:schemeClr>
                </a:solidFill>
                <a:latin typeface="+mn-lt"/>
              </a:rPr>
              <a:t> Implicit </a:t>
            </a:r>
            <a:r>
              <a:rPr lang="en-US" b="1" dirty="0" smtClean="0">
                <a:solidFill>
                  <a:schemeClr val="tx1">
                    <a:lumMod val="65000"/>
                    <a:lumOff val="35000"/>
                  </a:schemeClr>
                </a:solidFill>
                <a:latin typeface="+mn-lt"/>
              </a:rPr>
              <a:t>Normalization = </a:t>
            </a:r>
            <a:r>
              <a:rPr lang="en-US" b="1" dirty="0">
                <a:solidFill>
                  <a:schemeClr val="tx1">
                    <a:lumMod val="65000"/>
                    <a:lumOff val="35000"/>
                  </a:schemeClr>
                </a:solidFill>
                <a:latin typeface="+mn-lt"/>
              </a:rPr>
              <a:t>(-1) </a:t>
            </a:r>
            <a:r>
              <a:rPr lang="en-US" b="1" baseline="30000" dirty="0">
                <a:solidFill>
                  <a:schemeClr val="tx1">
                    <a:lumMod val="65000"/>
                    <a:lumOff val="35000"/>
                  </a:schemeClr>
                </a:solidFill>
                <a:latin typeface="+mn-lt"/>
              </a:rPr>
              <a:t>s</a:t>
            </a:r>
            <a:r>
              <a:rPr lang="en-US" b="1" dirty="0">
                <a:solidFill>
                  <a:schemeClr val="tx1">
                    <a:lumMod val="65000"/>
                    <a:lumOff val="35000"/>
                  </a:schemeClr>
                </a:solidFill>
                <a:latin typeface="+mn-lt"/>
              </a:rPr>
              <a:t> * 1.M * 2 </a:t>
            </a:r>
            <a:r>
              <a:rPr lang="en-US" b="1" baseline="30000" dirty="0">
                <a:solidFill>
                  <a:schemeClr val="tx1">
                    <a:lumMod val="65000"/>
                    <a:lumOff val="35000"/>
                  </a:schemeClr>
                </a:solidFill>
                <a:latin typeface="+mn-lt"/>
              </a:rPr>
              <a:t>E </a:t>
            </a:r>
            <a:r>
              <a:rPr lang="en-US" b="1" dirty="0">
                <a:solidFill>
                  <a:schemeClr val="tx1">
                    <a:lumMod val="65000"/>
                    <a:lumOff val="35000"/>
                  </a:schemeClr>
                </a:solidFill>
                <a:latin typeface="+mn-lt"/>
              </a:rPr>
              <a:t> </a:t>
            </a:r>
          </a:p>
          <a:p>
            <a:endParaRPr lang="en-US" sz="2800" b="1" dirty="0"/>
          </a:p>
        </p:txBody>
      </p:sp>
      <p:sp>
        <p:nvSpPr>
          <p:cNvPr id="10" name="Rectangle 9"/>
          <p:cNvSpPr/>
          <p:nvPr/>
        </p:nvSpPr>
        <p:spPr>
          <a:xfrm>
            <a:off x="1979712" y="4811573"/>
            <a:ext cx="5905730" cy="646331"/>
          </a:xfrm>
          <a:prstGeom prst="rect">
            <a:avLst/>
          </a:prstGeom>
        </p:spPr>
        <p:txBody>
          <a:bodyPr wrap="square">
            <a:spAutoFit/>
          </a:bodyPr>
          <a:lstStyle/>
          <a:p>
            <a:pPr>
              <a:lnSpc>
                <a:spcPct val="150000"/>
              </a:lnSpc>
            </a:pPr>
            <a:r>
              <a:rPr lang="en-US" b="1" dirty="0" smtClean="0"/>
              <a:t>     </a:t>
            </a:r>
            <a:r>
              <a:rPr lang="en-US" sz="2000" b="1" dirty="0">
                <a:solidFill>
                  <a:schemeClr val="tx1">
                    <a:lumMod val="65000"/>
                    <a:lumOff val="35000"/>
                  </a:schemeClr>
                </a:solidFill>
                <a:latin typeface="+mn-lt"/>
              </a:rPr>
              <a:t>Sign                  Exponent        </a:t>
            </a:r>
            <a:r>
              <a:rPr lang="en-US" sz="2000" b="1" dirty="0" smtClean="0">
                <a:solidFill>
                  <a:schemeClr val="tx1">
                    <a:lumMod val="65000"/>
                    <a:lumOff val="35000"/>
                  </a:schemeClr>
                </a:solidFill>
                <a:latin typeface="+mn-lt"/>
              </a:rPr>
              <a:t>  </a:t>
            </a:r>
            <a:r>
              <a:rPr lang="en-US" sz="2000" b="1" dirty="0">
                <a:solidFill>
                  <a:schemeClr val="tx1">
                    <a:lumMod val="65000"/>
                    <a:lumOff val="35000"/>
                  </a:schemeClr>
                </a:solidFill>
                <a:latin typeface="+mn-lt"/>
              </a:rPr>
              <a:t>Mantissa     </a:t>
            </a:r>
            <a:endParaRPr lang="en-US" b="1" dirty="0">
              <a:solidFill>
                <a:schemeClr val="tx1">
                  <a:lumMod val="65000"/>
                  <a:lumOff val="35000"/>
                </a:schemeClr>
              </a:solidFill>
              <a:latin typeface="+mn-lt"/>
            </a:endParaRPr>
          </a:p>
        </p:txBody>
      </p:sp>
    </p:spTree>
    <p:extLst>
      <p:ext uri="{BB962C8B-B14F-4D97-AF65-F5344CB8AC3E}">
        <p14:creationId xmlns:p14="http://schemas.microsoft.com/office/powerpoint/2010/main" val="1941566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323528" y="2420888"/>
            <a:ext cx="8604448" cy="5016758"/>
          </a:xfrm>
          <a:prstGeom prst="rect">
            <a:avLst/>
          </a:prstGeom>
        </p:spPr>
        <p:txBody>
          <a:bodyPr wrap="square">
            <a:spAutoFit/>
          </a:bodyPr>
          <a:lstStyle/>
          <a:p>
            <a:pPr>
              <a:lnSpc>
                <a:spcPct val="150000"/>
              </a:lnSpc>
            </a:pPr>
            <a:r>
              <a:rPr lang="en-US" sz="2000" dirty="0">
                <a:solidFill>
                  <a:schemeClr val="tx1">
                    <a:lumMod val="65000"/>
                    <a:lumOff val="35000"/>
                  </a:schemeClr>
                </a:solidFill>
                <a:latin typeface="+mn-lt"/>
              </a:rPr>
              <a:t>Ex: </a:t>
            </a:r>
            <a:r>
              <a:rPr lang="en-US" sz="2000" b="1" dirty="0">
                <a:solidFill>
                  <a:schemeClr val="tx1">
                    <a:lumMod val="65000"/>
                    <a:lumOff val="35000"/>
                  </a:schemeClr>
                </a:solidFill>
                <a:latin typeface="+mn-lt"/>
              </a:rPr>
              <a:t>101.1</a:t>
            </a:r>
            <a:r>
              <a:rPr lang="en-US" sz="2000" dirty="0">
                <a:solidFill>
                  <a:schemeClr val="tx1">
                    <a:lumMod val="65000"/>
                    <a:lumOff val="35000"/>
                  </a:schemeClr>
                </a:solidFill>
                <a:latin typeface="+mn-lt"/>
              </a:rPr>
              <a:t> – let’s normalize </a:t>
            </a:r>
            <a:r>
              <a:rPr lang="en-US" sz="2000" dirty="0" smtClean="0">
                <a:solidFill>
                  <a:schemeClr val="tx1">
                    <a:lumMod val="65000"/>
                    <a:lumOff val="35000"/>
                  </a:schemeClr>
                </a:solidFill>
                <a:latin typeface="+mn-lt"/>
              </a:rPr>
              <a:t>it</a:t>
            </a:r>
          </a:p>
          <a:p>
            <a:pPr>
              <a:lnSpc>
                <a:spcPct val="150000"/>
              </a:lnSpc>
            </a:pPr>
            <a:r>
              <a:rPr lang="en-US" sz="2000" dirty="0">
                <a:solidFill>
                  <a:schemeClr val="tx1">
                    <a:lumMod val="65000"/>
                    <a:lumOff val="35000"/>
                  </a:schemeClr>
                </a:solidFill>
                <a:latin typeface="+mn-lt"/>
              </a:rPr>
              <a:t> </a:t>
            </a:r>
            <a:r>
              <a:rPr lang="en-US" sz="2000" dirty="0" smtClean="0">
                <a:solidFill>
                  <a:schemeClr val="tx1">
                    <a:lumMod val="65000"/>
                    <a:lumOff val="35000"/>
                  </a:schemeClr>
                </a:solidFill>
                <a:latin typeface="+mn-lt"/>
              </a:rPr>
              <a:t>Left Shift</a:t>
            </a:r>
            <a:r>
              <a:rPr lang="en-US" sz="2000" dirty="0">
                <a:solidFill>
                  <a:schemeClr val="tx1">
                    <a:lumMod val="65000"/>
                    <a:lumOff val="35000"/>
                  </a:schemeClr>
                </a:solidFill>
                <a:latin typeface="+mn-lt"/>
              </a:rPr>
              <a:t>: 0.1011 * 2 </a:t>
            </a:r>
            <a:r>
              <a:rPr lang="en-US" sz="2000" baseline="30000" dirty="0">
                <a:solidFill>
                  <a:schemeClr val="tx1">
                    <a:lumMod val="65000"/>
                    <a:lumOff val="35000"/>
                  </a:schemeClr>
                </a:solidFill>
                <a:latin typeface="+mn-lt"/>
              </a:rPr>
              <a:t>3</a:t>
            </a:r>
          </a:p>
          <a:p>
            <a:pPr marL="514350" indent="-514350">
              <a:lnSpc>
                <a:spcPct val="150000"/>
              </a:lnSpc>
              <a:buAutoNum type="arabicPeriod"/>
            </a:pPr>
            <a:endParaRPr lang="en-US" sz="2000" dirty="0">
              <a:solidFill>
                <a:schemeClr val="tx1">
                  <a:lumMod val="65000"/>
                  <a:lumOff val="35000"/>
                </a:schemeClr>
              </a:solidFill>
              <a:latin typeface="+mn-lt"/>
            </a:endParaRPr>
          </a:p>
          <a:p>
            <a:pPr>
              <a:lnSpc>
                <a:spcPct val="150000"/>
              </a:lnSpc>
            </a:pPr>
            <a:r>
              <a:rPr lang="en-US" sz="2000" dirty="0">
                <a:solidFill>
                  <a:schemeClr val="tx1">
                    <a:lumMod val="65000"/>
                    <a:lumOff val="35000"/>
                  </a:schemeClr>
                </a:solidFill>
                <a:latin typeface="+mn-lt"/>
              </a:rPr>
              <a:t>Ex: </a:t>
            </a:r>
            <a:r>
              <a:rPr lang="en-US" sz="2000" b="1" dirty="0">
                <a:solidFill>
                  <a:schemeClr val="tx1">
                    <a:lumMod val="65000"/>
                    <a:lumOff val="35000"/>
                  </a:schemeClr>
                </a:solidFill>
                <a:latin typeface="+mn-lt"/>
              </a:rPr>
              <a:t>.00110 </a:t>
            </a:r>
            <a:r>
              <a:rPr lang="en-US" sz="2000" dirty="0">
                <a:solidFill>
                  <a:schemeClr val="tx1">
                    <a:lumMod val="65000"/>
                    <a:lumOff val="35000"/>
                  </a:schemeClr>
                </a:solidFill>
                <a:latin typeface="+mn-lt"/>
              </a:rPr>
              <a:t>– let’s normalize it</a:t>
            </a:r>
          </a:p>
          <a:p>
            <a:pPr>
              <a:lnSpc>
                <a:spcPct val="150000"/>
              </a:lnSpc>
            </a:pPr>
            <a:r>
              <a:rPr lang="en-US" sz="2000" dirty="0" smtClean="0">
                <a:solidFill>
                  <a:schemeClr val="tx1">
                    <a:lumMod val="65000"/>
                    <a:lumOff val="35000"/>
                  </a:schemeClr>
                </a:solidFill>
                <a:latin typeface="+mn-lt"/>
              </a:rPr>
              <a:t> Right Shift</a:t>
            </a:r>
            <a:r>
              <a:rPr lang="en-US" sz="2000" dirty="0">
                <a:solidFill>
                  <a:schemeClr val="tx1">
                    <a:lumMod val="65000"/>
                    <a:lumOff val="35000"/>
                  </a:schemeClr>
                </a:solidFill>
                <a:latin typeface="+mn-lt"/>
              </a:rPr>
              <a:t>: 00.110 * 2 </a:t>
            </a:r>
            <a:r>
              <a:rPr lang="en-US" sz="2000" baseline="30000" dirty="0">
                <a:solidFill>
                  <a:schemeClr val="tx1">
                    <a:lumMod val="65000"/>
                    <a:lumOff val="35000"/>
                  </a:schemeClr>
                </a:solidFill>
                <a:latin typeface="+mn-lt"/>
              </a:rPr>
              <a:t>-2</a:t>
            </a:r>
          </a:p>
          <a:p>
            <a:pPr>
              <a:lnSpc>
                <a:spcPct val="150000"/>
              </a:lnSpc>
            </a:pPr>
            <a:endParaRPr lang="en-US" sz="2800" dirty="0" smtClean="0"/>
          </a:p>
          <a:p>
            <a:pPr>
              <a:lnSpc>
                <a:spcPct val="150000"/>
              </a:lnSpc>
            </a:pPr>
            <a:r>
              <a:rPr lang="en-US" sz="2000" b="1" dirty="0" smtClean="0">
                <a:solidFill>
                  <a:schemeClr val="tx1">
                    <a:lumMod val="65000"/>
                    <a:lumOff val="35000"/>
                  </a:schemeClr>
                </a:solidFill>
                <a:latin typeface="+mn-lt"/>
              </a:rPr>
              <a:t>Solution </a:t>
            </a:r>
            <a:r>
              <a:rPr lang="en-US" sz="2000" b="1" dirty="0">
                <a:solidFill>
                  <a:schemeClr val="tx1">
                    <a:lumMod val="65000"/>
                    <a:lumOff val="35000"/>
                  </a:schemeClr>
                </a:solidFill>
              </a:rPr>
              <a:t>After Biasing </a:t>
            </a:r>
            <a:r>
              <a:rPr lang="en-US" sz="2000" b="1" dirty="0" smtClean="0">
                <a:solidFill>
                  <a:schemeClr val="tx1">
                    <a:lumMod val="65000"/>
                    <a:lumOff val="35000"/>
                  </a:schemeClr>
                </a:solidFill>
                <a:latin typeface="+mn-lt"/>
              </a:rPr>
              <a:t>: </a:t>
            </a:r>
            <a:endParaRPr lang="en-US" sz="2000" b="1" dirty="0">
              <a:solidFill>
                <a:schemeClr val="tx1">
                  <a:lumMod val="65000"/>
                  <a:lumOff val="35000"/>
                </a:schemeClr>
              </a:solidFill>
              <a:latin typeface="+mn-lt"/>
            </a:endParaRPr>
          </a:p>
          <a:p>
            <a:pPr>
              <a:lnSpc>
                <a:spcPct val="150000"/>
              </a:lnSpc>
            </a:pPr>
            <a:endParaRPr lang="en-US" sz="2800" b="1" baseline="30000" dirty="0"/>
          </a:p>
          <a:p>
            <a:pPr>
              <a:lnSpc>
                <a:spcPct val="150000"/>
              </a:lnSpc>
            </a:pPr>
            <a:endParaRPr lang="en-US" sz="2800" dirty="0"/>
          </a:p>
          <a:p>
            <a:pPr>
              <a:lnSpc>
                <a:spcPct val="150000"/>
              </a:lnSpc>
            </a:pPr>
            <a:endParaRPr lang="en-US" sz="2800" b="1" baseline="30000" dirty="0"/>
          </a:p>
        </p:txBody>
      </p:sp>
      <p:graphicFrame>
        <p:nvGraphicFramePr>
          <p:cNvPr id="5" name="Table 4"/>
          <p:cNvGraphicFramePr>
            <a:graphicFrameLocks noGrp="1"/>
          </p:cNvGraphicFramePr>
          <p:nvPr>
            <p:extLst>
              <p:ext uri="{D42A27DB-BD31-4B8C-83A1-F6EECF244321}">
                <p14:modId xmlns:p14="http://schemas.microsoft.com/office/powerpoint/2010/main" val="1493907152"/>
              </p:ext>
            </p:extLst>
          </p:nvPr>
        </p:nvGraphicFramePr>
        <p:xfrm>
          <a:off x="4047931" y="2564904"/>
          <a:ext cx="4553337" cy="396240"/>
        </p:xfrm>
        <a:graphic>
          <a:graphicData uri="http://schemas.openxmlformats.org/drawingml/2006/table">
            <a:tbl>
              <a:tblPr firstRow="1" bandRow="1">
                <a:tableStyleId>{F5AB1C69-6EDB-4FF4-983F-18BD219EF322}</a:tableStyleId>
              </a:tblPr>
              <a:tblGrid>
                <a:gridCol w="1517779">
                  <a:extLst>
                    <a:ext uri="{9D8B030D-6E8A-4147-A177-3AD203B41FA5}">
                      <a16:colId xmlns:a16="http://schemas.microsoft.com/office/drawing/2014/main" val="1832453531"/>
                    </a:ext>
                  </a:extLst>
                </a:gridCol>
                <a:gridCol w="1517779">
                  <a:extLst>
                    <a:ext uri="{9D8B030D-6E8A-4147-A177-3AD203B41FA5}">
                      <a16:colId xmlns:a16="http://schemas.microsoft.com/office/drawing/2014/main" val="2488068505"/>
                    </a:ext>
                  </a:extLst>
                </a:gridCol>
                <a:gridCol w="1517779">
                  <a:extLst>
                    <a:ext uri="{9D8B030D-6E8A-4147-A177-3AD203B41FA5}">
                      <a16:colId xmlns:a16="http://schemas.microsoft.com/office/drawing/2014/main" val="2145074256"/>
                    </a:ext>
                  </a:extLst>
                </a:gridCol>
              </a:tblGrid>
              <a:tr h="370840">
                <a:tc>
                  <a:txBody>
                    <a:bodyPr/>
                    <a:lstStyle/>
                    <a:p>
                      <a:pPr algn="ctr"/>
                      <a:r>
                        <a:rPr lang="en-US" sz="2000" kern="1200" dirty="0" smtClean="0">
                          <a:solidFill>
                            <a:schemeClr val="bg1"/>
                          </a:solidFill>
                          <a:latin typeface="+mn-lt"/>
                          <a:ea typeface="+mn-ea"/>
                          <a:cs typeface="+mn-cs"/>
                        </a:rPr>
                        <a:t>1</a:t>
                      </a:r>
                      <a:endParaRPr lang="en-US" sz="2000" kern="1200" dirty="0">
                        <a:solidFill>
                          <a:schemeClr val="bg1"/>
                        </a:solidFill>
                        <a:latin typeface="+mn-lt"/>
                        <a:ea typeface="+mn-ea"/>
                        <a:cs typeface="+mn-cs"/>
                      </a:endParaRPr>
                    </a:p>
                  </a:txBody>
                  <a:tcPr/>
                </a:tc>
                <a:tc>
                  <a:txBody>
                    <a:bodyPr/>
                    <a:lstStyle/>
                    <a:p>
                      <a:pPr algn="ctr"/>
                      <a:r>
                        <a:rPr lang="en-US" sz="2000" kern="1200" dirty="0" smtClean="0">
                          <a:solidFill>
                            <a:schemeClr val="bg1"/>
                          </a:solidFill>
                          <a:latin typeface="+mn-lt"/>
                          <a:ea typeface="+mn-ea"/>
                          <a:cs typeface="+mn-cs"/>
                        </a:rPr>
                        <a:t>00 11</a:t>
                      </a:r>
                      <a:endParaRPr lang="en-US" sz="2000" kern="1200" dirty="0">
                        <a:solidFill>
                          <a:schemeClr val="bg1"/>
                        </a:solidFill>
                        <a:latin typeface="+mn-lt"/>
                        <a:ea typeface="+mn-ea"/>
                        <a:cs typeface="+mn-cs"/>
                      </a:endParaRPr>
                    </a:p>
                  </a:txBody>
                  <a:tcPr/>
                </a:tc>
                <a:tc>
                  <a:txBody>
                    <a:bodyPr/>
                    <a:lstStyle/>
                    <a:p>
                      <a:pPr algn="ctr"/>
                      <a:r>
                        <a:rPr lang="en-US" sz="2000" kern="1200" dirty="0" smtClean="0">
                          <a:solidFill>
                            <a:schemeClr val="bg1"/>
                          </a:solidFill>
                          <a:latin typeface="+mn-lt"/>
                          <a:ea typeface="+mn-ea"/>
                          <a:cs typeface="+mn-cs"/>
                        </a:rPr>
                        <a:t>1011 0</a:t>
                      </a:r>
                      <a:endParaRPr lang="en-US" sz="2000" kern="1200" dirty="0">
                        <a:solidFill>
                          <a:schemeClr val="bg1"/>
                        </a:solidFill>
                        <a:latin typeface="+mn-lt"/>
                        <a:ea typeface="+mn-ea"/>
                        <a:cs typeface="+mn-cs"/>
                      </a:endParaRPr>
                    </a:p>
                  </a:txBody>
                  <a:tcPr/>
                </a:tc>
                <a:extLst>
                  <a:ext uri="{0D108BD9-81ED-4DB2-BD59-A6C34878D82A}">
                    <a16:rowId xmlns:a16="http://schemas.microsoft.com/office/drawing/2014/main" val="1607527858"/>
                  </a:ext>
                </a:extLst>
              </a:tr>
            </a:tbl>
          </a:graphicData>
        </a:graphic>
      </p:graphicFrame>
      <p:sp>
        <p:nvSpPr>
          <p:cNvPr id="6" name="Rectangle 5"/>
          <p:cNvSpPr/>
          <p:nvPr/>
        </p:nvSpPr>
        <p:spPr>
          <a:xfrm>
            <a:off x="4047931" y="2935744"/>
            <a:ext cx="5905730" cy="507831"/>
          </a:xfrm>
          <a:prstGeom prst="rect">
            <a:avLst/>
          </a:prstGeom>
        </p:spPr>
        <p:txBody>
          <a:bodyPr wrap="square">
            <a:spAutoFit/>
          </a:bodyPr>
          <a:lstStyle/>
          <a:p>
            <a:pPr>
              <a:lnSpc>
                <a:spcPct val="150000"/>
              </a:lnSpc>
            </a:pPr>
            <a:r>
              <a:rPr lang="en-US" sz="1800" b="1" dirty="0" smtClean="0"/>
              <a:t>     Sign (1)         Exponent (4)      Mantissa (5)    </a:t>
            </a:r>
            <a:endParaRPr lang="en-US" sz="1800" b="1" dirty="0"/>
          </a:p>
        </p:txBody>
      </p:sp>
      <p:graphicFrame>
        <p:nvGraphicFramePr>
          <p:cNvPr id="8" name="Table 7"/>
          <p:cNvGraphicFramePr>
            <a:graphicFrameLocks noGrp="1"/>
          </p:cNvGraphicFramePr>
          <p:nvPr>
            <p:extLst>
              <p:ext uri="{D42A27DB-BD31-4B8C-83A1-F6EECF244321}">
                <p14:modId xmlns:p14="http://schemas.microsoft.com/office/powerpoint/2010/main" val="3796863713"/>
              </p:ext>
            </p:extLst>
          </p:nvPr>
        </p:nvGraphicFramePr>
        <p:xfrm>
          <a:off x="4047930" y="4169898"/>
          <a:ext cx="4553337" cy="370840"/>
        </p:xfrm>
        <a:graphic>
          <a:graphicData uri="http://schemas.openxmlformats.org/drawingml/2006/table">
            <a:tbl>
              <a:tblPr firstRow="1" bandRow="1">
                <a:tableStyleId>{F5AB1C69-6EDB-4FF4-983F-18BD219EF322}</a:tableStyleId>
              </a:tblPr>
              <a:tblGrid>
                <a:gridCol w="1517779">
                  <a:extLst>
                    <a:ext uri="{9D8B030D-6E8A-4147-A177-3AD203B41FA5}">
                      <a16:colId xmlns:a16="http://schemas.microsoft.com/office/drawing/2014/main" val="1832453531"/>
                    </a:ext>
                  </a:extLst>
                </a:gridCol>
                <a:gridCol w="1517779">
                  <a:extLst>
                    <a:ext uri="{9D8B030D-6E8A-4147-A177-3AD203B41FA5}">
                      <a16:colId xmlns:a16="http://schemas.microsoft.com/office/drawing/2014/main" val="2488068505"/>
                    </a:ext>
                  </a:extLst>
                </a:gridCol>
                <a:gridCol w="1517779">
                  <a:extLst>
                    <a:ext uri="{9D8B030D-6E8A-4147-A177-3AD203B41FA5}">
                      <a16:colId xmlns:a16="http://schemas.microsoft.com/office/drawing/2014/main" val="2145074256"/>
                    </a:ext>
                  </a:extLst>
                </a:gridCol>
              </a:tblGrid>
              <a:tr h="370840">
                <a:tc>
                  <a:txBody>
                    <a:bodyPr/>
                    <a:lstStyle/>
                    <a:p>
                      <a:pPr algn="ctr"/>
                      <a:r>
                        <a:rPr lang="en-US" dirty="0" smtClean="0"/>
                        <a:t>0</a:t>
                      </a:r>
                      <a:endParaRPr lang="en-US" dirty="0"/>
                    </a:p>
                  </a:txBody>
                  <a:tcPr/>
                </a:tc>
                <a:tc>
                  <a:txBody>
                    <a:bodyPr/>
                    <a:lstStyle/>
                    <a:p>
                      <a:pPr algn="ctr"/>
                      <a:r>
                        <a:rPr lang="en-US" dirty="0" smtClean="0"/>
                        <a:t>Biasing???</a:t>
                      </a:r>
                      <a:endParaRPr lang="en-US" dirty="0"/>
                    </a:p>
                  </a:txBody>
                  <a:tcPr/>
                </a:tc>
                <a:tc>
                  <a:txBody>
                    <a:bodyPr/>
                    <a:lstStyle/>
                    <a:p>
                      <a:pPr algn="ctr"/>
                      <a:r>
                        <a:rPr lang="en-US" dirty="0" smtClean="0"/>
                        <a:t>110 00</a:t>
                      </a:r>
                      <a:endParaRPr lang="en-US" dirty="0"/>
                    </a:p>
                  </a:txBody>
                  <a:tcPr/>
                </a:tc>
                <a:extLst>
                  <a:ext uri="{0D108BD9-81ED-4DB2-BD59-A6C34878D82A}">
                    <a16:rowId xmlns:a16="http://schemas.microsoft.com/office/drawing/2014/main" val="1607527858"/>
                  </a:ext>
                </a:extLst>
              </a:tr>
            </a:tbl>
          </a:graphicData>
        </a:graphic>
      </p:graphicFrame>
      <p:sp>
        <p:nvSpPr>
          <p:cNvPr id="9" name="Rectangle 8"/>
          <p:cNvSpPr/>
          <p:nvPr/>
        </p:nvSpPr>
        <p:spPr>
          <a:xfrm>
            <a:off x="3923928" y="4538829"/>
            <a:ext cx="5905730" cy="507831"/>
          </a:xfrm>
          <a:prstGeom prst="rect">
            <a:avLst/>
          </a:prstGeom>
        </p:spPr>
        <p:txBody>
          <a:bodyPr wrap="square">
            <a:spAutoFit/>
          </a:bodyPr>
          <a:lstStyle/>
          <a:p>
            <a:pPr>
              <a:lnSpc>
                <a:spcPct val="150000"/>
              </a:lnSpc>
            </a:pPr>
            <a:r>
              <a:rPr lang="en-US" sz="1800" b="1" dirty="0" smtClean="0"/>
              <a:t>     Sign (1)         Exponent (4)      Mantissa (5)    </a:t>
            </a:r>
            <a:endParaRPr lang="en-US" sz="1800" b="1" dirty="0"/>
          </a:p>
        </p:txBody>
      </p:sp>
      <p:graphicFrame>
        <p:nvGraphicFramePr>
          <p:cNvPr id="10" name="Table 9"/>
          <p:cNvGraphicFramePr>
            <a:graphicFrameLocks noGrp="1"/>
          </p:cNvGraphicFramePr>
          <p:nvPr>
            <p:extLst>
              <p:ext uri="{D42A27DB-BD31-4B8C-83A1-F6EECF244321}">
                <p14:modId xmlns:p14="http://schemas.microsoft.com/office/powerpoint/2010/main" val="3402280031"/>
              </p:ext>
            </p:extLst>
          </p:nvPr>
        </p:nvGraphicFramePr>
        <p:xfrm>
          <a:off x="4066143" y="5436586"/>
          <a:ext cx="4610313" cy="370840"/>
        </p:xfrm>
        <a:graphic>
          <a:graphicData uri="http://schemas.openxmlformats.org/drawingml/2006/table">
            <a:tbl>
              <a:tblPr firstRow="1" bandRow="1">
                <a:tableStyleId>{F5AB1C69-6EDB-4FF4-983F-18BD219EF322}</a:tableStyleId>
              </a:tblPr>
              <a:tblGrid>
                <a:gridCol w="1536771">
                  <a:extLst>
                    <a:ext uri="{9D8B030D-6E8A-4147-A177-3AD203B41FA5}">
                      <a16:colId xmlns:a16="http://schemas.microsoft.com/office/drawing/2014/main" val="1832453531"/>
                    </a:ext>
                  </a:extLst>
                </a:gridCol>
                <a:gridCol w="1536771">
                  <a:extLst>
                    <a:ext uri="{9D8B030D-6E8A-4147-A177-3AD203B41FA5}">
                      <a16:colId xmlns:a16="http://schemas.microsoft.com/office/drawing/2014/main" val="2488068505"/>
                    </a:ext>
                  </a:extLst>
                </a:gridCol>
                <a:gridCol w="1536771">
                  <a:extLst>
                    <a:ext uri="{9D8B030D-6E8A-4147-A177-3AD203B41FA5}">
                      <a16:colId xmlns:a16="http://schemas.microsoft.com/office/drawing/2014/main" val="2145074256"/>
                    </a:ext>
                  </a:extLst>
                </a:gridCol>
              </a:tblGrid>
              <a:tr h="370840">
                <a:tc>
                  <a:txBody>
                    <a:bodyPr/>
                    <a:lstStyle/>
                    <a:p>
                      <a:pPr algn="ctr"/>
                      <a:r>
                        <a:rPr lang="en-US" dirty="0" smtClean="0"/>
                        <a:t>0</a:t>
                      </a:r>
                      <a:endParaRPr lang="en-US" dirty="0"/>
                    </a:p>
                  </a:txBody>
                  <a:tcPr/>
                </a:tc>
                <a:tc>
                  <a:txBody>
                    <a:bodyPr/>
                    <a:lstStyle/>
                    <a:p>
                      <a:pPr algn="ctr"/>
                      <a:r>
                        <a:rPr lang="en-US" dirty="0" smtClean="0"/>
                        <a:t>0110 (6)</a:t>
                      </a:r>
                      <a:endParaRPr lang="en-US" dirty="0"/>
                    </a:p>
                  </a:txBody>
                  <a:tcPr/>
                </a:tc>
                <a:tc>
                  <a:txBody>
                    <a:bodyPr/>
                    <a:lstStyle/>
                    <a:p>
                      <a:pPr algn="ctr"/>
                      <a:r>
                        <a:rPr lang="en-US" dirty="0" smtClean="0"/>
                        <a:t>110 00</a:t>
                      </a:r>
                      <a:endParaRPr lang="en-US" dirty="0"/>
                    </a:p>
                  </a:txBody>
                  <a:tcPr/>
                </a:tc>
                <a:extLst>
                  <a:ext uri="{0D108BD9-81ED-4DB2-BD59-A6C34878D82A}">
                    <a16:rowId xmlns:a16="http://schemas.microsoft.com/office/drawing/2014/main" val="1607527858"/>
                  </a:ext>
                </a:extLst>
              </a:tr>
            </a:tbl>
          </a:graphicData>
        </a:graphic>
      </p:graphicFrame>
      <p:sp>
        <p:nvSpPr>
          <p:cNvPr id="11" name="Rectangle 10"/>
          <p:cNvSpPr/>
          <p:nvPr/>
        </p:nvSpPr>
        <p:spPr>
          <a:xfrm>
            <a:off x="201706" y="653831"/>
            <a:ext cx="9266838" cy="892552"/>
          </a:xfrm>
          <a:prstGeom prst="rect">
            <a:avLst/>
          </a:prstGeom>
        </p:spPr>
        <p:txBody>
          <a:bodyPr wrap="square">
            <a:spAutoFit/>
          </a:bodyPr>
          <a:lstStyle/>
          <a:p>
            <a:r>
              <a:rPr lang="en-US" sz="2800" b="1" dirty="0" smtClean="0"/>
              <a:t> </a:t>
            </a:r>
            <a:r>
              <a:rPr lang="en-US" b="1" dirty="0">
                <a:solidFill>
                  <a:schemeClr val="tx1">
                    <a:lumMod val="65000"/>
                    <a:lumOff val="35000"/>
                  </a:schemeClr>
                </a:solidFill>
                <a:latin typeface="+mn-lt"/>
              </a:rPr>
              <a:t>Explicit </a:t>
            </a:r>
            <a:r>
              <a:rPr lang="en-US" b="1" dirty="0" smtClean="0">
                <a:solidFill>
                  <a:schemeClr val="tx1">
                    <a:lumMod val="65000"/>
                    <a:lumOff val="35000"/>
                  </a:schemeClr>
                </a:solidFill>
                <a:latin typeface="+mn-lt"/>
              </a:rPr>
              <a:t>Normalization =  (-</a:t>
            </a:r>
            <a:r>
              <a:rPr lang="en-US" b="1" dirty="0">
                <a:solidFill>
                  <a:schemeClr val="tx1">
                    <a:lumMod val="65000"/>
                    <a:lumOff val="35000"/>
                  </a:schemeClr>
                </a:solidFill>
                <a:latin typeface="+mn-lt"/>
              </a:rPr>
              <a:t>1) </a:t>
            </a:r>
            <a:r>
              <a:rPr lang="en-US" b="1" baseline="30000" dirty="0">
                <a:solidFill>
                  <a:schemeClr val="tx1">
                    <a:lumMod val="65000"/>
                    <a:lumOff val="35000"/>
                  </a:schemeClr>
                </a:solidFill>
                <a:latin typeface="+mn-lt"/>
              </a:rPr>
              <a:t>s</a:t>
            </a:r>
            <a:r>
              <a:rPr lang="en-US" b="1" dirty="0">
                <a:solidFill>
                  <a:schemeClr val="tx1">
                    <a:lumMod val="65000"/>
                    <a:lumOff val="35000"/>
                  </a:schemeClr>
                </a:solidFill>
                <a:latin typeface="+mn-lt"/>
              </a:rPr>
              <a:t> * 0.M * 2 </a:t>
            </a:r>
            <a:r>
              <a:rPr lang="en-US" b="1" baseline="30000" dirty="0" smtClean="0">
                <a:solidFill>
                  <a:schemeClr val="tx1">
                    <a:lumMod val="65000"/>
                    <a:lumOff val="35000"/>
                  </a:schemeClr>
                </a:solidFill>
                <a:latin typeface="+mn-lt"/>
              </a:rPr>
              <a:t>E</a:t>
            </a:r>
            <a:endParaRPr lang="en-US" b="1" dirty="0">
              <a:solidFill>
                <a:schemeClr val="tx1">
                  <a:lumMod val="65000"/>
                  <a:lumOff val="35000"/>
                </a:schemeClr>
              </a:solidFill>
              <a:latin typeface="+mn-lt"/>
            </a:endParaRPr>
          </a:p>
          <a:p>
            <a:r>
              <a:rPr lang="en-US" b="1" dirty="0" smtClean="0">
                <a:solidFill>
                  <a:schemeClr val="tx1">
                    <a:lumMod val="65000"/>
                    <a:lumOff val="35000"/>
                  </a:schemeClr>
                </a:solidFill>
                <a:latin typeface="+mn-lt"/>
              </a:rPr>
              <a:t> Implicit Normalization = (-</a:t>
            </a:r>
            <a:r>
              <a:rPr lang="en-US" b="1" dirty="0">
                <a:solidFill>
                  <a:schemeClr val="tx1">
                    <a:lumMod val="65000"/>
                    <a:lumOff val="35000"/>
                  </a:schemeClr>
                </a:solidFill>
                <a:latin typeface="+mn-lt"/>
              </a:rPr>
              <a:t>1) </a:t>
            </a:r>
            <a:r>
              <a:rPr lang="en-US" b="1" baseline="30000" dirty="0">
                <a:solidFill>
                  <a:schemeClr val="tx1">
                    <a:lumMod val="65000"/>
                    <a:lumOff val="35000"/>
                  </a:schemeClr>
                </a:solidFill>
                <a:latin typeface="+mn-lt"/>
              </a:rPr>
              <a:t>s</a:t>
            </a:r>
            <a:r>
              <a:rPr lang="en-US" b="1" dirty="0">
                <a:solidFill>
                  <a:schemeClr val="tx1">
                    <a:lumMod val="65000"/>
                    <a:lumOff val="35000"/>
                  </a:schemeClr>
                </a:solidFill>
                <a:latin typeface="+mn-lt"/>
              </a:rPr>
              <a:t> * 1.M * 2 </a:t>
            </a:r>
            <a:r>
              <a:rPr lang="en-US" b="1" baseline="30000" dirty="0" smtClean="0">
                <a:solidFill>
                  <a:schemeClr val="tx1">
                    <a:lumMod val="65000"/>
                    <a:lumOff val="35000"/>
                  </a:schemeClr>
                </a:solidFill>
                <a:latin typeface="+mn-lt"/>
              </a:rPr>
              <a:t>E</a:t>
            </a:r>
            <a:endParaRPr lang="en-US" sz="2800" b="1" dirty="0"/>
          </a:p>
        </p:txBody>
      </p:sp>
    </p:spTree>
    <p:extLst>
      <p:ext uri="{BB962C8B-B14F-4D97-AF65-F5344CB8AC3E}">
        <p14:creationId xmlns:p14="http://schemas.microsoft.com/office/powerpoint/2010/main" val="1608617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66398" y="4902211"/>
            <a:ext cx="8172400" cy="830997"/>
          </a:xfrm>
          <a:prstGeom prst="rect">
            <a:avLst/>
          </a:prstGeom>
        </p:spPr>
        <p:txBody>
          <a:bodyPr wrap="square">
            <a:spAutoFit/>
          </a:bodyPr>
          <a:lstStyle/>
          <a:p>
            <a:r>
              <a:rPr lang="en-US" b="1" dirty="0" smtClean="0">
                <a:solidFill>
                  <a:schemeClr val="tx1">
                    <a:lumMod val="65000"/>
                    <a:lumOff val="35000"/>
                  </a:schemeClr>
                </a:solidFill>
                <a:latin typeface="+mn-lt"/>
              </a:rPr>
              <a:t>Range Formula</a:t>
            </a:r>
            <a:r>
              <a:rPr lang="en-US" b="1" dirty="0">
                <a:solidFill>
                  <a:schemeClr val="tx1">
                    <a:lumMod val="65000"/>
                    <a:lumOff val="35000"/>
                  </a:schemeClr>
                </a:solidFill>
                <a:latin typeface="+mn-lt"/>
              </a:rPr>
              <a:t>:          </a:t>
            </a:r>
            <a:r>
              <a:rPr lang="en-US" b="1" dirty="0" smtClean="0">
                <a:solidFill>
                  <a:schemeClr val="tx1">
                    <a:lumMod val="65000"/>
                    <a:lumOff val="35000"/>
                  </a:schemeClr>
                </a:solidFill>
                <a:latin typeface="+mn-lt"/>
              </a:rPr>
              <a:t>    </a:t>
            </a:r>
            <a:r>
              <a:rPr lang="en-US" b="1" dirty="0">
                <a:solidFill>
                  <a:schemeClr val="tx1">
                    <a:lumMod val="65000"/>
                    <a:lumOff val="35000"/>
                  </a:schemeClr>
                </a:solidFill>
                <a:latin typeface="+mn-lt"/>
              </a:rPr>
              <a:t>-2</a:t>
            </a:r>
            <a:r>
              <a:rPr lang="en-US" b="1" baseline="30000" dirty="0">
                <a:solidFill>
                  <a:schemeClr val="tx1">
                    <a:lumMod val="65000"/>
                    <a:lumOff val="35000"/>
                  </a:schemeClr>
                </a:solidFill>
                <a:latin typeface="+mn-lt"/>
              </a:rPr>
              <a:t> n-1    </a:t>
            </a:r>
            <a:r>
              <a:rPr lang="en-US" b="1" dirty="0">
                <a:solidFill>
                  <a:schemeClr val="tx1">
                    <a:lumMod val="65000"/>
                    <a:lumOff val="35000"/>
                  </a:schemeClr>
                </a:solidFill>
                <a:latin typeface="+mn-lt"/>
              </a:rPr>
              <a:t>2 </a:t>
            </a:r>
            <a:r>
              <a:rPr lang="en-US" b="1" baseline="30000" dirty="0">
                <a:solidFill>
                  <a:schemeClr val="tx1">
                    <a:lumMod val="65000"/>
                    <a:lumOff val="35000"/>
                  </a:schemeClr>
                </a:solidFill>
                <a:latin typeface="+mn-lt"/>
              </a:rPr>
              <a:t>n-1</a:t>
            </a:r>
            <a:r>
              <a:rPr lang="en-US" b="1" dirty="0">
                <a:solidFill>
                  <a:schemeClr val="tx1">
                    <a:lumMod val="65000"/>
                    <a:lumOff val="35000"/>
                  </a:schemeClr>
                </a:solidFill>
                <a:latin typeface="+mn-lt"/>
              </a:rPr>
              <a:t>  -1</a:t>
            </a:r>
          </a:p>
          <a:p>
            <a:r>
              <a:rPr lang="en-US" b="1" dirty="0">
                <a:solidFill>
                  <a:schemeClr val="tx1">
                    <a:lumMod val="65000"/>
                    <a:lumOff val="35000"/>
                  </a:schemeClr>
                </a:solidFill>
                <a:latin typeface="+mn-lt"/>
              </a:rPr>
              <a:t>                                      </a:t>
            </a:r>
            <a:r>
              <a:rPr lang="en-US" b="1" dirty="0" smtClean="0">
                <a:solidFill>
                  <a:schemeClr val="tx1">
                    <a:lumMod val="65000"/>
                    <a:lumOff val="35000"/>
                  </a:schemeClr>
                </a:solidFill>
                <a:latin typeface="+mn-lt"/>
              </a:rPr>
              <a:t>       </a:t>
            </a:r>
            <a:r>
              <a:rPr lang="en-US" b="1" dirty="0">
                <a:solidFill>
                  <a:schemeClr val="tx1">
                    <a:lumMod val="65000"/>
                    <a:lumOff val="35000"/>
                  </a:schemeClr>
                </a:solidFill>
                <a:latin typeface="+mn-lt"/>
              </a:rPr>
              <a:t>-2 </a:t>
            </a:r>
            <a:r>
              <a:rPr lang="en-US" b="1" baseline="30000" dirty="0">
                <a:solidFill>
                  <a:schemeClr val="tx1">
                    <a:lumMod val="65000"/>
                    <a:lumOff val="35000"/>
                  </a:schemeClr>
                </a:solidFill>
                <a:latin typeface="+mn-lt"/>
              </a:rPr>
              <a:t>4-1 </a:t>
            </a:r>
            <a:r>
              <a:rPr lang="en-US" b="1" dirty="0">
                <a:solidFill>
                  <a:schemeClr val="tx1">
                    <a:lumMod val="65000"/>
                    <a:lumOff val="35000"/>
                  </a:schemeClr>
                </a:solidFill>
                <a:latin typeface="+mn-lt"/>
              </a:rPr>
              <a:t>   2 </a:t>
            </a:r>
            <a:r>
              <a:rPr lang="en-US" b="1" baseline="30000" dirty="0">
                <a:solidFill>
                  <a:schemeClr val="tx1">
                    <a:lumMod val="65000"/>
                    <a:lumOff val="35000"/>
                  </a:schemeClr>
                </a:solidFill>
                <a:latin typeface="+mn-lt"/>
              </a:rPr>
              <a:t>4-1</a:t>
            </a:r>
            <a:r>
              <a:rPr lang="en-US" b="1" dirty="0">
                <a:solidFill>
                  <a:schemeClr val="tx1">
                    <a:lumMod val="65000"/>
                    <a:lumOff val="35000"/>
                  </a:schemeClr>
                </a:solidFill>
                <a:latin typeface="+mn-lt"/>
              </a:rPr>
              <a:t>  -1 = - 8 to 7 </a:t>
            </a:r>
          </a:p>
        </p:txBody>
      </p:sp>
      <p:sp>
        <p:nvSpPr>
          <p:cNvPr id="7" name="Rectangle 6"/>
          <p:cNvSpPr/>
          <p:nvPr/>
        </p:nvSpPr>
        <p:spPr>
          <a:xfrm>
            <a:off x="395536" y="5733208"/>
            <a:ext cx="9266838" cy="1261884"/>
          </a:xfrm>
          <a:prstGeom prst="rect">
            <a:avLst/>
          </a:prstGeom>
        </p:spPr>
        <p:txBody>
          <a:bodyPr wrap="square">
            <a:spAutoFit/>
          </a:bodyPr>
          <a:lstStyle/>
          <a:p>
            <a:r>
              <a:rPr lang="en-US" sz="2800" b="1" dirty="0" smtClean="0"/>
              <a:t> </a:t>
            </a:r>
            <a:r>
              <a:rPr lang="en-US" b="1" dirty="0">
                <a:solidFill>
                  <a:schemeClr val="tx1">
                    <a:lumMod val="65000"/>
                    <a:lumOff val="35000"/>
                  </a:schemeClr>
                </a:solidFill>
                <a:latin typeface="+mn-lt"/>
              </a:rPr>
              <a:t>Explicit </a:t>
            </a:r>
            <a:r>
              <a:rPr lang="en-US" b="1" dirty="0" smtClean="0">
                <a:solidFill>
                  <a:schemeClr val="tx1">
                    <a:lumMod val="65000"/>
                    <a:lumOff val="35000"/>
                  </a:schemeClr>
                </a:solidFill>
                <a:latin typeface="+mn-lt"/>
              </a:rPr>
              <a:t>Normalization =   (-</a:t>
            </a:r>
            <a:r>
              <a:rPr lang="en-US" b="1" dirty="0">
                <a:solidFill>
                  <a:schemeClr val="tx1">
                    <a:lumMod val="65000"/>
                    <a:lumOff val="35000"/>
                  </a:schemeClr>
                </a:solidFill>
                <a:latin typeface="+mn-lt"/>
              </a:rPr>
              <a:t>1) </a:t>
            </a:r>
            <a:r>
              <a:rPr lang="en-US" b="1" baseline="30000" dirty="0">
                <a:solidFill>
                  <a:schemeClr val="tx1">
                    <a:lumMod val="65000"/>
                    <a:lumOff val="35000"/>
                  </a:schemeClr>
                </a:solidFill>
                <a:latin typeface="+mn-lt"/>
              </a:rPr>
              <a:t>s </a:t>
            </a:r>
            <a:r>
              <a:rPr lang="en-US" b="1" dirty="0">
                <a:solidFill>
                  <a:schemeClr val="tx1">
                    <a:lumMod val="65000"/>
                    <a:lumOff val="35000"/>
                  </a:schemeClr>
                </a:solidFill>
                <a:latin typeface="+mn-lt"/>
              </a:rPr>
              <a:t>* 0.M * 2 </a:t>
            </a:r>
            <a:r>
              <a:rPr lang="en-US" b="1" baseline="30000" dirty="0">
                <a:solidFill>
                  <a:schemeClr val="tx1">
                    <a:lumMod val="65000"/>
                    <a:lumOff val="35000"/>
                  </a:schemeClr>
                </a:solidFill>
                <a:latin typeface="+mn-lt"/>
              </a:rPr>
              <a:t>E - </a:t>
            </a:r>
            <a:r>
              <a:rPr lang="en-US" b="1" baseline="30000" dirty="0" smtClean="0">
                <a:solidFill>
                  <a:schemeClr val="tx1">
                    <a:lumMod val="65000"/>
                    <a:lumOff val="35000"/>
                  </a:schemeClr>
                </a:solidFill>
                <a:latin typeface="+mn-lt"/>
              </a:rPr>
              <a:t>Bias</a:t>
            </a:r>
            <a:endParaRPr lang="en-US" b="1" dirty="0">
              <a:solidFill>
                <a:schemeClr val="tx1">
                  <a:lumMod val="65000"/>
                  <a:lumOff val="35000"/>
                </a:schemeClr>
              </a:solidFill>
              <a:latin typeface="+mn-lt"/>
            </a:endParaRPr>
          </a:p>
          <a:p>
            <a:r>
              <a:rPr lang="en-US" b="1" dirty="0" smtClean="0">
                <a:solidFill>
                  <a:schemeClr val="tx1">
                    <a:lumMod val="65000"/>
                    <a:lumOff val="35000"/>
                  </a:schemeClr>
                </a:solidFill>
                <a:latin typeface="+mn-lt"/>
              </a:rPr>
              <a:t> Implicit Normalization =   (-</a:t>
            </a:r>
            <a:r>
              <a:rPr lang="en-US" b="1" dirty="0">
                <a:solidFill>
                  <a:schemeClr val="tx1">
                    <a:lumMod val="65000"/>
                    <a:lumOff val="35000"/>
                  </a:schemeClr>
                </a:solidFill>
                <a:latin typeface="+mn-lt"/>
              </a:rPr>
              <a:t>1) </a:t>
            </a:r>
            <a:r>
              <a:rPr lang="en-US" b="1" baseline="30000" dirty="0">
                <a:solidFill>
                  <a:schemeClr val="tx1">
                    <a:lumMod val="65000"/>
                    <a:lumOff val="35000"/>
                  </a:schemeClr>
                </a:solidFill>
                <a:latin typeface="+mn-lt"/>
              </a:rPr>
              <a:t>s</a:t>
            </a:r>
            <a:r>
              <a:rPr lang="en-US" b="1" dirty="0">
                <a:solidFill>
                  <a:schemeClr val="tx1">
                    <a:lumMod val="65000"/>
                    <a:lumOff val="35000"/>
                  </a:schemeClr>
                </a:solidFill>
                <a:latin typeface="+mn-lt"/>
              </a:rPr>
              <a:t> * 1.M * 2 </a:t>
            </a:r>
            <a:r>
              <a:rPr lang="en-US" b="1" baseline="30000" dirty="0">
                <a:solidFill>
                  <a:schemeClr val="tx1">
                    <a:lumMod val="65000"/>
                    <a:lumOff val="35000"/>
                  </a:schemeClr>
                </a:solidFill>
                <a:latin typeface="+mn-lt"/>
              </a:rPr>
              <a:t>E - Bias</a:t>
            </a:r>
          </a:p>
          <a:p>
            <a:endParaRPr lang="en-US" b="1" dirty="0">
              <a:solidFill>
                <a:schemeClr val="tx1">
                  <a:lumMod val="65000"/>
                  <a:lumOff val="35000"/>
                </a:schemeClr>
              </a:solidFill>
              <a:latin typeface="+mn-lt"/>
            </a:endParaRPr>
          </a:p>
        </p:txBody>
      </p:sp>
      <p:pic>
        <p:nvPicPr>
          <p:cNvPr id="8" name="Picture 7"/>
          <p:cNvPicPr>
            <a:picLocks noChangeAspect="1"/>
          </p:cNvPicPr>
          <p:nvPr/>
        </p:nvPicPr>
        <p:blipFill>
          <a:blip r:embed="rId2"/>
          <a:stretch>
            <a:fillRect/>
          </a:stretch>
        </p:blipFill>
        <p:spPr>
          <a:xfrm>
            <a:off x="88913" y="597679"/>
            <a:ext cx="8987067" cy="4271481"/>
          </a:xfrm>
          <a:prstGeom prst="rect">
            <a:avLst/>
          </a:prstGeom>
        </p:spPr>
      </p:pic>
    </p:spTree>
    <p:extLst>
      <p:ext uri="{BB962C8B-B14F-4D97-AF65-F5344CB8AC3E}">
        <p14:creationId xmlns:p14="http://schemas.microsoft.com/office/powerpoint/2010/main" val="2334176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Floating-Point</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98474" y="1981200"/>
            <a:ext cx="7556313" cy="4495800"/>
          </a:xfrm>
        </p:spPr>
        <p:txBody>
          <a:bodyPr>
            <a:normAutofit lnSpcReduction="10000"/>
          </a:bodyPr>
          <a:lstStyle/>
          <a:p>
            <a:r>
              <a:rPr lang="en-US" dirty="0" smtClean="0"/>
              <a:t>The final portion of the word</a:t>
            </a:r>
          </a:p>
          <a:p>
            <a:r>
              <a:rPr lang="en-US" dirty="0" smtClean="0"/>
              <a:t>Any floating-point number can be expressed in many ways</a:t>
            </a:r>
          </a:p>
          <a:p>
            <a:endParaRPr lang="en-US" dirty="0" smtClean="0"/>
          </a:p>
          <a:p>
            <a:endParaRPr lang="en-US" dirty="0" smtClean="0"/>
          </a:p>
          <a:p>
            <a:endParaRPr lang="en-US" dirty="0" smtClean="0"/>
          </a:p>
          <a:p>
            <a:endParaRPr lang="en-US" dirty="0" smtClean="0"/>
          </a:p>
          <a:p>
            <a:endParaRPr lang="en-US" sz="1100" i="1" dirty="0" smtClean="0"/>
          </a:p>
          <a:p>
            <a:r>
              <a:rPr lang="en-US" i="1" dirty="0" smtClean="0"/>
              <a:t>Normal number</a:t>
            </a:r>
            <a:endParaRPr lang="en-US" dirty="0" smtClean="0"/>
          </a:p>
          <a:p>
            <a:pPr lvl="1"/>
            <a:r>
              <a:rPr lang="en-US" dirty="0" smtClean="0"/>
              <a:t>The most significant digit of the significand is nonzero</a:t>
            </a:r>
          </a:p>
        </p:txBody>
      </p:sp>
      <p:sp>
        <p:nvSpPr>
          <p:cNvPr id="5" name="Text Placeholder 4"/>
          <p:cNvSpPr>
            <a:spLocks noGrp="1"/>
          </p:cNvSpPr>
          <p:nvPr>
            <p:ph type="body" sz="half" idx="2"/>
          </p:nvPr>
        </p:nvSpPr>
        <p:spPr/>
        <p:txBody>
          <a:bodyPr/>
          <a:lstStyle/>
          <a:p>
            <a:r>
              <a:rPr lang="en-US" sz="3200" dirty="0" smtClean="0"/>
              <a:t>       Significand</a:t>
            </a:r>
          </a:p>
        </p:txBody>
      </p:sp>
      <p:sp>
        <p:nvSpPr>
          <p:cNvPr id="4" name="Rectangle 3"/>
          <p:cNvSpPr/>
          <p:nvPr/>
        </p:nvSpPr>
        <p:spPr>
          <a:xfrm>
            <a:off x="838200" y="3429000"/>
            <a:ext cx="6781800" cy="1631216"/>
          </a:xfrm>
          <a:prstGeom prst="rect">
            <a:avLst/>
          </a:prstGeom>
        </p:spPr>
        <p:txBody>
          <a:bodyPr wrap="square">
            <a:spAutoFit/>
          </a:bodyPr>
          <a:lstStyle/>
          <a:p>
            <a:r>
              <a:rPr lang="en-US" sz="2000" dirty="0">
                <a:solidFill>
                  <a:schemeClr val="tx1">
                    <a:lumMod val="65000"/>
                    <a:lumOff val="35000"/>
                  </a:schemeClr>
                </a:solidFill>
                <a:latin typeface="+mn-lt"/>
              </a:rPr>
              <a:t>The following are equivalent, where the significand is expressed in binary form:</a:t>
            </a:r>
            <a:endParaRPr lang="en-US" sz="2000" dirty="0" smtClean="0">
              <a:solidFill>
                <a:schemeClr val="tx1">
                  <a:lumMod val="65000"/>
                  <a:lumOff val="35000"/>
                </a:schemeClr>
              </a:solidFill>
              <a:latin typeface="+mn-lt"/>
            </a:endParaRPr>
          </a:p>
          <a:p>
            <a:r>
              <a:rPr lang="en-US" sz="2000" dirty="0" smtClean="0">
                <a:solidFill>
                  <a:schemeClr val="tx1">
                    <a:lumMod val="65000"/>
                    <a:lumOff val="35000"/>
                  </a:schemeClr>
                </a:solidFill>
                <a:latin typeface="+mn-lt"/>
              </a:rPr>
              <a:t>		0.110 </a:t>
            </a:r>
            <a:r>
              <a:rPr lang="en-US" sz="2000" dirty="0">
                <a:solidFill>
                  <a:schemeClr val="tx1">
                    <a:lumMod val="65000"/>
                    <a:lumOff val="35000"/>
                  </a:schemeClr>
                </a:solidFill>
                <a:latin typeface="+mn-lt"/>
              </a:rPr>
              <a:t>* 2</a:t>
            </a:r>
            <a:r>
              <a:rPr lang="en-US" sz="2000" baseline="30000" dirty="0">
                <a:solidFill>
                  <a:schemeClr val="tx1">
                    <a:lumMod val="65000"/>
                    <a:lumOff val="35000"/>
                  </a:schemeClr>
                </a:solidFill>
                <a:latin typeface="+mn-lt"/>
              </a:rPr>
              <a:t>5</a:t>
            </a:r>
            <a:endParaRPr lang="en-US" sz="2000" baseline="30000" dirty="0" smtClean="0">
              <a:solidFill>
                <a:schemeClr val="tx1">
                  <a:lumMod val="65000"/>
                  <a:lumOff val="35000"/>
                </a:schemeClr>
              </a:solidFill>
              <a:latin typeface="+mn-lt"/>
            </a:endParaRPr>
          </a:p>
          <a:p>
            <a:r>
              <a:rPr lang="en-US" sz="2000" dirty="0" smtClean="0">
                <a:solidFill>
                  <a:schemeClr val="tx1">
                    <a:lumMod val="65000"/>
                    <a:lumOff val="35000"/>
                  </a:schemeClr>
                </a:solidFill>
                <a:latin typeface="+mn-lt"/>
              </a:rPr>
              <a:t>		   110 </a:t>
            </a:r>
            <a:r>
              <a:rPr lang="en-US" sz="2000" dirty="0">
                <a:solidFill>
                  <a:schemeClr val="tx1">
                    <a:lumMod val="65000"/>
                    <a:lumOff val="35000"/>
                  </a:schemeClr>
                </a:solidFill>
                <a:latin typeface="+mn-lt"/>
              </a:rPr>
              <a:t>* 2</a:t>
            </a:r>
            <a:r>
              <a:rPr lang="en-US" sz="2000" baseline="30000" dirty="0">
                <a:solidFill>
                  <a:schemeClr val="tx1">
                    <a:lumMod val="65000"/>
                    <a:lumOff val="35000"/>
                  </a:schemeClr>
                </a:solidFill>
                <a:latin typeface="+mn-lt"/>
              </a:rPr>
              <a:t>2</a:t>
            </a:r>
            <a:endParaRPr lang="en-US" sz="2000" baseline="30000" dirty="0" smtClean="0">
              <a:solidFill>
                <a:schemeClr val="tx1">
                  <a:lumMod val="65000"/>
                  <a:lumOff val="35000"/>
                </a:schemeClr>
              </a:solidFill>
              <a:latin typeface="+mn-lt"/>
            </a:endParaRPr>
          </a:p>
          <a:p>
            <a:r>
              <a:rPr lang="en-US" sz="2000" dirty="0" smtClean="0">
                <a:solidFill>
                  <a:schemeClr val="tx1">
                    <a:lumMod val="65000"/>
                    <a:lumOff val="35000"/>
                  </a:schemeClr>
                </a:solidFill>
                <a:latin typeface="+mn-lt"/>
              </a:rPr>
              <a:t>	            0.0110 </a:t>
            </a:r>
            <a:r>
              <a:rPr lang="en-US" sz="2000" dirty="0">
                <a:solidFill>
                  <a:schemeClr val="tx1">
                    <a:lumMod val="65000"/>
                    <a:lumOff val="35000"/>
                  </a:schemeClr>
                </a:solidFill>
                <a:latin typeface="+mn-lt"/>
              </a:rPr>
              <a:t>* 2</a:t>
            </a:r>
            <a:r>
              <a:rPr lang="en-US" sz="2000" baseline="30000" dirty="0">
                <a:solidFill>
                  <a:schemeClr val="tx1">
                    <a:lumMod val="65000"/>
                    <a:lumOff val="35000"/>
                  </a:schemeClr>
                </a:solidFill>
                <a:latin typeface="+mn-lt"/>
              </a:rPr>
              <a:t>6</a:t>
            </a:r>
          </a:p>
        </p:txBody>
      </p:sp>
      <p:cxnSp>
        <p:nvCxnSpPr>
          <p:cNvPr id="7" name="Straight Connector 6"/>
          <p:cNvCxnSpPr/>
          <p:nvPr/>
        </p:nvCxnSpPr>
        <p:spPr>
          <a:xfrm>
            <a:off x="1676400" y="3276600"/>
            <a:ext cx="5029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1676400" y="5334000"/>
            <a:ext cx="5029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5" name="Picture 4" descr="f19.pdf"/>
          <p:cNvPicPr>
            <a:picLocks noChangeAspect="1"/>
          </p:cNvPicPr>
          <p:nvPr/>
        </p:nvPicPr>
        <p:blipFill rotWithShape="1">
          <a:blip r:embed="rId3">
            <a:extLst>
              <a:ext uri="{28A0092B-C50C-407E-A947-70E740481C1C}">
                <a14:useLocalDpi xmlns:a14="http://schemas.microsoft.com/office/drawing/2010/main" val="0"/>
              </a:ext>
            </a:extLst>
          </a:blip>
          <a:srcRect l="3967" t="13320" r="3642" b="12122"/>
          <a:stretch/>
        </p:blipFill>
        <p:spPr>
          <a:xfrm>
            <a:off x="0" y="614738"/>
            <a:ext cx="9144000" cy="5701996"/>
          </a:xfrm>
          <a:prstGeom prst="rect">
            <a:avLst/>
          </a:prstGeom>
        </p:spPr>
      </p:pic>
    </p:spTree>
  </p:cSld>
  <p:clrMapOvr>
    <a:masterClrMapping/>
  </p:clrMapOvr>
  <p:transition spd="med">
    <p:dissolv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68678"/>
            <a:ext cx="7556313" cy="1116106"/>
          </a:xfrm>
        </p:spPr>
        <p:txBody>
          <a:bodyPr/>
          <a:lstStyle/>
          <a:p>
            <a:r>
              <a:rPr lang="en-US" dirty="0" smtClean="0"/>
              <a:t>Questions for practice</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1186" y="1217954"/>
            <a:ext cx="8640960" cy="5570756"/>
          </a:xfrm>
          <a:prstGeom prst="rect">
            <a:avLst/>
          </a:prstGeom>
        </p:spPr>
        <p:txBody>
          <a:bodyPr wrap="square">
            <a:spAutoFit/>
          </a:bodyPr>
          <a:lstStyle/>
          <a:p>
            <a:pPr lvl="1"/>
            <a:r>
              <a:rPr lang="en-US" sz="2200" b="1" dirty="0">
                <a:solidFill>
                  <a:schemeClr val="tx1">
                    <a:lumMod val="65000"/>
                    <a:lumOff val="35000"/>
                  </a:schemeClr>
                </a:solidFill>
                <a:latin typeface="+mn-lt"/>
              </a:rPr>
              <a:t>Convert the following numbers into normalized form?</a:t>
            </a:r>
          </a:p>
          <a:p>
            <a:pPr marL="800100" lvl="1" indent="-342900">
              <a:buFont typeface="Arial" panose="020B0604020202020204" pitchFamily="34" charset="0"/>
              <a:buChar char="•"/>
            </a:pPr>
            <a:r>
              <a:rPr lang="en-US" b="1" dirty="0">
                <a:solidFill>
                  <a:schemeClr val="tx1">
                    <a:lumMod val="65000"/>
                    <a:lumOff val="35000"/>
                  </a:schemeClr>
                </a:solidFill>
                <a:latin typeface="+mn-lt"/>
              </a:rPr>
              <a:t>5₁₀</a:t>
            </a:r>
          </a:p>
          <a:p>
            <a:pPr marL="800100" lvl="1" indent="-342900">
              <a:buFont typeface="Arial" panose="020B0604020202020204" pitchFamily="34" charset="0"/>
              <a:buChar char="•"/>
            </a:pPr>
            <a:r>
              <a:rPr lang="en-US" b="1" dirty="0">
                <a:solidFill>
                  <a:schemeClr val="tx1">
                    <a:lumMod val="65000"/>
                    <a:lumOff val="35000"/>
                  </a:schemeClr>
                </a:solidFill>
                <a:latin typeface="+mn-lt"/>
              </a:rPr>
              <a:t>0.25 ₁₀</a:t>
            </a:r>
          </a:p>
          <a:p>
            <a:pPr marL="800100" lvl="1" indent="-342900">
              <a:buFont typeface="Arial" panose="020B0604020202020204" pitchFamily="34" charset="0"/>
              <a:buChar char="•"/>
            </a:pPr>
            <a:r>
              <a:rPr lang="en-US" b="1" dirty="0">
                <a:solidFill>
                  <a:schemeClr val="tx1">
                    <a:lumMod val="65000"/>
                    <a:lumOff val="35000"/>
                  </a:schemeClr>
                </a:solidFill>
                <a:latin typeface="+mn-lt"/>
              </a:rPr>
              <a:t>10.25 ₁₀</a:t>
            </a:r>
          </a:p>
          <a:p>
            <a:pPr marL="800100" lvl="1" indent="-342900">
              <a:buFont typeface="Arial" panose="020B0604020202020204" pitchFamily="34" charset="0"/>
              <a:buChar char="•"/>
            </a:pPr>
            <a:r>
              <a:rPr lang="en-US" b="1" dirty="0">
                <a:solidFill>
                  <a:schemeClr val="tx1">
                    <a:lumMod val="65000"/>
                    <a:lumOff val="35000"/>
                  </a:schemeClr>
                </a:solidFill>
                <a:latin typeface="+mn-lt"/>
              </a:rPr>
              <a:t>- 4.5 ₁₀</a:t>
            </a:r>
          </a:p>
          <a:p>
            <a:pPr marL="800100" lvl="1" indent="-342900">
              <a:buFont typeface="Arial" panose="020B0604020202020204" pitchFamily="34" charset="0"/>
              <a:buChar char="•"/>
            </a:pPr>
            <a:r>
              <a:rPr lang="en-US" b="1" dirty="0" smtClean="0">
                <a:solidFill>
                  <a:schemeClr val="tx1">
                    <a:lumMod val="65000"/>
                    <a:lumOff val="35000"/>
                  </a:schemeClr>
                </a:solidFill>
              </a:rPr>
              <a:t> </a:t>
            </a:r>
            <a:r>
              <a:rPr lang="en-US" b="1" dirty="0">
                <a:solidFill>
                  <a:schemeClr val="tx1">
                    <a:lumMod val="65000"/>
                    <a:lumOff val="35000"/>
                  </a:schemeClr>
                </a:solidFill>
                <a:latin typeface="+mn-lt"/>
              </a:rPr>
              <a:t>101.101 </a:t>
            </a:r>
            <a:r>
              <a:rPr lang="en-US" dirty="0">
                <a:solidFill>
                  <a:schemeClr val="tx1">
                    <a:lumMod val="65000"/>
                    <a:lumOff val="35000"/>
                  </a:schemeClr>
                </a:solidFill>
                <a:latin typeface="+mn-lt"/>
              </a:rPr>
              <a:t>– </a:t>
            </a:r>
            <a:r>
              <a:rPr lang="en-US" sz="2000" dirty="0">
                <a:solidFill>
                  <a:schemeClr val="tx1">
                    <a:lumMod val="65000"/>
                    <a:lumOff val="35000"/>
                  </a:schemeClr>
                </a:solidFill>
                <a:latin typeface="+mn-lt"/>
              </a:rPr>
              <a:t>Explicit &amp; Implicit</a:t>
            </a:r>
          </a:p>
          <a:p>
            <a:pPr lvl="1"/>
            <a:endParaRPr lang="en-US" altLang="en-US" sz="1800" b="1" dirty="0" smtClean="0">
              <a:solidFill>
                <a:schemeClr val="tx1">
                  <a:lumMod val="65000"/>
                  <a:lumOff val="35000"/>
                </a:schemeClr>
              </a:solidFill>
              <a:latin typeface="Arial" panose="020B0604020202020204" pitchFamily="34" charset="0"/>
            </a:endParaRPr>
          </a:p>
          <a:p>
            <a:pPr lvl="1"/>
            <a:r>
              <a:rPr lang="en-US" altLang="en-US" b="1" dirty="0">
                <a:solidFill>
                  <a:schemeClr val="tx1">
                    <a:lumMod val="65000"/>
                    <a:lumOff val="35000"/>
                  </a:schemeClr>
                </a:solidFill>
                <a:latin typeface="+mn-lt"/>
              </a:rPr>
              <a:t>Given Format:</a:t>
            </a:r>
          </a:p>
          <a:p>
            <a:pPr marL="800100" lvl="1" indent="-342900">
              <a:buFont typeface="Arial" panose="020B0604020202020204" pitchFamily="34" charset="0"/>
              <a:buChar char="•"/>
            </a:pPr>
            <a:r>
              <a:rPr lang="en-US" altLang="en-US" sz="2200" b="1" dirty="0">
                <a:solidFill>
                  <a:schemeClr val="tx1">
                    <a:lumMod val="65000"/>
                    <a:lumOff val="35000"/>
                  </a:schemeClr>
                </a:solidFill>
                <a:latin typeface="+mn-lt"/>
              </a:rPr>
              <a:t>Sign = 1 bit </a:t>
            </a:r>
          </a:p>
          <a:p>
            <a:pPr marL="800100" lvl="1" indent="-342900">
              <a:buFont typeface="Arial" panose="020B0604020202020204" pitchFamily="34" charset="0"/>
              <a:buChar char="•"/>
            </a:pPr>
            <a:r>
              <a:rPr lang="en-US" altLang="en-US" sz="2200" b="1" dirty="0">
                <a:solidFill>
                  <a:schemeClr val="tx1">
                    <a:lumMod val="65000"/>
                    <a:lumOff val="35000"/>
                  </a:schemeClr>
                </a:solidFill>
                <a:latin typeface="+mn-lt"/>
              </a:rPr>
              <a:t>Exponent = 3 bits (bias = 3) </a:t>
            </a:r>
          </a:p>
          <a:p>
            <a:pPr marL="800100" lvl="1" indent="-342900">
              <a:buFont typeface="Arial" panose="020B0604020202020204" pitchFamily="34" charset="0"/>
              <a:buChar char="•"/>
            </a:pPr>
            <a:r>
              <a:rPr lang="en-US" altLang="en-US" sz="2200" b="1" dirty="0">
                <a:solidFill>
                  <a:schemeClr val="tx1">
                    <a:lumMod val="65000"/>
                    <a:lumOff val="35000"/>
                  </a:schemeClr>
                </a:solidFill>
                <a:latin typeface="+mn-lt"/>
              </a:rPr>
              <a:t>Mantissa = 4 bits </a:t>
            </a:r>
            <a:endParaRPr lang="en-US" altLang="en-US" sz="2200" b="1" dirty="0" smtClean="0">
              <a:solidFill>
                <a:schemeClr val="tx1">
                  <a:lumMod val="65000"/>
                  <a:lumOff val="35000"/>
                </a:schemeClr>
              </a:solidFill>
              <a:latin typeface="+mn-lt"/>
            </a:endParaRPr>
          </a:p>
          <a:p>
            <a:pPr marL="1371600" lvl="2" indent="-457200">
              <a:buFont typeface="+mj-lt"/>
              <a:buAutoNum type="arabicPeriod"/>
            </a:pPr>
            <a:r>
              <a:rPr lang="en-US" altLang="en-US" sz="2200" b="1" dirty="0" smtClean="0">
                <a:solidFill>
                  <a:schemeClr val="tx1">
                    <a:lumMod val="65000"/>
                    <a:lumOff val="35000"/>
                  </a:schemeClr>
                </a:solidFill>
                <a:latin typeface="+mn-lt"/>
              </a:rPr>
              <a:t>101.1</a:t>
            </a:r>
          </a:p>
          <a:p>
            <a:pPr marL="1371600" lvl="2" indent="-457200">
              <a:buFont typeface="+mj-lt"/>
              <a:buAutoNum type="arabicPeriod"/>
            </a:pPr>
            <a:r>
              <a:rPr lang="en-US" altLang="en-US" sz="2200" b="1" dirty="0" smtClean="0">
                <a:solidFill>
                  <a:schemeClr val="tx1">
                    <a:lumMod val="65000"/>
                    <a:lumOff val="35000"/>
                  </a:schemeClr>
                </a:solidFill>
                <a:latin typeface="+mn-lt"/>
              </a:rPr>
              <a:t>0.011</a:t>
            </a:r>
          </a:p>
          <a:p>
            <a:pPr marL="1371600" lvl="2" indent="-457200">
              <a:buFont typeface="+mj-lt"/>
              <a:buAutoNum type="arabicPeriod"/>
            </a:pPr>
            <a:r>
              <a:rPr lang="en-US" altLang="en-US" sz="2200" b="1" dirty="0" smtClean="0">
                <a:solidFill>
                  <a:schemeClr val="tx1">
                    <a:lumMod val="65000"/>
                    <a:lumOff val="35000"/>
                  </a:schemeClr>
                </a:solidFill>
                <a:latin typeface="+mn-lt"/>
              </a:rPr>
              <a:t>110.01</a:t>
            </a:r>
            <a:endParaRPr lang="en-US" altLang="en-US" sz="2200" b="1" dirty="0">
              <a:solidFill>
                <a:schemeClr val="tx1">
                  <a:lumMod val="65000"/>
                  <a:lumOff val="35000"/>
                </a:schemeClr>
              </a:solidFill>
              <a:latin typeface="+mn-lt"/>
            </a:endParaRPr>
          </a:p>
          <a:p>
            <a:pPr marL="800100" lvl="1" indent="-342900">
              <a:buFont typeface="Arial" panose="020B0604020202020204" pitchFamily="34" charset="0"/>
              <a:buChar char="•"/>
            </a:pPr>
            <a:endParaRPr lang="en-US" b="1" dirty="0">
              <a:solidFill>
                <a:schemeClr val="tx1">
                  <a:lumMod val="65000"/>
                  <a:lumOff val="35000"/>
                </a:schemeClr>
              </a:solidFill>
            </a:endParaRPr>
          </a:p>
          <a:p>
            <a:endParaRPr lang="en-US" b="1" baseline="30000" dirty="0">
              <a:solidFill>
                <a:schemeClr val="tx1">
                  <a:lumMod val="65000"/>
                  <a:lumOff val="35000"/>
                </a:schemeClr>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4025473542"/>
              </p:ext>
            </p:extLst>
          </p:nvPr>
        </p:nvGraphicFramePr>
        <p:xfrm>
          <a:off x="4716016" y="3068960"/>
          <a:ext cx="3813246" cy="396240"/>
        </p:xfrm>
        <a:graphic>
          <a:graphicData uri="http://schemas.openxmlformats.org/drawingml/2006/table">
            <a:tbl>
              <a:tblPr firstRow="1" bandRow="1">
                <a:tableStyleId>{F5AB1C69-6EDB-4FF4-983F-18BD219EF322}</a:tableStyleId>
              </a:tblPr>
              <a:tblGrid>
                <a:gridCol w="1271082">
                  <a:extLst>
                    <a:ext uri="{9D8B030D-6E8A-4147-A177-3AD203B41FA5}">
                      <a16:colId xmlns:a16="http://schemas.microsoft.com/office/drawing/2014/main" val="1832453531"/>
                    </a:ext>
                  </a:extLst>
                </a:gridCol>
                <a:gridCol w="1271082">
                  <a:extLst>
                    <a:ext uri="{9D8B030D-6E8A-4147-A177-3AD203B41FA5}">
                      <a16:colId xmlns:a16="http://schemas.microsoft.com/office/drawing/2014/main" val="2488068505"/>
                    </a:ext>
                  </a:extLst>
                </a:gridCol>
                <a:gridCol w="1271082">
                  <a:extLst>
                    <a:ext uri="{9D8B030D-6E8A-4147-A177-3AD203B41FA5}">
                      <a16:colId xmlns:a16="http://schemas.microsoft.com/office/drawing/2014/main" val="2145074256"/>
                    </a:ext>
                  </a:extLst>
                </a:gridCol>
              </a:tblGrid>
              <a:tr h="370840">
                <a:tc>
                  <a:txBody>
                    <a:bodyPr/>
                    <a:lstStyle/>
                    <a:p>
                      <a:pPr algn="ctr"/>
                      <a:r>
                        <a:rPr lang="en-US" sz="2000" kern="1200" dirty="0" smtClean="0">
                          <a:solidFill>
                            <a:schemeClr val="bg1"/>
                          </a:solidFill>
                          <a:latin typeface="+mn-lt"/>
                          <a:ea typeface="+mn-ea"/>
                          <a:cs typeface="+mn-cs"/>
                        </a:rPr>
                        <a:t>S</a:t>
                      </a:r>
                      <a:endParaRPr lang="en-US" sz="2000" kern="1200" dirty="0">
                        <a:solidFill>
                          <a:schemeClr val="bg1"/>
                        </a:solidFill>
                        <a:latin typeface="+mn-lt"/>
                        <a:ea typeface="+mn-ea"/>
                        <a:cs typeface="+mn-cs"/>
                      </a:endParaRPr>
                    </a:p>
                  </a:txBody>
                  <a:tcPr/>
                </a:tc>
                <a:tc>
                  <a:txBody>
                    <a:bodyPr/>
                    <a:lstStyle/>
                    <a:p>
                      <a:pPr algn="ctr"/>
                      <a:r>
                        <a:rPr lang="en-US" sz="2000" kern="1200" dirty="0" smtClean="0">
                          <a:solidFill>
                            <a:schemeClr val="bg1"/>
                          </a:solidFill>
                          <a:latin typeface="+mn-lt"/>
                          <a:ea typeface="+mn-ea"/>
                          <a:cs typeface="+mn-cs"/>
                        </a:rPr>
                        <a:t>E (4</a:t>
                      </a:r>
                      <a:r>
                        <a:rPr lang="en-US" sz="2000" kern="1200" baseline="0" dirty="0" smtClean="0">
                          <a:solidFill>
                            <a:schemeClr val="bg1"/>
                          </a:solidFill>
                          <a:latin typeface="+mn-lt"/>
                          <a:ea typeface="+mn-ea"/>
                          <a:cs typeface="+mn-cs"/>
                        </a:rPr>
                        <a:t> bits)</a:t>
                      </a:r>
                      <a:endParaRPr lang="en-US" sz="2000" kern="1200" dirty="0">
                        <a:solidFill>
                          <a:schemeClr val="bg1"/>
                        </a:solidFill>
                        <a:latin typeface="+mn-lt"/>
                        <a:ea typeface="+mn-ea"/>
                        <a:cs typeface="+mn-cs"/>
                      </a:endParaRPr>
                    </a:p>
                  </a:txBody>
                  <a:tcPr/>
                </a:tc>
                <a:tc>
                  <a:txBody>
                    <a:bodyPr/>
                    <a:lstStyle/>
                    <a:p>
                      <a:pPr algn="ctr"/>
                      <a:r>
                        <a:rPr lang="en-US" sz="2000" kern="1200" dirty="0" smtClean="0">
                          <a:solidFill>
                            <a:schemeClr val="bg1"/>
                          </a:solidFill>
                          <a:latin typeface="+mn-lt"/>
                          <a:ea typeface="+mn-ea"/>
                          <a:cs typeface="+mn-cs"/>
                        </a:rPr>
                        <a:t>M</a:t>
                      </a:r>
                      <a:r>
                        <a:rPr lang="en-US" sz="2000" kern="1200" baseline="0" dirty="0" smtClean="0">
                          <a:solidFill>
                            <a:schemeClr val="bg1"/>
                          </a:solidFill>
                          <a:latin typeface="+mn-lt"/>
                          <a:ea typeface="+mn-ea"/>
                          <a:cs typeface="+mn-cs"/>
                        </a:rPr>
                        <a:t> (5 bit)</a:t>
                      </a:r>
                      <a:endParaRPr lang="en-US" sz="2000" kern="1200" dirty="0">
                        <a:solidFill>
                          <a:schemeClr val="bg1"/>
                        </a:solidFill>
                        <a:latin typeface="+mn-lt"/>
                        <a:ea typeface="+mn-ea"/>
                        <a:cs typeface="+mn-cs"/>
                      </a:endParaRPr>
                    </a:p>
                  </a:txBody>
                  <a:tcPr/>
                </a:tc>
                <a:extLst>
                  <a:ext uri="{0D108BD9-81ED-4DB2-BD59-A6C34878D82A}">
                    <a16:rowId xmlns:a16="http://schemas.microsoft.com/office/drawing/2014/main" val="1607527858"/>
                  </a:ext>
                </a:extLst>
              </a:tr>
            </a:tbl>
          </a:graphicData>
        </a:graphic>
      </p:graphicFrame>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37808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533400" y="228600"/>
            <a:ext cx="7556500" cy="1116013"/>
          </a:xfrm>
        </p:spPr>
        <p:txBody>
          <a:bodyPr/>
          <a:lstStyle/>
          <a:p>
            <a:r>
              <a:rPr lang="en-US" dirty="0">
                <a:solidFill>
                  <a:schemeClr val="accent3">
                    <a:lumMod val="50000"/>
                  </a:schemeClr>
                </a:solidFill>
                <a:effectLst>
                  <a:outerShdw blurRad="38100" dist="38100" dir="2700000" algn="tl">
                    <a:srgbClr val="000000">
                      <a:alpha val="43137"/>
                    </a:srgbClr>
                  </a:outerShdw>
                </a:effectLst>
              </a:rPr>
              <a:t>IEEE</a:t>
            </a:r>
            <a:r>
              <a:rPr lang="en-US" dirty="0" smtClean="0">
                <a:solidFill>
                  <a:schemeClr val="accent3">
                    <a:lumMod val="50000"/>
                  </a:schemeClr>
                </a:solidFill>
                <a:effectLst>
                  <a:outerShdw blurRad="38100" dist="38100" dir="2700000" algn="tl">
                    <a:srgbClr val="000000">
                      <a:alpha val="43137"/>
                    </a:srgbClr>
                  </a:outerShdw>
                </a:effectLst>
              </a:rPr>
              <a:t> Standard 754</a:t>
            </a:r>
            <a:endParaRPr lang="en-US" dirty="0">
              <a:solidFill>
                <a:schemeClr val="accent3">
                  <a:lumMod val="50000"/>
                </a:schemeClr>
              </a:solidFill>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782022442"/>
              </p:ext>
            </p:extLst>
          </p:nvPr>
        </p:nvGraphicFramePr>
        <p:xfrm>
          <a:off x="381000" y="1371600"/>
          <a:ext cx="84582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IEEE 754-2008</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98474" y="1676400"/>
            <a:ext cx="7556313" cy="4724400"/>
          </a:xfrm>
        </p:spPr>
        <p:txBody>
          <a:bodyPr>
            <a:normAutofit fontScale="92500" lnSpcReduction="10000"/>
          </a:bodyPr>
          <a:lstStyle/>
          <a:p>
            <a:r>
              <a:rPr lang="en-US" dirty="0" smtClean="0"/>
              <a:t>Defines the following different types of floating-point formats:</a:t>
            </a:r>
          </a:p>
          <a:p>
            <a:r>
              <a:rPr lang="en-US" dirty="0" smtClean="0"/>
              <a:t>Arithmetic format</a:t>
            </a:r>
          </a:p>
          <a:p>
            <a:pPr lvl="1"/>
            <a:r>
              <a:rPr lang="en-US" dirty="0" smtClean="0"/>
              <a:t>All the mandatory operations defined by the standard are supported by the format.  The format may be used to represent floating-point operands or results for the operations described in the standard.</a:t>
            </a:r>
          </a:p>
          <a:p>
            <a:r>
              <a:rPr lang="en-US" dirty="0" smtClean="0"/>
              <a:t>Basic format</a:t>
            </a:r>
          </a:p>
          <a:p>
            <a:pPr lvl="1"/>
            <a:r>
              <a:rPr lang="en-US" dirty="0" smtClean="0"/>
              <a:t>This format covers five floating-point representations, three binary and two decimal:</a:t>
            </a:r>
          </a:p>
          <a:p>
            <a:pPr lvl="2"/>
            <a:r>
              <a:rPr lang="en-US" b="1" dirty="0" smtClean="0"/>
              <a:t>Binary: </a:t>
            </a:r>
            <a:r>
              <a:rPr lang="en-US" dirty="0" smtClean="0"/>
              <a:t>32 bit (Single Precision), 64 bit (double), 128 bit Quad)</a:t>
            </a:r>
          </a:p>
          <a:p>
            <a:pPr lvl="2"/>
            <a:r>
              <a:rPr lang="en-US" b="1" dirty="0" smtClean="0"/>
              <a:t>Decimal: </a:t>
            </a:r>
            <a:r>
              <a:rPr lang="en-US" dirty="0" smtClean="0"/>
              <a:t>64 bit, and 128 bit</a:t>
            </a:r>
          </a:p>
          <a:p>
            <a:r>
              <a:rPr lang="en-US" dirty="0" smtClean="0"/>
              <a:t>Interchange format</a:t>
            </a:r>
          </a:p>
          <a:p>
            <a:pPr lvl="1"/>
            <a:r>
              <a:rPr lang="en-US" dirty="0" smtClean="0"/>
              <a:t>A fully specified, fixed-length binary encoding that allows data interchange between different platforms and that can be used for storage.</a:t>
            </a:r>
            <a:endParaRPr lang="en-US" dirty="0"/>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21.pdf"/>
          <p:cNvPicPr>
            <a:picLocks noChangeAspect="1"/>
          </p:cNvPicPr>
          <p:nvPr/>
        </p:nvPicPr>
        <p:blipFill rotWithShape="1">
          <a:blip r:embed="rId3">
            <a:extLst>
              <a:ext uri="{28A0092B-C50C-407E-A947-70E740481C1C}">
                <a14:useLocalDpi xmlns:a14="http://schemas.microsoft.com/office/drawing/2010/main" val="0"/>
              </a:ext>
            </a:extLst>
          </a:blip>
          <a:srcRect t="19330" b="15046"/>
          <a:stretch/>
        </p:blipFill>
        <p:spPr>
          <a:xfrm>
            <a:off x="467544" y="0"/>
            <a:ext cx="7959667" cy="6759799"/>
          </a:xfrm>
          <a:prstGeom prst="rect">
            <a:avLst/>
          </a:prstGeom>
        </p:spPr>
      </p:pic>
      <p:sp>
        <p:nvSpPr>
          <p:cNvPr id="4" name="Rectangle 3"/>
          <p:cNvSpPr/>
          <p:nvPr/>
        </p:nvSpPr>
        <p:spPr>
          <a:xfrm>
            <a:off x="4537660" y="1050773"/>
            <a:ext cx="4572000" cy="2340128"/>
          </a:xfrm>
          <a:prstGeom prst="rect">
            <a:avLst/>
          </a:prstGeom>
        </p:spPr>
        <p:txBody>
          <a:bodyPr>
            <a:spAutoFit/>
          </a:bodyPr>
          <a:lstStyle/>
          <a:p>
            <a:pPr marL="228600" indent="-228600" algn="just" eaLnBrk="1" hangingPunct="1">
              <a:lnSpc>
                <a:spcPct val="120000"/>
              </a:lnSpc>
              <a:spcBef>
                <a:spcPts val="1400"/>
              </a:spcBef>
              <a:buClr>
                <a:schemeClr val="accent1"/>
              </a:buClr>
              <a:buSzPct val="75000"/>
              <a:buFont typeface="Wingdings" pitchFamily="2" charset="2"/>
              <a:buChar char="n"/>
            </a:pPr>
            <a:r>
              <a:rPr lang="en-US" sz="1600" dirty="0">
                <a:solidFill>
                  <a:schemeClr val="tx1">
                    <a:lumMod val="65000"/>
                    <a:lumOff val="35000"/>
                  </a:schemeClr>
                </a:solidFill>
                <a:latin typeface="+mn-lt"/>
              </a:rPr>
              <a:t>A biased exponent is a way of storing the exponent in floating-point numbers by adding a fixed value (bias) to it so that we can represent both positive and negative exponents using only unsigned binary </a:t>
            </a:r>
            <a:r>
              <a:rPr lang="en-US" sz="1600" dirty="0" smtClean="0">
                <a:solidFill>
                  <a:schemeClr val="tx1">
                    <a:lumMod val="65000"/>
                    <a:lumOff val="35000"/>
                  </a:schemeClr>
                </a:solidFill>
                <a:latin typeface="+mn-lt"/>
              </a:rPr>
              <a:t>numbers.</a:t>
            </a:r>
          </a:p>
          <a:p>
            <a:pPr algn="just" eaLnBrk="1" hangingPunct="1">
              <a:lnSpc>
                <a:spcPct val="120000"/>
              </a:lnSpc>
              <a:spcBef>
                <a:spcPts val="1400"/>
              </a:spcBef>
              <a:buClr>
                <a:schemeClr val="accent1"/>
              </a:buClr>
              <a:buSzPct val="75000"/>
            </a:pPr>
            <a:r>
              <a:rPr lang="en-US" sz="1600" b="1" dirty="0">
                <a:solidFill>
                  <a:schemeClr val="tx1">
                    <a:lumMod val="65000"/>
                    <a:lumOff val="35000"/>
                  </a:schemeClr>
                </a:solidFill>
                <a:latin typeface="+mn-lt"/>
              </a:rPr>
              <a:t> </a:t>
            </a:r>
            <a:r>
              <a:rPr lang="en-US" sz="1600" b="1" dirty="0" smtClean="0">
                <a:solidFill>
                  <a:schemeClr val="tx1">
                    <a:lumMod val="65000"/>
                    <a:lumOff val="35000"/>
                  </a:schemeClr>
                </a:solidFill>
                <a:latin typeface="+mn-lt"/>
              </a:rPr>
              <a:t>      </a:t>
            </a:r>
            <a:r>
              <a:rPr lang="en-US" sz="1600" b="1" dirty="0" smtClean="0"/>
              <a:t>Stored</a:t>
            </a:r>
            <a:r>
              <a:rPr lang="en-US" sz="1600" b="1" dirty="0"/>
              <a:t> Exponent=Actual </a:t>
            </a:r>
            <a:r>
              <a:rPr lang="en-US" sz="1600" b="1" dirty="0" smtClean="0"/>
              <a:t>Exponent + Bias</a:t>
            </a:r>
            <a:endParaRPr lang="en-US" sz="1600" b="1" dirty="0">
              <a:solidFill>
                <a:schemeClr val="tx1">
                  <a:lumMod val="65000"/>
                  <a:lumOff val="35000"/>
                </a:schemeClr>
              </a:solidFill>
              <a:latin typeface="+mn-lt"/>
            </a:endParaRPr>
          </a:p>
        </p:txBody>
      </p:sp>
    </p:spTree>
  </p:cSld>
  <p:clrMapOvr>
    <a:masterClrMapping/>
  </p:clrMapOvr>
  <p:transition spd="med">
    <p:dissolv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09600" y="228600"/>
            <a:ext cx="7556313" cy="995082"/>
          </a:xfrm>
        </p:spPr>
        <p:txBody>
          <a:bodyPr/>
          <a:lstStyle/>
          <a:p>
            <a:r>
              <a:rPr lang="en-US" dirty="0" smtClean="0">
                <a:effectLst>
                  <a:outerShdw blurRad="38100" dist="38100" dir="2700000" algn="tl">
                    <a:srgbClr val="000000">
                      <a:alpha val="43137"/>
                    </a:srgbClr>
                  </a:outerShdw>
                </a:effectLst>
              </a:rPr>
              <a:t>Precision Considerations</a:t>
            </a:r>
            <a:endParaRPr lang="en-US" dirty="0">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498474" y="1981200"/>
            <a:ext cx="7961958" cy="4688160"/>
          </a:xfrm>
        </p:spPr>
        <p:txBody>
          <a:bodyPr>
            <a:normAutofit fontScale="92500" lnSpcReduction="10000"/>
          </a:bodyPr>
          <a:lstStyle/>
          <a:p>
            <a:pPr>
              <a:spcAft>
                <a:spcPts val="1200"/>
              </a:spcAft>
            </a:pPr>
            <a:r>
              <a:rPr lang="en-US" sz="2600" dirty="0" smtClean="0"/>
              <a:t>IEEE standard approaches:</a:t>
            </a:r>
          </a:p>
          <a:p>
            <a:pPr lvl="1">
              <a:lnSpc>
                <a:spcPct val="80000"/>
              </a:lnSpc>
              <a:spcBef>
                <a:spcPts val="1200"/>
              </a:spcBef>
            </a:pPr>
            <a:r>
              <a:rPr lang="en-US" sz="2400" dirty="0" smtClean="0"/>
              <a:t>Round to nearest: </a:t>
            </a:r>
          </a:p>
          <a:p>
            <a:pPr lvl="2">
              <a:lnSpc>
                <a:spcPct val="80000"/>
              </a:lnSpc>
              <a:spcBef>
                <a:spcPts val="1200"/>
              </a:spcBef>
            </a:pPr>
            <a:r>
              <a:rPr lang="en-US" sz="2000" dirty="0" smtClean="0"/>
              <a:t>The result is rounded to the nearest representable number. Ex:  </a:t>
            </a:r>
            <a:r>
              <a:rPr lang="en-US" altLang="en-US" sz="1800" dirty="0" smtClean="0">
                <a:solidFill>
                  <a:schemeClr val="tx1"/>
                </a:solidFill>
                <a:latin typeface="Arial" panose="020B0604020202020204" pitchFamily="34" charset="0"/>
              </a:rPr>
              <a:t>Value</a:t>
            </a:r>
            <a:r>
              <a:rPr lang="en-US" altLang="en-US" sz="2100" dirty="0"/>
              <a:t>: </a:t>
            </a:r>
            <a:r>
              <a:rPr lang="en-US" altLang="en-US" sz="2100" b="1" dirty="0"/>
              <a:t>2.6 → 3 </a:t>
            </a:r>
            <a:r>
              <a:rPr lang="en-US" altLang="en-US" sz="2100" dirty="0"/>
              <a:t>, Value: </a:t>
            </a:r>
            <a:r>
              <a:rPr lang="en-US" altLang="en-US" sz="2100" b="1" dirty="0"/>
              <a:t>2.4 → 2  </a:t>
            </a:r>
            <a:r>
              <a:rPr lang="en-US" altLang="en-US" sz="2100" dirty="0"/>
              <a:t>Value: </a:t>
            </a:r>
            <a:r>
              <a:rPr lang="en-US" altLang="en-US" sz="2100" b="1" dirty="0"/>
              <a:t>2.5 → 2 (even) </a:t>
            </a:r>
            <a:endParaRPr lang="en-US" sz="2000" dirty="0" smtClean="0"/>
          </a:p>
          <a:p>
            <a:pPr lvl="1">
              <a:lnSpc>
                <a:spcPct val="80000"/>
              </a:lnSpc>
              <a:spcBef>
                <a:spcPts val="1200"/>
              </a:spcBef>
            </a:pPr>
            <a:r>
              <a:rPr lang="en-US" sz="2400" dirty="0" smtClean="0"/>
              <a:t>Round toward +∞</a:t>
            </a:r>
            <a:r>
              <a:rPr lang="en-US" sz="2400" baseline="30000" dirty="0" smtClean="0"/>
              <a:t> </a:t>
            </a:r>
            <a:r>
              <a:rPr lang="en-US" sz="2400" dirty="0" smtClean="0"/>
              <a:t>:</a:t>
            </a:r>
          </a:p>
          <a:p>
            <a:pPr lvl="2">
              <a:lnSpc>
                <a:spcPct val="80000"/>
              </a:lnSpc>
              <a:spcBef>
                <a:spcPts val="1200"/>
              </a:spcBef>
            </a:pPr>
            <a:r>
              <a:rPr lang="en-US" sz="2000" dirty="0" smtClean="0"/>
              <a:t>The result is rounded up </a:t>
            </a:r>
            <a:r>
              <a:rPr lang="en-US" sz="2100" dirty="0"/>
              <a:t>toward plus infinity. Ex: </a:t>
            </a:r>
            <a:r>
              <a:rPr lang="en-US" altLang="en-US" sz="2100" b="1" dirty="0"/>
              <a:t>2.3 → 3  </a:t>
            </a:r>
            <a:r>
              <a:rPr lang="en-US" altLang="en-US" sz="2100" dirty="0"/>
              <a:t>and </a:t>
            </a:r>
            <a:r>
              <a:rPr lang="en-US" altLang="en-US" sz="2100" b="1" dirty="0"/>
              <a:t>-2.3 → -2</a:t>
            </a:r>
            <a:endParaRPr lang="en-US" sz="2100" b="1" dirty="0"/>
          </a:p>
          <a:p>
            <a:pPr lvl="1">
              <a:lnSpc>
                <a:spcPct val="80000"/>
              </a:lnSpc>
              <a:spcBef>
                <a:spcPts val="1200"/>
              </a:spcBef>
            </a:pPr>
            <a:r>
              <a:rPr lang="en-US" sz="2100" dirty="0"/>
              <a:t>Round toward -∞: </a:t>
            </a:r>
          </a:p>
          <a:p>
            <a:pPr lvl="2">
              <a:lnSpc>
                <a:spcPct val="80000"/>
              </a:lnSpc>
              <a:spcBef>
                <a:spcPts val="1200"/>
              </a:spcBef>
            </a:pPr>
            <a:r>
              <a:rPr lang="en-US" sz="2000" dirty="0" smtClean="0"/>
              <a:t>The result is rounded down toward negative infinity. Ex: </a:t>
            </a:r>
            <a:r>
              <a:rPr lang="en-US" altLang="en-US" sz="2000" b="1" dirty="0" smtClean="0"/>
              <a:t>2.7 </a:t>
            </a:r>
            <a:r>
              <a:rPr lang="en-US" altLang="en-US" sz="2000" b="1" dirty="0"/>
              <a:t>→ </a:t>
            </a:r>
            <a:r>
              <a:rPr lang="en-US" altLang="en-US" sz="2000" b="1" dirty="0" smtClean="0"/>
              <a:t>2  </a:t>
            </a:r>
            <a:r>
              <a:rPr lang="en-US" altLang="en-US" sz="2000" dirty="0"/>
              <a:t>and </a:t>
            </a:r>
            <a:r>
              <a:rPr lang="en-US" altLang="en-US" sz="2000" b="1" dirty="0"/>
              <a:t>-2.3 → </a:t>
            </a:r>
            <a:r>
              <a:rPr lang="en-US" altLang="en-US" sz="2000" b="1" dirty="0" smtClean="0"/>
              <a:t>-3</a:t>
            </a:r>
            <a:endParaRPr lang="en-US" sz="2000" dirty="0" smtClean="0"/>
          </a:p>
          <a:p>
            <a:pPr lvl="1">
              <a:lnSpc>
                <a:spcPct val="80000"/>
              </a:lnSpc>
              <a:spcBef>
                <a:spcPts val="1200"/>
              </a:spcBef>
            </a:pPr>
            <a:r>
              <a:rPr lang="en-US" sz="2400" dirty="0" smtClean="0"/>
              <a:t>Round toward 0: </a:t>
            </a:r>
          </a:p>
          <a:p>
            <a:pPr lvl="2">
              <a:lnSpc>
                <a:spcPct val="80000"/>
              </a:lnSpc>
              <a:spcBef>
                <a:spcPts val="1200"/>
              </a:spcBef>
            </a:pPr>
            <a:r>
              <a:rPr lang="en-US" sz="2000" dirty="0" smtClean="0"/>
              <a:t>The result is rounded toward zero, drop fractional part. Ex: </a:t>
            </a:r>
            <a:r>
              <a:rPr lang="en-US" altLang="en-US" sz="2000" b="1" dirty="0" smtClean="0"/>
              <a:t>2.9 </a:t>
            </a:r>
            <a:r>
              <a:rPr lang="en-US" altLang="en-US" sz="2000" b="1" dirty="0"/>
              <a:t>→ </a:t>
            </a:r>
            <a:r>
              <a:rPr lang="en-US" altLang="en-US" sz="2000" b="1" dirty="0" smtClean="0"/>
              <a:t>2  </a:t>
            </a:r>
            <a:r>
              <a:rPr lang="en-US" altLang="en-US" sz="2000" dirty="0"/>
              <a:t>and </a:t>
            </a:r>
            <a:r>
              <a:rPr lang="en-US" altLang="en-US" sz="2000" b="1" dirty="0"/>
              <a:t>-</a:t>
            </a:r>
            <a:r>
              <a:rPr lang="en-US" altLang="en-US" sz="2000" b="1" dirty="0" smtClean="0"/>
              <a:t>2.9 </a:t>
            </a:r>
            <a:r>
              <a:rPr lang="en-US" altLang="en-US" sz="2000" b="1" dirty="0"/>
              <a:t>→ -2</a:t>
            </a:r>
            <a:endParaRPr lang="en-US" sz="2000" dirty="0" smtClean="0"/>
          </a:p>
        </p:txBody>
      </p:sp>
      <p:sp>
        <p:nvSpPr>
          <p:cNvPr id="9" name="Text Placeholder 8"/>
          <p:cNvSpPr>
            <a:spLocks noGrp="1"/>
          </p:cNvSpPr>
          <p:nvPr>
            <p:ph type="body" sz="half" idx="2"/>
          </p:nvPr>
        </p:nvSpPr>
        <p:spPr>
          <a:xfrm>
            <a:off x="498518" y="1219201"/>
            <a:ext cx="7558960" cy="685052"/>
          </a:xfrm>
        </p:spPr>
        <p:txBody>
          <a:bodyPr/>
          <a:lstStyle/>
          <a:p>
            <a:r>
              <a:rPr lang="en-US" sz="3200" dirty="0" smtClean="0"/>
              <a:t>	Rounding</a:t>
            </a:r>
            <a:endParaRPr lang="en-US" sz="3200"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539552" y="2348880"/>
            <a:ext cx="3657600" cy="4343400"/>
          </a:xfrm>
        </p:spPr>
        <p:txBody>
          <a:bodyPr>
            <a:normAutofit/>
          </a:bodyPr>
          <a:lstStyle/>
          <a:p>
            <a:pPr>
              <a:spcBef>
                <a:spcPts val="600"/>
              </a:spcBef>
            </a:pPr>
            <a:r>
              <a:rPr lang="en-US" dirty="0" smtClean="0"/>
              <a:t>ALU</a:t>
            </a:r>
          </a:p>
          <a:p>
            <a:pPr>
              <a:spcBef>
                <a:spcPts val="600"/>
              </a:spcBef>
            </a:pPr>
            <a:r>
              <a:rPr lang="en-US" dirty="0" smtClean="0"/>
              <a:t>Integer representation</a:t>
            </a:r>
          </a:p>
          <a:p>
            <a:pPr lvl="1"/>
            <a:r>
              <a:rPr lang="en-US" dirty="0" smtClean="0"/>
              <a:t>Sign-magnitude representation</a:t>
            </a:r>
          </a:p>
          <a:p>
            <a:pPr lvl="1"/>
            <a:r>
              <a:rPr lang="en-US" dirty="0" smtClean="0"/>
              <a:t>Twos complement representation</a:t>
            </a:r>
          </a:p>
          <a:p>
            <a:pPr lvl="1"/>
            <a:r>
              <a:rPr lang="en-US" dirty="0" smtClean="0"/>
              <a:t>Range extension</a:t>
            </a:r>
          </a:p>
          <a:p>
            <a:pPr lvl="1"/>
            <a:r>
              <a:rPr lang="en-US" dirty="0" smtClean="0"/>
              <a:t>Fixed-point representation</a:t>
            </a:r>
          </a:p>
          <a:p>
            <a:pPr marL="228600" lvl="1">
              <a:buClr>
                <a:schemeClr val="accent1"/>
              </a:buClr>
            </a:pPr>
            <a:r>
              <a:rPr lang="en-US" dirty="0" smtClean="0"/>
              <a:t>Floating-point representation</a:t>
            </a:r>
          </a:p>
          <a:p>
            <a:pPr lvl="1"/>
            <a:r>
              <a:rPr lang="en-US" dirty="0" smtClean="0"/>
              <a:t>Principles</a:t>
            </a:r>
          </a:p>
          <a:p>
            <a:pPr lvl="1"/>
            <a:r>
              <a:rPr lang="en-US" dirty="0" smtClean="0"/>
              <a:t>IEEE standard for binary floating-point representation</a:t>
            </a:r>
          </a:p>
        </p:txBody>
      </p:sp>
      <p:sp>
        <p:nvSpPr>
          <p:cNvPr id="32" name="Content Placeholder 31"/>
          <p:cNvSpPr>
            <a:spLocks noGrp="1"/>
          </p:cNvSpPr>
          <p:nvPr>
            <p:ph sz="quarter" idx="4"/>
          </p:nvPr>
        </p:nvSpPr>
        <p:spPr>
          <a:xfrm>
            <a:off x="4724400" y="2133600"/>
            <a:ext cx="3810000" cy="4724400"/>
          </a:xfrm>
        </p:spPr>
        <p:txBody>
          <a:bodyPr>
            <a:normAutofit/>
          </a:bodyPr>
          <a:lstStyle/>
          <a:p>
            <a:pPr marL="228600" lvl="1">
              <a:spcBef>
                <a:spcPts val="1800"/>
              </a:spcBef>
              <a:buClr>
                <a:schemeClr val="accent1"/>
              </a:buClr>
            </a:pPr>
            <a:r>
              <a:rPr lang="en-US" dirty="0" smtClean="0"/>
              <a:t>Integer arithmetic</a:t>
            </a:r>
          </a:p>
          <a:p>
            <a:pPr lvl="1"/>
            <a:r>
              <a:rPr lang="en-US" dirty="0" smtClean="0"/>
              <a:t>Negation</a:t>
            </a:r>
          </a:p>
          <a:p>
            <a:pPr lvl="1"/>
            <a:r>
              <a:rPr lang="en-US" dirty="0" smtClean="0"/>
              <a:t>Addition and subtraction</a:t>
            </a:r>
          </a:p>
          <a:p>
            <a:pPr lvl="1"/>
            <a:r>
              <a:rPr lang="en-US" dirty="0" smtClean="0"/>
              <a:t>Multiplication</a:t>
            </a:r>
          </a:p>
          <a:p>
            <a:pPr lvl="1"/>
            <a:r>
              <a:rPr lang="en-US" dirty="0" smtClean="0"/>
              <a:t>Division</a:t>
            </a:r>
          </a:p>
          <a:p>
            <a:pPr marL="228600" lvl="1">
              <a:spcBef>
                <a:spcPts val="1800"/>
              </a:spcBef>
              <a:buClr>
                <a:schemeClr val="accent1"/>
              </a:buClr>
            </a:pPr>
            <a:r>
              <a:rPr lang="en-US" dirty="0" smtClean="0"/>
              <a:t>Floating-point arithmetic</a:t>
            </a:r>
          </a:p>
          <a:p>
            <a:pPr lvl="1"/>
            <a:r>
              <a:rPr lang="en-US" dirty="0" smtClean="0"/>
              <a:t>Addition and subtraction</a:t>
            </a:r>
          </a:p>
          <a:p>
            <a:pPr lvl="1"/>
            <a:r>
              <a:rPr lang="en-US" dirty="0" smtClean="0"/>
              <a:t>Multiplication and division</a:t>
            </a:r>
          </a:p>
          <a:p>
            <a:pPr lvl="1"/>
            <a:r>
              <a:rPr lang="en-US" dirty="0" smtClean="0"/>
              <a:t>Precision consideration</a:t>
            </a:r>
          </a:p>
          <a:p>
            <a:pPr lvl="1"/>
            <a:r>
              <a:rPr lang="en-US" dirty="0" smtClean="0"/>
              <a:t>IEEE standard for binary floating-point arithmetic</a:t>
            </a:r>
          </a:p>
        </p:txBody>
      </p:sp>
      <p:sp>
        <p:nvSpPr>
          <p:cNvPr id="44035" name="Rectangle 3"/>
          <p:cNvSpPr>
            <a:spLocks noGrp="1" noChangeArrowheads="1"/>
          </p:cNvSpPr>
          <p:nvPr>
            <p:ph type="body" idx="1"/>
          </p:nvPr>
        </p:nvSpPr>
        <p:spPr>
          <a:xfrm>
            <a:off x="539552" y="1052736"/>
            <a:ext cx="3657600" cy="1098177"/>
          </a:xfrm>
        </p:spPr>
        <p:txBody>
          <a:bodyPr>
            <a:normAutofit/>
          </a:bodyPr>
          <a:lstStyle/>
          <a:p>
            <a:endParaRPr lang="en-US" sz="800" dirty="0" smtClean="0"/>
          </a:p>
          <a:p>
            <a:endParaRPr lang="en-US" sz="800" dirty="0" smtClean="0"/>
          </a:p>
          <a:p>
            <a:r>
              <a:rPr lang="en-US" sz="3200" dirty="0" smtClean="0"/>
              <a:t>Chapter 10</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Computer </a:t>
            </a:r>
          </a:p>
          <a:p>
            <a:r>
              <a:rPr lang="en-US" sz="2800" dirty="0" smtClean="0">
                <a:solidFill>
                  <a:schemeClr val="tx2"/>
                </a:solidFill>
                <a:latin typeface="+mj-lt"/>
                <a:ea typeface="+mj-ea"/>
                <a:cs typeface="+mj-cs"/>
              </a:rPr>
              <a:t>Arithmetic</a:t>
            </a:r>
            <a:endParaRPr lang="en-US" sz="2800" dirty="0">
              <a:solidFill>
                <a:schemeClr val="tx2"/>
              </a:solidFill>
            </a:endParaRP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5982</TotalTime>
  <Words>8712</Words>
  <Application>Microsoft Office PowerPoint</Application>
  <PresentationFormat>On-screen Show (4:3)</PresentationFormat>
  <Paragraphs>897</Paragraphs>
  <Slides>50</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ＭＳ Ｐゴシック</vt:lpstr>
      <vt:lpstr>Arial</vt:lpstr>
      <vt:lpstr>Rockwell</vt:lpstr>
      <vt:lpstr>Times New Roman</vt:lpstr>
      <vt:lpstr>Wingdings</vt:lpstr>
      <vt:lpstr>Advantage</vt:lpstr>
      <vt:lpstr>William Stallings  Computer Organization  and Architecture 10th Edition</vt:lpstr>
      <vt:lpstr>Chapter 9</vt:lpstr>
      <vt:lpstr>Arithmetic &amp; Logic Unit (ALU)</vt:lpstr>
      <vt:lpstr>Arithmetic &amp; Logic Unit (ALU)</vt:lpstr>
      <vt:lpstr>PowerPoint Presentation</vt:lpstr>
      <vt:lpstr>PowerPoint Presentation</vt:lpstr>
      <vt:lpstr>Integer Representation</vt:lpstr>
      <vt:lpstr>Sign-Magnitude Representation</vt:lpstr>
      <vt:lpstr>Summary</vt:lpstr>
      <vt:lpstr>PowerPoint Presentation</vt:lpstr>
      <vt:lpstr>PowerPoint Presentation</vt:lpstr>
      <vt:lpstr>PowerPoint Presentation</vt:lpstr>
      <vt:lpstr>PowerPoint Presentation</vt:lpstr>
      <vt:lpstr>Integer Arithmetic: Negation</vt:lpstr>
      <vt:lpstr>Negation Special Case 1</vt:lpstr>
      <vt:lpstr>Negation Special Case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Multiplication in Binary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Floating-Point Representation</vt:lpstr>
      <vt:lpstr>PowerPoint Presentation</vt:lpstr>
      <vt:lpstr>PowerPoint Presentation</vt:lpstr>
      <vt:lpstr>Normalization</vt:lpstr>
      <vt:lpstr>PowerPoint Presentation</vt:lpstr>
      <vt:lpstr>PowerPoint Presentation</vt:lpstr>
      <vt:lpstr>PowerPoint Presentation</vt:lpstr>
      <vt:lpstr>PowerPoint Presentation</vt:lpstr>
      <vt:lpstr>Floating-Point</vt:lpstr>
      <vt:lpstr>PowerPoint Presentation</vt:lpstr>
      <vt:lpstr>Questions for practice</vt:lpstr>
      <vt:lpstr>IEEE Standard 754</vt:lpstr>
      <vt:lpstr>IEEE 754-2008</vt:lpstr>
      <vt:lpstr>PowerPoint Presentation</vt:lpstr>
      <vt:lpstr>Precision Considerations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09 Arithmetic</dc:title>
  <dc:creator>Adrian J Pullin</dc:creator>
  <cp:lastModifiedBy>Dell</cp:lastModifiedBy>
  <cp:revision>374</cp:revision>
  <dcterms:created xsi:type="dcterms:W3CDTF">2012-07-03T02:46:08Z</dcterms:created>
  <dcterms:modified xsi:type="dcterms:W3CDTF">2026-05-05T05:44:44Z</dcterms:modified>
</cp:coreProperties>
</file>