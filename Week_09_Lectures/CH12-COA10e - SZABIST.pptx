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41"/>
  </p:notesMasterIdLst>
  <p:handoutMasterIdLst>
    <p:handoutMasterId r:id="rId42"/>
  </p:handoutMasterIdLst>
  <p:sldIdLst>
    <p:sldId id="299" r:id="rId2"/>
    <p:sldId id="300" r:id="rId3"/>
    <p:sldId id="257" r:id="rId4"/>
    <p:sldId id="302" r:id="rId5"/>
    <p:sldId id="328" r:id="rId6"/>
    <p:sldId id="258" r:id="rId7"/>
    <p:sldId id="259" r:id="rId8"/>
    <p:sldId id="260" r:id="rId9"/>
    <p:sldId id="318" r:id="rId10"/>
    <p:sldId id="261" r:id="rId11"/>
    <p:sldId id="321" r:id="rId12"/>
    <p:sldId id="262" r:id="rId13"/>
    <p:sldId id="263" r:id="rId14"/>
    <p:sldId id="264" r:id="rId15"/>
    <p:sldId id="269" r:id="rId16"/>
    <p:sldId id="303" r:id="rId17"/>
    <p:sldId id="304" r:id="rId18"/>
    <p:sldId id="305" r:id="rId19"/>
    <p:sldId id="322" r:id="rId20"/>
    <p:sldId id="323" r:id="rId21"/>
    <p:sldId id="325" r:id="rId22"/>
    <p:sldId id="306" r:id="rId23"/>
    <p:sldId id="307" r:id="rId24"/>
    <p:sldId id="271" r:id="rId25"/>
    <p:sldId id="324" r:id="rId26"/>
    <p:sldId id="326" r:id="rId27"/>
    <p:sldId id="289" r:id="rId28"/>
    <p:sldId id="327" r:id="rId29"/>
    <p:sldId id="273" r:id="rId30"/>
    <p:sldId id="308" r:id="rId31"/>
    <p:sldId id="329" r:id="rId32"/>
    <p:sldId id="309" r:id="rId33"/>
    <p:sldId id="319" r:id="rId34"/>
    <p:sldId id="330" r:id="rId35"/>
    <p:sldId id="320" r:id="rId36"/>
    <p:sldId id="296" r:id="rId37"/>
    <p:sldId id="316" r:id="rId38"/>
    <p:sldId id="317" r:id="rId39"/>
    <p:sldId id="301" r:id="rId40"/>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27" autoAdjust="0"/>
    <p:restoredTop sz="93979" autoAdjust="0"/>
  </p:normalViewPr>
  <p:slideViewPr>
    <p:cSldViewPr>
      <p:cViewPr varScale="1">
        <p:scale>
          <a:sx n="69" d="100"/>
          <a:sy n="69" d="100"/>
        </p:scale>
        <p:origin x="1060" y="4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2.xml"/><Relationship Id="rId13" Type="http://schemas.openxmlformats.org/officeDocument/2006/relationships/slide" Target="slides/slide27.xml"/><Relationship Id="rId3" Type="http://schemas.openxmlformats.org/officeDocument/2006/relationships/slide" Target="slides/slide6.xml"/><Relationship Id="rId7" Type="http://schemas.openxmlformats.org/officeDocument/2006/relationships/slide" Target="slides/slide10.xml"/><Relationship Id="rId12" Type="http://schemas.openxmlformats.org/officeDocument/2006/relationships/slide" Target="slides/slide24.xml"/><Relationship Id="rId17" Type="http://schemas.openxmlformats.org/officeDocument/2006/relationships/slide" Target="slides/slide39.xml"/><Relationship Id="rId2" Type="http://schemas.openxmlformats.org/officeDocument/2006/relationships/slide" Target="slides/slide3.xml"/><Relationship Id="rId16" Type="http://schemas.openxmlformats.org/officeDocument/2006/relationships/slide" Target="slides/slide34.xml"/><Relationship Id="rId1" Type="http://schemas.openxmlformats.org/officeDocument/2006/relationships/slide" Target="slides/slide1.xml"/><Relationship Id="rId6" Type="http://schemas.openxmlformats.org/officeDocument/2006/relationships/slide" Target="slides/slide9.xml"/><Relationship Id="rId11" Type="http://schemas.openxmlformats.org/officeDocument/2006/relationships/slide" Target="slides/slide15.xml"/><Relationship Id="rId5" Type="http://schemas.openxmlformats.org/officeDocument/2006/relationships/slide" Target="slides/slide8.xml"/><Relationship Id="rId15" Type="http://schemas.openxmlformats.org/officeDocument/2006/relationships/slide" Target="slides/slide30.xml"/><Relationship Id="rId10" Type="http://schemas.openxmlformats.org/officeDocument/2006/relationships/slide" Target="slides/slide14.xml"/><Relationship Id="rId4" Type="http://schemas.openxmlformats.org/officeDocument/2006/relationships/slide" Target="slides/slide7.xml"/><Relationship Id="rId9" Type="http://schemas.openxmlformats.org/officeDocument/2006/relationships/slide" Target="slides/slide13.xml"/><Relationship Id="rId14" Type="http://schemas.openxmlformats.org/officeDocument/2006/relationships/slide" Target="slides/slide2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E22A2-90B9-FB48-BF8F-6FEF9FCC7BE4}"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50A7ACD3-A3B8-FA4A-8AD8-4D6DD621AE48}">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Operation code (opcode)</a:t>
          </a:r>
          <a:endParaRPr lang="en-US" dirty="0">
            <a:effectLst>
              <a:outerShdw blurRad="38100" dist="38100" dir="2700000" algn="tl">
                <a:srgbClr val="000000">
                  <a:alpha val="43137"/>
                </a:srgbClr>
              </a:outerShdw>
            </a:effectLst>
          </a:endParaRPr>
        </a:p>
      </dgm:t>
    </dgm:pt>
    <dgm:pt modelId="{D8089753-1510-F64F-822D-E0A7AE346389}" type="parTrans" cxnId="{83574F17-7C75-3E4F-9E63-74C152A594F4}">
      <dgm:prSet/>
      <dgm:spPr/>
      <dgm:t>
        <a:bodyPr/>
        <a:lstStyle/>
        <a:p>
          <a:endParaRPr lang="en-US"/>
        </a:p>
      </dgm:t>
    </dgm:pt>
    <dgm:pt modelId="{F618C51A-E785-534F-930E-5FBE02C2738B}" type="sibTrans" cxnId="{83574F17-7C75-3E4F-9E63-74C152A594F4}">
      <dgm:prSet/>
      <dgm:spPr/>
      <dgm:t>
        <a:bodyPr/>
        <a:lstStyle/>
        <a:p>
          <a:endParaRPr lang="en-US"/>
        </a:p>
      </dgm:t>
    </dgm:pt>
    <dgm:pt modelId="{7D922780-158D-2048-992F-287136E867F2}">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Specifies the operation to be performed (ADD/IO).  The operation is specified by a binary code, known as the operation code, or </a:t>
          </a:r>
          <a:r>
            <a:rPr lang="en-US" i="1" dirty="0" smtClean="0">
              <a:effectLst>
                <a:outerShdw blurRad="38100" dist="38100" dir="2700000" algn="tl">
                  <a:srgbClr val="000000">
                    <a:alpha val="43137"/>
                  </a:srgbClr>
                </a:outerShdw>
              </a:effectLst>
            </a:rPr>
            <a:t>opcode</a:t>
          </a:r>
          <a:endParaRPr lang="en-US" i="1" dirty="0">
            <a:effectLst>
              <a:outerShdw blurRad="38100" dist="38100" dir="2700000" algn="tl">
                <a:srgbClr val="000000">
                  <a:alpha val="43137"/>
                </a:srgbClr>
              </a:outerShdw>
            </a:effectLst>
          </a:endParaRPr>
        </a:p>
      </dgm:t>
    </dgm:pt>
    <dgm:pt modelId="{7F0927FB-58E9-B349-B36E-D16261DC5453}" type="parTrans" cxnId="{F8DC2054-7265-B84A-A2FC-FE4649519F28}">
      <dgm:prSet/>
      <dgm:spPr/>
      <dgm:t>
        <a:bodyPr/>
        <a:lstStyle/>
        <a:p>
          <a:endParaRPr lang="en-US"/>
        </a:p>
      </dgm:t>
    </dgm:pt>
    <dgm:pt modelId="{AB1348F8-8BB8-924C-A316-C5BFE78F34D6}" type="sibTrans" cxnId="{F8DC2054-7265-B84A-A2FC-FE4649519F28}">
      <dgm:prSet/>
      <dgm:spPr/>
      <dgm:t>
        <a:bodyPr/>
        <a:lstStyle/>
        <a:p>
          <a:endParaRPr lang="en-US"/>
        </a:p>
      </dgm:t>
    </dgm:pt>
    <dgm:pt modelId="{C4BB8BEE-EB7D-0846-A9C7-C44EEB59F3D3}">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Source operand reference</a:t>
          </a:r>
          <a:endParaRPr lang="en-US" dirty="0">
            <a:effectLst>
              <a:outerShdw blurRad="38100" dist="38100" dir="2700000" algn="tl">
                <a:srgbClr val="000000">
                  <a:alpha val="43137"/>
                </a:srgbClr>
              </a:outerShdw>
            </a:effectLst>
          </a:endParaRPr>
        </a:p>
      </dgm:t>
    </dgm:pt>
    <dgm:pt modelId="{F79D9D37-8DDE-D246-835F-792DB68E57A5}" type="parTrans" cxnId="{EC2CFDD9-5A18-1E4B-87B6-165A41D77E16}">
      <dgm:prSet/>
      <dgm:spPr/>
      <dgm:t>
        <a:bodyPr/>
        <a:lstStyle/>
        <a:p>
          <a:endParaRPr lang="en-US"/>
        </a:p>
      </dgm:t>
    </dgm:pt>
    <dgm:pt modelId="{952290C2-8093-3644-88BE-166CCE775557}" type="sibTrans" cxnId="{EC2CFDD9-5A18-1E4B-87B6-165A41D77E16}">
      <dgm:prSet/>
      <dgm:spPr/>
      <dgm:t>
        <a:bodyPr/>
        <a:lstStyle/>
        <a:p>
          <a:endParaRPr lang="en-US"/>
        </a:p>
      </dgm:t>
    </dgm:pt>
    <dgm:pt modelId="{D6EAFD71-2559-DD46-B5AE-F24E40817B7B}">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The operation may involve one or more source operands, that is, operands that are inputs for the operation</a:t>
          </a:r>
          <a:endParaRPr lang="en-US" dirty="0">
            <a:effectLst>
              <a:outerShdw blurRad="38100" dist="38100" dir="2700000" algn="tl">
                <a:srgbClr val="000000">
                  <a:alpha val="43137"/>
                </a:srgbClr>
              </a:outerShdw>
            </a:effectLst>
          </a:endParaRPr>
        </a:p>
      </dgm:t>
    </dgm:pt>
    <dgm:pt modelId="{BCA01FB3-E773-8C40-A3DA-CE5092230B3F}" type="parTrans" cxnId="{215CB1BF-18C7-DF4C-A2D7-8CBE26165B95}">
      <dgm:prSet/>
      <dgm:spPr/>
      <dgm:t>
        <a:bodyPr/>
        <a:lstStyle/>
        <a:p>
          <a:endParaRPr lang="en-US"/>
        </a:p>
      </dgm:t>
    </dgm:pt>
    <dgm:pt modelId="{D7715C3A-5DD1-2A47-B4E7-1D41598556FA}" type="sibTrans" cxnId="{215CB1BF-18C7-DF4C-A2D7-8CBE26165B95}">
      <dgm:prSet/>
      <dgm:spPr/>
      <dgm:t>
        <a:bodyPr/>
        <a:lstStyle/>
        <a:p>
          <a:endParaRPr lang="en-US"/>
        </a:p>
      </dgm:t>
    </dgm:pt>
    <dgm:pt modelId="{DD443413-86E1-D84B-BA27-B7A0F8752637}">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Result operand reference</a:t>
          </a:r>
          <a:endParaRPr lang="en-US" dirty="0">
            <a:effectLst>
              <a:outerShdw blurRad="38100" dist="38100" dir="2700000" algn="tl">
                <a:srgbClr val="000000">
                  <a:alpha val="43137"/>
                </a:srgbClr>
              </a:outerShdw>
            </a:effectLst>
          </a:endParaRPr>
        </a:p>
      </dgm:t>
    </dgm:pt>
    <dgm:pt modelId="{3048043A-9026-D643-959A-4106DF7EC59E}" type="parTrans" cxnId="{F5CE5B0D-27C6-4942-90E7-A0C9A8E635AD}">
      <dgm:prSet/>
      <dgm:spPr/>
      <dgm:t>
        <a:bodyPr/>
        <a:lstStyle/>
        <a:p>
          <a:endParaRPr lang="en-US"/>
        </a:p>
      </dgm:t>
    </dgm:pt>
    <dgm:pt modelId="{ED5727C5-E43B-0F49-B70D-8F542CDDC6EE}" type="sibTrans" cxnId="{F5CE5B0D-27C6-4942-90E7-A0C9A8E635AD}">
      <dgm:prSet/>
      <dgm:spPr/>
      <dgm:t>
        <a:bodyPr/>
        <a:lstStyle/>
        <a:p>
          <a:endParaRPr lang="en-US"/>
        </a:p>
      </dgm:t>
    </dgm:pt>
    <dgm:pt modelId="{94D29F10-0483-344A-B0D7-0C855F728A30}">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The operation may produce a result</a:t>
          </a:r>
          <a:endParaRPr lang="en-US" dirty="0">
            <a:effectLst>
              <a:outerShdw blurRad="38100" dist="38100" dir="2700000" algn="tl">
                <a:srgbClr val="000000">
                  <a:alpha val="43137"/>
                </a:srgbClr>
              </a:outerShdw>
            </a:effectLst>
          </a:endParaRPr>
        </a:p>
      </dgm:t>
    </dgm:pt>
    <dgm:pt modelId="{0D24227B-B2D1-A94A-BF9C-AC2C04A891AF}" type="parTrans" cxnId="{86D05794-9328-5449-822F-4A1A4555240E}">
      <dgm:prSet/>
      <dgm:spPr/>
      <dgm:t>
        <a:bodyPr/>
        <a:lstStyle/>
        <a:p>
          <a:endParaRPr lang="en-US"/>
        </a:p>
      </dgm:t>
    </dgm:pt>
    <dgm:pt modelId="{EA315A40-AF87-6F4D-B4B2-85D94F420DAF}" type="sibTrans" cxnId="{86D05794-9328-5449-822F-4A1A4555240E}">
      <dgm:prSet/>
      <dgm:spPr/>
      <dgm:t>
        <a:bodyPr/>
        <a:lstStyle/>
        <a:p>
          <a:endParaRPr lang="en-US"/>
        </a:p>
      </dgm:t>
    </dgm:pt>
    <dgm:pt modelId="{F38777FB-598A-3648-8B86-30E6E6B22579}">
      <dgm:prSet/>
      <dgm:spPr>
        <a:ln>
          <a:solidFill>
            <a:schemeClr val="accent1"/>
          </a:solidFill>
        </a:ln>
      </dgm:spPr>
      <dgm:t>
        <a:bodyPr/>
        <a:lstStyle/>
        <a:p>
          <a:pPr rtl="0"/>
          <a:r>
            <a:rPr lang="en-US" dirty="0" smtClean="0"/>
            <a:t>Next instruction reference</a:t>
          </a:r>
          <a:endParaRPr lang="en-US" dirty="0"/>
        </a:p>
      </dgm:t>
    </dgm:pt>
    <dgm:pt modelId="{B376F28E-9176-B047-92B0-A02F6DE1A7B2}" type="parTrans" cxnId="{717E15FF-AF47-184C-A096-0EC916DADF42}">
      <dgm:prSet/>
      <dgm:spPr/>
      <dgm:t>
        <a:bodyPr/>
        <a:lstStyle/>
        <a:p>
          <a:endParaRPr lang="en-US"/>
        </a:p>
      </dgm:t>
    </dgm:pt>
    <dgm:pt modelId="{AF7F1F25-5E9D-D34A-A47A-20357C8B33CE}" type="sibTrans" cxnId="{717E15FF-AF47-184C-A096-0EC916DADF42}">
      <dgm:prSet/>
      <dgm:spPr/>
      <dgm:t>
        <a:bodyPr/>
        <a:lstStyle/>
        <a:p>
          <a:endParaRPr lang="en-US"/>
        </a:p>
      </dgm:t>
    </dgm:pt>
    <dgm:pt modelId="{F568A796-D867-C944-AE1E-4DDE813BC9C5}">
      <dgm:prSet/>
      <dgm:spPr>
        <a:ln>
          <a:solidFill>
            <a:schemeClr val="accent1"/>
          </a:solidFill>
        </a:ln>
      </dgm:spPr>
      <dgm:t>
        <a:bodyPr/>
        <a:lstStyle/>
        <a:p>
          <a:pPr rtl="0"/>
          <a:r>
            <a:rPr lang="en-US" dirty="0" smtClean="0"/>
            <a:t>This tells the processor where to fetch the next instruction after the execution of this instruction is complete</a:t>
          </a:r>
          <a:endParaRPr lang="en-US" dirty="0"/>
        </a:p>
      </dgm:t>
    </dgm:pt>
    <dgm:pt modelId="{4C70E0D9-3853-DD47-9895-E01A2B99350B}" type="parTrans" cxnId="{49FF2042-1B69-CF43-A4E3-0B9A8BE8FD97}">
      <dgm:prSet/>
      <dgm:spPr/>
      <dgm:t>
        <a:bodyPr/>
        <a:lstStyle/>
        <a:p>
          <a:endParaRPr lang="en-US"/>
        </a:p>
      </dgm:t>
    </dgm:pt>
    <dgm:pt modelId="{E5BBAD8B-7D55-7D42-AF13-FFF16A14EDCC}" type="sibTrans" cxnId="{49FF2042-1B69-CF43-A4E3-0B9A8BE8FD97}">
      <dgm:prSet/>
      <dgm:spPr/>
      <dgm:t>
        <a:bodyPr/>
        <a:lstStyle/>
        <a:p>
          <a:endParaRPr lang="en-US"/>
        </a:p>
      </dgm:t>
    </dgm:pt>
    <dgm:pt modelId="{FFEE5E74-89DD-BA44-B959-B3095E174164}" type="pres">
      <dgm:prSet presAssocID="{261E22A2-90B9-FB48-BF8F-6FEF9FCC7BE4}" presName="matrix" presStyleCnt="0">
        <dgm:presLayoutVars>
          <dgm:chMax val="1"/>
          <dgm:dir/>
          <dgm:resizeHandles val="exact"/>
        </dgm:presLayoutVars>
      </dgm:prSet>
      <dgm:spPr/>
      <dgm:t>
        <a:bodyPr/>
        <a:lstStyle/>
        <a:p>
          <a:endParaRPr lang="en-US"/>
        </a:p>
      </dgm:t>
    </dgm:pt>
    <dgm:pt modelId="{7FEB4566-29C6-E24B-A374-2B3D2712EA8A}" type="pres">
      <dgm:prSet presAssocID="{261E22A2-90B9-FB48-BF8F-6FEF9FCC7BE4}" presName="diamond" presStyleLbl="bgShp" presStyleIdx="0" presStyleCnt="1"/>
      <dgm:spPr>
        <a:solidFill>
          <a:schemeClr val="accent4"/>
        </a:solidFill>
        <a:ln>
          <a:solidFill>
            <a:schemeClr val="accent4"/>
          </a:solidFill>
        </a:ln>
      </dgm:spPr>
    </dgm:pt>
    <dgm:pt modelId="{DCEE7AE8-9E5C-ED45-92E4-EE8750C104A9}" type="pres">
      <dgm:prSet presAssocID="{261E22A2-90B9-FB48-BF8F-6FEF9FCC7BE4}" presName="quad1" presStyleLbl="node1" presStyleIdx="0" presStyleCnt="4">
        <dgm:presLayoutVars>
          <dgm:chMax val="0"/>
          <dgm:chPref val="0"/>
          <dgm:bulletEnabled val="1"/>
        </dgm:presLayoutVars>
      </dgm:prSet>
      <dgm:spPr/>
      <dgm:t>
        <a:bodyPr/>
        <a:lstStyle/>
        <a:p>
          <a:endParaRPr lang="en-US"/>
        </a:p>
      </dgm:t>
    </dgm:pt>
    <dgm:pt modelId="{06F2B317-5110-B94C-84A1-22E01F7471D3}" type="pres">
      <dgm:prSet presAssocID="{261E22A2-90B9-FB48-BF8F-6FEF9FCC7BE4}" presName="quad2" presStyleLbl="node1" presStyleIdx="1" presStyleCnt="4">
        <dgm:presLayoutVars>
          <dgm:chMax val="0"/>
          <dgm:chPref val="0"/>
          <dgm:bulletEnabled val="1"/>
        </dgm:presLayoutVars>
      </dgm:prSet>
      <dgm:spPr/>
      <dgm:t>
        <a:bodyPr/>
        <a:lstStyle/>
        <a:p>
          <a:endParaRPr lang="en-US"/>
        </a:p>
      </dgm:t>
    </dgm:pt>
    <dgm:pt modelId="{5CED3117-5997-9241-ACAE-C2B634ACBCD2}" type="pres">
      <dgm:prSet presAssocID="{261E22A2-90B9-FB48-BF8F-6FEF9FCC7BE4}" presName="quad3" presStyleLbl="node1" presStyleIdx="2" presStyleCnt="4">
        <dgm:presLayoutVars>
          <dgm:chMax val="0"/>
          <dgm:chPref val="0"/>
          <dgm:bulletEnabled val="1"/>
        </dgm:presLayoutVars>
      </dgm:prSet>
      <dgm:spPr/>
      <dgm:t>
        <a:bodyPr/>
        <a:lstStyle/>
        <a:p>
          <a:endParaRPr lang="en-US"/>
        </a:p>
      </dgm:t>
    </dgm:pt>
    <dgm:pt modelId="{582D9E84-4A97-E646-B080-93B15AA28637}" type="pres">
      <dgm:prSet presAssocID="{261E22A2-90B9-FB48-BF8F-6FEF9FCC7BE4}" presName="quad4" presStyleLbl="node1" presStyleIdx="3" presStyleCnt="4">
        <dgm:presLayoutVars>
          <dgm:chMax val="0"/>
          <dgm:chPref val="0"/>
          <dgm:bulletEnabled val="1"/>
        </dgm:presLayoutVars>
      </dgm:prSet>
      <dgm:spPr/>
      <dgm:t>
        <a:bodyPr/>
        <a:lstStyle/>
        <a:p>
          <a:endParaRPr lang="en-US"/>
        </a:p>
      </dgm:t>
    </dgm:pt>
  </dgm:ptLst>
  <dgm:cxnLst>
    <dgm:cxn modelId="{BAA332A5-B8A1-454A-9B44-A9A32A840C99}" type="presOf" srcId="{94D29F10-0483-344A-B0D7-0C855F728A30}" destId="{5CED3117-5997-9241-ACAE-C2B634ACBCD2}" srcOrd="0" destOrd="1" presId="urn:microsoft.com/office/officeart/2005/8/layout/matrix3"/>
    <dgm:cxn modelId="{00CBD6E0-583B-0C44-A165-51D23B4A0DEB}" type="presOf" srcId="{C4BB8BEE-EB7D-0846-A9C7-C44EEB59F3D3}" destId="{06F2B317-5110-B94C-84A1-22E01F7471D3}" srcOrd="0" destOrd="0" presId="urn:microsoft.com/office/officeart/2005/8/layout/matrix3"/>
    <dgm:cxn modelId="{88F17291-5B41-8149-AE5B-DFFC12442E2A}" type="presOf" srcId="{261E22A2-90B9-FB48-BF8F-6FEF9FCC7BE4}" destId="{FFEE5E74-89DD-BA44-B959-B3095E174164}" srcOrd="0" destOrd="0" presId="urn:microsoft.com/office/officeart/2005/8/layout/matrix3"/>
    <dgm:cxn modelId="{49FF2042-1B69-CF43-A4E3-0B9A8BE8FD97}" srcId="{F38777FB-598A-3648-8B86-30E6E6B22579}" destId="{F568A796-D867-C944-AE1E-4DDE813BC9C5}" srcOrd="0" destOrd="0" parTransId="{4C70E0D9-3853-DD47-9895-E01A2B99350B}" sibTransId="{E5BBAD8B-7D55-7D42-AF13-FFF16A14EDCC}"/>
    <dgm:cxn modelId="{50DC1AD1-53EF-DD40-A03C-D302169C49C1}" type="presOf" srcId="{50A7ACD3-A3B8-FA4A-8AD8-4D6DD621AE48}" destId="{DCEE7AE8-9E5C-ED45-92E4-EE8750C104A9}" srcOrd="0" destOrd="0" presId="urn:microsoft.com/office/officeart/2005/8/layout/matrix3"/>
    <dgm:cxn modelId="{E4ABB12B-883F-3046-B74E-0D4D13F57422}" type="presOf" srcId="{D6EAFD71-2559-DD46-B5AE-F24E40817B7B}" destId="{06F2B317-5110-B94C-84A1-22E01F7471D3}" srcOrd="0" destOrd="1" presId="urn:microsoft.com/office/officeart/2005/8/layout/matrix3"/>
    <dgm:cxn modelId="{5739B111-B5BD-4042-80AC-2A320F37074B}" type="presOf" srcId="{F38777FB-598A-3648-8B86-30E6E6B22579}" destId="{582D9E84-4A97-E646-B080-93B15AA28637}" srcOrd="0" destOrd="0" presId="urn:microsoft.com/office/officeart/2005/8/layout/matrix3"/>
    <dgm:cxn modelId="{831B443B-B57D-E540-96B0-378CC542DC74}" type="presOf" srcId="{DD443413-86E1-D84B-BA27-B7A0F8752637}" destId="{5CED3117-5997-9241-ACAE-C2B634ACBCD2}" srcOrd="0" destOrd="0" presId="urn:microsoft.com/office/officeart/2005/8/layout/matrix3"/>
    <dgm:cxn modelId="{912F31BB-8D06-1C41-9B2C-815258A15562}" type="presOf" srcId="{F568A796-D867-C944-AE1E-4DDE813BC9C5}" destId="{582D9E84-4A97-E646-B080-93B15AA28637}" srcOrd="0" destOrd="1" presId="urn:microsoft.com/office/officeart/2005/8/layout/matrix3"/>
    <dgm:cxn modelId="{EC2CFDD9-5A18-1E4B-87B6-165A41D77E16}" srcId="{261E22A2-90B9-FB48-BF8F-6FEF9FCC7BE4}" destId="{C4BB8BEE-EB7D-0846-A9C7-C44EEB59F3D3}" srcOrd="1" destOrd="0" parTransId="{F79D9D37-8DDE-D246-835F-792DB68E57A5}" sibTransId="{952290C2-8093-3644-88BE-166CCE775557}"/>
    <dgm:cxn modelId="{D8C722F9-E9C4-5443-9363-171827E85236}" type="presOf" srcId="{7D922780-158D-2048-992F-287136E867F2}" destId="{DCEE7AE8-9E5C-ED45-92E4-EE8750C104A9}" srcOrd="0" destOrd="1" presId="urn:microsoft.com/office/officeart/2005/8/layout/matrix3"/>
    <dgm:cxn modelId="{83574F17-7C75-3E4F-9E63-74C152A594F4}" srcId="{261E22A2-90B9-FB48-BF8F-6FEF9FCC7BE4}" destId="{50A7ACD3-A3B8-FA4A-8AD8-4D6DD621AE48}" srcOrd="0" destOrd="0" parTransId="{D8089753-1510-F64F-822D-E0A7AE346389}" sibTransId="{F618C51A-E785-534F-930E-5FBE02C2738B}"/>
    <dgm:cxn modelId="{215CB1BF-18C7-DF4C-A2D7-8CBE26165B95}" srcId="{C4BB8BEE-EB7D-0846-A9C7-C44EEB59F3D3}" destId="{D6EAFD71-2559-DD46-B5AE-F24E40817B7B}" srcOrd="0" destOrd="0" parTransId="{BCA01FB3-E773-8C40-A3DA-CE5092230B3F}" sibTransId="{D7715C3A-5DD1-2A47-B4E7-1D41598556FA}"/>
    <dgm:cxn modelId="{F5CE5B0D-27C6-4942-90E7-A0C9A8E635AD}" srcId="{261E22A2-90B9-FB48-BF8F-6FEF9FCC7BE4}" destId="{DD443413-86E1-D84B-BA27-B7A0F8752637}" srcOrd="2" destOrd="0" parTransId="{3048043A-9026-D643-959A-4106DF7EC59E}" sibTransId="{ED5727C5-E43B-0F49-B70D-8F542CDDC6EE}"/>
    <dgm:cxn modelId="{717E15FF-AF47-184C-A096-0EC916DADF42}" srcId="{261E22A2-90B9-FB48-BF8F-6FEF9FCC7BE4}" destId="{F38777FB-598A-3648-8B86-30E6E6B22579}" srcOrd="3" destOrd="0" parTransId="{B376F28E-9176-B047-92B0-A02F6DE1A7B2}" sibTransId="{AF7F1F25-5E9D-D34A-A47A-20357C8B33CE}"/>
    <dgm:cxn modelId="{F8DC2054-7265-B84A-A2FC-FE4649519F28}" srcId="{50A7ACD3-A3B8-FA4A-8AD8-4D6DD621AE48}" destId="{7D922780-158D-2048-992F-287136E867F2}" srcOrd="0" destOrd="0" parTransId="{7F0927FB-58E9-B349-B36E-D16261DC5453}" sibTransId="{AB1348F8-8BB8-924C-A316-C5BFE78F34D6}"/>
    <dgm:cxn modelId="{86D05794-9328-5449-822F-4A1A4555240E}" srcId="{DD443413-86E1-D84B-BA27-B7A0F8752637}" destId="{94D29F10-0483-344A-B0D7-0C855F728A30}" srcOrd="0" destOrd="0" parTransId="{0D24227B-B2D1-A94A-BF9C-AC2C04A891AF}" sibTransId="{EA315A40-AF87-6F4D-B4B2-85D94F420DAF}"/>
    <dgm:cxn modelId="{897911BA-7F08-A44A-9341-FA4D1B8B94F9}" type="presParOf" srcId="{FFEE5E74-89DD-BA44-B959-B3095E174164}" destId="{7FEB4566-29C6-E24B-A374-2B3D2712EA8A}" srcOrd="0" destOrd="0" presId="urn:microsoft.com/office/officeart/2005/8/layout/matrix3"/>
    <dgm:cxn modelId="{396A2A57-B60D-A84A-9086-C2F8E6AE141E}" type="presParOf" srcId="{FFEE5E74-89DD-BA44-B959-B3095E174164}" destId="{DCEE7AE8-9E5C-ED45-92E4-EE8750C104A9}" srcOrd="1" destOrd="0" presId="urn:microsoft.com/office/officeart/2005/8/layout/matrix3"/>
    <dgm:cxn modelId="{E9154D73-28CD-224A-B21E-87DAFECBA323}" type="presParOf" srcId="{FFEE5E74-89DD-BA44-B959-B3095E174164}" destId="{06F2B317-5110-B94C-84A1-22E01F7471D3}" srcOrd="2" destOrd="0" presId="urn:microsoft.com/office/officeart/2005/8/layout/matrix3"/>
    <dgm:cxn modelId="{96EB9DF9-F9D9-254C-9470-7E5AD4F11876}" type="presParOf" srcId="{FFEE5E74-89DD-BA44-B959-B3095E174164}" destId="{5CED3117-5997-9241-ACAE-C2B634ACBCD2}" srcOrd="3" destOrd="0" presId="urn:microsoft.com/office/officeart/2005/8/layout/matrix3"/>
    <dgm:cxn modelId="{B4F5F121-11B5-FF49-839F-36869431BFCD}" type="presParOf" srcId="{FFEE5E74-89DD-BA44-B959-B3095E174164}" destId="{582D9E84-4A97-E646-B080-93B15AA2863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4B1576-EC76-7148-8E67-C617A4C5612A}" type="doc">
      <dgm:prSet loTypeId="urn:microsoft.com/office/officeart/2005/8/layout/cycle4#3" loCatId="relationship" qsTypeId="urn:microsoft.com/office/officeart/2005/8/quickstyle/simple4" qsCatId="simple" csTypeId="urn:microsoft.com/office/officeart/2005/8/colors/accent1_2" csCatId="accent1" phldr="1"/>
      <dgm:spPr/>
      <dgm:t>
        <a:bodyPr/>
        <a:lstStyle/>
        <a:p>
          <a:endParaRPr lang="en-US"/>
        </a:p>
      </dgm:t>
    </dgm:pt>
    <dgm:pt modelId="{5B7CBE8B-031E-6E4A-A6D8-BAE279011D9A}">
      <dgm:prSet/>
      <dgm:spPr/>
      <dgm:t>
        <a:bodyPr/>
        <a:lstStyle/>
        <a:p>
          <a:pPr rtl="0"/>
          <a:r>
            <a:rPr lang="en-US" dirty="0" smtClean="0">
              <a:effectLst>
                <a:outerShdw blurRad="38100" dist="38100" dir="2700000" algn="tl">
                  <a:srgbClr val="000000">
                    <a:alpha val="43137"/>
                  </a:srgbClr>
                </a:outerShdw>
              </a:effectLst>
            </a:rPr>
            <a:t>Data processing</a:t>
          </a:r>
          <a:endParaRPr lang="en-US" dirty="0">
            <a:effectLst>
              <a:outerShdw blurRad="38100" dist="38100" dir="2700000" algn="tl">
                <a:srgbClr val="000000">
                  <a:alpha val="43137"/>
                </a:srgbClr>
              </a:outerShdw>
            </a:effectLst>
          </a:endParaRPr>
        </a:p>
      </dgm:t>
    </dgm:pt>
    <dgm:pt modelId="{F90608E3-C56D-D44F-9FED-A4B7D42D7016}" type="parTrans" cxnId="{8E8449E0-E943-3244-9DA5-586BEFAD2DDF}">
      <dgm:prSet/>
      <dgm:spPr/>
      <dgm:t>
        <a:bodyPr/>
        <a:lstStyle/>
        <a:p>
          <a:endParaRPr lang="en-US"/>
        </a:p>
      </dgm:t>
    </dgm:pt>
    <dgm:pt modelId="{0791B277-F27E-6A46-91BA-9CFF4A7A8948}" type="sibTrans" cxnId="{8E8449E0-E943-3244-9DA5-586BEFAD2DDF}">
      <dgm:prSet/>
      <dgm:spPr/>
      <dgm:t>
        <a:bodyPr/>
        <a:lstStyle/>
        <a:p>
          <a:endParaRPr lang="en-US"/>
        </a:p>
      </dgm:t>
    </dgm:pt>
    <dgm:pt modelId="{36AE9740-0372-0E42-8B0F-CFF54F99B649}">
      <dgm:prSet custT="1"/>
      <dgm:spPr/>
      <dgm:t>
        <a:bodyPr/>
        <a:lstStyle/>
        <a:p>
          <a:pPr rtl="0"/>
          <a:r>
            <a:rPr lang="en-US" sz="1000" dirty="0" smtClean="0"/>
            <a:t>Arithmetic instructions provide computational capabilities for processing numeric data</a:t>
          </a:r>
          <a:endParaRPr lang="en-US" sz="1000" dirty="0"/>
        </a:p>
      </dgm:t>
    </dgm:pt>
    <dgm:pt modelId="{67AEF1E2-B31E-1942-9127-7FE00EFE224D}" type="parTrans" cxnId="{FDFC9851-1380-E54D-95FF-BDDB86320532}">
      <dgm:prSet/>
      <dgm:spPr/>
      <dgm:t>
        <a:bodyPr/>
        <a:lstStyle/>
        <a:p>
          <a:endParaRPr lang="en-US"/>
        </a:p>
      </dgm:t>
    </dgm:pt>
    <dgm:pt modelId="{37208CC7-45B4-734F-8124-5A4F7684C9AE}" type="sibTrans" cxnId="{FDFC9851-1380-E54D-95FF-BDDB86320532}">
      <dgm:prSet/>
      <dgm:spPr/>
      <dgm:t>
        <a:bodyPr/>
        <a:lstStyle/>
        <a:p>
          <a:endParaRPr lang="en-US"/>
        </a:p>
      </dgm:t>
    </dgm:pt>
    <dgm:pt modelId="{A4477C0B-F329-1B48-B177-C96746E5C22A}">
      <dgm:prSet custT="1"/>
      <dgm:spPr/>
      <dgm:t>
        <a:bodyPr/>
        <a:lstStyle/>
        <a:p>
          <a:pPr rtl="0"/>
          <a:r>
            <a:rPr lang="en-US" sz="1000" dirty="0" smtClean="0"/>
            <a:t>Logic (Boolean) instructions operate on the bits of a word as bits rather than as numbers, thus they provide capabilities for processing any other type of data the user may wish to employ</a:t>
          </a:r>
          <a:endParaRPr lang="en-US" sz="1000" dirty="0"/>
        </a:p>
      </dgm:t>
    </dgm:pt>
    <dgm:pt modelId="{1E209E03-8253-984B-AE52-BE8538ED8178}" type="parTrans" cxnId="{983CD786-D9CB-CF42-A8F6-6D1741A17621}">
      <dgm:prSet/>
      <dgm:spPr/>
      <dgm:t>
        <a:bodyPr/>
        <a:lstStyle/>
        <a:p>
          <a:endParaRPr lang="en-US"/>
        </a:p>
      </dgm:t>
    </dgm:pt>
    <dgm:pt modelId="{968EFCF3-BEE2-2649-997F-68665AF3B38A}" type="sibTrans" cxnId="{983CD786-D9CB-CF42-A8F6-6D1741A17621}">
      <dgm:prSet/>
      <dgm:spPr/>
      <dgm:t>
        <a:bodyPr/>
        <a:lstStyle/>
        <a:p>
          <a:endParaRPr lang="en-US"/>
        </a:p>
      </dgm:t>
    </dgm:pt>
    <dgm:pt modelId="{AE9EDF8B-031D-7740-9496-75682D788ADA}">
      <dgm:prSet/>
      <dgm:spPr>
        <a:solidFill>
          <a:schemeClr val="accent4"/>
        </a:solidFill>
      </dgm:spPr>
      <dgm:t>
        <a:bodyPr/>
        <a:lstStyle/>
        <a:p>
          <a:pPr rtl="0"/>
          <a:r>
            <a:rPr lang="en-US" dirty="0" smtClean="0">
              <a:effectLst>
                <a:outerShdw blurRad="38100" dist="38100" dir="2700000" algn="tl">
                  <a:srgbClr val="000000">
                    <a:alpha val="43137"/>
                  </a:srgbClr>
                </a:outerShdw>
              </a:effectLst>
            </a:rPr>
            <a:t>Data storage</a:t>
          </a:r>
          <a:endParaRPr lang="en-US" dirty="0">
            <a:effectLst>
              <a:outerShdw blurRad="38100" dist="38100" dir="2700000" algn="tl">
                <a:srgbClr val="000000">
                  <a:alpha val="43137"/>
                </a:srgbClr>
              </a:outerShdw>
            </a:effectLst>
          </a:endParaRPr>
        </a:p>
      </dgm:t>
    </dgm:pt>
    <dgm:pt modelId="{2F092B45-6ADB-4446-A7FF-4B6F136AF5C3}" type="parTrans" cxnId="{1F02613C-5B87-A94E-9140-04DA3448D363}">
      <dgm:prSet/>
      <dgm:spPr/>
      <dgm:t>
        <a:bodyPr/>
        <a:lstStyle/>
        <a:p>
          <a:endParaRPr lang="en-US"/>
        </a:p>
      </dgm:t>
    </dgm:pt>
    <dgm:pt modelId="{BD930FAB-82D7-F44D-9733-F2543B4B9FF0}" type="sibTrans" cxnId="{1F02613C-5B87-A94E-9140-04DA3448D363}">
      <dgm:prSet/>
      <dgm:spPr/>
      <dgm:t>
        <a:bodyPr/>
        <a:lstStyle/>
        <a:p>
          <a:endParaRPr lang="en-US"/>
        </a:p>
      </dgm:t>
    </dgm:pt>
    <dgm:pt modelId="{2BBD1421-AEA3-E34C-8292-A335324D512C}">
      <dgm:prSet/>
      <dgm:spPr/>
      <dgm:t>
        <a:bodyPr/>
        <a:lstStyle/>
        <a:p>
          <a:pPr rtl="0"/>
          <a:r>
            <a:rPr lang="en-US" dirty="0" smtClean="0"/>
            <a:t>Movement of data into or out of register and or memory locations.</a:t>
          </a:r>
          <a:endParaRPr lang="en-US" dirty="0"/>
        </a:p>
      </dgm:t>
    </dgm:pt>
    <dgm:pt modelId="{3DEFB431-A54A-7145-990E-EC4A48C1A3C0}" type="parTrans" cxnId="{0412D97A-D2FE-F54B-95EE-A356B47B7DB9}">
      <dgm:prSet/>
      <dgm:spPr/>
      <dgm:t>
        <a:bodyPr/>
        <a:lstStyle/>
        <a:p>
          <a:endParaRPr lang="en-US"/>
        </a:p>
      </dgm:t>
    </dgm:pt>
    <dgm:pt modelId="{4F162E8C-7511-1548-B473-479D3797BC7F}" type="sibTrans" cxnId="{0412D97A-D2FE-F54B-95EE-A356B47B7DB9}">
      <dgm:prSet/>
      <dgm:spPr/>
      <dgm:t>
        <a:bodyPr/>
        <a:lstStyle/>
        <a:p>
          <a:endParaRPr lang="en-US"/>
        </a:p>
      </dgm:t>
    </dgm:pt>
    <dgm:pt modelId="{B251DF42-B0EB-7A49-8C44-BDB17AF4475C}">
      <dgm:prSet/>
      <dgm:spPr/>
      <dgm:t>
        <a:bodyPr/>
        <a:lstStyle/>
        <a:p>
          <a:pPr rtl="0"/>
          <a:r>
            <a:rPr lang="en-US" dirty="0" smtClean="0">
              <a:effectLst>
                <a:outerShdw blurRad="38100" dist="38100" dir="2700000" algn="tl">
                  <a:srgbClr val="000000">
                    <a:alpha val="43137"/>
                  </a:srgbClr>
                </a:outerShdw>
              </a:effectLst>
            </a:rPr>
            <a:t>Data movement</a:t>
          </a:r>
          <a:endParaRPr lang="en-US" dirty="0">
            <a:effectLst>
              <a:outerShdw blurRad="38100" dist="38100" dir="2700000" algn="tl">
                <a:srgbClr val="000000">
                  <a:alpha val="43137"/>
                </a:srgbClr>
              </a:outerShdw>
            </a:effectLst>
          </a:endParaRPr>
        </a:p>
      </dgm:t>
    </dgm:pt>
    <dgm:pt modelId="{AC9F7E3A-4A9C-2B40-82F0-57E10223D6D5}" type="parTrans" cxnId="{810352ED-E3DD-0548-89D5-A5CAF37D99A9}">
      <dgm:prSet/>
      <dgm:spPr/>
      <dgm:t>
        <a:bodyPr/>
        <a:lstStyle/>
        <a:p>
          <a:endParaRPr lang="en-US"/>
        </a:p>
      </dgm:t>
    </dgm:pt>
    <dgm:pt modelId="{51004CD5-1BB8-0447-8B24-F5D34F2E0B87}" type="sibTrans" cxnId="{810352ED-E3DD-0548-89D5-A5CAF37D99A9}">
      <dgm:prSet/>
      <dgm:spPr/>
      <dgm:t>
        <a:bodyPr/>
        <a:lstStyle/>
        <a:p>
          <a:endParaRPr lang="en-US"/>
        </a:p>
      </dgm:t>
    </dgm:pt>
    <dgm:pt modelId="{1AE39B25-E452-4946-B133-B3258ED3C595}">
      <dgm:prSet/>
      <dgm:spPr/>
      <dgm:t>
        <a:bodyPr/>
        <a:lstStyle/>
        <a:p>
          <a:pPr rtl="0"/>
          <a:r>
            <a:rPr lang="en-US" dirty="0" smtClean="0"/>
            <a:t>I/O instructions are needed to transfer programs and data into memory and the results of computations back out to the user</a:t>
          </a:r>
          <a:endParaRPr lang="en-US" dirty="0"/>
        </a:p>
      </dgm:t>
    </dgm:pt>
    <dgm:pt modelId="{5FBA671F-6111-9B41-B63F-0BEE04E2C2A9}" type="parTrans" cxnId="{950E87F8-4D7F-FE49-B46D-F6B2B2FF623E}">
      <dgm:prSet/>
      <dgm:spPr/>
      <dgm:t>
        <a:bodyPr/>
        <a:lstStyle/>
        <a:p>
          <a:endParaRPr lang="en-US"/>
        </a:p>
      </dgm:t>
    </dgm:pt>
    <dgm:pt modelId="{CE0AA7E2-62FA-D544-8DD2-AAFAFBAB93F4}" type="sibTrans" cxnId="{950E87F8-4D7F-FE49-B46D-F6B2B2FF623E}">
      <dgm:prSet/>
      <dgm:spPr/>
      <dgm:t>
        <a:bodyPr/>
        <a:lstStyle/>
        <a:p>
          <a:endParaRPr lang="en-US"/>
        </a:p>
      </dgm:t>
    </dgm:pt>
    <dgm:pt modelId="{3FBA8F48-CCC3-124D-B715-4C360C50EE41}">
      <dgm:prSet/>
      <dgm:spPr>
        <a:solidFill>
          <a:schemeClr val="accent4"/>
        </a:solidFill>
      </dgm:spPr>
      <dgm:t>
        <a:bodyPr/>
        <a:lstStyle/>
        <a:p>
          <a:pPr rtl="0"/>
          <a:r>
            <a:rPr lang="en-US" dirty="0" smtClean="0">
              <a:effectLst>
                <a:outerShdw blurRad="38100" dist="38100" dir="2700000" algn="tl">
                  <a:srgbClr val="000000">
                    <a:alpha val="43137"/>
                  </a:srgbClr>
                </a:outerShdw>
              </a:effectLst>
            </a:rPr>
            <a:t>Control</a:t>
          </a:r>
          <a:endParaRPr lang="en-US" dirty="0">
            <a:effectLst>
              <a:outerShdw blurRad="38100" dist="38100" dir="2700000" algn="tl">
                <a:srgbClr val="000000">
                  <a:alpha val="43137"/>
                </a:srgbClr>
              </a:outerShdw>
            </a:effectLst>
          </a:endParaRPr>
        </a:p>
      </dgm:t>
    </dgm:pt>
    <dgm:pt modelId="{17A66A4C-1942-114A-867B-D666B7BF6115}" type="parTrans" cxnId="{8830C5D0-8859-0349-9EFE-18FBB4F69A58}">
      <dgm:prSet/>
      <dgm:spPr/>
      <dgm:t>
        <a:bodyPr/>
        <a:lstStyle/>
        <a:p>
          <a:endParaRPr lang="en-US"/>
        </a:p>
      </dgm:t>
    </dgm:pt>
    <dgm:pt modelId="{1235357D-B41D-1F45-87E1-0CBD5730F045}" type="sibTrans" cxnId="{8830C5D0-8859-0349-9EFE-18FBB4F69A58}">
      <dgm:prSet/>
      <dgm:spPr/>
      <dgm:t>
        <a:bodyPr/>
        <a:lstStyle/>
        <a:p>
          <a:endParaRPr lang="en-US"/>
        </a:p>
      </dgm:t>
    </dgm:pt>
    <dgm:pt modelId="{1C606FAD-E531-2A40-B173-5106AD6C3FA2}">
      <dgm:prSet/>
      <dgm:spPr/>
      <dgm:t>
        <a:bodyPr/>
        <a:lstStyle/>
        <a:p>
          <a:pPr rtl="0"/>
          <a:r>
            <a:rPr lang="en-US" dirty="0" smtClean="0"/>
            <a:t>Test instructions are used to test the value of a data word or the status of a computation</a:t>
          </a:r>
          <a:endParaRPr lang="en-US" dirty="0"/>
        </a:p>
      </dgm:t>
    </dgm:pt>
    <dgm:pt modelId="{28539DA5-DF62-0744-9F61-A0491270913A}" type="parTrans" cxnId="{F63C1305-CB71-AF49-9903-0F9F3527E3DD}">
      <dgm:prSet/>
      <dgm:spPr/>
      <dgm:t>
        <a:bodyPr/>
        <a:lstStyle/>
        <a:p>
          <a:endParaRPr lang="en-US"/>
        </a:p>
      </dgm:t>
    </dgm:pt>
    <dgm:pt modelId="{9612D6A2-38ED-D34A-BCE3-BB232E162F00}" type="sibTrans" cxnId="{F63C1305-CB71-AF49-9903-0F9F3527E3DD}">
      <dgm:prSet/>
      <dgm:spPr/>
      <dgm:t>
        <a:bodyPr/>
        <a:lstStyle/>
        <a:p>
          <a:endParaRPr lang="en-US"/>
        </a:p>
      </dgm:t>
    </dgm:pt>
    <dgm:pt modelId="{B22073FC-6737-1444-940C-46119CB67413}">
      <dgm:prSet/>
      <dgm:spPr/>
      <dgm:t>
        <a:bodyPr/>
        <a:lstStyle/>
        <a:p>
          <a:pPr rtl="0"/>
          <a:r>
            <a:rPr lang="en-US" dirty="0" smtClean="0"/>
            <a:t>Branch instructions are used to branch to a different set of instructions depending on the decision made.</a:t>
          </a:r>
          <a:endParaRPr lang="en-US" dirty="0"/>
        </a:p>
      </dgm:t>
    </dgm:pt>
    <dgm:pt modelId="{02239424-C1F1-874B-A029-B22C5FE1A22A}" type="parTrans" cxnId="{996D9636-DAA1-3D4C-8B5A-7F66DB32EF29}">
      <dgm:prSet/>
      <dgm:spPr/>
      <dgm:t>
        <a:bodyPr/>
        <a:lstStyle/>
        <a:p>
          <a:endParaRPr lang="en-US"/>
        </a:p>
      </dgm:t>
    </dgm:pt>
    <dgm:pt modelId="{80C3BCDE-B719-3E46-95BE-6B3B1DC5E0D1}" type="sibTrans" cxnId="{996D9636-DAA1-3D4C-8B5A-7F66DB32EF29}">
      <dgm:prSet/>
      <dgm:spPr/>
      <dgm:t>
        <a:bodyPr/>
        <a:lstStyle/>
        <a:p>
          <a:endParaRPr lang="en-US"/>
        </a:p>
      </dgm:t>
    </dgm:pt>
    <dgm:pt modelId="{1AAB467C-A7C1-4963-9E26-D1EA626842BD}">
      <dgm:prSet/>
      <dgm:spPr/>
      <dgm:t>
        <a:bodyPr/>
        <a:lstStyle/>
        <a:p>
          <a:pPr rtl="0"/>
          <a:r>
            <a:rPr lang="en-US" dirty="0" smtClean="0"/>
            <a:t>M -</a:t>
          </a:r>
          <a:r>
            <a:rPr lang="en-US" dirty="0" smtClean="0">
              <a:sym typeface="Wingdings" panose="05000000000000000000" pitchFamily="2" charset="2"/>
            </a:rPr>
            <a:t>  R</a:t>
          </a:r>
          <a:endParaRPr lang="en-US" dirty="0"/>
        </a:p>
      </dgm:t>
    </dgm:pt>
    <dgm:pt modelId="{21DCBA3C-4492-4B7A-90E7-8B16C357B73A}" type="parTrans" cxnId="{D3898950-2364-453D-B604-FE3981C0F339}">
      <dgm:prSet/>
      <dgm:spPr/>
      <dgm:t>
        <a:bodyPr/>
        <a:lstStyle/>
        <a:p>
          <a:endParaRPr lang="en-US"/>
        </a:p>
      </dgm:t>
    </dgm:pt>
    <dgm:pt modelId="{F496472C-1017-490F-AA6D-F5340E00F83D}" type="sibTrans" cxnId="{D3898950-2364-453D-B604-FE3981C0F339}">
      <dgm:prSet/>
      <dgm:spPr/>
      <dgm:t>
        <a:bodyPr/>
        <a:lstStyle/>
        <a:p>
          <a:endParaRPr lang="en-US"/>
        </a:p>
      </dgm:t>
    </dgm:pt>
    <dgm:pt modelId="{B77CAC0C-74BC-4920-9B33-E01838D34671}">
      <dgm:prSet/>
      <dgm:spPr/>
      <dgm:t>
        <a:bodyPr/>
        <a:lstStyle/>
        <a:p>
          <a:pPr rtl="0"/>
          <a:r>
            <a:rPr lang="en-US" dirty="0" smtClean="0"/>
            <a:t>Test checks condition (Flag/Compare)</a:t>
          </a:r>
          <a:endParaRPr lang="en-US" dirty="0"/>
        </a:p>
      </dgm:t>
    </dgm:pt>
    <dgm:pt modelId="{976D6DD9-2427-4D05-AB7F-04232EF969F5}" type="parTrans" cxnId="{326DFC7C-6A07-45FA-9FC2-4FB9B445AC44}">
      <dgm:prSet/>
      <dgm:spPr/>
      <dgm:t>
        <a:bodyPr/>
        <a:lstStyle/>
        <a:p>
          <a:endParaRPr lang="en-US"/>
        </a:p>
      </dgm:t>
    </dgm:pt>
    <dgm:pt modelId="{0443332F-ECE5-45FB-A1B5-AD6BC9FE33EC}" type="sibTrans" cxnId="{326DFC7C-6A07-45FA-9FC2-4FB9B445AC44}">
      <dgm:prSet/>
      <dgm:spPr/>
      <dgm:t>
        <a:bodyPr/>
        <a:lstStyle/>
        <a:p>
          <a:endParaRPr lang="en-US"/>
        </a:p>
      </dgm:t>
    </dgm:pt>
    <dgm:pt modelId="{123EF509-3201-429E-BFEF-EC80E7D7B35D}">
      <dgm:prSet/>
      <dgm:spPr/>
      <dgm:t>
        <a:bodyPr/>
        <a:lstStyle/>
        <a:p>
          <a:pPr rtl="0"/>
          <a:r>
            <a:rPr lang="en-US" dirty="0" smtClean="0"/>
            <a:t>Branch jump based on results.</a:t>
          </a:r>
          <a:endParaRPr lang="en-US" dirty="0"/>
        </a:p>
      </dgm:t>
    </dgm:pt>
    <dgm:pt modelId="{B0593F33-E238-434D-A64F-72C22AB3BEE7}" type="parTrans" cxnId="{131EF18B-B766-4869-99E5-1FFEED451793}">
      <dgm:prSet/>
      <dgm:spPr/>
      <dgm:t>
        <a:bodyPr/>
        <a:lstStyle/>
        <a:p>
          <a:endParaRPr lang="en-US"/>
        </a:p>
      </dgm:t>
    </dgm:pt>
    <dgm:pt modelId="{662AEAC5-5AD9-48E5-80B4-C40DD4F4237B}" type="sibTrans" cxnId="{131EF18B-B766-4869-99E5-1FFEED451793}">
      <dgm:prSet/>
      <dgm:spPr/>
      <dgm:t>
        <a:bodyPr/>
        <a:lstStyle/>
        <a:p>
          <a:endParaRPr lang="en-US"/>
        </a:p>
      </dgm:t>
    </dgm:pt>
    <dgm:pt modelId="{54B66CE4-B957-6B43-BDD6-872EB4784E64}" type="pres">
      <dgm:prSet presAssocID="{864B1576-EC76-7148-8E67-C617A4C5612A}" presName="cycleMatrixDiagram" presStyleCnt="0">
        <dgm:presLayoutVars>
          <dgm:chMax val="1"/>
          <dgm:dir/>
          <dgm:animLvl val="lvl"/>
          <dgm:resizeHandles val="exact"/>
        </dgm:presLayoutVars>
      </dgm:prSet>
      <dgm:spPr/>
      <dgm:t>
        <a:bodyPr/>
        <a:lstStyle/>
        <a:p>
          <a:endParaRPr lang="en-US"/>
        </a:p>
      </dgm:t>
    </dgm:pt>
    <dgm:pt modelId="{EF8E7D46-66F2-1A47-968B-C01EF393B074}" type="pres">
      <dgm:prSet presAssocID="{864B1576-EC76-7148-8E67-C617A4C5612A}" presName="children" presStyleCnt="0"/>
      <dgm:spPr/>
    </dgm:pt>
    <dgm:pt modelId="{CA66C68F-08B6-F640-8C7D-AD15E2979AC7}" type="pres">
      <dgm:prSet presAssocID="{864B1576-EC76-7148-8E67-C617A4C5612A}" presName="child1group" presStyleCnt="0"/>
      <dgm:spPr/>
    </dgm:pt>
    <dgm:pt modelId="{D393D0F9-5D0B-304A-9364-031DA1DC3538}" type="pres">
      <dgm:prSet presAssocID="{864B1576-EC76-7148-8E67-C617A4C5612A}" presName="child1" presStyleLbl="bgAcc1" presStyleIdx="0" presStyleCnt="4" custScaleX="123617" custScaleY="99653" custLinFactNeighborX="-19962" custLinFactNeighborY="-173"/>
      <dgm:spPr/>
      <dgm:t>
        <a:bodyPr/>
        <a:lstStyle/>
        <a:p>
          <a:endParaRPr lang="en-US"/>
        </a:p>
      </dgm:t>
    </dgm:pt>
    <dgm:pt modelId="{34460823-7A07-7247-B0D3-235B8A941BCF}" type="pres">
      <dgm:prSet presAssocID="{864B1576-EC76-7148-8E67-C617A4C5612A}" presName="child1Text" presStyleLbl="bgAcc1" presStyleIdx="0" presStyleCnt="4">
        <dgm:presLayoutVars>
          <dgm:bulletEnabled val="1"/>
        </dgm:presLayoutVars>
      </dgm:prSet>
      <dgm:spPr/>
      <dgm:t>
        <a:bodyPr/>
        <a:lstStyle/>
        <a:p>
          <a:endParaRPr lang="en-US"/>
        </a:p>
      </dgm:t>
    </dgm:pt>
    <dgm:pt modelId="{F6AA8960-9889-3241-AF41-DD780B9F2F7A}" type="pres">
      <dgm:prSet presAssocID="{864B1576-EC76-7148-8E67-C617A4C5612A}" presName="child2group" presStyleCnt="0"/>
      <dgm:spPr/>
    </dgm:pt>
    <dgm:pt modelId="{E013DB8C-C4D5-9245-9F44-E76F99512271}" type="pres">
      <dgm:prSet presAssocID="{864B1576-EC76-7148-8E67-C617A4C5612A}" presName="child2" presStyleLbl="bgAcc1" presStyleIdx="1" presStyleCnt="4"/>
      <dgm:spPr/>
      <dgm:t>
        <a:bodyPr/>
        <a:lstStyle/>
        <a:p>
          <a:endParaRPr lang="en-US"/>
        </a:p>
      </dgm:t>
    </dgm:pt>
    <dgm:pt modelId="{BDBBC062-316B-894D-970C-B264CE1885D5}" type="pres">
      <dgm:prSet presAssocID="{864B1576-EC76-7148-8E67-C617A4C5612A}" presName="child2Text" presStyleLbl="bgAcc1" presStyleIdx="1" presStyleCnt="4">
        <dgm:presLayoutVars>
          <dgm:bulletEnabled val="1"/>
        </dgm:presLayoutVars>
      </dgm:prSet>
      <dgm:spPr/>
      <dgm:t>
        <a:bodyPr/>
        <a:lstStyle/>
        <a:p>
          <a:endParaRPr lang="en-US"/>
        </a:p>
      </dgm:t>
    </dgm:pt>
    <dgm:pt modelId="{7E239632-7BEC-6F4C-9C6B-2F2FABB1D7F8}" type="pres">
      <dgm:prSet presAssocID="{864B1576-EC76-7148-8E67-C617A4C5612A}" presName="child3group" presStyleCnt="0"/>
      <dgm:spPr/>
    </dgm:pt>
    <dgm:pt modelId="{D49C15E2-0E91-4846-8ABC-A77940D4A179}" type="pres">
      <dgm:prSet presAssocID="{864B1576-EC76-7148-8E67-C617A4C5612A}" presName="child3" presStyleLbl="bgAcc1" presStyleIdx="2" presStyleCnt="4" custLinFactNeighborX="1738" custLinFactNeighborY="174"/>
      <dgm:spPr/>
      <dgm:t>
        <a:bodyPr/>
        <a:lstStyle/>
        <a:p>
          <a:endParaRPr lang="en-US"/>
        </a:p>
      </dgm:t>
    </dgm:pt>
    <dgm:pt modelId="{0E9EBDF2-E81E-8843-84D0-D5B9C010DCFD}" type="pres">
      <dgm:prSet presAssocID="{864B1576-EC76-7148-8E67-C617A4C5612A}" presName="child3Text" presStyleLbl="bgAcc1" presStyleIdx="2" presStyleCnt="4">
        <dgm:presLayoutVars>
          <dgm:bulletEnabled val="1"/>
        </dgm:presLayoutVars>
      </dgm:prSet>
      <dgm:spPr/>
      <dgm:t>
        <a:bodyPr/>
        <a:lstStyle/>
        <a:p>
          <a:endParaRPr lang="en-US"/>
        </a:p>
      </dgm:t>
    </dgm:pt>
    <dgm:pt modelId="{B70514BB-18F6-7F4C-9310-54C429397273}" type="pres">
      <dgm:prSet presAssocID="{864B1576-EC76-7148-8E67-C617A4C5612A}" presName="child4group" presStyleCnt="0"/>
      <dgm:spPr/>
    </dgm:pt>
    <dgm:pt modelId="{1271081F-DA7B-9646-B77E-4127E6C5A827}" type="pres">
      <dgm:prSet presAssocID="{864B1576-EC76-7148-8E67-C617A4C5612A}" presName="child4" presStyleLbl="bgAcc1" presStyleIdx="3" presStyleCnt="4" custScaleX="135425" custScaleY="99653" custLinFactNeighborX="-14198" custLinFactNeighborY="0"/>
      <dgm:spPr/>
      <dgm:t>
        <a:bodyPr/>
        <a:lstStyle/>
        <a:p>
          <a:endParaRPr lang="en-US"/>
        </a:p>
      </dgm:t>
    </dgm:pt>
    <dgm:pt modelId="{B4C6AF6A-E6F6-434A-A0EB-F3E05F767021}" type="pres">
      <dgm:prSet presAssocID="{864B1576-EC76-7148-8E67-C617A4C5612A}" presName="child4Text" presStyleLbl="bgAcc1" presStyleIdx="3" presStyleCnt="4">
        <dgm:presLayoutVars>
          <dgm:bulletEnabled val="1"/>
        </dgm:presLayoutVars>
      </dgm:prSet>
      <dgm:spPr/>
      <dgm:t>
        <a:bodyPr/>
        <a:lstStyle/>
        <a:p>
          <a:endParaRPr lang="en-US"/>
        </a:p>
      </dgm:t>
    </dgm:pt>
    <dgm:pt modelId="{CAEC5CBA-E9C4-0F4A-860D-7801A66D3A3E}" type="pres">
      <dgm:prSet presAssocID="{864B1576-EC76-7148-8E67-C617A4C5612A}" presName="childPlaceholder" presStyleCnt="0"/>
      <dgm:spPr/>
    </dgm:pt>
    <dgm:pt modelId="{338BC3C6-4E50-4E40-A3D2-BC47420586EE}" type="pres">
      <dgm:prSet presAssocID="{864B1576-EC76-7148-8E67-C617A4C5612A}" presName="circle" presStyleCnt="0"/>
      <dgm:spPr/>
    </dgm:pt>
    <dgm:pt modelId="{64E7A613-FAC5-2A4B-84D5-823A0DA3329F}" type="pres">
      <dgm:prSet presAssocID="{864B1576-EC76-7148-8E67-C617A4C5612A}" presName="quadrant1" presStyleLbl="node1" presStyleIdx="0" presStyleCnt="4">
        <dgm:presLayoutVars>
          <dgm:chMax val="1"/>
          <dgm:bulletEnabled val="1"/>
        </dgm:presLayoutVars>
      </dgm:prSet>
      <dgm:spPr/>
      <dgm:t>
        <a:bodyPr/>
        <a:lstStyle/>
        <a:p>
          <a:endParaRPr lang="en-US"/>
        </a:p>
      </dgm:t>
    </dgm:pt>
    <dgm:pt modelId="{3B212426-56CB-2742-8EFE-A3AF6B61B920}" type="pres">
      <dgm:prSet presAssocID="{864B1576-EC76-7148-8E67-C617A4C5612A}" presName="quadrant2" presStyleLbl="node1" presStyleIdx="1" presStyleCnt="4">
        <dgm:presLayoutVars>
          <dgm:chMax val="1"/>
          <dgm:bulletEnabled val="1"/>
        </dgm:presLayoutVars>
      </dgm:prSet>
      <dgm:spPr/>
      <dgm:t>
        <a:bodyPr/>
        <a:lstStyle/>
        <a:p>
          <a:endParaRPr lang="en-US"/>
        </a:p>
      </dgm:t>
    </dgm:pt>
    <dgm:pt modelId="{0F90C031-7DF5-F44F-BC7E-06E0F85CB427}" type="pres">
      <dgm:prSet presAssocID="{864B1576-EC76-7148-8E67-C617A4C5612A}" presName="quadrant3" presStyleLbl="node1" presStyleIdx="2" presStyleCnt="4">
        <dgm:presLayoutVars>
          <dgm:chMax val="1"/>
          <dgm:bulletEnabled val="1"/>
        </dgm:presLayoutVars>
      </dgm:prSet>
      <dgm:spPr/>
      <dgm:t>
        <a:bodyPr/>
        <a:lstStyle/>
        <a:p>
          <a:endParaRPr lang="en-US"/>
        </a:p>
      </dgm:t>
    </dgm:pt>
    <dgm:pt modelId="{D68EFB07-20BD-9848-85ED-45FB73135481}" type="pres">
      <dgm:prSet presAssocID="{864B1576-EC76-7148-8E67-C617A4C5612A}" presName="quadrant4" presStyleLbl="node1" presStyleIdx="3" presStyleCnt="4">
        <dgm:presLayoutVars>
          <dgm:chMax val="1"/>
          <dgm:bulletEnabled val="1"/>
        </dgm:presLayoutVars>
      </dgm:prSet>
      <dgm:spPr/>
      <dgm:t>
        <a:bodyPr/>
        <a:lstStyle/>
        <a:p>
          <a:endParaRPr lang="en-US"/>
        </a:p>
      </dgm:t>
    </dgm:pt>
    <dgm:pt modelId="{FA5E23B5-B5F8-224A-BCF3-175F4B575145}" type="pres">
      <dgm:prSet presAssocID="{864B1576-EC76-7148-8E67-C617A4C5612A}" presName="quadrantPlaceholder" presStyleCnt="0"/>
      <dgm:spPr/>
    </dgm:pt>
    <dgm:pt modelId="{A04C8535-5121-1D48-89BE-ED9EAD28EFF1}" type="pres">
      <dgm:prSet presAssocID="{864B1576-EC76-7148-8E67-C617A4C5612A}" presName="center1" presStyleLbl="fgShp" presStyleIdx="0" presStyleCnt="2"/>
      <dgm:spPr>
        <a:solidFill>
          <a:schemeClr val="accent3"/>
        </a:solidFill>
      </dgm:spPr>
    </dgm:pt>
    <dgm:pt modelId="{FA519686-EE3E-034C-95BB-4F2415CF38CD}" type="pres">
      <dgm:prSet presAssocID="{864B1576-EC76-7148-8E67-C617A4C5612A}" presName="center2" presStyleLbl="fgShp" presStyleIdx="1" presStyleCnt="2"/>
      <dgm:spPr>
        <a:solidFill>
          <a:schemeClr val="accent3"/>
        </a:solidFill>
      </dgm:spPr>
    </dgm:pt>
  </dgm:ptLst>
  <dgm:cxnLst>
    <dgm:cxn modelId="{1F02613C-5B87-A94E-9140-04DA3448D363}" srcId="{864B1576-EC76-7148-8E67-C617A4C5612A}" destId="{AE9EDF8B-031D-7740-9496-75682D788ADA}" srcOrd="1" destOrd="0" parTransId="{2F092B45-6ADB-4446-A7FF-4B6F136AF5C3}" sibTransId="{BD930FAB-82D7-F44D-9733-F2543B4B9FF0}"/>
    <dgm:cxn modelId="{B977C336-FC76-6F42-ABA1-108DCABA36FB}" type="presOf" srcId="{B22073FC-6737-1444-940C-46119CB67413}" destId="{B4C6AF6A-E6F6-434A-A0EB-F3E05F767021}" srcOrd="1" destOrd="1" presId="urn:microsoft.com/office/officeart/2005/8/layout/cycle4#3"/>
    <dgm:cxn modelId="{F63C1305-CB71-AF49-9903-0F9F3527E3DD}" srcId="{3FBA8F48-CCC3-124D-B715-4C360C50EE41}" destId="{1C606FAD-E531-2A40-B173-5106AD6C3FA2}" srcOrd="0" destOrd="0" parTransId="{28539DA5-DF62-0744-9F61-A0491270913A}" sibTransId="{9612D6A2-38ED-D34A-BCE3-BB232E162F00}"/>
    <dgm:cxn modelId="{02C15E61-0009-1743-BB8C-E2141F304DFE}" type="presOf" srcId="{A4477C0B-F329-1B48-B177-C96746E5C22A}" destId="{D393D0F9-5D0B-304A-9364-031DA1DC3538}" srcOrd="0" destOrd="1" presId="urn:microsoft.com/office/officeart/2005/8/layout/cycle4#3"/>
    <dgm:cxn modelId="{0D9A7A07-ED73-AA4C-AD45-D695865AF1B3}" type="presOf" srcId="{2BBD1421-AEA3-E34C-8292-A335324D512C}" destId="{BDBBC062-316B-894D-970C-B264CE1885D5}" srcOrd="1" destOrd="0" presId="urn:microsoft.com/office/officeart/2005/8/layout/cycle4#3"/>
    <dgm:cxn modelId="{CC1AE6DA-9E18-41DD-939B-9763BA4F586D}" type="presOf" srcId="{123EF509-3201-429E-BFEF-EC80E7D7B35D}" destId="{1271081F-DA7B-9646-B77E-4127E6C5A827}" srcOrd="0" destOrd="3" presId="urn:microsoft.com/office/officeart/2005/8/layout/cycle4#3"/>
    <dgm:cxn modelId="{0412D97A-D2FE-F54B-95EE-A356B47B7DB9}" srcId="{AE9EDF8B-031D-7740-9496-75682D788ADA}" destId="{2BBD1421-AEA3-E34C-8292-A335324D512C}" srcOrd="0" destOrd="0" parTransId="{3DEFB431-A54A-7145-990E-EC4A48C1A3C0}" sibTransId="{4F162E8C-7511-1548-B473-479D3797BC7F}"/>
    <dgm:cxn modelId="{A1AFBFB7-529D-45CC-951F-3BF0334EDDD2}" type="presOf" srcId="{1AAB467C-A7C1-4963-9E26-D1EA626842BD}" destId="{E013DB8C-C4D5-9245-9F44-E76F99512271}" srcOrd="0" destOrd="1" presId="urn:microsoft.com/office/officeart/2005/8/layout/cycle4#3"/>
    <dgm:cxn modelId="{996D9636-DAA1-3D4C-8B5A-7F66DB32EF29}" srcId="{3FBA8F48-CCC3-124D-B715-4C360C50EE41}" destId="{B22073FC-6737-1444-940C-46119CB67413}" srcOrd="1" destOrd="0" parTransId="{02239424-C1F1-874B-A029-B22C5FE1A22A}" sibTransId="{80C3BCDE-B719-3E46-95BE-6B3B1DC5E0D1}"/>
    <dgm:cxn modelId="{D3898950-2364-453D-B604-FE3981C0F339}" srcId="{AE9EDF8B-031D-7740-9496-75682D788ADA}" destId="{1AAB467C-A7C1-4963-9E26-D1EA626842BD}" srcOrd="1" destOrd="0" parTransId="{21DCBA3C-4492-4B7A-90E7-8B16C357B73A}" sibTransId="{F496472C-1017-490F-AA6D-F5340E00F83D}"/>
    <dgm:cxn modelId="{C4D574D0-EF9A-D846-BB04-D27543807E91}" type="presOf" srcId="{B251DF42-B0EB-7A49-8C44-BDB17AF4475C}" destId="{0F90C031-7DF5-F44F-BC7E-06E0F85CB427}" srcOrd="0" destOrd="0" presId="urn:microsoft.com/office/officeart/2005/8/layout/cycle4#3"/>
    <dgm:cxn modelId="{65FB1526-AE13-D548-846B-B63504FB0339}" type="presOf" srcId="{2BBD1421-AEA3-E34C-8292-A335324D512C}" destId="{E013DB8C-C4D5-9245-9F44-E76F99512271}" srcOrd="0" destOrd="0" presId="urn:microsoft.com/office/officeart/2005/8/layout/cycle4#3"/>
    <dgm:cxn modelId="{8830C5D0-8859-0349-9EFE-18FBB4F69A58}" srcId="{864B1576-EC76-7148-8E67-C617A4C5612A}" destId="{3FBA8F48-CCC3-124D-B715-4C360C50EE41}" srcOrd="3" destOrd="0" parTransId="{17A66A4C-1942-114A-867B-D666B7BF6115}" sibTransId="{1235357D-B41D-1F45-87E1-0CBD5730F045}"/>
    <dgm:cxn modelId="{3B784941-5ED3-764A-8756-222F6CEE773B}" type="presOf" srcId="{5B7CBE8B-031E-6E4A-A6D8-BAE279011D9A}" destId="{64E7A613-FAC5-2A4B-84D5-823A0DA3329F}" srcOrd="0" destOrd="0" presId="urn:microsoft.com/office/officeart/2005/8/layout/cycle4#3"/>
    <dgm:cxn modelId="{00C871FD-0BF9-431B-8881-8EF2A965389A}" type="presOf" srcId="{123EF509-3201-429E-BFEF-EC80E7D7B35D}" destId="{B4C6AF6A-E6F6-434A-A0EB-F3E05F767021}" srcOrd="1" destOrd="3" presId="urn:microsoft.com/office/officeart/2005/8/layout/cycle4#3"/>
    <dgm:cxn modelId="{810352ED-E3DD-0548-89D5-A5CAF37D99A9}" srcId="{864B1576-EC76-7148-8E67-C617A4C5612A}" destId="{B251DF42-B0EB-7A49-8C44-BDB17AF4475C}" srcOrd="2" destOrd="0" parTransId="{AC9F7E3A-4A9C-2B40-82F0-57E10223D6D5}" sibTransId="{51004CD5-1BB8-0447-8B24-F5D34F2E0B87}"/>
    <dgm:cxn modelId="{DFD7BE0D-77F7-E548-9F99-57F72D70E972}" type="presOf" srcId="{1AE39B25-E452-4946-B133-B3258ED3C595}" destId="{D49C15E2-0E91-4846-8ABC-A77940D4A179}" srcOrd="0" destOrd="0" presId="urn:microsoft.com/office/officeart/2005/8/layout/cycle4#3"/>
    <dgm:cxn modelId="{FDFC9851-1380-E54D-95FF-BDDB86320532}" srcId="{5B7CBE8B-031E-6E4A-A6D8-BAE279011D9A}" destId="{36AE9740-0372-0E42-8B0F-CFF54F99B649}" srcOrd="0" destOrd="0" parTransId="{67AEF1E2-B31E-1942-9127-7FE00EFE224D}" sibTransId="{37208CC7-45B4-734F-8124-5A4F7684C9AE}"/>
    <dgm:cxn modelId="{950E87F8-4D7F-FE49-B46D-F6B2B2FF623E}" srcId="{B251DF42-B0EB-7A49-8C44-BDB17AF4475C}" destId="{1AE39B25-E452-4946-B133-B3258ED3C595}" srcOrd="0" destOrd="0" parTransId="{5FBA671F-6111-9B41-B63F-0BEE04E2C2A9}" sibTransId="{CE0AA7E2-62FA-D544-8DD2-AAFAFBAB93F4}"/>
    <dgm:cxn modelId="{6BF513A7-C770-EE4E-B1BB-E0F1284909EC}" type="presOf" srcId="{36AE9740-0372-0E42-8B0F-CFF54F99B649}" destId="{D393D0F9-5D0B-304A-9364-031DA1DC3538}" srcOrd="0" destOrd="0" presId="urn:microsoft.com/office/officeart/2005/8/layout/cycle4#3"/>
    <dgm:cxn modelId="{A29D82D1-B875-49C0-90D4-F963420BD360}" type="presOf" srcId="{B77CAC0C-74BC-4920-9B33-E01838D34671}" destId="{B4C6AF6A-E6F6-434A-A0EB-F3E05F767021}" srcOrd="1" destOrd="2" presId="urn:microsoft.com/office/officeart/2005/8/layout/cycle4#3"/>
    <dgm:cxn modelId="{E543CCE4-2DFC-754B-B02C-268997CB796F}" type="presOf" srcId="{1C606FAD-E531-2A40-B173-5106AD6C3FA2}" destId="{B4C6AF6A-E6F6-434A-A0EB-F3E05F767021}" srcOrd="1" destOrd="0" presId="urn:microsoft.com/office/officeart/2005/8/layout/cycle4#3"/>
    <dgm:cxn modelId="{131EF18B-B766-4869-99E5-1FFEED451793}" srcId="{3FBA8F48-CCC3-124D-B715-4C360C50EE41}" destId="{123EF509-3201-429E-BFEF-EC80E7D7B35D}" srcOrd="3" destOrd="0" parTransId="{B0593F33-E238-434D-A64F-72C22AB3BEE7}" sibTransId="{662AEAC5-5AD9-48E5-80B4-C40DD4F4237B}"/>
    <dgm:cxn modelId="{0BA804E4-728F-5F41-9D16-929307B6CE82}" type="presOf" srcId="{36AE9740-0372-0E42-8B0F-CFF54F99B649}" destId="{34460823-7A07-7247-B0D3-235B8A941BCF}" srcOrd="1" destOrd="0" presId="urn:microsoft.com/office/officeart/2005/8/layout/cycle4#3"/>
    <dgm:cxn modelId="{81492EAB-C6FE-4EC4-A6F0-BA7E0A53807F}" type="presOf" srcId="{B77CAC0C-74BC-4920-9B33-E01838D34671}" destId="{1271081F-DA7B-9646-B77E-4127E6C5A827}" srcOrd="0" destOrd="2" presId="urn:microsoft.com/office/officeart/2005/8/layout/cycle4#3"/>
    <dgm:cxn modelId="{F9392D31-92C0-034C-A7C7-7E1385CE7968}" type="presOf" srcId="{1AE39B25-E452-4946-B133-B3258ED3C595}" destId="{0E9EBDF2-E81E-8843-84D0-D5B9C010DCFD}" srcOrd="1" destOrd="0" presId="urn:microsoft.com/office/officeart/2005/8/layout/cycle4#3"/>
    <dgm:cxn modelId="{4B640820-8DAC-0742-9BEF-8F8BF34F5791}" type="presOf" srcId="{3FBA8F48-CCC3-124D-B715-4C360C50EE41}" destId="{D68EFB07-20BD-9848-85ED-45FB73135481}" srcOrd="0" destOrd="0" presId="urn:microsoft.com/office/officeart/2005/8/layout/cycle4#3"/>
    <dgm:cxn modelId="{983CD786-D9CB-CF42-A8F6-6D1741A17621}" srcId="{5B7CBE8B-031E-6E4A-A6D8-BAE279011D9A}" destId="{A4477C0B-F329-1B48-B177-C96746E5C22A}" srcOrd="1" destOrd="0" parTransId="{1E209E03-8253-984B-AE52-BE8538ED8178}" sibTransId="{968EFCF3-BEE2-2649-997F-68665AF3B38A}"/>
    <dgm:cxn modelId="{326DFC7C-6A07-45FA-9FC2-4FB9B445AC44}" srcId="{3FBA8F48-CCC3-124D-B715-4C360C50EE41}" destId="{B77CAC0C-74BC-4920-9B33-E01838D34671}" srcOrd="2" destOrd="0" parTransId="{976D6DD9-2427-4D05-AB7F-04232EF969F5}" sibTransId="{0443332F-ECE5-45FB-A1B5-AD6BC9FE33EC}"/>
    <dgm:cxn modelId="{77FBC579-7AEB-8149-AD24-345994D50248}" type="presOf" srcId="{A4477C0B-F329-1B48-B177-C96746E5C22A}" destId="{34460823-7A07-7247-B0D3-235B8A941BCF}" srcOrd="1" destOrd="1" presId="urn:microsoft.com/office/officeart/2005/8/layout/cycle4#3"/>
    <dgm:cxn modelId="{8804E042-7DFA-AE4F-8CA1-4F0A6A92CF04}" type="presOf" srcId="{AE9EDF8B-031D-7740-9496-75682D788ADA}" destId="{3B212426-56CB-2742-8EFE-A3AF6B61B920}" srcOrd="0" destOrd="0" presId="urn:microsoft.com/office/officeart/2005/8/layout/cycle4#3"/>
    <dgm:cxn modelId="{3BBCC020-59EB-44CD-BF40-D9F610FE48F8}" type="presOf" srcId="{1AAB467C-A7C1-4963-9E26-D1EA626842BD}" destId="{BDBBC062-316B-894D-970C-B264CE1885D5}" srcOrd="1" destOrd="1" presId="urn:microsoft.com/office/officeart/2005/8/layout/cycle4#3"/>
    <dgm:cxn modelId="{84B58D4C-7DDE-BE40-A4B5-B2E83A119B10}" type="presOf" srcId="{1C606FAD-E531-2A40-B173-5106AD6C3FA2}" destId="{1271081F-DA7B-9646-B77E-4127E6C5A827}" srcOrd="0" destOrd="0" presId="urn:microsoft.com/office/officeart/2005/8/layout/cycle4#3"/>
    <dgm:cxn modelId="{CC00C1F2-25A3-0D4A-AD90-AFDA03A841DE}" type="presOf" srcId="{B22073FC-6737-1444-940C-46119CB67413}" destId="{1271081F-DA7B-9646-B77E-4127E6C5A827}" srcOrd="0" destOrd="1" presId="urn:microsoft.com/office/officeart/2005/8/layout/cycle4#3"/>
    <dgm:cxn modelId="{8E8449E0-E943-3244-9DA5-586BEFAD2DDF}" srcId="{864B1576-EC76-7148-8E67-C617A4C5612A}" destId="{5B7CBE8B-031E-6E4A-A6D8-BAE279011D9A}" srcOrd="0" destOrd="0" parTransId="{F90608E3-C56D-D44F-9FED-A4B7D42D7016}" sibTransId="{0791B277-F27E-6A46-91BA-9CFF4A7A8948}"/>
    <dgm:cxn modelId="{5630C562-1744-D642-9831-0A68689C9A62}" type="presOf" srcId="{864B1576-EC76-7148-8E67-C617A4C5612A}" destId="{54B66CE4-B957-6B43-BDD6-872EB4784E64}" srcOrd="0" destOrd="0" presId="urn:microsoft.com/office/officeart/2005/8/layout/cycle4#3"/>
    <dgm:cxn modelId="{E6CF007E-882A-1F46-A75C-0B5EADCBABD0}" type="presParOf" srcId="{54B66CE4-B957-6B43-BDD6-872EB4784E64}" destId="{EF8E7D46-66F2-1A47-968B-C01EF393B074}" srcOrd="0" destOrd="0" presId="urn:microsoft.com/office/officeart/2005/8/layout/cycle4#3"/>
    <dgm:cxn modelId="{7E1880CE-892C-7D40-BAAE-8B63C487508B}" type="presParOf" srcId="{EF8E7D46-66F2-1A47-968B-C01EF393B074}" destId="{CA66C68F-08B6-F640-8C7D-AD15E2979AC7}" srcOrd="0" destOrd="0" presId="urn:microsoft.com/office/officeart/2005/8/layout/cycle4#3"/>
    <dgm:cxn modelId="{7BC747C4-2730-7749-BCB5-100DDD6B86F0}" type="presParOf" srcId="{CA66C68F-08B6-F640-8C7D-AD15E2979AC7}" destId="{D393D0F9-5D0B-304A-9364-031DA1DC3538}" srcOrd="0" destOrd="0" presId="urn:microsoft.com/office/officeart/2005/8/layout/cycle4#3"/>
    <dgm:cxn modelId="{D92F205A-C8E1-5E41-A515-A0870FCBD501}" type="presParOf" srcId="{CA66C68F-08B6-F640-8C7D-AD15E2979AC7}" destId="{34460823-7A07-7247-B0D3-235B8A941BCF}" srcOrd="1" destOrd="0" presId="urn:microsoft.com/office/officeart/2005/8/layout/cycle4#3"/>
    <dgm:cxn modelId="{0EC601EE-71D2-E542-8246-709120AF6B51}" type="presParOf" srcId="{EF8E7D46-66F2-1A47-968B-C01EF393B074}" destId="{F6AA8960-9889-3241-AF41-DD780B9F2F7A}" srcOrd="1" destOrd="0" presId="urn:microsoft.com/office/officeart/2005/8/layout/cycle4#3"/>
    <dgm:cxn modelId="{9E3CA567-8863-D84E-9BFC-054555CE251F}" type="presParOf" srcId="{F6AA8960-9889-3241-AF41-DD780B9F2F7A}" destId="{E013DB8C-C4D5-9245-9F44-E76F99512271}" srcOrd="0" destOrd="0" presId="urn:microsoft.com/office/officeart/2005/8/layout/cycle4#3"/>
    <dgm:cxn modelId="{EA4789F6-1428-2A49-A4C7-7C02C2EA194E}" type="presParOf" srcId="{F6AA8960-9889-3241-AF41-DD780B9F2F7A}" destId="{BDBBC062-316B-894D-970C-B264CE1885D5}" srcOrd="1" destOrd="0" presId="urn:microsoft.com/office/officeart/2005/8/layout/cycle4#3"/>
    <dgm:cxn modelId="{C9748517-43FE-F347-9724-084F390B2809}" type="presParOf" srcId="{EF8E7D46-66F2-1A47-968B-C01EF393B074}" destId="{7E239632-7BEC-6F4C-9C6B-2F2FABB1D7F8}" srcOrd="2" destOrd="0" presId="urn:microsoft.com/office/officeart/2005/8/layout/cycle4#3"/>
    <dgm:cxn modelId="{DAECE622-129C-BF4B-9232-FF849D32D038}" type="presParOf" srcId="{7E239632-7BEC-6F4C-9C6B-2F2FABB1D7F8}" destId="{D49C15E2-0E91-4846-8ABC-A77940D4A179}" srcOrd="0" destOrd="0" presId="urn:microsoft.com/office/officeart/2005/8/layout/cycle4#3"/>
    <dgm:cxn modelId="{2B2F4164-D980-8E4E-9119-E1DCF763BD46}" type="presParOf" srcId="{7E239632-7BEC-6F4C-9C6B-2F2FABB1D7F8}" destId="{0E9EBDF2-E81E-8843-84D0-D5B9C010DCFD}" srcOrd="1" destOrd="0" presId="urn:microsoft.com/office/officeart/2005/8/layout/cycle4#3"/>
    <dgm:cxn modelId="{57BFFE69-5E9C-C54B-AA25-A879D91295F7}" type="presParOf" srcId="{EF8E7D46-66F2-1A47-968B-C01EF393B074}" destId="{B70514BB-18F6-7F4C-9310-54C429397273}" srcOrd="3" destOrd="0" presId="urn:microsoft.com/office/officeart/2005/8/layout/cycle4#3"/>
    <dgm:cxn modelId="{BF86DB65-B8A5-2745-A50F-C34B4BF26932}" type="presParOf" srcId="{B70514BB-18F6-7F4C-9310-54C429397273}" destId="{1271081F-DA7B-9646-B77E-4127E6C5A827}" srcOrd="0" destOrd="0" presId="urn:microsoft.com/office/officeart/2005/8/layout/cycle4#3"/>
    <dgm:cxn modelId="{A28CC144-75D8-B943-9E89-4D29968E90DF}" type="presParOf" srcId="{B70514BB-18F6-7F4C-9310-54C429397273}" destId="{B4C6AF6A-E6F6-434A-A0EB-F3E05F767021}" srcOrd="1" destOrd="0" presId="urn:microsoft.com/office/officeart/2005/8/layout/cycle4#3"/>
    <dgm:cxn modelId="{670C7EEA-C15F-7241-9300-1F87867025F6}" type="presParOf" srcId="{EF8E7D46-66F2-1A47-968B-C01EF393B074}" destId="{CAEC5CBA-E9C4-0F4A-860D-7801A66D3A3E}" srcOrd="4" destOrd="0" presId="urn:microsoft.com/office/officeart/2005/8/layout/cycle4#3"/>
    <dgm:cxn modelId="{3CB5FFC3-5592-B645-9DE8-96CAE83B03A8}" type="presParOf" srcId="{54B66CE4-B957-6B43-BDD6-872EB4784E64}" destId="{338BC3C6-4E50-4E40-A3D2-BC47420586EE}" srcOrd="1" destOrd="0" presId="urn:microsoft.com/office/officeart/2005/8/layout/cycle4#3"/>
    <dgm:cxn modelId="{962B8941-C41F-DA4D-8013-3CA31FB7B8CD}" type="presParOf" srcId="{338BC3C6-4E50-4E40-A3D2-BC47420586EE}" destId="{64E7A613-FAC5-2A4B-84D5-823A0DA3329F}" srcOrd="0" destOrd="0" presId="urn:microsoft.com/office/officeart/2005/8/layout/cycle4#3"/>
    <dgm:cxn modelId="{DF64DE30-F969-424D-BA00-498F2A5396DC}" type="presParOf" srcId="{338BC3C6-4E50-4E40-A3D2-BC47420586EE}" destId="{3B212426-56CB-2742-8EFE-A3AF6B61B920}" srcOrd="1" destOrd="0" presId="urn:microsoft.com/office/officeart/2005/8/layout/cycle4#3"/>
    <dgm:cxn modelId="{E309CC4C-E8EB-D74C-BE39-A24E7425B1C2}" type="presParOf" srcId="{338BC3C6-4E50-4E40-A3D2-BC47420586EE}" destId="{0F90C031-7DF5-F44F-BC7E-06E0F85CB427}" srcOrd="2" destOrd="0" presId="urn:microsoft.com/office/officeart/2005/8/layout/cycle4#3"/>
    <dgm:cxn modelId="{C2BDCCDA-0110-3940-B8B4-876E5B9AD283}" type="presParOf" srcId="{338BC3C6-4E50-4E40-A3D2-BC47420586EE}" destId="{D68EFB07-20BD-9848-85ED-45FB73135481}" srcOrd="3" destOrd="0" presId="urn:microsoft.com/office/officeart/2005/8/layout/cycle4#3"/>
    <dgm:cxn modelId="{79D4C5E7-12E6-AC49-A6DD-B22A05E7555C}" type="presParOf" srcId="{338BC3C6-4E50-4E40-A3D2-BC47420586EE}" destId="{FA5E23B5-B5F8-224A-BCF3-175F4B575145}" srcOrd="4" destOrd="0" presId="urn:microsoft.com/office/officeart/2005/8/layout/cycle4#3"/>
    <dgm:cxn modelId="{A6C3FCC0-5673-BF4D-A97D-D00C9C7E14C6}" type="presParOf" srcId="{54B66CE4-B957-6B43-BDD6-872EB4784E64}" destId="{A04C8535-5121-1D48-89BE-ED9EAD28EFF1}" srcOrd="2" destOrd="0" presId="urn:microsoft.com/office/officeart/2005/8/layout/cycle4#3"/>
    <dgm:cxn modelId="{9B4ABF64-D9C1-C945-B310-B538D9B71C28}" type="presParOf" srcId="{54B66CE4-B957-6B43-BDD6-872EB4784E64}" destId="{FA519686-EE3E-034C-95BB-4F2415CF38CD}" srcOrd="3" destOrd="0" presId="urn:microsoft.com/office/officeart/2005/8/layout/cycle4#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9AF291-A8F7-754D-9BCC-21843D1485E8}"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6889743B-15A5-4B42-96C5-11425D930E4F}">
      <dgm:prSet/>
      <dgm:spPr>
        <a:solidFill>
          <a:schemeClr val="accent4"/>
        </a:solidFill>
        <a:ln>
          <a:solidFill>
            <a:schemeClr val="accent1"/>
          </a:solidFill>
        </a:ln>
      </dgm:spPr>
      <dgm:t>
        <a:bodyPr/>
        <a:lstStyle/>
        <a:p>
          <a:pPr rtl="0"/>
          <a:r>
            <a:rPr lang="en-US" dirty="0" smtClean="0">
              <a:solidFill>
                <a:schemeClr val="accent1">
                  <a:lumMod val="50000"/>
                </a:schemeClr>
              </a:solidFill>
              <a:effectLst/>
            </a:rPr>
            <a:t>Very complex because it affects so many aspects of the computer system</a:t>
          </a:r>
          <a:endParaRPr lang="en-US" dirty="0">
            <a:solidFill>
              <a:schemeClr val="accent1">
                <a:lumMod val="50000"/>
              </a:schemeClr>
            </a:solidFill>
            <a:effectLst/>
          </a:endParaRPr>
        </a:p>
      </dgm:t>
    </dgm:pt>
    <dgm:pt modelId="{67CA192B-3275-C54B-B58C-DA050B16402A}" type="parTrans" cxnId="{22BFA529-E339-0641-95A3-3C48530A63FA}">
      <dgm:prSet/>
      <dgm:spPr/>
      <dgm:t>
        <a:bodyPr/>
        <a:lstStyle/>
        <a:p>
          <a:endParaRPr lang="en-US"/>
        </a:p>
      </dgm:t>
    </dgm:pt>
    <dgm:pt modelId="{CF529774-18D4-5A49-A355-4389DD9EDF78}" type="sibTrans" cxnId="{22BFA529-E339-0641-95A3-3C48530A63FA}">
      <dgm:prSet/>
      <dgm:spPr/>
      <dgm:t>
        <a:bodyPr/>
        <a:lstStyle/>
        <a:p>
          <a:endParaRPr lang="en-US"/>
        </a:p>
      </dgm:t>
    </dgm:pt>
    <dgm:pt modelId="{85FA6A79-0A59-5E45-B15E-9A4DF30BB091}">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Defines many of the functions performed by the processor</a:t>
          </a:r>
          <a:endParaRPr lang="en-US" dirty="0">
            <a:effectLst>
              <a:outerShdw blurRad="38100" dist="38100" dir="2700000" algn="tl">
                <a:srgbClr val="000000">
                  <a:alpha val="43137"/>
                </a:srgbClr>
              </a:outerShdw>
            </a:effectLst>
          </a:endParaRPr>
        </a:p>
      </dgm:t>
    </dgm:pt>
    <dgm:pt modelId="{85E6E25A-3AE3-3F46-8E90-F2494FC5AECD}" type="parTrans" cxnId="{9656FF87-A36E-4841-A19A-86F651EBBADF}">
      <dgm:prSet/>
      <dgm:spPr/>
      <dgm:t>
        <a:bodyPr/>
        <a:lstStyle/>
        <a:p>
          <a:endParaRPr lang="en-US"/>
        </a:p>
      </dgm:t>
    </dgm:pt>
    <dgm:pt modelId="{4FD0B408-98C8-DE45-A952-A44EDA44E8FC}" type="sibTrans" cxnId="{9656FF87-A36E-4841-A19A-86F651EBBADF}">
      <dgm:prSet/>
      <dgm:spPr/>
      <dgm:t>
        <a:bodyPr/>
        <a:lstStyle/>
        <a:p>
          <a:endParaRPr lang="en-US"/>
        </a:p>
      </dgm:t>
    </dgm:pt>
    <dgm:pt modelId="{0D809260-4B42-5043-99E3-CF6D7B616585}">
      <dgm:prSet/>
      <dgm:spPr>
        <a:solidFill>
          <a:schemeClr val="accent4"/>
        </a:solidFill>
        <a:ln>
          <a:solidFill>
            <a:schemeClr val="accent1"/>
          </a:solidFill>
        </a:ln>
      </dgm:spPr>
      <dgm:t>
        <a:bodyPr/>
        <a:lstStyle/>
        <a:p>
          <a:pPr rtl="0"/>
          <a:r>
            <a:rPr lang="en-US" dirty="0" smtClean="0">
              <a:solidFill>
                <a:schemeClr val="accent1">
                  <a:lumMod val="50000"/>
                </a:schemeClr>
              </a:solidFill>
              <a:effectLst/>
            </a:rPr>
            <a:t>Programmer’s means of controlling the processor</a:t>
          </a:r>
          <a:endParaRPr lang="en-US" dirty="0">
            <a:solidFill>
              <a:schemeClr val="accent1">
                <a:lumMod val="50000"/>
              </a:schemeClr>
            </a:solidFill>
            <a:effectLst/>
          </a:endParaRPr>
        </a:p>
      </dgm:t>
    </dgm:pt>
    <dgm:pt modelId="{6DAB96D9-CB97-A54D-9E38-73264325FA95}" type="parTrans" cxnId="{EECC1C35-EB9D-134D-B119-AC5BA49998B9}">
      <dgm:prSet/>
      <dgm:spPr/>
      <dgm:t>
        <a:bodyPr/>
        <a:lstStyle/>
        <a:p>
          <a:endParaRPr lang="en-US"/>
        </a:p>
      </dgm:t>
    </dgm:pt>
    <dgm:pt modelId="{4CFBC049-35FB-B34E-9B0C-92B91BF2D448}" type="sibTrans" cxnId="{EECC1C35-EB9D-134D-B119-AC5BA49998B9}">
      <dgm:prSet/>
      <dgm:spPr/>
      <dgm:t>
        <a:bodyPr/>
        <a:lstStyle/>
        <a:p>
          <a:endParaRPr lang="en-US"/>
        </a:p>
      </dgm:t>
    </dgm:pt>
    <dgm:pt modelId="{D998F21C-897B-DF48-956E-861DE4522346}">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Fundamental design issues:</a:t>
          </a:r>
          <a:endParaRPr lang="en-US" dirty="0">
            <a:effectLst>
              <a:outerShdw blurRad="38100" dist="38100" dir="2700000" algn="tl">
                <a:srgbClr val="000000">
                  <a:alpha val="43137"/>
                </a:srgbClr>
              </a:outerShdw>
            </a:effectLst>
          </a:endParaRPr>
        </a:p>
      </dgm:t>
    </dgm:pt>
    <dgm:pt modelId="{72A2F193-6231-4244-857B-8332F42F6A3B}" type="parTrans" cxnId="{1C4350C2-543B-8548-B105-496D40F075CF}">
      <dgm:prSet/>
      <dgm:spPr/>
      <dgm:t>
        <a:bodyPr/>
        <a:lstStyle/>
        <a:p>
          <a:endParaRPr lang="en-US"/>
        </a:p>
      </dgm:t>
    </dgm:pt>
    <dgm:pt modelId="{F381CFC5-8171-744F-9472-FF7ED8AF86F2}" type="sibTrans" cxnId="{1C4350C2-543B-8548-B105-496D40F075CF}">
      <dgm:prSet/>
      <dgm:spPr/>
      <dgm:t>
        <a:bodyPr/>
        <a:lstStyle/>
        <a:p>
          <a:endParaRPr lang="en-US"/>
        </a:p>
      </dgm:t>
    </dgm:pt>
    <dgm:pt modelId="{C9369FCC-1255-0D45-AB2C-E89EC8343E66}">
      <dgm:prSet/>
      <dgm:spPr>
        <a:ln>
          <a:solidFill>
            <a:schemeClr val="accent3"/>
          </a:solidFill>
        </a:ln>
      </dgm:spPr>
      <dgm:t>
        <a:bodyPr/>
        <a:lstStyle/>
        <a:p>
          <a:pPr rtl="0"/>
          <a:r>
            <a:rPr lang="en-US" dirty="0" smtClean="0"/>
            <a:t>Operation repertoire</a:t>
          </a:r>
          <a:endParaRPr lang="en-US" dirty="0"/>
        </a:p>
      </dgm:t>
    </dgm:pt>
    <dgm:pt modelId="{FEBA2014-7990-B94D-BAD1-0C73293FA03E}" type="parTrans" cxnId="{68360D74-8D76-144C-8C77-C5B9AF813FFF}">
      <dgm:prSet/>
      <dgm:spPr/>
      <dgm:t>
        <a:bodyPr/>
        <a:lstStyle/>
        <a:p>
          <a:endParaRPr lang="en-US"/>
        </a:p>
      </dgm:t>
    </dgm:pt>
    <dgm:pt modelId="{E8789AB2-278C-244A-9413-8F495D74BD39}" type="sibTrans" cxnId="{68360D74-8D76-144C-8C77-C5B9AF813FFF}">
      <dgm:prSet/>
      <dgm:spPr/>
      <dgm:t>
        <a:bodyPr/>
        <a:lstStyle/>
        <a:p>
          <a:endParaRPr lang="en-US"/>
        </a:p>
      </dgm:t>
    </dgm:pt>
    <dgm:pt modelId="{85B4CF29-6326-2542-83F0-1CACEFCB1AF3}">
      <dgm:prSet/>
      <dgm:spPr>
        <a:ln>
          <a:solidFill>
            <a:schemeClr val="accent3"/>
          </a:solidFill>
        </a:ln>
      </dgm:spPr>
      <dgm:t>
        <a:bodyPr/>
        <a:lstStyle/>
        <a:p>
          <a:pPr rtl="0"/>
          <a:r>
            <a:rPr lang="en-US" dirty="0" smtClean="0"/>
            <a:t>How many and which operations to provide and how complex operations should be</a:t>
          </a:r>
          <a:endParaRPr lang="en-US" dirty="0"/>
        </a:p>
      </dgm:t>
    </dgm:pt>
    <dgm:pt modelId="{72F90D80-0BF8-8445-99FC-CC6F6214E71E}" type="parTrans" cxnId="{6B4BC049-F42D-124E-B25E-6C3A363C158D}">
      <dgm:prSet/>
      <dgm:spPr/>
      <dgm:t>
        <a:bodyPr/>
        <a:lstStyle/>
        <a:p>
          <a:endParaRPr lang="en-US"/>
        </a:p>
      </dgm:t>
    </dgm:pt>
    <dgm:pt modelId="{088BA404-42C0-1C4A-BAB9-FB69685CFC8F}" type="sibTrans" cxnId="{6B4BC049-F42D-124E-B25E-6C3A363C158D}">
      <dgm:prSet/>
      <dgm:spPr/>
      <dgm:t>
        <a:bodyPr/>
        <a:lstStyle/>
        <a:p>
          <a:endParaRPr lang="en-US"/>
        </a:p>
      </dgm:t>
    </dgm:pt>
    <dgm:pt modelId="{4390CE26-E020-2344-AC66-027A469F3ACB}">
      <dgm:prSet/>
      <dgm:spPr>
        <a:ln>
          <a:solidFill>
            <a:schemeClr val="accent3"/>
          </a:solidFill>
        </a:ln>
      </dgm:spPr>
      <dgm:t>
        <a:bodyPr/>
        <a:lstStyle/>
        <a:p>
          <a:pPr rtl="0"/>
          <a:r>
            <a:rPr lang="en-US" dirty="0" smtClean="0"/>
            <a:t>Data types</a:t>
          </a:r>
          <a:endParaRPr lang="en-US" dirty="0"/>
        </a:p>
      </dgm:t>
    </dgm:pt>
    <dgm:pt modelId="{EE0784BC-8E94-3249-9326-05B0F0EC8566}" type="parTrans" cxnId="{67429442-5381-D544-911E-45BE2E8BEBB3}">
      <dgm:prSet/>
      <dgm:spPr/>
      <dgm:t>
        <a:bodyPr/>
        <a:lstStyle/>
        <a:p>
          <a:endParaRPr lang="en-US"/>
        </a:p>
      </dgm:t>
    </dgm:pt>
    <dgm:pt modelId="{57E4573D-7C81-2D40-A41D-92FE4675772B}" type="sibTrans" cxnId="{67429442-5381-D544-911E-45BE2E8BEBB3}">
      <dgm:prSet/>
      <dgm:spPr/>
      <dgm:t>
        <a:bodyPr/>
        <a:lstStyle/>
        <a:p>
          <a:endParaRPr lang="en-US"/>
        </a:p>
      </dgm:t>
    </dgm:pt>
    <dgm:pt modelId="{CD8C6866-04F3-5E4D-91BB-DBE814C5FE61}">
      <dgm:prSet/>
      <dgm:spPr>
        <a:ln>
          <a:solidFill>
            <a:schemeClr val="accent3"/>
          </a:solidFill>
        </a:ln>
      </dgm:spPr>
      <dgm:t>
        <a:bodyPr/>
        <a:lstStyle/>
        <a:p>
          <a:pPr rtl="0"/>
          <a:r>
            <a:rPr lang="en-US" dirty="0" smtClean="0"/>
            <a:t>The various types of data upon which operations are performed</a:t>
          </a:r>
          <a:endParaRPr lang="en-US" dirty="0"/>
        </a:p>
      </dgm:t>
    </dgm:pt>
    <dgm:pt modelId="{94A96CE7-0C66-6442-B436-33A85DCF0EB8}" type="parTrans" cxnId="{EA04EA4D-F731-444F-A75A-EA67FAA3BAAA}">
      <dgm:prSet/>
      <dgm:spPr/>
      <dgm:t>
        <a:bodyPr/>
        <a:lstStyle/>
        <a:p>
          <a:endParaRPr lang="en-US"/>
        </a:p>
      </dgm:t>
    </dgm:pt>
    <dgm:pt modelId="{534312D2-EF11-9040-A425-E679398BBB09}" type="sibTrans" cxnId="{EA04EA4D-F731-444F-A75A-EA67FAA3BAAA}">
      <dgm:prSet/>
      <dgm:spPr/>
      <dgm:t>
        <a:bodyPr/>
        <a:lstStyle/>
        <a:p>
          <a:endParaRPr lang="en-US"/>
        </a:p>
      </dgm:t>
    </dgm:pt>
    <dgm:pt modelId="{27979A66-A56C-4049-8B2C-81450FEC40AE}">
      <dgm:prSet/>
      <dgm:spPr>
        <a:ln>
          <a:solidFill>
            <a:schemeClr val="accent3"/>
          </a:solidFill>
        </a:ln>
      </dgm:spPr>
      <dgm:t>
        <a:bodyPr/>
        <a:lstStyle/>
        <a:p>
          <a:pPr rtl="0"/>
          <a:r>
            <a:rPr lang="en-US" dirty="0" smtClean="0"/>
            <a:t>Instruction format</a:t>
          </a:r>
          <a:endParaRPr lang="en-US" dirty="0"/>
        </a:p>
      </dgm:t>
    </dgm:pt>
    <dgm:pt modelId="{0BAD965C-5E45-E348-9627-B2BAE6E80F9E}" type="parTrans" cxnId="{BDD1E050-A83E-784D-BF9F-51F1D543E71E}">
      <dgm:prSet/>
      <dgm:spPr/>
      <dgm:t>
        <a:bodyPr/>
        <a:lstStyle/>
        <a:p>
          <a:endParaRPr lang="en-US"/>
        </a:p>
      </dgm:t>
    </dgm:pt>
    <dgm:pt modelId="{D56E2247-0C5E-B348-A171-22BD52D9ACDC}" type="sibTrans" cxnId="{BDD1E050-A83E-784D-BF9F-51F1D543E71E}">
      <dgm:prSet/>
      <dgm:spPr/>
      <dgm:t>
        <a:bodyPr/>
        <a:lstStyle/>
        <a:p>
          <a:endParaRPr lang="en-US"/>
        </a:p>
      </dgm:t>
    </dgm:pt>
    <dgm:pt modelId="{D8ADB5D5-83D4-254D-8268-1D4258FF0983}">
      <dgm:prSet/>
      <dgm:spPr>
        <a:ln>
          <a:solidFill>
            <a:schemeClr val="accent3"/>
          </a:solidFill>
        </a:ln>
      </dgm:spPr>
      <dgm:t>
        <a:bodyPr/>
        <a:lstStyle/>
        <a:p>
          <a:pPr rtl="0"/>
          <a:r>
            <a:rPr lang="en-US" dirty="0" smtClean="0"/>
            <a:t>Instruction length in bits, number of addresses, size of various fields, etc.</a:t>
          </a:r>
          <a:endParaRPr lang="en-US" dirty="0"/>
        </a:p>
      </dgm:t>
    </dgm:pt>
    <dgm:pt modelId="{0BE5CFAC-A0B5-964A-B9BA-C7D96CE5007A}" type="parTrans" cxnId="{89DBDA85-C7AD-F34A-826A-56231F6220CD}">
      <dgm:prSet/>
      <dgm:spPr/>
      <dgm:t>
        <a:bodyPr/>
        <a:lstStyle/>
        <a:p>
          <a:endParaRPr lang="en-US"/>
        </a:p>
      </dgm:t>
    </dgm:pt>
    <dgm:pt modelId="{FD160994-212E-E44D-80B0-667F73F65AEF}" type="sibTrans" cxnId="{89DBDA85-C7AD-F34A-826A-56231F6220CD}">
      <dgm:prSet/>
      <dgm:spPr/>
      <dgm:t>
        <a:bodyPr/>
        <a:lstStyle/>
        <a:p>
          <a:endParaRPr lang="en-US"/>
        </a:p>
      </dgm:t>
    </dgm:pt>
    <dgm:pt modelId="{8EDB5311-D825-C24B-81D1-969D1851DAF9}">
      <dgm:prSet/>
      <dgm:spPr>
        <a:ln>
          <a:solidFill>
            <a:schemeClr val="accent3"/>
          </a:solidFill>
        </a:ln>
      </dgm:spPr>
      <dgm:t>
        <a:bodyPr/>
        <a:lstStyle/>
        <a:p>
          <a:pPr rtl="0"/>
          <a:r>
            <a:rPr lang="en-US" dirty="0" smtClean="0"/>
            <a:t>Registers</a:t>
          </a:r>
          <a:endParaRPr lang="en-US" dirty="0"/>
        </a:p>
      </dgm:t>
    </dgm:pt>
    <dgm:pt modelId="{6F6FE688-35DD-774E-9EB1-17B5346276AC}" type="parTrans" cxnId="{4394D576-269D-2945-995D-F940BAD89E62}">
      <dgm:prSet/>
      <dgm:spPr/>
      <dgm:t>
        <a:bodyPr/>
        <a:lstStyle/>
        <a:p>
          <a:endParaRPr lang="en-US"/>
        </a:p>
      </dgm:t>
    </dgm:pt>
    <dgm:pt modelId="{692B24AA-7D07-7048-8613-6FBCF61EEA94}" type="sibTrans" cxnId="{4394D576-269D-2945-995D-F940BAD89E62}">
      <dgm:prSet/>
      <dgm:spPr/>
      <dgm:t>
        <a:bodyPr/>
        <a:lstStyle/>
        <a:p>
          <a:endParaRPr lang="en-US"/>
        </a:p>
      </dgm:t>
    </dgm:pt>
    <dgm:pt modelId="{1A8DEE92-5932-2342-86A0-295B875220F9}">
      <dgm:prSet/>
      <dgm:spPr>
        <a:ln>
          <a:solidFill>
            <a:schemeClr val="accent3"/>
          </a:solidFill>
        </a:ln>
      </dgm:spPr>
      <dgm:t>
        <a:bodyPr/>
        <a:lstStyle/>
        <a:p>
          <a:pPr rtl="0"/>
          <a:r>
            <a:rPr lang="en-US" dirty="0" smtClean="0"/>
            <a:t>Number of processor registers that can be referenced by instructions and their use</a:t>
          </a:r>
          <a:endParaRPr lang="en-US" dirty="0"/>
        </a:p>
      </dgm:t>
    </dgm:pt>
    <dgm:pt modelId="{7778AB8B-2411-A743-85E6-22B2AB0564E3}" type="parTrans" cxnId="{D08099CC-E467-8D4C-AB9A-4564952541C6}">
      <dgm:prSet/>
      <dgm:spPr/>
      <dgm:t>
        <a:bodyPr/>
        <a:lstStyle/>
        <a:p>
          <a:endParaRPr lang="en-US"/>
        </a:p>
      </dgm:t>
    </dgm:pt>
    <dgm:pt modelId="{A134BDCA-C254-DE45-93E2-DC2500F0CBFE}" type="sibTrans" cxnId="{D08099CC-E467-8D4C-AB9A-4564952541C6}">
      <dgm:prSet/>
      <dgm:spPr/>
      <dgm:t>
        <a:bodyPr/>
        <a:lstStyle/>
        <a:p>
          <a:endParaRPr lang="en-US"/>
        </a:p>
      </dgm:t>
    </dgm:pt>
    <dgm:pt modelId="{96BB0494-7D8F-CD4B-A1AF-11A7C343A91B}">
      <dgm:prSet/>
      <dgm:spPr>
        <a:ln>
          <a:solidFill>
            <a:schemeClr val="accent3"/>
          </a:solidFill>
        </a:ln>
      </dgm:spPr>
      <dgm:t>
        <a:bodyPr/>
        <a:lstStyle/>
        <a:p>
          <a:pPr rtl="0"/>
          <a:r>
            <a:rPr lang="en-US" dirty="0" smtClean="0"/>
            <a:t>Addressing</a:t>
          </a:r>
          <a:endParaRPr lang="en-US" dirty="0"/>
        </a:p>
      </dgm:t>
    </dgm:pt>
    <dgm:pt modelId="{B1105FA3-D912-E441-AC8A-88777BFB525C}" type="parTrans" cxnId="{8ACD60B9-1E24-8643-B0E2-4E960CC49AE7}">
      <dgm:prSet/>
      <dgm:spPr/>
      <dgm:t>
        <a:bodyPr/>
        <a:lstStyle/>
        <a:p>
          <a:endParaRPr lang="en-US"/>
        </a:p>
      </dgm:t>
    </dgm:pt>
    <dgm:pt modelId="{869EF331-C2D4-FE48-998C-9544825F77E6}" type="sibTrans" cxnId="{8ACD60B9-1E24-8643-B0E2-4E960CC49AE7}">
      <dgm:prSet/>
      <dgm:spPr/>
      <dgm:t>
        <a:bodyPr/>
        <a:lstStyle/>
        <a:p>
          <a:endParaRPr lang="en-US"/>
        </a:p>
      </dgm:t>
    </dgm:pt>
    <dgm:pt modelId="{DA3083F4-5821-A147-9AA7-30FFBC02ADD8}">
      <dgm:prSet/>
      <dgm:spPr>
        <a:ln>
          <a:solidFill>
            <a:schemeClr val="accent3"/>
          </a:solidFill>
        </a:ln>
      </dgm:spPr>
      <dgm:t>
        <a:bodyPr/>
        <a:lstStyle/>
        <a:p>
          <a:pPr rtl="0"/>
          <a:r>
            <a:rPr lang="en-US" dirty="0" smtClean="0"/>
            <a:t>The mode or modes by which the address of an operand is specified </a:t>
          </a:r>
          <a:endParaRPr lang="en-US" dirty="0"/>
        </a:p>
      </dgm:t>
    </dgm:pt>
    <dgm:pt modelId="{E0E984FE-1671-454A-A779-9E975DBCAC47}" type="parTrans" cxnId="{B278AA3D-E1A2-684C-AF6E-AACF61A078D8}">
      <dgm:prSet/>
      <dgm:spPr/>
      <dgm:t>
        <a:bodyPr/>
        <a:lstStyle/>
        <a:p>
          <a:endParaRPr lang="en-US"/>
        </a:p>
      </dgm:t>
    </dgm:pt>
    <dgm:pt modelId="{9DB57987-667C-0642-BBEF-C9D273B82061}" type="sibTrans" cxnId="{B278AA3D-E1A2-684C-AF6E-AACF61A078D8}">
      <dgm:prSet/>
      <dgm:spPr/>
      <dgm:t>
        <a:bodyPr/>
        <a:lstStyle/>
        <a:p>
          <a:endParaRPr lang="en-US"/>
        </a:p>
      </dgm:t>
    </dgm:pt>
    <dgm:pt modelId="{DF3A5C78-EC98-1741-8BEE-850D17600ECC}" type="pres">
      <dgm:prSet presAssocID="{BE9AF291-A8F7-754D-9BCC-21843D1485E8}" presName="Name0" presStyleCnt="0">
        <dgm:presLayoutVars>
          <dgm:dir/>
          <dgm:animLvl val="lvl"/>
          <dgm:resizeHandles val="exact"/>
        </dgm:presLayoutVars>
      </dgm:prSet>
      <dgm:spPr/>
      <dgm:t>
        <a:bodyPr/>
        <a:lstStyle/>
        <a:p>
          <a:endParaRPr lang="en-US"/>
        </a:p>
      </dgm:t>
    </dgm:pt>
    <dgm:pt modelId="{B0F4D848-8A7D-A44A-9DAA-449706BF3E32}" type="pres">
      <dgm:prSet presAssocID="{D998F21C-897B-DF48-956E-861DE4522346}" presName="boxAndChildren" presStyleCnt="0"/>
      <dgm:spPr/>
    </dgm:pt>
    <dgm:pt modelId="{EEC97410-8A05-AA47-90C3-84F83CA2796A}" type="pres">
      <dgm:prSet presAssocID="{D998F21C-897B-DF48-956E-861DE4522346}" presName="parentTextBox" presStyleLbl="node1" presStyleIdx="0" presStyleCnt="4"/>
      <dgm:spPr/>
      <dgm:t>
        <a:bodyPr/>
        <a:lstStyle/>
        <a:p>
          <a:endParaRPr lang="en-US"/>
        </a:p>
      </dgm:t>
    </dgm:pt>
    <dgm:pt modelId="{B53E567A-FFCB-E447-B0EB-DF566B287828}" type="pres">
      <dgm:prSet presAssocID="{D998F21C-897B-DF48-956E-861DE4522346}" presName="entireBox" presStyleLbl="node1" presStyleIdx="0" presStyleCnt="4" custScaleX="100000" custScaleY="98944"/>
      <dgm:spPr/>
      <dgm:t>
        <a:bodyPr/>
        <a:lstStyle/>
        <a:p>
          <a:endParaRPr lang="en-US"/>
        </a:p>
      </dgm:t>
    </dgm:pt>
    <dgm:pt modelId="{8979A76C-D61D-6741-A5C2-163D4E32E8AC}" type="pres">
      <dgm:prSet presAssocID="{D998F21C-897B-DF48-956E-861DE4522346}" presName="descendantBox" presStyleCnt="0"/>
      <dgm:spPr/>
    </dgm:pt>
    <dgm:pt modelId="{FDFC3F15-9000-D642-934F-FD22C852295A}" type="pres">
      <dgm:prSet presAssocID="{C9369FCC-1255-0D45-AB2C-E89EC8343E66}" presName="childTextBox" presStyleLbl="fgAccFollowNode1" presStyleIdx="0" presStyleCnt="5">
        <dgm:presLayoutVars>
          <dgm:bulletEnabled val="1"/>
        </dgm:presLayoutVars>
      </dgm:prSet>
      <dgm:spPr/>
      <dgm:t>
        <a:bodyPr/>
        <a:lstStyle/>
        <a:p>
          <a:endParaRPr lang="en-US"/>
        </a:p>
      </dgm:t>
    </dgm:pt>
    <dgm:pt modelId="{299A5A01-E6B1-3549-9A82-78303BEA5CF6}" type="pres">
      <dgm:prSet presAssocID="{4390CE26-E020-2344-AC66-027A469F3ACB}" presName="childTextBox" presStyleLbl="fgAccFollowNode1" presStyleIdx="1" presStyleCnt="5">
        <dgm:presLayoutVars>
          <dgm:bulletEnabled val="1"/>
        </dgm:presLayoutVars>
      </dgm:prSet>
      <dgm:spPr/>
      <dgm:t>
        <a:bodyPr/>
        <a:lstStyle/>
        <a:p>
          <a:endParaRPr lang="en-US"/>
        </a:p>
      </dgm:t>
    </dgm:pt>
    <dgm:pt modelId="{2B60D48B-0CBB-3640-8066-CD9CF8A8328E}" type="pres">
      <dgm:prSet presAssocID="{27979A66-A56C-4049-8B2C-81450FEC40AE}" presName="childTextBox" presStyleLbl="fgAccFollowNode1" presStyleIdx="2" presStyleCnt="5">
        <dgm:presLayoutVars>
          <dgm:bulletEnabled val="1"/>
        </dgm:presLayoutVars>
      </dgm:prSet>
      <dgm:spPr/>
      <dgm:t>
        <a:bodyPr/>
        <a:lstStyle/>
        <a:p>
          <a:endParaRPr lang="en-US"/>
        </a:p>
      </dgm:t>
    </dgm:pt>
    <dgm:pt modelId="{015B0615-A51D-BE4E-B6B0-DD65E7B83F35}" type="pres">
      <dgm:prSet presAssocID="{8EDB5311-D825-C24B-81D1-969D1851DAF9}" presName="childTextBox" presStyleLbl="fgAccFollowNode1" presStyleIdx="3" presStyleCnt="5">
        <dgm:presLayoutVars>
          <dgm:bulletEnabled val="1"/>
        </dgm:presLayoutVars>
      </dgm:prSet>
      <dgm:spPr/>
      <dgm:t>
        <a:bodyPr/>
        <a:lstStyle/>
        <a:p>
          <a:endParaRPr lang="en-US"/>
        </a:p>
      </dgm:t>
    </dgm:pt>
    <dgm:pt modelId="{245DBD2D-001A-1647-A9D4-0EE759999A90}" type="pres">
      <dgm:prSet presAssocID="{96BB0494-7D8F-CD4B-A1AF-11A7C343A91B}" presName="childTextBox" presStyleLbl="fgAccFollowNode1" presStyleIdx="4" presStyleCnt="5">
        <dgm:presLayoutVars>
          <dgm:bulletEnabled val="1"/>
        </dgm:presLayoutVars>
      </dgm:prSet>
      <dgm:spPr/>
      <dgm:t>
        <a:bodyPr/>
        <a:lstStyle/>
        <a:p>
          <a:endParaRPr lang="en-US"/>
        </a:p>
      </dgm:t>
    </dgm:pt>
    <dgm:pt modelId="{6F136D9B-0A5C-E34F-B2F4-375DFE16F357}" type="pres">
      <dgm:prSet presAssocID="{4CFBC049-35FB-B34E-9B0C-92B91BF2D448}" presName="sp" presStyleCnt="0"/>
      <dgm:spPr/>
    </dgm:pt>
    <dgm:pt modelId="{1D636C84-6705-1F45-A256-C7A55A772094}" type="pres">
      <dgm:prSet presAssocID="{0D809260-4B42-5043-99E3-CF6D7B616585}" presName="arrowAndChildren" presStyleCnt="0"/>
      <dgm:spPr/>
    </dgm:pt>
    <dgm:pt modelId="{E96926DD-E710-3B4C-8E85-4706A8EA77F7}" type="pres">
      <dgm:prSet presAssocID="{0D809260-4B42-5043-99E3-CF6D7B616585}" presName="parentTextArrow" presStyleLbl="node1" presStyleIdx="1" presStyleCnt="4" custScaleX="92857" custScaleY="38669"/>
      <dgm:spPr/>
      <dgm:t>
        <a:bodyPr/>
        <a:lstStyle/>
        <a:p>
          <a:endParaRPr lang="en-US"/>
        </a:p>
      </dgm:t>
    </dgm:pt>
    <dgm:pt modelId="{26B140DD-57C8-1744-9AFB-648706180366}" type="pres">
      <dgm:prSet presAssocID="{4FD0B408-98C8-DE45-A952-A44EDA44E8FC}" presName="sp" presStyleCnt="0"/>
      <dgm:spPr/>
    </dgm:pt>
    <dgm:pt modelId="{3DB74973-3E5B-1B47-83A0-703004048F1D}" type="pres">
      <dgm:prSet presAssocID="{85FA6A79-0A59-5E45-B15E-9A4DF30BB091}" presName="arrowAndChildren" presStyleCnt="0"/>
      <dgm:spPr/>
    </dgm:pt>
    <dgm:pt modelId="{01AE4E59-7A07-2540-9D90-9EB69C1E6E80}" type="pres">
      <dgm:prSet presAssocID="{85FA6A79-0A59-5E45-B15E-9A4DF30BB091}" presName="parentTextArrow" presStyleLbl="node1" presStyleIdx="2" presStyleCnt="4" custScaleX="91071" custScaleY="35845"/>
      <dgm:spPr/>
      <dgm:t>
        <a:bodyPr/>
        <a:lstStyle/>
        <a:p>
          <a:endParaRPr lang="en-US"/>
        </a:p>
      </dgm:t>
    </dgm:pt>
    <dgm:pt modelId="{FF0428FE-3CD2-7A4A-8919-81FAED4C4DEF}" type="pres">
      <dgm:prSet presAssocID="{CF529774-18D4-5A49-A355-4389DD9EDF78}" presName="sp" presStyleCnt="0"/>
      <dgm:spPr/>
    </dgm:pt>
    <dgm:pt modelId="{E50A026F-7F60-EF42-97BE-EA170EA81E00}" type="pres">
      <dgm:prSet presAssocID="{6889743B-15A5-4B42-96C5-11425D930E4F}" presName="arrowAndChildren" presStyleCnt="0"/>
      <dgm:spPr/>
    </dgm:pt>
    <dgm:pt modelId="{4CCC5995-C980-C545-822B-7C2E6DA5B193}" type="pres">
      <dgm:prSet presAssocID="{6889743B-15A5-4B42-96C5-11425D930E4F}" presName="parentTextArrow" presStyleLbl="node1" presStyleIdx="3" presStyleCnt="4" custScaleX="92857" custScaleY="37875"/>
      <dgm:spPr/>
      <dgm:t>
        <a:bodyPr/>
        <a:lstStyle/>
        <a:p>
          <a:endParaRPr lang="en-US"/>
        </a:p>
      </dgm:t>
    </dgm:pt>
  </dgm:ptLst>
  <dgm:cxnLst>
    <dgm:cxn modelId="{BDD1E050-A83E-784D-BF9F-51F1D543E71E}" srcId="{D998F21C-897B-DF48-956E-861DE4522346}" destId="{27979A66-A56C-4049-8B2C-81450FEC40AE}" srcOrd="2" destOrd="0" parTransId="{0BAD965C-5E45-E348-9627-B2BAE6E80F9E}" sibTransId="{D56E2247-0C5E-B348-A171-22BD52D9ACDC}"/>
    <dgm:cxn modelId="{874CB617-D433-2442-BFE8-2E056241BAAD}" type="presOf" srcId="{6889743B-15A5-4B42-96C5-11425D930E4F}" destId="{4CCC5995-C980-C545-822B-7C2E6DA5B193}" srcOrd="0" destOrd="0" presId="urn:microsoft.com/office/officeart/2005/8/layout/process4"/>
    <dgm:cxn modelId="{5418C623-3B2F-4E42-8E79-14C921A44122}" type="presOf" srcId="{0D809260-4B42-5043-99E3-CF6D7B616585}" destId="{E96926DD-E710-3B4C-8E85-4706A8EA77F7}" srcOrd="0" destOrd="0" presId="urn:microsoft.com/office/officeart/2005/8/layout/process4"/>
    <dgm:cxn modelId="{89DBDA85-C7AD-F34A-826A-56231F6220CD}" srcId="{27979A66-A56C-4049-8B2C-81450FEC40AE}" destId="{D8ADB5D5-83D4-254D-8268-1D4258FF0983}" srcOrd="0" destOrd="0" parTransId="{0BE5CFAC-A0B5-964A-B9BA-C7D96CE5007A}" sibTransId="{FD160994-212E-E44D-80B0-667F73F65AEF}"/>
    <dgm:cxn modelId="{3C5405B3-1A41-E94C-91F5-3C67F3ADD8E3}" type="presOf" srcId="{D8ADB5D5-83D4-254D-8268-1D4258FF0983}" destId="{2B60D48B-0CBB-3640-8066-CD9CF8A8328E}" srcOrd="0" destOrd="1" presId="urn:microsoft.com/office/officeart/2005/8/layout/process4"/>
    <dgm:cxn modelId="{EA04EA4D-F731-444F-A75A-EA67FAA3BAAA}" srcId="{4390CE26-E020-2344-AC66-027A469F3ACB}" destId="{CD8C6866-04F3-5E4D-91BB-DBE814C5FE61}" srcOrd="0" destOrd="0" parTransId="{94A96CE7-0C66-6442-B436-33A85DCF0EB8}" sibTransId="{534312D2-EF11-9040-A425-E679398BBB09}"/>
    <dgm:cxn modelId="{8ACD60B9-1E24-8643-B0E2-4E960CC49AE7}" srcId="{D998F21C-897B-DF48-956E-861DE4522346}" destId="{96BB0494-7D8F-CD4B-A1AF-11A7C343A91B}" srcOrd="4" destOrd="0" parTransId="{B1105FA3-D912-E441-AC8A-88777BFB525C}" sibTransId="{869EF331-C2D4-FE48-998C-9544825F77E6}"/>
    <dgm:cxn modelId="{87577FEE-5768-B64E-A8A4-580F8F1F5A55}" type="presOf" srcId="{96BB0494-7D8F-CD4B-A1AF-11A7C343A91B}" destId="{245DBD2D-001A-1647-A9D4-0EE759999A90}" srcOrd="0" destOrd="0" presId="urn:microsoft.com/office/officeart/2005/8/layout/process4"/>
    <dgm:cxn modelId="{B1731785-004D-2446-9572-BCBB32366BD9}" type="presOf" srcId="{BE9AF291-A8F7-754D-9BCC-21843D1485E8}" destId="{DF3A5C78-EC98-1741-8BEE-850D17600ECC}" srcOrd="0" destOrd="0" presId="urn:microsoft.com/office/officeart/2005/8/layout/process4"/>
    <dgm:cxn modelId="{B278AA3D-E1A2-684C-AF6E-AACF61A078D8}" srcId="{96BB0494-7D8F-CD4B-A1AF-11A7C343A91B}" destId="{DA3083F4-5821-A147-9AA7-30FFBC02ADD8}" srcOrd="0" destOrd="0" parTransId="{E0E984FE-1671-454A-A779-9E975DBCAC47}" sibTransId="{9DB57987-667C-0642-BBEF-C9D273B82061}"/>
    <dgm:cxn modelId="{E8892F27-AAA8-4048-B2AD-E9B201644AFF}" type="presOf" srcId="{1A8DEE92-5932-2342-86A0-295B875220F9}" destId="{015B0615-A51D-BE4E-B6B0-DD65E7B83F35}" srcOrd="0" destOrd="1" presId="urn:microsoft.com/office/officeart/2005/8/layout/process4"/>
    <dgm:cxn modelId="{22BFA529-E339-0641-95A3-3C48530A63FA}" srcId="{BE9AF291-A8F7-754D-9BCC-21843D1485E8}" destId="{6889743B-15A5-4B42-96C5-11425D930E4F}" srcOrd="0" destOrd="0" parTransId="{67CA192B-3275-C54B-B58C-DA050B16402A}" sibTransId="{CF529774-18D4-5A49-A355-4389DD9EDF78}"/>
    <dgm:cxn modelId="{626C5293-6A55-3B42-BE8F-3AE88AD75C6C}" type="presOf" srcId="{D998F21C-897B-DF48-956E-861DE4522346}" destId="{B53E567A-FFCB-E447-B0EB-DF566B287828}" srcOrd="1" destOrd="0" presId="urn:microsoft.com/office/officeart/2005/8/layout/process4"/>
    <dgm:cxn modelId="{46C96646-7E23-534A-B3F8-A6BC7CB7DCED}" type="presOf" srcId="{CD8C6866-04F3-5E4D-91BB-DBE814C5FE61}" destId="{299A5A01-E6B1-3549-9A82-78303BEA5CF6}" srcOrd="0" destOrd="1" presId="urn:microsoft.com/office/officeart/2005/8/layout/process4"/>
    <dgm:cxn modelId="{67429442-5381-D544-911E-45BE2E8BEBB3}" srcId="{D998F21C-897B-DF48-956E-861DE4522346}" destId="{4390CE26-E020-2344-AC66-027A469F3ACB}" srcOrd="1" destOrd="0" parTransId="{EE0784BC-8E94-3249-9326-05B0F0EC8566}" sibTransId="{57E4573D-7C81-2D40-A41D-92FE4675772B}"/>
    <dgm:cxn modelId="{9656FF87-A36E-4841-A19A-86F651EBBADF}" srcId="{BE9AF291-A8F7-754D-9BCC-21843D1485E8}" destId="{85FA6A79-0A59-5E45-B15E-9A4DF30BB091}" srcOrd="1" destOrd="0" parTransId="{85E6E25A-3AE3-3F46-8E90-F2494FC5AECD}" sibTransId="{4FD0B408-98C8-DE45-A952-A44EDA44E8FC}"/>
    <dgm:cxn modelId="{510C88B0-332F-E040-B229-A09B6CD8CCC9}" type="presOf" srcId="{8EDB5311-D825-C24B-81D1-969D1851DAF9}" destId="{015B0615-A51D-BE4E-B6B0-DD65E7B83F35}" srcOrd="0" destOrd="0" presId="urn:microsoft.com/office/officeart/2005/8/layout/process4"/>
    <dgm:cxn modelId="{66FFD0B6-DA47-A349-B205-A1552B7AC61C}" type="presOf" srcId="{4390CE26-E020-2344-AC66-027A469F3ACB}" destId="{299A5A01-E6B1-3549-9A82-78303BEA5CF6}" srcOrd="0" destOrd="0" presId="urn:microsoft.com/office/officeart/2005/8/layout/process4"/>
    <dgm:cxn modelId="{4394D576-269D-2945-995D-F940BAD89E62}" srcId="{D998F21C-897B-DF48-956E-861DE4522346}" destId="{8EDB5311-D825-C24B-81D1-969D1851DAF9}" srcOrd="3" destOrd="0" parTransId="{6F6FE688-35DD-774E-9EB1-17B5346276AC}" sibTransId="{692B24AA-7D07-7048-8613-6FBCF61EEA94}"/>
    <dgm:cxn modelId="{13D2B602-D9ED-FB42-B6CC-950D78F868C5}" type="presOf" srcId="{85FA6A79-0A59-5E45-B15E-9A4DF30BB091}" destId="{01AE4E59-7A07-2540-9D90-9EB69C1E6E80}" srcOrd="0" destOrd="0" presId="urn:microsoft.com/office/officeart/2005/8/layout/process4"/>
    <dgm:cxn modelId="{AFE4D4BD-1468-F64E-AA6E-C8811310FB11}" type="presOf" srcId="{85B4CF29-6326-2542-83F0-1CACEFCB1AF3}" destId="{FDFC3F15-9000-D642-934F-FD22C852295A}" srcOrd="0" destOrd="1" presId="urn:microsoft.com/office/officeart/2005/8/layout/process4"/>
    <dgm:cxn modelId="{EECC1C35-EB9D-134D-B119-AC5BA49998B9}" srcId="{BE9AF291-A8F7-754D-9BCC-21843D1485E8}" destId="{0D809260-4B42-5043-99E3-CF6D7B616585}" srcOrd="2" destOrd="0" parTransId="{6DAB96D9-CB97-A54D-9E38-73264325FA95}" sibTransId="{4CFBC049-35FB-B34E-9B0C-92B91BF2D448}"/>
    <dgm:cxn modelId="{68360D74-8D76-144C-8C77-C5B9AF813FFF}" srcId="{D998F21C-897B-DF48-956E-861DE4522346}" destId="{C9369FCC-1255-0D45-AB2C-E89EC8343E66}" srcOrd="0" destOrd="0" parTransId="{FEBA2014-7990-B94D-BAD1-0C73293FA03E}" sibTransId="{E8789AB2-278C-244A-9413-8F495D74BD39}"/>
    <dgm:cxn modelId="{9403BAE2-9906-2449-9922-EC6672563A33}" type="presOf" srcId="{27979A66-A56C-4049-8B2C-81450FEC40AE}" destId="{2B60D48B-0CBB-3640-8066-CD9CF8A8328E}" srcOrd="0" destOrd="0" presId="urn:microsoft.com/office/officeart/2005/8/layout/process4"/>
    <dgm:cxn modelId="{D08099CC-E467-8D4C-AB9A-4564952541C6}" srcId="{8EDB5311-D825-C24B-81D1-969D1851DAF9}" destId="{1A8DEE92-5932-2342-86A0-295B875220F9}" srcOrd="0" destOrd="0" parTransId="{7778AB8B-2411-A743-85E6-22B2AB0564E3}" sibTransId="{A134BDCA-C254-DE45-93E2-DC2500F0CBFE}"/>
    <dgm:cxn modelId="{1C4350C2-543B-8548-B105-496D40F075CF}" srcId="{BE9AF291-A8F7-754D-9BCC-21843D1485E8}" destId="{D998F21C-897B-DF48-956E-861DE4522346}" srcOrd="3" destOrd="0" parTransId="{72A2F193-6231-4244-857B-8332F42F6A3B}" sibTransId="{F381CFC5-8171-744F-9472-FF7ED8AF86F2}"/>
    <dgm:cxn modelId="{6B4BC049-F42D-124E-B25E-6C3A363C158D}" srcId="{C9369FCC-1255-0D45-AB2C-E89EC8343E66}" destId="{85B4CF29-6326-2542-83F0-1CACEFCB1AF3}" srcOrd="0" destOrd="0" parTransId="{72F90D80-0BF8-8445-99FC-CC6F6214E71E}" sibTransId="{088BA404-42C0-1C4A-BAB9-FB69685CFC8F}"/>
    <dgm:cxn modelId="{9E0D5D8C-C256-9B45-BE2D-3CDC052AAD63}" type="presOf" srcId="{C9369FCC-1255-0D45-AB2C-E89EC8343E66}" destId="{FDFC3F15-9000-D642-934F-FD22C852295A}" srcOrd="0" destOrd="0" presId="urn:microsoft.com/office/officeart/2005/8/layout/process4"/>
    <dgm:cxn modelId="{EC2AB3D2-8860-3643-BBE6-F2C46F1F52DF}" type="presOf" srcId="{D998F21C-897B-DF48-956E-861DE4522346}" destId="{EEC97410-8A05-AA47-90C3-84F83CA2796A}" srcOrd="0" destOrd="0" presId="urn:microsoft.com/office/officeart/2005/8/layout/process4"/>
    <dgm:cxn modelId="{196840AB-7919-1C4A-91FA-3253D984D2AA}" type="presOf" srcId="{DA3083F4-5821-A147-9AA7-30FFBC02ADD8}" destId="{245DBD2D-001A-1647-A9D4-0EE759999A90}" srcOrd="0" destOrd="1" presId="urn:microsoft.com/office/officeart/2005/8/layout/process4"/>
    <dgm:cxn modelId="{755AEFC6-8EEA-F945-88DE-17170F7C3E07}" type="presParOf" srcId="{DF3A5C78-EC98-1741-8BEE-850D17600ECC}" destId="{B0F4D848-8A7D-A44A-9DAA-449706BF3E32}" srcOrd="0" destOrd="0" presId="urn:microsoft.com/office/officeart/2005/8/layout/process4"/>
    <dgm:cxn modelId="{4544FD3F-A557-6B4F-BD50-0F007CA12DE8}" type="presParOf" srcId="{B0F4D848-8A7D-A44A-9DAA-449706BF3E32}" destId="{EEC97410-8A05-AA47-90C3-84F83CA2796A}" srcOrd="0" destOrd="0" presId="urn:microsoft.com/office/officeart/2005/8/layout/process4"/>
    <dgm:cxn modelId="{02A4B6B0-DF77-EB44-8D51-906B9B938341}" type="presParOf" srcId="{B0F4D848-8A7D-A44A-9DAA-449706BF3E32}" destId="{B53E567A-FFCB-E447-B0EB-DF566B287828}" srcOrd="1" destOrd="0" presId="urn:microsoft.com/office/officeart/2005/8/layout/process4"/>
    <dgm:cxn modelId="{1A031150-2042-5147-9287-2F2CBFDF939E}" type="presParOf" srcId="{B0F4D848-8A7D-A44A-9DAA-449706BF3E32}" destId="{8979A76C-D61D-6741-A5C2-163D4E32E8AC}" srcOrd="2" destOrd="0" presId="urn:microsoft.com/office/officeart/2005/8/layout/process4"/>
    <dgm:cxn modelId="{27219C0F-DE72-2B46-92E8-048E292C96F0}" type="presParOf" srcId="{8979A76C-D61D-6741-A5C2-163D4E32E8AC}" destId="{FDFC3F15-9000-D642-934F-FD22C852295A}" srcOrd="0" destOrd="0" presId="urn:microsoft.com/office/officeart/2005/8/layout/process4"/>
    <dgm:cxn modelId="{EA7F7033-A8D2-9B4A-8903-C438BDD3A548}" type="presParOf" srcId="{8979A76C-D61D-6741-A5C2-163D4E32E8AC}" destId="{299A5A01-E6B1-3549-9A82-78303BEA5CF6}" srcOrd="1" destOrd="0" presId="urn:microsoft.com/office/officeart/2005/8/layout/process4"/>
    <dgm:cxn modelId="{0588543B-EA16-D64C-80B8-A42A10DD64D6}" type="presParOf" srcId="{8979A76C-D61D-6741-A5C2-163D4E32E8AC}" destId="{2B60D48B-0CBB-3640-8066-CD9CF8A8328E}" srcOrd="2" destOrd="0" presId="urn:microsoft.com/office/officeart/2005/8/layout/process4"/>
    <dgm:cxn modelId="{DBC31B58-9ECE-294B-BF31-D525DFE424B0}" type="presParOf" srcId="{8979A76C-D61D-6741-A5C2-163D4E32E8AC}" destId="{015B0615-A51D-BE4E-B6B0-DD65E7B83F35}" srcOrd="3" destOrd="0" presId="urn:microsoft.com/office/officeart/2005/8/layout/process4"/>
    <dgm:cxn modelId="{F0A07E5C-7BE7-864B-A605-80DFA88E66B6}" type="presParOf" srcId="{8979A76C-D61D-6741-A5C2-163D4E32E8AC}" destId="{245DBD2D-001A-1647-A9D4-0EE759999A90}" srcOrd="4" destOrd="0" presId="urn:microsoft.com/office/officeart/2005/8/layout/process4"/>
    <dgm:cxn modelId="{9DB211D9-9E91-874F-811A-0C5840F0C7F2}" type="presParOf" srcId="{DF3A5C78-EC98-1741-8BEE-850D17600ECC}" destId="{6F136D9B-0A5C-E34F-B2F4-375DFE16F357}" srcOrd="1" destOrd="0" presId="urn:microsoft.com/office/officeart/2005/8/layout/process4"/>
    <dgm:cxn modelId="{C9DD87C1-2DFA-AB4E-94D6-F401CCADBE31}" type="presParOf" srcId="{DF3A5C78-EC98-1741-8BEE-850D17600ECC}" destId="{1D636C84-6705-1F45-A256-C7A55A772094}" srcOrd="2" destOrd="0" presId="urn:microsoft.com/office/officeart/2005/8/layout/process4"/>
    <dgm:cxn modelId="{220F264E-8560-9446-901E-F75C824740ED}" type="presParOf" srcId="{1D636C84-6705-1F45-A256-C7A55A772094}" destId="{E96926DD-E710-3B4C-8E85-4706A8EA77F7}" srcOrd="0" destOrd="0" presId="urn:microsoft.com/office/officeart/2005/8/layout/process4"/>
    <dgm:cxn modelId="{E7CDD694-AB85-D54E-9828-7F35A9B308DB}" type="presParOf" srcId="{DF3A5C78-EC98-1741-8BEE-850D17600ECC}" destId="{26B140DD-57C8-1744-9AFB-648706180366}" srcOrd="3" destOrd="0" presId="urn:microsoft.com/office/officeart/2005/8/layout/process4"/>
    <dgm:cxn modelId="{C1A0DF0F-BD36-434A-B4F8-3938D34ECC4F}" type="presParOf" srcId="{DF3A5C78-EC98-1741-8BEE-850D17600ECC}" destId="{3DB74973-3E5B-1B47-83A0-703004048F1D}" srcOrd="4" destOrd="0" presId="urn:microsoft.com/office/officeart/2005/8/layout/process4"/>
    <dgm:cxn modelId="{65251FD4-3B80-E742-8D3C-6FB8FFBCBAFF}" type="presParOf" srcId="{3DB74973-3E5B-1B47-83A0-703004048F1D}" destId="{01AE4E59-7A07-2540-9D90-9EB69C1E6E80}" srcOrd="0" destOrd="0" presId="urn:microsoft.com/office/officeart/2005/8/layout/process4"/>
    <dgm:cxn modelId="{41B208E6-E170-F344-BC27-E5E68C8A4BCE}" type="presParOf" srcId="{DF3A5C78-EC98-1741-8BEE-850D17600ECC}" destId="{FF0428FE-3CD2-7A4A-8919-81FAED4C4DEF}" srcOrd="5" destOrd="0" presId="urn:microsoft.com/office/officeart/2005/8/layout/process4"/>
    <dgm:cxn modelId="{B08FE5BC-2C54-0C46-964A-363BC06F3BF1}" type="presParOf" srcId="{DF3A5C78-EC98-1741-8BEE-850D17600ECC}" destId="{E50A026F-7F60-EF42-97BE-EA170EA81E00}" srcOrd="6" destOrd="0" presId="urn:microsoft.com/office/officeart/2005/8/layout/process4"/>
    <dgm:cxn modelId="{FC5DCD64-CEC8-114A-AB8B-1E7C96FA80C0}" type="presParOf" srcId="{E50A026F-7F60-EF42-97BE-EA170EA81E00}" destId="{4CCC5995-C980-C545-822B-7C2E6DA5B19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F9CABA-3528-F84C-992E-FDCB53DA4C60}" type="doc">
      <dgm:prSet loTypeId="urn:microsoft.com/office/officeart/2005/8/layout/pyramid2" loCatId="pyramid" qsTypeId="urn:microsoft.com/office/officeart/2005/8/quickstyle/simple4" qsCatId="simple" csTypeId="urn:microsoft.com/office/officeart/2005/8/colors/accent1_2" csCatId="accent1"/>
      <dgm:spPr/>
      <dgm:t>
        <a:bodyPr/>
        <a:lstStyle/>
        <a:p>
          <a:endParaRPr lang="en-US"/>
        </a:p>
      </dgm:t>
    </dgm:pt>
    <dgm:pt modelId="{42C3DE85-4F24-8D44-97B4-EF1AD5BC92AA}">
      <dgm:prSet/>
      <dgm:spPr/>
      <dgm:t>
        <a:bodyPr/>
        <a:lstStyle/>
        <a:p>
          <a:pPr rtl="0"/>
          <a:r>
            <a:rPr lang="en-US" dirty="0" smtClean="0"/>
            <a:t>Addresses</a:t>
          </a:r>
          <a:endParaRPr lang="en-US" dirty="0"/>
        </a:p>
      </dgm:t>
    </dgm:pt>
    <dgm:pt modelId="{D4986A68-F696-BF4C-83C3-309739422D43}" type="parTrans" cxnId="{67D77EFB-790C-9947-9ED5-43DA84E56231}">
      <dgm:prSet/>
      <dgm:spPr/>
      <dgm:t>
        <a:bodyPr/>
        <a:lstStyle/>
        <a:p>
          <a:endParaRPr lang="en-US"/>
        </a:p>
      </dgm:t>
    </dgm:pt>
    <dgm:pt modelId="{B88ECBFA-BB73-A448-B5E7-F763C2215A4A}" type="sibTrans" cxnId="{67D77EFB-790C-9947-9ED5-43DA84E56231}">
      <dgm:prSet/>
      <dgm:spPr/>
      <dgm:t>
        <a:bodyPr/>
        <a:lstStyle/>
        <a:p>
          <a:endParaRPr lang="en-US"/>
        </a:p>
      </dgm:t>
    </dgm:pt>
    <dgm:pt modelId="{741CE14A-8B08-3F4E-8319-CFE1956DC52E}">
      <dgm:prSet/>
      <dgm:spPr/>
      <dgm:t>
        <a:bodyPr/>
        <a:lstStyle/>
        <a:p>
          <a:pPr rtl="0"/>
          <a:r>
            <a:rPr lang="en-US" dirty="0" smtClean="0"/>
            <a:t>Numbers</a:t>
          </a:r>
          <a:endParaRPr lang="en-US" dirty="0"/>
        </a:p>
      </dgm:t>
    </dgm:pt>
    <dgm:pt modelId="{7E69B0DC-AF4A-864C-8080-277020E4B8A1}" type="parTrans" cxnId="{D983EBA5-3E65-F14D-A1C5-99C01869DD62}">
      <dgm:prSet/>
      <dgm:spPr/>
      <dgm:t>
        <a:bodyPr/>
        <a:lstStyle/>
        <a:p>
          <a:endParaRPr lang="en-US"/>
        </a:p>
      </dgm:t>
    </dgm:pt>
    <dgm:pt modelId="{DC78CE80-320B-FC4F-8789-B0B0BEC65094}" type="sibTrans" cxnId="{D983EBA5-3E65-F14D-A1C5-99C01869DD62}">
      <dgm:prSet/>
      <dgm:spPr/>
      <dgm:t>
        <a:bodyPr/>
        <a:lstStyle/>
        <a:p>
          <a:endParaRPr lang="en-US"/>
        </a:p>
      </dgm:t>
    </dgm:pt>
    <dgm:pt modelId="{867FFA81-B28C-B64F-A24A-2DF78351BA0E}">
      <dgm:prSet/>
      <dgm:spPr/>
      <dgm:t>
        <a:bodyPr/>
        <a:lstStyle/>
        <a:p>
          <a:pPr rtl="0"/>
          <a:r>
            <a:rPr lang="en-US" dirty="0" smtClean="0"/>
            <a:t>Characters</a:t>
          </a:r>
          <a:endParaRPr lang="en-US" dirty="0"/>
        </a:p>
      </dgm:t>
    </dgm:pt>
    <dgm:pt modelId="{5754A166-6DD0-2543-A230-72609DFD3E05}" type="parTrans" cxnId="{E0E13F9F-F7F7-A240-B222-52A7F9059F33}">
      <dgm:prSet/>
      <dgm:spPr/>
      <dgm:t>
        <a:bodyPr/>
        <a:lstStyle/>
        <a:p>
          <a:endParaRPr lang="en-US"/>
        </a:p>
      </dgm:t>
    </dgm:pt>
    <dgm:pt modelId="{083ECC6E-F55A-B24D-B922-7F00E1A7A68C}" type="sibTrans" cxnId="{E0E13F9F-F7F7-A240-B222-52A7F9059F33}">
      <dgm:prSet/>
      <dgm:spPr/>
      <dgm:t>
        <a:bodyPr/>
        <a:lstStyle/>
        <a:p>
          <a:endParaRPr lang="en-US"/>
        </a:p>
      </dgm:t>
    </dgm:pt>
    <dgm:pt modelId="{5279767A-DFDC-E544-9A2C-7BD6B9B8971D}">
      <dgm:prSet/>
      <dgm:spPr/>
      <dgm:t>
        <a:bodyPr/>
        <a:lstStyle/>
        <a:p>
          <a:pPr rtl="0"/>
          <a:r>
            <a:rPr lang="en-US" dirty="0" smtClean="0"/>
            <a:t>Logical Data</a:t>
          </a:r>
          <a:endParaRPr lang="en-US" dirty="0"/>
        </a:p>
      </dgm:t>
    </dgm:pt>
    <dgm:pt modelId="{344845FF-FCA7-C441-AC91-2DCC72057B6F}" type="parTrans" cxnId="{19FC090A-6821-234B-9A9F-05F758D69805}">
      <dgm:prSet/>
      <dgm:spPr/>
      <dgm:t>
        <a:bodyPr/>
        <a:lstStyle/>
        <a:p>
          <a:endParaRPr lang="en-US"/>
        </a:p>
      </dgm:t>
    </dgm:pt>
    <dgm:pt modelId="{B8815F53-6499-C04C-8EE4-1A5DE3415814}" type="sibTrans" cxnId="{19FC090A-6821-234B-9A9F-05F758D69805}">
      <dgm:prSet/>
      <dgm:spPr/>
      <dgm:t>
        <a:bodyPr/>
        <a:lstStyle/>
        <a:p>
          <a:endParaRPr lang="en-US"/>
        </a:p>
      </dgm:t>
    </dgm:pt>
    <dgm:pt modelId="{5CF45BD6-8F4A-0C4D-AF4F-A24BA271FF16}" type="pres">
      <dgm:prSet presAssocID="{A6F9CABA-3528-F84C-992E-FDCB53DA4C60}" presName="compositeShape" presStyleCnt="0">
        <dgm:presLayoutVars>
          <dgm:dir/>
          <dgm:resizeHandles/>
        </dgm:presLayoutVars>
      </dgm:prSet>
      <dgm:spPr/>
      <dgm:t>
        <a:bodyPr/>
        <a:lstStyle/>
        <a:p>
          <a:endParaRPr lang="en-US"/>
        </a:p>
      </dgm:t>
    </dgm:pt>
    <dgm:pt modelId="{398EBC3F-3409-F640-A552-34E0EE96B84E}" type="pres">
      <dgm:prSet presAssocID="{A6F9CABA-3528-F84C-992E-FDCB53DA4C60}" presName="pyramid" presStyleLbl="node1" presStyleIdx="0" presStyleCnt="1"/>
      <dgm:spPr>
        <a:solidFill>
          <a:schemeClr val="accent3"/>
        </a:solidFill>
        <a:ln>
          <a:solidFill>
            <a:schemeClr val="accent3"/>
          </a:solidFill>
        </a:ln>
      </dgm:spPr>
      <dgm:t>
        <a:bodyPr/>
        <a:lstStyle/>
        <a:p>
          <a:endParaRPr lang="en-US"/>
        </a:p>
      </dgm:t>
    </dgm:pt>
    <dgm:pt modelId="{89249B60-BBF0-E64B-B7E5-5B1BD5D28EA0}" type="pres">
      <dgm:prSet presAssocID="{A6F9CABA-3528-F84C-992E-FDCB53DA4C60}" presName="theList" presStyleCnt="0"/>
      <dgm:spPr/>
    </dgm:pt>
    <dgm:pt modelId="{7C8309DA-5AF4-ED4B-8005-9099F3579E74}" type="pres">
      <dgm:prSet presAssocID="{42C3DE85-4F24-8D44-97B4-EF1AD5BC92AA}" presName="aNode" presStyleLbl="fgAcc1" presStyleIdx="0" presStyleCnt="4" custAng="20654831" custLinFactX="-23807" custLinFactNeighborX="-100000" custLinFactNeighborY="-68425">
        <dgm:presLayoutVars>
          <dgm:bulletEnabled val="1"/>
        </dgm:presLayoutVars>
      </dgm:prSet>
      <dgm:spPr/>
      <dgm:t>
        <a:bodyPr/>
        <a:lstStyle/>
        <a:p>
          <a:endParaRPr lang="en-US"/>
        </a:p>
      </dgm:t>
    </dgm:pt>
    <dgm:pt modelId="{25A0A0CD-3DF9-614D-8A3D-A358B5E2C032}" type="pres">
      <dgm:prSet presAssocID="{42C3DE85-4F24-8D44-97B4-EF1AD5BC92AA}" presName="aSpace" presStyleCnt="0"/>
      <dgm:spPr/>
    </dgm:pt>
    <dgm:pt modelId="{60D366F8-501D-8042-914B-93C4C14B955F}" type="pres">
      <dgm:prSet presAssocID="{741CE14A-8B08-3F4E-8319-CFE1956DC52E}" presName="aNode" presStyleLbl="fgAcc1" presStyleIdx="1" presStyleCnt="4" custAng="946966" custLinFactY="-34414" custLinFactNeighborX="30769" custLinFactNeighborY="-100000">
        <dgm:presLayoutVars>
          <dgm:bulletEnabled val="1"/>
        </dgm:presLayoutVars>
      </dgm:prSet>
      <dgm:spPr/>
      <dgm:t>
        <a:bodyPr/>
        <a:lstStyle/>
        <a:p>
          <a:endParaRPr lang="en-US"/>
        </a:p>
      </dgm:t>
    </dgm:pt>
    <dgm:pt modelId="{B1AD53EE-B26B-D341-93BE-77B2269226D9}" type="pres">
      <dgm:prSet presAssocID="{741CE14A-8B08-3F4E-8319-CFE1956DC52E}" presName="aSpace" presStyleCnt="0"/>
      <dgm:spPr/>
    </dgm:pt>
    <dgm:pt modelId="{7EB31862-2E15-EC40-92A8-38C0729D347E}" type="pres">
      <dgm:prSet presAssocID="{867FFA81-B28C-B64F-A24A-2DF78351BA0E}" presName="aNode" presStyleLbl="fgAcc1" presStyleIdx="2" presStyleCnt="4" custAng="846432" custLinFactX="-16124" custLinFactY="11807" custLinFactNeighborX="-100000" custLinFactNeighborY="100000">
        <dgm:presLayoutVars>
          <dgm:bulletEnabled val="1"/>
        </dgm:presLayoutVars>
      </dgm:prSet>
      <dgm:spPr/>
      <dgm:t>
        <a:bodyPr/>
        <a:lstStyle/>
        <a:p>
          <a:endParaRPr lang="en-US"/>
        </a:p>
      </dgm:t>
    </dgm:pt>
    <dgm:pt modelId="{DE718506-3475-7844-A054-A06334EAB2CC}" type="pres">
      <dgm:prSet presAssocID="{867FFA81-B28C-B64F-A24A-2DF78351BA0E}" presName="aSpace" presStyleCnt="0"/>
      <dgm:spPr/>
    </dgm:pt>
    <dgm:pt modelId="{98354637-29DA-C24D-92DF-1340B4B82D84}" type="pres">
      <dgm:prSet presAssocID="{5279767A-DFDC-E544-9A2C-7BD6B9B8971D}" presName="aNode" presStyleLbl="fgAcc1" presStyleIdx="3" presStyleCnt="4" custAng="20892888" custLinFactY="-7443" custLinFactNeighborX="27379" custLinFactNeighborY="-100000">
        <dgm:presLayoutVars>
          <dgm:bulletEnabled val="1"/>
        </dgm:presLayoutVars>
      </dgm:prSet>
      <dgm:spPr/>
      <dgm:t>
        <a:bodyPr/>
        <a:lstStyle/>
        <a:p>
          <a:endParaRPr lang="en-US"/>
        </a:p>
      </dgm:t>
    </dgm:pt>
    <dgm:pt modelId="{AA000D6A-C818-CB49-BD55-FD11DC067E17}" type="pres">
      <dgm:prSet presAssocID="{5279767A-DFDC-E544-9A2C-7BD6B9B8971D}" presName="aSpace" presStyleCnt="0"/>
      <dgm:spPr/>
    </dgm:pt>
  </dgm:ptLst>
  <dgm:cxnLst>
    <dgm:cxn modelId="{E0E13F9F-F7F7-A240-B222-52A7F9059F33}" srcId="{A6F9CABA-3528-F84C-992E-FDCB53DA4C60}" destId="{867FFA81-B28C-B64F-A24A-2DF78351BA0E}" srcOrd="2" destOrd="0" parTransId="{5754A166-6DD0-2543-A230-72609DFD3E05}" sibTransId="{083ECC6E-F55A-B24D-B922-7F00E1A7A68C}"/>
    <dgm:cxn modelId="{8448968A-2434-D247-8CDD-D07BE0EBD552}" type="presOf" srcId="{867FFA81-B28C-B64F-A24A-2DF78351BA0E}" destId="{7EB31862-2E15-EC40-92A8-38C0729D347E}" srcOrd="0" destOrd="0" presId="urn:microsoft.com/office/officeart/2005/8/layout/pyramid2"/>
    <dgm:cxn modelId="{9B42761A-3B24-344F-85D4-2A227FA88A8A}" type="presOf" srcId="{A6F9CABA-3528-F84C-992E-FDCB53DA4C60}" destId="{5CF45BD6-8F4A-0C4D-AF4F-A24BA271FF16}" srcOrd="0" destOrd="0" presId="urn:microsoft.com/office/officeart/2005/8/layout/pyramid2"/>
    <dgm:cxn modelId="{5F3DF0C6-132F-AA47-B06D-7E59F1C329BD}" type="presOf" srcId="{741CE14A-8B08-3F4E-8319-CFE1956DC52E}" destId="{60D366F8-501D-8042-914B-93C4C14B955F}" srcOrd="0" destOrd="0" presId="urn:microsoft.com/office/officeart/2005/8/layout/pyramid2"/>
    <dgm:cxn modelId="{19FC090A-6821-234B-9A9F-05F758D69805}" srcId="{A6F9CABA-3528-F84C-992E-FDCB53DA4C60}" destId="{5279767A-DFDC-E544-9A2C-7BD6B9B8971D}" srcOrd="3" destOrd="0" parTransId="{344845FF-FCA7-C441-AC91-2DCC72057B6F}" sibTransId="{B8815F53-6499-C04C-8EE4-1A5DE3415814}"/>
    <dgm:cxn modelId="{D983EBA5-3E65-F14D-A1C5-99C01869DD62}" srcId="{A6F9CABA-3528-F84C-992E-FDCB53DA4C60}" destId="{741CE14A-8B08-3F4E-8319-CFE1956DC52E}" srcOrd="1" destOrd="0" parTransId="{7E69B0DC-AF4A-864C-8080-277020E4B8A1}" sibTransId="{DC78CE80-320B-FC4F-8789-B0B0BEC65094}"/>
    <dgm:cxn modelId="{9D558739-7006-0C4A-8FCA-D37FD51FEA16}" type="presOf" srcId="{5279767A-DFDC-E544-9A2C-7BD6B9B8971D}" destId="{98354637-29DA-C24D-92DF-1340B4B82D84}" srcOrd="0" destOrd="0" presId="urn:microsoft.com/office/officeart/2005/8/layout/pyramid2"/>
    <dgm:cxn modelId="{67D77EFB-790C-9947-9ED5-43DA84E56231}" srcId="{A6F9CABA-3528-F84C-992E-FDCB53DA4C60}" destId="{42C3DE85-4F24-8D44-97B4-EF1AD5BC92AA}" srcOrd="0" destOrd="0" parTransId="{D4986A68-F696-BF4C-83C3-309739422D43}" sibTransId="{B88ECBFA-BB73-A448-B5E7-F763C2215A4A}"/>
    <dgm:cxn modelId="{1E04C35F-5EA8-DD4A-9992-8FAB82063CF7}" type="presOf" srcId="{42C3DE85-4F24-8D44-97B4-EF1AD5BC92AA}" destId="{7C8309DA-5AF4-ED4B-8005-9099F3579E74}" srcOrd="0" destOrd="0" presId="urn:microsoft.com/office/officeart/2005/8/layout/pyramid2"/>
    <dgm:cxn modelId="{F4064794-33D2-154D-BB8D-4AA10D36E286}" type="presParOf" srcId="{5CF45BD6-8F4A-0C4D-AF4F-A24BA271FF16}" destId="{398EBC3F-3409-F640-A552-34E0EE96B84E}" srcOrd="0" destOrd="0" presId="urn:microsoft.com/office/officeart/2005/8/layout/pyramid2"/>
    <dgm:cxn modelId="{9F86827A-3ECB-8E4C-AD80-EB65E478093E}" type="presParOf" srcId="{5CF45BD6-8F4A-0C4D-AF4F-A24BA271FF16}" destId="{89249B60-BBF0-E64B-B7E5-5B1BD5D28EA0}" srcOrd="1" destOrd="0" presId="urn:microsoft.com/office/officeart/2005/8/layout/pyramid2"/>
    <dgm:cxn modelId="{878CB9F0-784B-514E-BB87-5D8543E11432}" type="presParOf" srcId="{89249B60-BBF0-E64B-B7E5-5B1BD5D28EA0}" destId="{7C8309DA-5AF4-ED4B-8005-9099F3579E74}" srcOrd="0" destOrd="0" presId="urn:microsoft.com/office/officeart/2005/8/layout/pyramid2"/>
    <dgm:cxn modelId="{A89D07A8-1406-5D42-975A-0ABFEC7ADA45}" type="presParOf" srcId="{89249B60-BBF0-E64B-B7E5-5B1BD5D28EA0}" destId="{25A0A0CD-3DF9-614D-8A3D-A358B5E2C032}" srcOrd="1" destOrd="0" presId="urn:microsoft.com/office/officeart/2005/8/layout/pyramid2"/>
    <dgm:cxn modelId="{FDD6AC38-4EF0-FA49-BC07-32A8E109A710}" type="presParOf" srcId="{89249B60-BBF0-E64B-B7E5-5B1BD5D28EA0}" destId="{60D366F8-501D-8042-914B-93C4C14B955F}" srcOrd="2" destOrd="0" presId="urn:microsoft.com/office/officeart/2005/8/layout/pyramid2"/>
    <dgm:cxn modelId="{6D1E8F4B-F51C-894D-B319-C8DF7C985A5B}" type="presParOf" srcId="{89249B60-BBF0-E64B-B7E5-5B1BD5D28EA0}" destId="{B1AD53EE-B26B-D341-93BE-77B2269226D9}" srcOrd="3" destOrd="0" presId="urn:microsoft.com/office/officeart/2005/8/layout/pyramid2"/>
    <dgm:cxn modelId="{A4A8CD58-96AF-904E-9901-767C502FC8CE}" type="presParOf" srcId="{89249B60-BBF0-E64B-B7E5-5B1BD5D28EA0}" destId="{7EB31862-2E15-EC40-92A8-38C0729D347E}" srcOrd="4" destOrd="0" presId="urn:microsoft.com/office/officeart/2005/8/layout/pyramid2"/>
    <dgm:cxn modelId="{33257292-EBBF-1E41-9F6A-A6456C491BBB}" type="presParOf" srcId="{89249B60-BBF0-E64B-B7E5-5B1BD5D28EA0}" destId="{DE718506-3475-7844-A054-A06334EAB2CC}" srcOrd="5" destOrd="0" presId="urn:microsoft.com/office/officeart/2005/8/layout/pyramid2"/>
    <dgm:cxn modelId="{5F48545E-DBEF-1648-9099-54F946D00253}" type="presParOf" srcId="{89249B60-BBF0-E64B-B7E5-5B1BD5D28EA0}" destId="{98354637-29DA-C24D-92DF-1340B4B82D84}" srcOrd="6" destOrd="0" presId="urn:microsoft.com/office/officeart/2005/8/layout/pyramid2"/>
    <dgm:cxn modelId="{78CB1FBE-164D-0242-9328-05199C03076B}" type="presParOf" srcId="{89249B60-BBF0-E64B-B7E5-5B1BD5D28EA0}" destId="{AA000D6A-C818-CB49-BD55-FD11DC067E17}"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0BB43A-0BE7-7F42-9868-389AB4D6229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E1DF073C-C5D4-F64F-A930-AC5091A81E15}">
      <dgm:prSet/>
      <dgm:spPr/>
      <dgm:t>
        <a:bodyPr/>
        <a:lstStyle/>
        <a:p>
          <a:pPr rtl="0"/>
          <a:r>
            <a:rPr lang="en-US" dirty="0" smtClean="0"/>
            <a:t>ARM processors support data types of:</a:t>
          </a:r>
          <a:endParaRPr lang="en-US" dirty="0"/>
        </a:p>
      </dgm:t>
    </dgm:pt>
    <dgm:pt modelId="{DDFB3043-4B42-F14D-9951-4739A35ED9F3}" type="parTrans" cxnId="{EC5B13A3-028F-114E-8049-DD58F76A1620}">
      <dgm:prSet/>
      <dgm:spPr/>
      <dgm:t>
        <a:bodyPr/>
        <a:lstStyle/>
        <a:p>
          <a:endParaRPr lang="en-US"/>
        </a:p>
      </dgm:t>
    </dgm:pt>
    <dgm:pt modelId="{DA8D1E2F-2601-4042-A1A4-7C6F349DC51D}" type="sibTrans" cxnId="{EC5B13A3-028F-114E-8049-DD58F76A1620}">
      <dgm:prSet/>
      <dgm:spPr/>
      <dgm:t>
        <a:bodyPr/>
        <a:lstStyle/>
        <a:p>
          <a:endParaRPr lang="en-US"/>
        </a:p>
      </dgm:t>
    </dgm:pt>
    <dgm:pt modelId="{C912F60A-CBA1-0D4B-8B8C-02302D45A1BA}">
      <dgm:prSet/>
      <dgm:spPr/>
      <dgm:t>
        <a:bodyPr/>
        <a:lstStyle/>
        <a:p>
          <a:pPr rtl="0"/>
          <a:r>
            <a:rPr lang="en-US" dirty="0" smtClean="0"/>
            <a:t>8 (byte) – can be stored at any location.</a:t>
          </a:r>
          <a:endParaRPr lang="en-US" dirty="0"/>
        </a:p>
      </dgm:t>
    </dgm:pt>
    <dgm:pt modelId="{F79FAE3E-A2B8-A442-AB51-C51D81365ABA}" type="parTrans" cxnId="{44AE5D91-98D7-AE43-A8F9-BB807B8B18D6}">
      <dgm:prSet/>
      <dgm:spPr/>
      <dgm:t>
        <a:bodyPr/>
        <a:lstStyle/>
        <a:p>
          <a:endParaRPr lang="en-US"/>
        </a:p>
      </dgm:t>
    </dgm:pt>
    <dgm:pt modelId="{1BCAA218-57D6-614F-9F0A-18C5EAECC25E}" type="sibTrans" cxnId="{44AE5D91-98D7-AE43-A8F9-BB807B8B18D6}">
      <dgm:prSet/>
      <dgm:spPr/>
      <dgm:t>
        <a:bodyPr/>
        <a:lstStyle/>
        <a:p>
          <a:endParaRPr lang="en-US"/>
        </a:p>
      </dgm:t>
    </dgm:pt>
    <dgm:pt modelId="{B4840F7B-6C5F-5C45-A88A-2B5C21079658}">
      <dgm:prSet/>
      <dgm:spPr/>
      <dgm:t>
        <a:bodyPr/>
        <a:lstStyle/>
        <a:p>
          <a:pPr rtl="0"/>
          <a:r>
            <a:rPr lang="en-US" dirty="0" smtClean="0"/>
            <a:t>16 (halfword) – must be aligned, begin at even address {0,2,4,6..}</a:t>
          </a:r>
          <a:endParaRPr lang="en-US" dirty="0"/>
        </a:p>
      </dgm:t>
    </dgm:pt>
    <dgm:pt modelId="{B2775452-B788-ED42-A83A-F8BE431852E4}" type="parTrans" cxnId="{08C33846-8B2E-EE4C-BA15-5EDAD94659B9}">
      <dgm:prSet/>
      <dgm:spPr/>
      <dgm:t>
        <a:bodyPr/>
        <a:lstStyle/>
        <a:p>
          <a:endParaRPr lang="en-US"/>
        </a:p>
      </dgm:t>
    </dgm:pt>
    <dgm:pt modelId="{4FDD7BA8-853C-214C-98CB-3DA382CDF997}" type="sibTrans" cxnId="{08C33846-8B2E-EE4C-BA15-5EDAD94659B9}">
      <dgm:prSet/>
      <dgm:spPr/>
      <dgm:t>
        <a:bodyPr/>
        <a:lstStyle/>
        <a:p>
          <a:endParaRPr lang="en-US"/>
        </a:p>
      </dgm:t>
    </dgm:pt>
    <dgm:pt modelId="{D0890A53-C12E-7C4B-BBF4-D318819088D8}">
      <dgm:prSet/>
      <dgm:spPr/>
      <dgm:t>
        <a:bodyPr/>
        <a:lstStyle/>
        <a:p>
          <a:pPr rtl="0"/>
          <a:r>
            <a:rPr lang="en-US" dirty="0" smtClean="0"/>
            <a:t>32 (word) bits in length – must be aligned, begin at multiple of 4 {0,4,5,..}</a:t>
          </a:r>
          <a:endParaRPr lang="en-US" dirty="0"/>
        </a:p>
      </dgm:t>
    </dgm:pt>
    <dgm:pt modelId="{7DCFC532-232A-5D41-8BE8-4A9AF2B20921}" type="parTrans" cxnId="{90D249C5-582A-6545-8438-94106E2BBFF4}">
      <dgm:prSet/>
      <dgm:spPr/>
      <dgm:t>
        <a:bodyPr/>
        <a:lstStyle/>
        <a:p>
          <a:endParaRPr lang="en-US"/>
        </a:p>
      </dgm:t>
    </dgm:pt>
    <dgm:pt modelId="{5B99937B-8A27-6443-9B8E-E249C2D634A2}" type="sibTrans" cxnId="{90D249C5-582A-6545-8438-94106E2BBFF4}">
      <dgm:prSet/>
      <dgm:spPr/>
      <dgm:t>
        <a:bodyPr/>
        <a:lstStyle/>
        <a:p>
          <a:endParaRPr lang="en-US"/>
        </a:p>
      </dgm:t>
    </dgm:pt>
    <dgm:pt modelId="{8B0F364E-1DE8-6746-81D1-41C4FC27B072}">
      <dgm:prSet/>
      <dgm:spPr/>
      <dgm:t>
        <a:bodyPr/>
        <a:lstStyle/>
        <a:p>
          <a:pPr rtl="0"/>
          <a:r>
            <a:rPr lang="en-US" dirty="0" smtClean="0"/>
            <a:t>Alignment checking</a:t>
          </a:r>
          <a:endParaRPr lang="en-US" dirty="0"/>
        </a:p>
      </dgm:t>
    </dgm:pt>
    <dgm:pt modelId="{012DF0E4-1DAF-C349-A8F7-910326C8CDD9}" type="parTrans" cxnId="{58CF8426-46E8-BE4D-907E-D27B83F474E9}">
      <dgm:prSet/>
      <dgm:spPr/>
      <dgm:t>
        <a:bodyPr/>
        <a:lstStyle/>
        <a:p>
          <a:endParaRPr lang="en-US"/>
        </a:p>
      </dgm:t>
    </dgm:pt>
    <dgm:pt modelId="{C027792D-02B3-FB47-94F8-A60278493391}" type="sibTrans" cxnId="{58CF8426-46E8-BE4D-907E-D27B83F474E9}">
      <dgm:prSet/>
      <dgm:spPr/>
      <dgm:t>
        <a:bodyPr/>
        <a:lstStyle/>
        <a:p>
          <a:endParaRPr lang="en-US"/>
        </a:p>
      </dgm:t>
    </dgm:pt>
    <dgm:pt modelId="{B8353ACB-F042-F747-9DE4-2380A8BEED05}">
      <dgm:prSet/>
      <dgm:spPr/>
      <dgm:t>
        <a:bodyPr/>
        <a:lstStyle/>
        <a:p>
          <a:pPr rtl="0"/>
          <a:r>
            <a:rPr lang="en-US" dirty="0" smtClean="0"/>
            <a:t>When the appropriate control bit is set, a data abort signal indicates an alignment fault for attempting unaligned access</a:t>
          </a:r>
          <a:endParaRPr lang="en-US" dirty="0"/>
        </a:p>
      </dgm:t>
    </dgm:pt>
    <dgm:pt modelId="{215D32DF-ED14-F64A-BE85-D44FE159BC22}" type="parTrans" cxnId="{A380D8BD-5B1B-8049-AE92-D4B787A5AD3A}">
      <dgm:prSet/>
      <dgm:spPr/>
      <dgm:t>
        <a:bodyPr/>
        <a:lstStyle/>
        <a:p>
          <a:endParaRPr lang="en-US"/>
        </a:p>
      </dgm:t>
    </dgm:pt>
    <dgm:pt modelId="{D7BB8FC7-E2FE-CF40-934E-474EEEEEBB22}" type="sibTrans" cxnId="{A380D8BD-5B1B-8049-AE92-D4B787A5AD3A}">
      <dgm:prSet/>
      <dgm:spPr/>
      <dgm:t>
        <a:bodyPr/>
        <a:lstStyle/>
        <a:p>
          <a:endParaRPr lang="en-US"/>
        </a:p>
      </dgm:t>
    </dgm:pt>
    <dgm:pt modelId="{5E653D27-2C05-014C-8F77-7F45AFF56A47}">
      <dgm:prSet/>
      <dgm:spPr/>
      <dgm:t>
        <a:bodyPr/>
        <a:lstStyle/>
        <a:p>
          <a:pPr rtl="0"/>
          <a:r>
            <a:rPr lang="en-US" dirty="0" smtClean="0"/>
            <a:t>Unaligned access</a:t>
          </a:r>
          <a:endParaRPr lang="en-US" dirty="0"/>
        </a:p>
      </dgm:t>
    </dgm:pt>
    <dgm:pt modelId="{8C420D28-26AA-814D-90F1-2449AA20493C}" type="parTrans" cxnId="{FF356777-3A74-9648-8412-0165E2727832}">
      <dgm:prSet/>
      <dgm:spPr/>
      <dgm:t>
        <a:bodyPr/>
        <a:lstStyle/>
        <a:p>
          <a:endParaRPr lang="en-US"/>
        </a:p>
      </dgm:t>
    </dgm:pt>
    <dgm:pt modelId="{CA89D41B-9ECE-674F-B91F-335F1793AE6B}" type="sibTrans" cxnId="{FF356777-3A74-9648-8412-0165E2727832}">
      <dgm:prSet/>
      <dgm:spPr/>
      <dgm:t>
        <a:bodyPr/>
        <a:lstStyle/>
        <a:p>
          <a:endParaRPr lang="en-US"/>
        </a:p>
      </dgm:t>
    </dgm:pt>
    <dgm:pt modelId="{CA3E02FA-5F53-4241-8171-BE92CBEC4835}">
      <dgm:prSet/>
      <dgm:spPr/>
      <dgm:t>
        <a:bodyPr/>
        <a:lstStyle/>
        <a:p>
          <a:pPr rtl="0"/>
          <a:r>
            <a:rPr lang="en-US" dirty="0" smtClean="0"/>
            <a:t>When this option is enabled, the processor uses one or more memory accesses to generate the required transfer of adjacent bytes transparently to the programmer</a:t>
          </a:r>
          <a:endParaRPr lang="en-US" dirty="0"/>
        </a:p>
      </dgm:t>
    </dgm:pt>
    <dgm:pt modelId="{8DB69DE9-8E94-254C-9116-064DFA3C56DF}" type="parTrans" cxnId="{DB404BFC-D416-CA43-BEB1-57E50A1FD266}">
      <dgm:prSet/>
      <dgm:spPr/>
      <dgm:t>
        <a:bodyPr/>
        <a:lstStyle/>
        <a:p>
          <a:endParaRPr lang="en-US"/>
        </a:p>
      </dgm:t>
    </dgm:pt>
    <dgm:pt modelId="{271919A2-235E-F44A-BB57-3BB8D39636B9}" type="sibTrans" cxnId="{DB404BFC-D416-CA43-BEB1-57E50A1FD266}">
      <dgm:prSet/>
      <dgm:spPr/>
      <dgm:t>
        <a:bodyPr/>
        <a:lstStyle/>
        <a:p>
          <a:endParaRPr lang="en-US"/>
        </a:p>
      </dgm:t>
    </dgm:pt>
    <dgm:pt modelId="{D47D0DC6-70ED-1544-BDBB-597F3E1E7848}">
      <dgm:prSet/>
      <dgm:spPr/>
      <dgm:t>
        <a:bodyPr/>
        <a:lstStyle/>
        <a:p>
          <a:pPr rtl="0"/>
          <a:r>
            <a:rPr lang="en-US" dirty="0" smtClean="0"/>
            <a:t>For all three data types an unsigned interpretation is supported in which the value represents an unsigned, nonnegative integer</a:t>
          </a:r>
          <a:endParaRPr lang="en-US" dirty="0"/>
        </a:p>
      </dgm:t>
    </dgm:pt>
    <dgm:pt modelId="{B55B029D-331C-4743-87C8-174E7A4E6F49}" type="parTrans" cxnId="{3458CF5D-38CE-6D49-8403-F922A05C092D}">
      <dgm:prSet/>
      <dgm:spPr/>
      <dgm:t>
        <a:bodyPr/>
        <a:lstStyle/>
        <a:p>
          <a:endParaRPr lang="en-US"/>
        </a:p>
      </dgm:t>
    </dgm:pt>
    <dgm:pt modelId="{3D59B8EF-7449-8946-A92B-805B06FDF5CD}" type="sibTrans" cxnId="{3458CF5D-38CE-6D49-8403-F922A05C092D}">
      <dgm:prSet/>
      <dgm:spPr/>
      <dgm:t>
        <a:bodyPr/>
        <a:lstStyle/>
        <a:p>
          <a:endParaRPr lang="en-US"/>
        </a:p>
      </dgm:t>
    </dgm:pt>
    <dgm:pt modelId="{D11323BE-45FA-A549-ADCD-99A0C65771EF}">
      <dgm:prSet/>
      <dgm:spPr/>
      <dgm:t>
        <a:bodyPr/>
        <a:lstStyle/>
        <a:p>
          <a:pPr rtl="0"/>
          <a:r>
            <a:rPr lang="en-US" dirty="0" smtClean="0"/>
            <a:t>All three data types can also be used for twos complement signed integers</a:t>
          </a:r>
          <a:endParaRPr lang="en-US" dirty="0"/>
        </a:p>
      </dgm:t>
    </dgm:pt>
    <dgm:pt modelId="{DD636386-F055-AB41-982E-F41E935476DF}" type="parTrans" cxnId="{D6A12655-8945-9B47-A1FF-49B01F445796}">
      <dgm:prSet/>
      <dgm:spPr/>
      <dgm:t>
        <a:bodyPr/>
        <a:lstStyle/>
        <a:p>
          <a:endParaRPr lang="en-US"/>
        </a:p>
      </dgm:t>
    </dgm:pt>
    <dgm:pt modelId="{BCAAC47F-CEAA-0C40-BAFF-8B3DB0625E25}" type="sibTrans" cxnId="{D6A12655-8945-9B47-A1FF-49B01F445796}">
      <dgm:prSet/>
      <dgm:spPr/>
      <dgm:t>
        <a:bodyPr/>
        <a:lstStyle/>
        <a:p>
          <a:endParaRPr lang="en-US"/>
        </a:p>
      </dgm:t>
    </dgm:pt>
    <dgm:pt modelId="{57361969-9778-41B0-BFD1-F33FB550AC82}">
      <dgm:prSet/>
      <dgm:spPr/>
      <dgm:t>
        <a:bodyPr/>
        <a:lstStyle/>
        <a:p>
          <a:pPr rtl="0"/>
          <a:r>
            <a:rPr lang="en-US" dirty="0" smtClean="0"/>
            <a:t>After loading the data from memory, the data must be extended into 32 bits </a:t>
          </a:r>
          <a:r>
            <a:rPr lang="en-US" dirty="0" err="1" smtClean="0"/>
            <a:t>bcz</a:t>
          </a:r>
          <a:r>
            <a:rPr lang="en-US" dirty="0" smtClean="0"/>
            <a:t> register size will be 32 bits.</a:t>
          </a:r>
          <a:endParaRPr lang="en-US" dirty="0"/>
        </a:p>
      </dgm:t>
    </dgm:pt>
    <dgm:pt modelId="{53DBE729-7CC3-4A1F-9CDB-FA635B3825BD}" type="parTrans" cxnId="{B5836A1D-263A-469A-B501-6B16E33BF648}">
      <dgm:prSet/>
      <dgm:spPr/>
      <dgm:t>
        <a:bodyPr/>
        <a:lstStyle/>
        <a:p>
          <a:endParaRPr lang="en-US"/>
        </a:p>
      </dgm:t>
    </dgm:pt>
    <dgm:pt modelId="{FECCE4D9-FD41-43F0-9F81-B227D9AA6769}" type="sibTrans" cxnId="{B5836A1D-263A-469A-B501-6B16E33BF648}">
      <dgm:prSet/>
      <dgm:spPr/>
      <dgm:t>
        <a:bodyPr/>
        <a:lstStyle/>
        <a:p>
          <a:endParaRPr lang="en-US"/>
        </a:p>
      </dgm:t>
    </dgm:pt>
    <dgm:pt modelId="{6820F2FB-22E7-314B-9F2A-00C14340D2BA}" type="pres">
      <dgm:prSet presAssocID="{130BB43A-0BE7-7F42-9868-389AB4D62297}" presName="compositeShape" presStyleCnt="0">
        <dgm:presLayoutVars>
          <dgm:chMax val="7"/>
          <dgm:dir/>
          <dgm:resizeHandles val="exact"/>
        </dgm:presLayoutVars>
      </dgm:prSet>
      <dgm:spPr/>
      <dgm:t>
        <a:bodyPr/>
        <a:lstStyle/>
        <a:p>
          <a:endParaRPr lang="en-US"/>
        </a:p>
      </dgm:t>
    </dgm:pt>
    <dgm:pt modelId="{17184542-B6FC-0941-A085-C1719FD394DD}" type="pres">
      <dgm:prSet presAssocID="{E1DF073C-C5D4-F64F-A930-AC5091A81E15}" presName="circ1" presStyleLbl="vennNode1" presStyleIdx="0" presStyleCnt="5"/>
      <dgm:spPr>
        <a:solidFill>
          <a:schemeClr val="accent4"/>
        </a:solidFill>
      </dgm:spPr>
    </dgm:pt>
    <dgm:pt modelId="{9AA7EF0F-2B12-2347-882A-D3A39B320B34}" type="pres">
      <dgm:prSet presAssocID="{E1DF073C-C5D4-F64F-A930-AC5091A81E15}" presName="circ1Tx" presStyleLbl="revTx" presStyleIdx="0" presStyleCnt="0" custScaleX="228960">
        <dgm:presLayoutVars>
          <dgm:chMax val="0"/>
          <dgm:chPref val="0"/>
          <dgm:bulletEnabled val="1"/>
        </dgm:presLayoutVars>
      </dgm:prSet>
      <dgm:spPr/>
      <dgm:t>
        <a:bodyPr/>
        <a:lstStyle/>
        <a:p>
          <a:endParaRPr lang="en-US"/>
        </a:p>
      </dgm:t>
    </dgm:pt>
    <dgm:pt modelId="{38DACD41-8ED2-6A41-B99B-CE36DF007D30}" type="pres">
      <dgm:prSet presAssocID="{8B0F364E-1DE8-6746-81D1-41C4FC27B072}" presName="circ2" presStyleLbl="vennNode1" presStyleIdx="1" presStyleCnt="5"/>
      <dgm:spPr>
        <a:solidFill>
          <a:schemeClr val="accent3"/>
        </a:solidFill>
      </dgm:spPr>
    </dgm:pt>
    <dgm:pt modelId="{1AD636D3-10BD-E94E-A7E8-84A33DD9177A}" type="pres">
      <dgm:prSet presAssocID="{8B0F364E-1DE8-6746-81D1-41C4FC27B072}" presName="circ2Tx" presStyleLbl="revTx" presStyleIdx="0" presStyleCnt="0">
        <dgm:presLayoutVars>
          <dgm:chMax val="0"/>
          <dgm:chPref val="0"/>
          <dgm:bulletEnabled val="1"/>
        </dgm:presLayoutVars>
      </dgm:prSet>
      <dgm:spPr/>
      <dgm:t>
        <a:bodyPr/>
        <a:lstStyle/>
        <a:p>
          <a:endParaRPr lang="en-US"/>
        </a:p>
      </dgm:t>
    </dgm:pt>
    <dgm:pt modelId="{FEBA1883-BC67-4C4B-8A37-4C515D22848A}" type="pres">
      <dgm:prSet presAssocID="{5E653D27-2C05-014C-8F77-7F45AFF56A47}" presName="circ3" presStyleLbl="vennNode1" presStyleIdx="2" presStyleCnt="5"/>
      <dgm:spPr/>
    </dgm:pt>
    <dgm:pt modelId="{24C20E20-3FB9-A64B-AC50-6A43E54B84FD}" type="pres">
      <dgm:prSet presAssocID="{5E653D27-2C05-014C-8F77-7F45AFF56A47}" presName="circ3Tx" presStyleLbl="revTx" presStyleIdx="0" presStyleCnt="0">
        <dgm:presLayoutVars>
          <dgm:chMax val="0"/>
          <dgm:chPref val="0"/>
          <dgm:bulletEnabled val="1"/>
        </dgm:presLayoutVars>
      </dgm:prSet>
      <dgm:spPr/>
      <dgm:t>
        <a:bodyPr/>
        <a:lstStyle/>
        <a:p>
          <a:endParaRPr lang="en-US"/>
        </a:p>
      </dgm:t>
    </dgm:pt>
    <dgm:pt modelId="{178CF4E2-741A-E842-BE8C-25A55749973B}" type="pres">
      <dgm:prSet presAssocID="{D47D0DC6-70ED-1544-BDBB-597F3E1E7848}" presName="circ4" presStyleLbl="vennNode1" presStyleIdx="3" presStyleCnt="5"/>
      <dgm:spPr>
        <a:solidFill>
          <a:schemeClr val="accent4"/>
        </a:solidFill>
      </dgm:spPr>
    </dgm:pt>
    <dgm:pt modelId="{B0A836E1-B0CC-234C-9BB4-A6D0E050AF2C}" type="pres">
      <dgm:prSet presAssocID="{D47D0DC6-70ED-1544-BDBB-597F3E1E7848}" presName="circ4Tx" presStyleLbl="revTx" presStyleIdx="0" presStyleCnt="0">
        <dgm:presLayoutVars>
          <dgm:chMax val="0"/>
          <dgm:chPref val="0"/>
          <dgm:bulletEnabled val="1"/>
        </dgm:presLayoutVars>
      </dgm:prSet>
      <dgm:spPr/>
      <dgm:t>
        <a:bodyPr/>
        <a:lstStyle/>
        <a:p>
          <a:endParaRPr lang="en-US"/>
        </a:p>
      </dgm:t>
    </dgm:pt>
    <dgm:pt modelId="{C4FC9527-BF26-BE42-851A-08E582AEFD93}" type="pres">
      <dgm:prSet presAssocID="{D11323BE-45FA-A549-ADCD-99A0C65771EF}" presName="circ5" presStyleLbl="vennNode1" presStyleIdx="4" presStyleCnt="5"/>
      <dgm:spPr/>
    </dgm:pt>
    <dgm:pt modelId="{BDA09D31-9DF2-854D-8BA1-ACD362668A00}" type="pres">
      <dgm:prSet presAssocID="{D11323BE-45FA-A549-ADCD-99A0C65771EF}" presName="circ5Tx" presStyleLbl="revTx" presStyleIdx="0" presStyleCnt="0">
        <dgm:presLayoutVars>
          <dgm:chMax val="0"/>
          <dgm:chPref val="0"/>
          <dgm:bulletEnabled val="1"/>
        </dgm:presLayoutVars>
      </dgm:prSet>
      <dgm:spPr/>
      <dgm:t>
        <a:bodyPr/>
        <a:lstStyle/>
        <a:p>
          <a:endParaRPr lang="en-US"/>
        </a:p>
      </dgm:t>
    </dgm:pt>
  </dgm:ptLst>
  <dgm:cxnLst>
    <dgm:cxn modelId="{C5B2E852-4A58-6D44-A925-36E6E44E176A}" type="presOf" srcId="{D0890A53-C12E-7C4B-BBF4-D318819088D8}" destId="{9AA7EF0F-2B12-2347-882A-D3A39B320B34}" srcOrd="0" destOrd="3" presId="urn:microsoft.com/office/officeart/2005/8/layout/venn1"/>
    <dgm:cxn modelId="{3458CF5D-38CE-6D49-8403-F922A05C092D}" srcId="{130BB43A-0BE7-7F42-9868-389AB4D62297}" destId="{D47D0DC6-70ED-1544-BDBB-597F3E1E7848}" srcOrd="3" destOrd="0" parTransId="{B55B029D-331C-4743-87C8-174E7A4E6F49}" sibTransId="{3D59B8EF-7449-8946-A92B-805B06FDF5CD}"/>
    <dgm:cxn modelId="{CEFC6012-1C6C-3442-8DA1-BDE80D8FC343}" type="presOf" srcId="{B8353ACB-F042-F747-9DE4-2380A8BEED05}" destId="{1AD636D3-10BD-E94E-A7E8-84A33DD9177A}" srcOrd="0" destOrd="1" presId="urn:microsoft.com/office/officeart/2005/8/layout/venn1"/>
    <dgm:cxn modelId="{7F762B27-0B30-B44D-97B6-A5C61E68E692}" type="presOf" srcId="{C912F60A-CBA1-0D4B-8B8C-02302D45A1BA}" destId="{9AA7EF0F-2B12-2347-882A-D3A39B320B34}" srcOrd="0" destOrd="1" presId="urn:microsoft.com/office/officeart/2005/8/layout/venn1"/>
    <dgm:cxn modelId="{BB968DC8-E51B-DC4B-9496-0274C04170AF}" type="presOf" srcId="{B4840F7B-6C5F-5C45-A88A-2B5C21079658}" destId="{9AA7EF0F-2B12-2347-882A-D3A39B320B34}" srcOrd="0" destOrd="2" presId="urn:microsoft.com/office/officeart/2005/8/layout/venn1"/>
    <dgm:cxn modelId="{B5836A1D-263A-469A-B501-6B16E33BF648}" srcId="{E1DF073C-C5D4-F64F-A930-AC5091A81E15}" destId="{57361969-9778-41B0-BFD1-F33FB550AC82}" srcOrd="3" destOrd="0" parTransId="{53DBE729-7CC3-4A1F-9CDB-FA635B3825BD}" sibTransId="{FECCE4D9-FD41-43F0-9F81-B227D9AA6769}"/>
    <dgm:cxn modelId="{A8A278B0-7EDC-5540-A418-0E5A561668E3}" type="presOf" srcId="{D11323BE-45FA-A549-ADCD-99A0C65771EF}" destId="{BDA09D31-9DF2-854D-8BA1-ACD362668A00}" srcOrd="0" destOrd="0" presId="urn:microsoft.com/office/officeart/2005/8/layout/venn1"/>
    <dgm:cxn modelId="{6832A8A7-9F66-4E1B-9348-B121A7BCE89B}" type="presOf" srcId="{57361969-9778-41B0-BFD1-F33FB550AC82}" destId="{9AA7EF0F-2B12-2347-882A-D3A39B320B34}" srcOrd="0" destOrd="4" presId="urn:microsoft.com/office/officeart/2005/8/layout/venn1"/>
    <dgm:cxn modelId="{D6A12655-8945-9B47-A1FF-49B01F445796}" srcId="{130BB43A-0BE7-7F42-9868-389AB4D62297}" destId="{D11323BE-45FA-A549-ADCD-99A0C65771EF}" srcOrd="4" destOrd="0" parTransId="{DD636386-F055-AB41-982E-F41E935476DF}" sibTransId="{BCAAC47F-CEAA-0C40-BAFF-8B3DB0625E25}"/>
    <dgm:cxn modelId="{EC5B13A3-028F-114E-8049-DD58F76A1620}" srcId="{130BB43A-0BE7-7F42-9868-389AB4D62297}" destId="{E1DF073C-C5D4-F64F-A930-AC5091A81E15}" srcOrd="0" destOrd="0" parTransId="{DDFB3043-4B42-F14D-9951-4739A35ED9F3}" sibTransId="{DA8D1E2F-2601-4042-A1A4-7C6F349DC51D}"/>
    <dgm:cxn modelId="{FF356777-3A74-9648-8412-0165E2727832}" srcId="{130BB43A-0BE7-7F42-9868-389AB4D62297}" destId="{5E653D27-2C05-014C-8F77-7F45AFF56A47}" srcOrd="2" destOrd="0" parTransId="{8C420D28-26AA-814D-90F1-2449AA20493C}" sibTransId="{CA89D41B-9ECE-674F-B91F-335F1793AE6B}"/>
    <dgm:cxn modelId="{44AE5D91-98D7-AE43-A8F9-BB807B8B18D6}" srcId="{E1DF073C-C5D4-F64F-A930-AC5091A81E15}" destId="{C912F60A-CBA1-0D4B-8B8C-02302D45A1BA}" srcOrd="0" destOrd="0" parTransId="{F79FAE3E-A2B8-A442-AB51-C51D81365ABA}" sibTransId="{1BCAA218-57D6-614F-9F0A-18C5EAECC25E}"/>
    <dgm:cxn modelId="{DB404BFC-D416-CA43-BEB1-57E50A1FD266}" srcId="{5E653D27-2C05-014C-8F77-7F45AFF56A47}" destId="{CA3E02FA-5F53-4241-8171-BE92CBEC4835}" srcOrd="0" destOrd="0" parTransId="{8DB69DE9-8E94-254C-9116-064DFA3C56DF}" sibTransId="{271919A2-235E-F44A-BB57-3BB8D39636B9}"/>
    <dgm:cxn modelId="{58CF8426-46E8-BE4D-907E-D27B83F474E9}" srcId="{130BB43A-0BE7-7F42-9868-389AB4D62297}" destId="{8B0F364E-1DE8-6746-81D1-41C4FC27B072}" srcOrd="1" destOrd="0" parTransId="{012DF0E4-1DAF-C349-A8F7-910326C8CDD9}" sibTransId="{C027792D-02B3-FB47-94F8-A60278493391}"/>
    <dgm:cxn modelId="{08C33846-8B2E-EE4C-BA15-5EDAD94659B9}" srcId="{E1DF073C-C5D4-F64F-A930-AC5091A81E15}" destId="{B4840F7B-6C5F-5C45-A88A-2B5C21079658}" srcOrd="1" destOrd="0" parTransId="{B2775452-B788-ED42-A83A-F8BE431852E4}" sibTransId="{4FDD7BA8-853C-214C-98CB-3DA382CDF997}"/>
    <dgm:cxn modelId="{4333EB67-4EB9-4C44-B84D-0EE18B2C283A}" type="presOf" srcId="{D47D0DC6-70ED-1544-BDBB-597F3E1E7848}" destId="{B0A836E1-B0CC-234C-9BB4-A6D0E050AF2C}" srcOrd="0" destOrd="0" presId="urn:microsoft.com/office/officeart/2005/8/layout/venn1"/>
    <dgm:cxn modelId="{47F1EEF3-499E-ED4B-9D59-896A8D34B6ED}" type="presOf" srcId="{CA3E02FA-5F53-4241-8171-BE92CBEC4835}" destId="{24C20E20-3FB9-A64B-AC50-6A43E54B84FD}" srcOrd="0" destOrd="1" presId="urn:microsoft.com/office/officeart/2005/8/layout/venn1"/>
    <dgm:cxn modelId="{806FC08B-518B-AA43-BBD8-0EDBB3D507E3}" type="presOf" srcId="{E1DF073C-C5D4-F64F-A930-AC5091A81E15}" destId="{9AA7EF0F-2B12-2347-882A-D3A39B320B34}" srcOrd="0" destOrd="0" presId="urn:microsoft.com/office/officeart/2005/8/layout/venn1"/>
    <dgm:cxn modelId="{CD2AEA29-3297-6F47-9B73-B6D90040D7AA}" type="presOf" srcId="{5E653D27-2C05-014C-8F77-7F45AFF56A47}" destId="{24C20E20-3FB9-A64B-AC50-6A43E54B84FD}" srcOrd="0" destOrd="0" presId="urn:microsoft.com/office/officeart/2005/8/layout/venn1"/>
    <dgm:cxn modelId="{A380D8BD-5B1B-8049-AE92-D4B787A5AD3A}" srcId="{8B0F364E-1DE8-6746-81D1-41C4FC27B072}" destId="{B8353ACB-F042-F747-9DE4-2380A8BEED05}" srcOrd="0" destOrd="0" parTransId="{215D32DF-ED14-F64A-BE85-D44FE159BC22}" sibTransId="{D7BB8FC7-E2FE-CF40-934E-474EEEEEBB22}"/>
    <dgm:cxn modelId="{90D249C5-582A-6545-8438-94106E2BBFF4}" srcId="{E1DF073C-C5D4-F64F-A930-AC5091A81E15}" destId="{D0890A53-C12E-7C4B-BBF4-D318819088D8}" srcOrd="2" destOrd="0" parTransId="{7DCFC532-232A-5D41-8BE8-4A9AF2B20921}" sibTransId="{5B99937B-8A27-6443-9B8E-E249C2D634A2}"/>
    <dgm:cxn modelId="{D16F556A-68C7-8E45-BFF2-6CFF0B1DC1FA}" type="presOf" srcId="{130BB43A-0BE7-7F42-9868-389AB4D62297}" destId="{6820F2FB-22E7-314B-9F2A-00C14340D2BA}" srcOrd="0" destOrd="0" presId="urn:microsoft.com/office/officeart/2005/8/layout/venn1"/>
    <dgm:cxn modelId="{DDDCA48C-536E-0A4F-AAC4-33A4BA427EA1}" type="presOf" srcId="{8B0F364E-1DE8-6746-81D1-41C4FC27B072}" destId="{1AD636D3-10BD-E94E-A7E8-84A33DD9177A}" srcOrd="0" destOrd="0" presId="urn:microsoft.com/office/officeart/2005/8/layout/venn1"/>
    <dgm:cxn modelId="{735866A5-39F4-EB47-8875-DAC57BDBCC29}" type="presParOf" srcId="{6820F2FB-22E7-314B-9F2A-00C14340D2BA}" destId="{17184542-B6FC-0941-A085-C1719FD394DD}" srcOrd="0" destOrd="0" presId="urn:microsoft.com/office/officeart/2005/8/layout/venn1"/>
    <dgm:cxn modelId="{69589527-2351-9946-A31A-E72A28F67B68}" type="presParOf" srcId="{6820F2FB-22E7-314B-9F2A-00C14340D2BA}" destId="{9AA7EF0F-2B12-2347-882A-D3A39B320B34}" srcOrd="1" destOrd="0" presId="urn:microsoft.com/office/officeart/2005/8/layout/venn1"/>
    <dgm:cxn modelId="{4F6A575D-0856-8A42-8DAE-7171EDF00D07}" type="presParOf" srcId="{6820F2FB-22E7-314B-9F2A-00C14340D2BA}" destId="{38DACD41-8ED2-6A41-B99B-CE36DF007D30}" srcOrd="2" destOrd="0" presId="urn:microsoft.com/office/officeart/2005/8/layout/venn1"/>
    <dgm:cxn modelId="{58C845B5-AB69-BC4E-A34B-85D1A4899108}" type="presParOf" srcId="{6820F2FB-22E7-314B-9F2A-00C14340D2BA}" destId="{1AD636D3-10BD-E94E-A7E8-84A33DD9177A}" srcOrd="3" destOrd="0" presId="urn:microsoft.com/office/officeart/2005/8/layout/venn1"/>
    <dgm:cxn modelId="{35129FD5-D973-8948-877F-B2F1ADB1F1D0}" type="presParOf" srcId="{6820F2FB-22E7-314B-9F2A-00C14340D2BA}" destId="{FEBA1883-BC67-4C4B-8A37-4C515D22848A}" srcOrd="4" destOrd="0" presId="urn:microsoft.com/office/officeart/2005/8/layout/venn1"/>
    <dgm:cxn modelId="{0AD214D2-203B-104D-94C3-644B54456E27}" type="presParOf" srcId="{6820F2FB-22E7-314B-9F2A-00C14340D2BA}" destId="{24C20E20-3FB9-A64B-AC50-6A43E54B84FD}" srcOrd="5" destOrd="0" presId="urn:microsoft.com/office/officeart/2005/8/layout/venn1"/>
    <dgm:cxn modelId="{F5635007-4D33-1B4A-90B1-6B8D29D6A13D}" type="presParOf" srcId="{6820F2FB-22E7-314B-9F2A-00C14340D2BA}" destId="{178CF4E2-741A-E842-BE8C-25A55749973B}" srcOrd="6" destOrd="0" presId="urn:microsoft.com/office/officeart/2005/8/layout/venn1"/>
    <dgm:cxn modelId="{0B79D8E2-D5DF-754B-BBF1-792078927EDA}" type="presParOf" srcId="{6820F2FB-22E7-314B-9F2A-00C14340D2BA}" destId="{B0A836E1-B0CC-234C-9BB4-A6D0E050AF2C}" srcOrd="7" destOrd="0" presId="urn:microsoft.com/office/officeart/2005/8/layout/venn1"/>
    <dgm:cxn modelId="{79140074-A3C6-0C4B-9FB0-62CA4A399C8B}" type="presParOf" srcId="{6820F2FB-22E7-314B-9F2A-00C14340D2BA}" destId="{C4FC9527-BF26-BE42-851A-08E582AEFD93}" srcOrd="8" destOrd="0" presId="urn:microsoft.com/office/officeart/2005/8/layout/venn1"/>
    <dgm:cxn modelId="{C9E3973E-BD5A-2245-91AF-C6CD5539E360}" type="presParOf" srcId="{6820F2FB-22E7-314B-9F2A-00C14340D2BA}" destId="{BDA09D31-9DF2-854D-8BA1-ACD362668A00}" srcOrd="9"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98E22B-8C5C-BF47-B93D-173F40508125}" type="doc">
      <dgm:prSet loTypeId="urn:microsoft.com/office/officeart/2005/8/layout/default#5" loCatId="list" qsTypeId="urn:microsoft.com/office/officeart/2005/8/quickstyle/simple4" qsCatId="simple" csTypeId="urn:microsoft.com/office/officeart/2005/8/colors/accent1_2" csCatId="accent1" phldr="1"/>
      <dgm:spPr/>
      <dgm:t>
        <a:bodyPr/>
        <a:lstStyle/>
        <a:p>
          <a:endParaRPr lang="en-US"/>
        </a:p>
      </dgm:t>
    </dgm:pt>
    <dgm:pt modelId="{3FD21996-934F-234F-8B24-ACDE4E9CCE38}">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Load and store instructions</a:t>
          </a:r>
          <a:endParaRPr lang="en-US" dirty="0">
            <a:effectLst>
              <a:outerShdw blurRad="38100" dist="38100" dir="2700000" algn="tl">
                <a:srgbClr val="000000">
                  <a:alpha val="43137"/>
                </a:srgbClr>
              </a:outerShdw>
            </a:effectLst>
          </a:endParaRPr>
        </a:p>
      </dgm:t>
    </dgm:pt>
    <dgm:pt modelId="{3DFF8AED-4928-A941-B7E2-8A43830292CC}" type="parTrans" cxnId="{B005338F-8ACA-344E-96A9-BAD0B54BBFFD}">
      <dgm:prSet/>
      <dgm:spPr/>
      <dgm:t>
        <a:bodyPr/>
        <a:lstStyle/>
        <a:p>
          <a:endParaRPr lang="en-US"/>
        </a:p>
      </dgm:t>
    </dgm:pt>
    <dgm:pt modelId="{5FDEF50F-AAD7-FA49-BFBC-CCE022AE8E37}" type="sibTrans" cxnId="{B005338F-8ACA-344E-96A9-BAD0B54BBFFD}">
      <dgm:prSet/>
      <dgm:spPr/>
      <dgm:t>
        <a:bodyPr/>
        <a:lstStyle/>
        <a:p>
          <a:endParaRPr lang="en-US"/>
        </a:p>
      </dgm:t>
    </dgm:pt>
    <dgm:pt modelId="{AB07078A-39A5-3F48-A1B8-9DD87FD93B98}">
      <dgm:prSet/>
      <dgm:spPr/>
      <dgm:t>
        <a:bodyPr/>
        <a:lstStyle/>
        <a:p>
          <a:pPr rtl="0"/>
          <a:r>
            <a:rPr lang="en-US" dirty="0" smtClean="0">
              <a:effectLst>
                <a:outerShdw blurRad="38100" dist="38100" dir="2700000" algn="tl">
                  <a:srgbClr val="000000">
                    <a:alpha val="43137"/>
                  </a:srgbClr>
                </a:outerShdw>
              </a:effectLst>
            </a:rPr>
            <a:t>Branch instructions</a:t>
          </a:r>
          <a:endParaRPr lang="en-US" dirty="0">
            <a:effectLst>
              <a:outerShdw blurRad="38100" dist="38100" dir="2700000" algn="tl">
                <a:srgbClr val="000000">
                  <a:alpha val="43137"/>
                </a:srgbClr>
              </a:outerShdw>
            </a:effectLst>
          </a:endParaRPr>
        </a:p>
      </dgm:t>
    </dgm:pt>
    <dgm:pt modelId="{09C37F6B-9785-D742-AFC1-221F6F991B36}" type="parTrans" cxnId="{CED7979C-846F-C542-8D8F-CF7BBECFBD33}">
      <dgm:prSet/>
      <dgm:spPr/>
      <dgm:t>
        <a:bodyPr/>
        <a:lstStyle/>
        <a:p>
          <a:endParaRPr lang="en-US"/>
        </a:p>
      </dgm:t>
    </dgm:pt>
    <dgm:pt modelId="{007713A7-35C9-3743-A6B7-0ADB66EF325F}" type="sibTrans" cxnId="{CED7979C-846F-C542-8D8F-CF7BBECFBD33}">
      <dgm:prSet/>
      <dgm:spPr/>
      <dgm:t>
        <a:bodyPr/>
        <a:lstStyle/>
        <a:p>
          <a:endParaRPr lang="en-US"/>
        </a:p>
      </dgm:t>
    </dgm:pt>
    <dgm:pt modelId="{2DCE388D-BFA6-6042-8386-F405A5CC9839}">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Data-processing instructions</a:t>
          </a:r>
          <a:endParaRPr lang="en-US" dirty="0">
            <a:effectLst>
              <a:outerShdw blurRad="38100" dist="38100" dir="2700000" algn="tl">
                <a:srgbClr val="000000">
                  <a:alpha val="43137"/>
                </a:srgbClr>
              </a:outerShdw>
            </a:effectLst>
          </a:endParaRPr>
        </a:p>
      </dgm:t>
    </dgm:pt>
    <dgm:pt modelId="{91ECCCA9-2021-AF4A-AC15-A8333DCEE600}" type="parTrans" cxnId="{0B9D22B4-CB9C-0B46-AD99-B513FC6EA3BB}">
      <dgm:prSet/>
      <dgm:spPr/>
      <dgm:t>
        <a:bodyPr/>
        <a:lstStyle/>
        <a:p>
          <a:endParaRPr lang="en-US"/>
        </a:p>
      </dgm:t>
    </dgm:pt>
    <dgm:pt modelId="{9683EFFB-030C-4844-9FD9-0FF84ED1D77D}" type="sibTrans" cxnId="{0B9D22B4-CB9C-0B46-AD99-B513FC6EA3BB}">
      <dgm:prSet/>
      <dgm:spPr/>
      <dgm:t>
        <a:bodyPr/>
        <a:lstStyle/>
        <a:p>
          <a:endParaRPr lang="en-US"/>
        </a:p>
      </dgm:t>
    </dgm:pt>
    <dgm:pt modelId="{94D972F8-4D3B-DA48-8FC8-B814C6276E67}">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Multiply instructions</a:t>
          </a:r>
          <a:endParaRPr lang="en-US" dirty="0">
            <a:effectLst>
              <a:outerShdw blurRad="38100" dist="38100" dir="2700000" algn="tl">
                <a:srgbClr val="000000">
                  <a:alpha val="43137"/>
                </a:srgbClr>
              </a:outerShdw>
            </a:effectLst>
          </a:endParaRPr>
        </a:p>
      </dgm:t>
    </dgm:pt>
    <dgm:pt modelId="{F16AFD63-590A-4349-877F-7E2FEBDB0EEF}" type="parTrans" cxnId="{1F6DE0C6-A449-B241-9CA7-5C24EA658752}">
      <dgm:prSet/>
      <dgm:spPr/>
      <dgm:t>
        <a:bodyPr/>
        <a:lstStyle/>
        <a:p>
          <a:endParaRPr lang="en-US"/>
        </a:p>
      </dgm:t>
    </dgm:pt>
    <dgm:pt modelId="{95D1F145-12C8-8846-B965-04CFC5384E78}" type="sibTrans" cxnId="{1F6DE0C6-A449-B241-9CA7-5C24EA658752}">
      <dgm:prSet/>
      <dgm:spPr/>
      <dgm:t>
        <a:bodyPr/>
        <a:lstStyle/>
        <a:p>
          <a:endParaRPr lang="en-US"/>
        </a:p>
      </dgm:t>
    </dgm:pt>
    <dgm:pt modelId="{FC419E36-ECE0-FF40-9411-4225A022DD2D}">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Parallel addition and subtraction instructions</a:t>
          </a:r>
          <a:endParaRPr lang="en-US" dirty="0">
            <a:effectLst>
              <a:outerShdw blurRad="38100" dist="38100" dir="2700000" algn="tl">
                <a:srgbClr val="000000">
                  <a:alpha val="43137"/>
                </a:srgbClr>
              </a:outerShdw>
            </a:effectLst>
          </a:endParaRPr>
        </a:p>
      </dgm:t>
    </dgm:pt>
    <dgm:pt modelId="{574B965A-97A1-F548-B4DF-88F50327AC49}" type="parTrans" cxnId="{CC1F648D-20F5-FE47-90F3-8F2553CAE25D}">
      <dgm:prSet/>
      <dgm:spPr/>
      <dgm:t>
        <a:bodyPr/>
        <a:lstStyle/>
        <a:p>
          <a:endParaRPr lang="en-US"/>
        </a:p>
      </dgm:t>
    </dgm:pt>
    <dgm:pt modelId="{6A5C9754-6390-8246-969C-0A00D307F588}" type="sibTrans" cxnId="{CC1F648D-20F5-FE47-90F3-8F2553CAE25D}">
      <dgm:prSet/>
      <dgm:spPr/>
      <dgm:t>
        <a:bodyPr/>
        <a:lstStyle/>
        <a:p>
          <a:endParaRPr lang="en-US"/>
        </a:p>
      </dgm:t>
    </dgm:pt>
    <dgm:pt modelId="{651666D3-C36E-DB47-A30F-607172D5B28D}">
      <dgm:prSet/>
      <dgm:spPr>
        <a:ln>
          <a:solidFill>
            <a:schemeClr val="accent2"/>
          </a:solidFill>
        </a:ln>
      </dgm:spPr>
      <dgm:t>
        <a:bodyPr/>
        <a:lstStyle/>
        <a:p>
          <a:pPr rtl="0"/>
          <a:r>
            <a:rPr lang="en-US" dirty="0" smtClean="0">
              <a:effectLst>
                <a:outerShdw blurRad="38100" dist="38100" dir="2700000" algn="tl">
                  <a:srgbClr val="000000">
                    <a:alpha val="43137"/>
                  </a:srgbClr>
                </a:outerShdw>
              </a:effectLst>
            </a:rPr>
            <a:t>Extend instructions</a:t>
          </a:r>
          <a:endParaRPr lang="en-US" dirty="0">
            <a:effectLst>
              <a:outerShdw blurRad="38100" dist="38100" dir="2700000" algn="tl">
                <a:srgbClr val="000000">
                  <a:alpha val="43137"/>
                </a:srgbClr>
              </a:outerShdw>
            </a:effectLst>
          </a:endParaRPr>
        </a:p>
      </dgm:t>
    </dgm:pt>
    <dgm:pt modelId="{95728C32-8581-B347-81A0-FC204AD0B33F}" type="parTrans" cxnId="{EAE6400E-9684-484A-8D0F-BFFF54C2C44C}">
      <dgm:prSet/>
      <dgm:spPr/>
      <dgm:t>
        <a:bodyPr/>
        <a:lstStyle/>
        <a:p>
          <a:endParaRPr lang="en-US"/>
        </a:p>
      </dgm:t>
    </dgm:pt>
    <dgm:pt modelId="{ECC7C265-1662-1E4F-AE2A-AA4C1A6F6850}" type="sibTrans" cxnId="{EAE6400E-9684-484A-8D0F-BFFF54C2C44C}">
      <dgm:prSet/>
      <dgm:spPr/>
      <dgm:t>
        <a:bodyPr/>
        <a:lstStyle/>
        <a:p>
          <a:endParaRPr lang="en-US"/>
        </a:p>
      </dgm:t>
    </dgm:pt>
    <dgm:pt modelId="{06A987C7-5A68-2849-8195-22B69A3573F0}">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Status register access instructions</a:t>
          </a:r>
          <a:endParaRPr lang="en-US" dirty="0">
            <a:effectLst>
              <a:outerShdw blurRad="38100" dist="38100" dir="2700000" algn="tl">
                <a:srgbClr val="000000">
                  <a:alpha val="43137"/>
                </a:srgbClr>
              </a:outerShdw>
            </a:effectLst>
          </a:endParaRPr>
        </a:p>
      </dgm:t>
    </dgm:pt>
    <dgm:pt modelId="{B082CDBB-5E39-1544-B54B-8BA4FEB3E347}" type="parTrans" cxnId="{D5824E22-C792-DF4A-A25C-61E91FA46CB2}">
      <dgm:prSet/>
      <dgm:spPr/>
      <dgm:t>
        <a:bodyPr/>
        <a:lstStyle/>
        <a:p>
          <a:endParaRPr lang="en-US"/>
        </a:p>
      </dgm:t>
    </dgm:pt>
    <dgm:pt modelId="{196DA19F-57D8-4F40-A91A-12CDF062E80D}" type="sibTrans" cxnId="{D5824E22-C792-DF4A-A25C-61E91FA46CB2}">
      <dgm:prSet/>
      <dgm:spPr/>
      <dgm:t>
        <a:bodyPr/>
        <a:lstStyle/>
        <a:p>
          <a:endParaRPr lang="en-US"/>
        </a:p>
      </dgm:t>
    </dgm:pt>
    <dgm:pt modelId="{960261B5-535B-4449-A44E-443B22AA9FD2}" type="pres">
      <dgm:prSet presAssocID="{6C98E22B-8C5C-BF47-B93D-173F40508125}" presName="diagram" presStyleCnt="0">
        <dgm:presLayoutVars>
          <dgm:dir/>
          <dgm:resizeHandles val="exact"/>
        </dgm:presLayoutVars>
      </dgm:prSet>
      <dgm:spPr/>
      <dgm:t>
        <a:bodyPr/>
        <a:lstStyle/>
        <a:p>
          <a:endParaRPr lang="en-US"/>
        </a:p>
      </dgm:t>
    </dgm:pt>
    <dgm:pt modelId="{1A2D8596-A6FE-424F-BEA7-4FABD6880221}" type="pres">
      <dgm:prSet presAssocID="{3FD21996-934F-234F-8B24-ACDE4E9CCE38}" presName="node" presStyleLbl="node1" presStyleIdx="0" presStyleCnt="7">
        <dgm:presLayoutVars>
          <dgm:bulletEnabled val="1"/>
        </dgm:presLayoutVars>
      </dgm:prSet>
      <dgm:spPr/>
      <dgm:t>
        <a:bodyPr/>
        <a:lstStyle/>
        <a:p>
          <a:endParaRPr lang="en-US"/>
        </a:p>
      </dgm:t>
    </dgm:pt>
    <dgm:pt modelId="{60A4DABA-06C5-594C-B620-18F8008B5302}" type="pres">
      <dgm:prSet presAssocID="{5FDEF50F-AAD7-FA49-BFBC-CCE022AE8E37}" presName="sibTrans" presStyleCnt="0"/>
      <dgm:spPr/>
    </dgm:pt>
    <dgm:pt modelId="{CCA398C2-1718-184C-A4D9-50AF525977D0}" type="pres">
      <dgm:prSet presAssocID="{AB07078A-39A5-3F48-A1B8-9DD87FD93B98}" presName="node" presStyleLbl="node1" presStyleIdx="1" presStyleCnt="7">
        <dgm:presLayoutVars>
          <dgm:bulletEnabled val="1"/>
        </dgm:presLayoutVars>
      </dgm:prSet>
      <dgm:spPr/>
      <dgm:t>
        <a:bodyPr/>
        <a:lstStyle/>
        <a:p>
          <a:endParaRPr lang="en-US"/>
        </a:p>
      </dgm:t>
    </dgm:pt>
    <dgm:pt modelId="{085D5FB2-AE88-BC4C-9B71-AA077D6BED33}" type="pres">
      <dgm:prSet presAssocID="{007713A7-35C9-3743-A6B7-0ADB66EF325F}" presName="sibTrans" presStyleCnt="0"/>
      <dgm:spPr/>
    </dgm:pt>
    <dgm:pt modelId="{64A8D5CD-3A52-B548-B685-481505185C5C}" type="pres">
      <dgm:prSet presAssocID="{2DCE388D-BFA6-6042-8386-F405A5CC9839}" presName="node" presStyleLbl="node1" presStyleIdx="2" presStyleCnt="7">
        <dgm:presLayoutVars>
          <dgm:bulletEnabled val="1"/>
        </dgm:presLayoutVars>
      </dgm:prSet>
      <dgm:spPr/>
      <dgm:t>
        <a:bodyPr/>
        <a:lstStyle/>
        <a:p>
          <a:endParaRPr lang="en-US"/>
        </a:p>
      </dgm:t>
    </dgm:pt>
    <dgm:pt modelId="{C4067D94-D5BF-3345-AF5A-FEA97992B2B6}" type="pres">
      <dgm:prSet presAssocID="{9683EFFB-030C-4844-9FD9-0FF84ED1D77D}" presName="sibTrans" presStyleCnt="0"/>
      <dgm:spPr/>
    </dgm:pt>
    <dgm:pt modelId="{03F6787E-A3EA-ED45-9F3F-75B9DDD7AA05}" type="pres">
      <dgm:prSet presAssocID="{94D972F8-4D3B-DA48-8FC8-B814C6276E67}" presName="node" presStyleLbl="node1" presStyleIdx="3" presStyleCnt="7">
        <dgm:presLayoutVars>
          <dgm:bulletEnabled val="1"/>
        </dgm:presLayoutVars>
      </dgm:prSet>
      <dgm:spPr/>
      <dgm:t>
        <a:bodyPr/>
        <a:lstStyle/>
        <a:p>
          <a:endParaRPr lang="en-US"/>
        </a:p>
      </dgm:t>
    </dgm:pt>
    <dgm:pt modelId="{E45162AA-4EE1-3C49-87EB-AF3CE217B68F}" type="pres">
      <dgm:prSet presAssocID="{95D1F145-12C8-8846-B965-04CFC5384E78}" presName="sibTrans" presStyleCnt="0"/>
      <dgm:spPr/>
    </dgm:pt>
    <dgm:pt modelId="{4AB18F4A-D2FC-3144-A837-0636156DD7D2}" type="pres">
      <dgm:prSet presAssocID="{FC419E36-ECE0-FF40-9411-4225A022DD2D}" presName="node" presStyleLbl="node1" presStyleIdx="4" presStyleCnt="7">
        <dgm:presLayoutVars>
          <dgm:bulletEnabled val="1"/>
        </dgm:presLayoutVars>
      </dgm:prSet>
      <dgm:spPr/>
      <dgm:t>
        <a:bodyPr/>
        <a:lstStyle/>
        <a:p>
          <a:endParaRPr lang="en-US"/>
        </a:p>
      </dgm:t>
    </dgm:pt>
    <dgm:pt modelId="{67E5E579-6150-DB47-B634-A052BEBA881B}" type="pres">
      <dgm:prSet presAssocID="{6A5C9754-6390-8246-969C-0A00D307F588}" presName="sibTrans" presStyleCnt="0"/>
      <dgm:spPr/>
    </dgm:pt>
    <dgm:pt modelId="{D25A60C3-6ADF-7A4B-933D-007770C77D18}" type="pres">
      <dgm:prSet presAssocID="{651666D3-C36E-DB47-A30F-607172D5B28D}" presName="node" presStyleLbl="node1" presStyleIdx="5" presStyleCnt="7">
        <dgm:presLayoutVars>
          <dgm:bulletEnabled val="1"/>
        </dgm:presLayoutVars>
      </dgm:prSet>
      <dgm:spPr/>
      <dgm:t>
        <a:bodyPr/>
        <a:lstStyle/>
        <a:p>
          <a:endParaRPr lang="en-US"/>
        </a:p>
      </dgm:t>
    </dgm:pt>
    <dgm:pt modelId="{86C845F7-2EBE-3540-97AA-E78084F7CFA3}" type="pres">
      <dgm:prSet presAssocID="{ECC7C265-1662-1E4F-AE2A-AA4C1A6F6850}" presName="sibTrans" presStyleCnt="0"/>
      <dgm:spPr/>
    </dgm:pt>
    <dgm:pt modelId="{FE8FE05C-CAD8-8749-AE97-99459466D0E8}" type="pres">
      <dgm:prSet presAssocID="{06A987C7-5A68-2849-8195-22B69A3573F0}" presName="node" presStyleLbl="node1" presStyleIdx="6" presStyleCnt="7" custLinFactNeighborX="2454" custLinFactNeighborY="1647">
        <dgm:presLayoutVars>
          <dgm:bulletEnabled val="1"/>
        </dgm:presLayoutVars>
      </dgm:prSet>
      <dgm:spPr/>
      <dgm:t>
        <a:bodyPr/>
        <a:lstStyle/>
        <a:p>
          <a:endParaRPr lang="en-US"/>
        </a:p>
      </dgm:t>
    </dgm:pt>
  </dgm:ptLst>
  <dgm:cxnLst>
    <dgm:cxn modelId="{CCA124C9-B16A-0C45-9216-F0987207DACC}" type="presOf" srcId="{06A987C7-5A68-2849-8195-22B69A3573F0}" destId="{FE8FE05C-CAD8-8749-AE97-99459466D0E8}" srcOrd="0" destOrd="0" presId="urn:microsoft.com/office/officeart/2005/8/layout/default#5"/>
    <dgm:cxn modelId="{0B9D22B4-CB9C-0B46-AD99-B513FC6EA3BB}" srcId="{6C98E22B-8C5C-BF47-B93D-173F40508125}" destId="{2DCE388D-BFA6-6042-8386-F405A5CC9839}" srcOrd="2" destOrd="0" parTransId="{91ECCCA9-2021-AF4A-AC15-A8333DCEE600}" sibTransId="{9683EFFB-030C-4844-9FD9-0FF84ED1D77D}"/>
    <dgm:cxn modelId="{5F4E6B6F-6E76-1348-98C6-4A2EA786C5C1}" type="presOf" srcId="{94D972F8-4D3B-DA48-8FC8-B814C6276E67}" destId="{03F6787E-A3EA-ED45-9F3F-75B9DDD7AA05}" srcOrd="0" destOrd="0" presId="urn:microsoft.com/office/officeart/2005/8/layout/default#5"/>
    <dgm:cxn modelId="{EAE6400E-9684-484A-8D0F-BFFF54C2C44C}" srcId="{6C98E22B-8C5C-BF47-B93D-173F40508125}" destId="{651666D3-C36E-DB47-A30F-607172D5B28D}" srcOrd="5" destOrd="0" parTransId="{95728C32-8581-B347-81A0-FC204AD0B33F}" sibTransId="{ECC7C265-1662-1E4F-AE2A-AA4C1A6F6850}"/>
    <dgm:cxn modelId="{C64D9EE3-318A-B24C-BC40-ACCC6CD657A5}" type="presOf" srcId="{6C98E22B-8C5C-BF47-B93D-173F40508125}" destId="{960261B5-535B-4449-A44E-443B22AA9FD2}" srcOrd="0" destOrd="0" presId="urn:microsoft.com/office/officeart/2005/8/layout/default#5"/>
    <dgm:cxn modelId="{CED7979C-846F-C542-8D8F-CF7BBECFBD33}" srcId="{6C98E22B-8C5C-BF47-B93D-173F40508125}" destId="{AB07078A-39A5-3F48-A1B8-9DD87FD93B98}" srcOrd="1" destOrd="0" parTransId="{09C37F6B-9785-D742-AFC1-221F6F991B36}" sibTransId="{007713A7-35C9-3743-A6B7-0ADB66EF325F}"/>
    <dgm:cxn modelId="{3A323B5E-701B-444F-8AF0-906569945880}" type="presOf" srcId="{2DCE388D-BFA6-6042-8386-F405A5CC9839}" destId="{64A8D5CD-3A52-B548-B685-481505185C5C}" srcOrd="0" destOrd="0" presId="urn:microsoft.com/office/officeart/2005/8/layout/default#5"/>
    <dgm:cxn modelId="{1408EFE8-A88E-924A-B4EF-4193EA5802E0}" type="presOf" srcId="{AB07078A-39A5-3F48-A1B8-9DD87FD93B98}" destId="{CCA398C2-1718-184C-A4D9-50AF525977D0}" srcOrd="0" destOrd="0" presId="urn:microsoft.com/office/officeart/2005/8/layout/default#5"/>
    <dgm:cxn modelId="{94BC58F0-0D1B-0F49-BB1B-E6D8C59CA0CE}" type="presOf" srcId="{3FD21996-934F-234F-8B24-ACDE4E9CCE38}" destId="{1A2D8596-A6FE-424F-BEA7-4FABD6880221}" srcOrd="0" destOrd="0" presId="urn:microsoft.com/office/officeart/2005/8/layout/default#5"/>
    <dgm:cxn modelId="{CC1F648D-20F5-FE47-90F3-8F2553CAE25D}" srcId="{6C98E22B-8C5C-BF47-B93D-173F40508125}" destId="{FC419E36-ECE0-FF40-9411-4225A022DD2D}" srcOrd="4" destOrd="0" parTransId="{574B965A-97A1-F548-B4DF-88F50327AC49}" sibTransId="{6A5C9754-6390-8246-969C-0A00D307F588}"/>
    <dgm:cxn modelId="{1F6DE0C6-A449-B241-9CA7-5C24EA658752}" srcId="{6C98E22B-8C5C-BF47-B93D-173F40508125}" destId="{94D972F8-4D3B-DA48-8FC8-B814C6276E67}" srcOrd="3" destOrd="0" parTransId="{F16AFD63-590A-4349-877F-7E2FEBDB0EEF}" sibTransId="{95D1F145-12C8-8846-B965-04CFC5384E78}"/>
    <dgm:cxn modelId="{D5824E22-C792-DF4A-A25C-61E91FA46CB2}" srcId="{6C98E22B-8C5C-BF47-B93D-173F40508125}" destId="{06A987C7-5A68-2849-8195-22B69A3573F0}" srcOrd="6" destOrd="0" parTransId="{B082CDBB-5E39-1544-B54B-8BA4FEB3E347}" sibTransId="{196DA19F-57D8-4F40-A91A-12CDF062E80D}"/>
    <dgm:cxn modelId="{6A5206AC-0555-F745-9BF1-7A0189A12841}" type="presOf" srcId="{FC419E36-ECE0-FF40-9411-4225A022DD2D}" destId="{4AB18F4A-D2FC-3144-A837-0636156DD7D2}" srcOrd="0" destOrd="0" presId="urn:microsoft.com/office/officeart/2005/8/layout/default#5"/>
    <dgm:cxn modelId="{B005338F-8ACA-344E-96A9-BAD0B54BBFFD}" srcId="{6C98E22B-8C5C-BF47-B93D-173F40508125}" destId="{3FD21996-934F-234F-8B24-ACDE4E9CCE38}" srcOrd="0" destOrd="0" parTransId="{3DFF8AED-4928-A941-B7E2-8A43830292CC}" sibTransId="{5FDEF50F-AAD7-FA49-BFBC-CCE022AE8E37}"/>
    <dgm:cxn modelId="{448B1647-A5A4-F64E-8F45-55F9C106B890}" type="presOf" srcId="{651666D3-C36E-DB47-A30F-607172D5B28D}" destId="{D25A60C3-6ADF-7A4B-933D-007770C77D18}" srcOrd="0" destOrd="0" presId="urn:microsoft.com/office/officeart/2005/8/layout/default#5"/>
    <dgm:cxn modelId="{6D6CBB50-C121-D943-9395-9516EC2EAB54}" type="presParOf" srcId="{960261B5-535B-4449-A44E-443B22AA9FD2}" destId="{1A2D8596-A6FE-424F-BEA7-4FABD6880221}" srcOrd="0" destOrd="0" presId="urn:microsoft.com/office/officeart/2005/8/layout/default#5"/>
    <dgm:cxn modelId="{16A55330-3A85-944F-8705-C9AF7F5F7F84}" type="presParOf" srcId="{960261B5-535B-4449-A44E-443B22AA9FD2}" destId="{60A4DABA-06C5-594C-B620-18F8008B5302}" srcOrd="1" destOrd="0" presId="urn:microsoft.com/office/officeart/2005/8/layout/default#5"/>
    <dgm:cxn modelId="{55D50269-5DBB-E34B-B102-042FBAC3C399}" type="presParOf" srcId="{960261B5-535B-4449-A44E-443B22AA9FD2}" destId="{CCA398C2-1718-184C-A4D9-50AF525977D0}" srcOrd="2" destOrd="0" presId="urn:microsoft.com/office/officeart/2005/8/layout/default#5"/>
    <dgm:cxn modelId="{3C0425C2-2E14-3C43-8447-A8963A7D1B89}" type="presParOf" srcId="{960261B5-535B-4449-A44E-443B22AA9FD2}" destId="{085D5FB2-AE88-BC4C-9B71-AA077D6BED33}" srcOrd="3" destOrd="0" presId="urn:microsoft.com/office/officeart/2005/8/layout/default#5"/>
    <dgm:cxn modelId="{56283FE9-73B7-384A-9C6C-355E3E8E7CA7}" type="presParOf" srcId="{960261B5-535B-4449-A44E-443B22AA9FD2}" destId="{64A8D5CD-3A52-B548-B685-481505185C5C}" srcOrd="4" destOrd="0" presId="urn:microsoft.com/office/officeart/2005/8/layout/default#5"/>
    <dgm:cxn modelId="{B1773D76-4DFE-3D48-94E7-4FD06BC1C20F}" type="presParOf" srcId="{960261B5-535B-4449-A44E-443B22AA9FD2}" destId="{C4067D94-D5BF-3345-AF5A-FEA97992B2B6}" srcOrd="5" destOrd="0" presId="urn:microsoft.com/office/officeart/2005/8/layout/default#5"/>
    <dgm:cxn modelId="{99C02E4B-D4A9-6041-81AB-D5B13AAC6D76}" type="presParOf" srcId="{960261B5-535B-4449-A44E-443B22AA9FD2}" destId="{03F6787E-A3EA-ED45-9F3F-75B9DDD7AA05}" srcOrd="6" destOrd="0" presId="urn:microsoft.com/office/officeart/2005/8/layout/default#5"/>
    <dgm:cxn modelId="{4DE06CA7-F751-3D42-87CE-78B8E26EEB01}" type="presParOf" srcId="{960261B5-535B-4449-A44E-443B22AA9FD2}" destId="{E45162AA-4EE1-3C49-87EB-AF3CE217B68F}" srcOrd="7" destOrd="0" presId="urn:microsoft.com/office/officeart/2005/8/layout/default#5"/>
    <dgm:cxn modelId="{20B487DD-923A-9143-A0C0-20DB4AF9994C}" type="presParOf" srcId="{960261B5-535B-4449-A44E-443B22AA9FD2}" destId="{4AB18F4A-D2FC-3144-A837-0636156DD7D2}" srcOrd="8" destOrd="0" presId="urn:microsoft.com/office/officeart/2005/8/layout/default#5"/>
    <dgm:cxn modelId="{B0E46830-00FB-CA44-9A09-DD33DBFD7BBD}" type="presParOf" srcId="{960261B5-535B-4449-A44E-443B22AA9FD2}" destId="{67E5E579-6150-DB47-B634-A052BEBA881B}" srcOrd="9" destOrd="0" presId="urn:microsoft.com/office/officeart/2005/8/layout/default#5"/>
    <dgm:cxn modelId="{479BC863-3AA8-E84B-B4D9-21ECCAFDE0E7}" type="presParOf" srcId="{960261B5-535B-4449-A44E-443B22AA9FD2}" destId="{D25A60C3-6ADF-7A4B-933D-007770C77D18}" srcOrd="10" destOrd="0" presId="urn:microsoft.com/office/officeart/2005/8/layout/default#5"/>
    <dgm:cxn modelId="{20D698CB-CA49-9144-8756-52007CC390EB}" type="presParOf" srcId="{960261B5-535B-4449-A44E-443B22AA9FD2}" destId="{86C845F7-2EBE-3540-97AA-E78084F7CFA3}" srcOrd="11" destOrd="0" presId="urn:microsoft.com/office/officeart/2005/8/layout/default#5"/>
    <dgm:cxn modelId="{D9AE7641-C4F8-A841-BCA3-8E11DB42093D}" type="presParOf" srcId="{960261B5-535B-4449-A44E-443B22AA9FD2}" destId="{FE8FE05C-CAD8-8749-AE97-99459466D0E8}" srcOrd="12" destOrd="0" presId="urn:microsoft.com/office/officeart/2005/8/layout/defaul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B4566-29C6-E24B-A374-2B3D2712EA8A}">
      <dsp:nvSpPr>
        <dsp:cNvPr id="0" name=""/>
        <dsp:cNvSpPr/>
      </dsp:nvSpPr>
      <dsp:spPr>
        <a:xfrm>
          <a:off x="1225550" y="0"/>
          <a:ext cx="5791200" cy="5791200"/>
        </a:xfrm>
        <a:prstGeom prst="diamond">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DCEE7AE8-9E5C-ED45-92E4-EE8750C104A9}">
      <dsp:nvSpPr>
        <dsp:cNvPr id="0" name=""/>
        <dsp:cNvSpPr/>
      </dsp:nvSpPr>
      <dsp:spPr>
        <a:xfrm>
          <a:off x="1775714" y="550164"/>
          <a:ext cx="2258568" cy="2258568"/>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dirty="0" smtClean="0">
              <a:effectLst>
                <a:outerShdw blurRad="38100" dist="38100" dir="2700000" algn="tl">
                  <a:srgbClr val="000000">
                    <a:alpha val="43137"/>
                  </a:srgbClr>
                </a:outerShdw>
              </a:effectLst>
            </a:rPr>
            <a:t>Operation code (opcode)</a:t>
          </a:r>
          <a:endParaRPr lang="en-US" sz="1700" kern="1200" dirty="0">
            <a:effectLst>
              <a:outerShdw blurRad="38100" dist="38100" dir="2700000" algn="tl">
                <a:srgbClr val="000000">
                  <a:alpha val="43137"/>
                </a:srgbClr>
              </a:outerShdw>
            </a:effectLst>
          </a:endParaRPr>
        </a:p>
        <a:p>
          <a:pPr marL="114300" lvl="1" indent="-114300" algn="l" defTabSz="577850" rtl="0">
            <a:lnSpc>
              <a:spcPct val="90000"/>
            </a:lnSpc>
            <a:spcBef>
              <a:spcPct val="0"/>
            </a:spcBef>
            <a:spcAft>
              <a:spcPct val="15000"/>
            </a:spcAft>
            <a:buChar char="••"/>
          </a:pPr>
          <a:r>
            <a:rPr lang="en-US" sz="1300" kern="1200" dirty="0" smtClean="0">
              <a:effectLst>
                <a:outerShdw blurRad="38100" dist="38100" dir="2700000" algn="tl">
                  <a:srgbClr val="000000">
                    <a:alpha val="43137"/>
                  </a:srgbClr>
                </a:outerShdw>
              </a:effectLst>
            </a:rPr>
            <a:t>Specifies the operation to be performed (ADD/IO).  The operation is specified by a binary code, known as the operation code, or </a:t>
          </a:r>
          <a:r>
            <a:rPr lang="en-US" sz="1300" i="1" kern="1200" dirty="0" smtClean="0">
              <a:effectLst>
                <a:outerShdw blurRad="38100" dist="38100" dir="2700000" algn="tl">
                  <a:srgbClr val="000000">
                    <a:alpha val="43137"/>
                  </a:srgbClr>
                </a:outerShdw>
              </a:effectLst>
            </a:rPr>
            <a:t>opcode</a:t>
          </a:r>
          <a:endParaRPr lang="en-US" sz="1300" i="1" kern="1200" dirty="0">
            <a:effectLst>
              <a:outerShdw blurRad="38100" dist="38100" dir="2700000" algn="tl">
                <a:srgbClr val="000000">
                  <a:alpha val="43137"/>
                </a:srgbClr>
              </a:outerShdw>
            </a:effectLst>
          </a:endParaRPr>
        </a:p>
      </dsp:txBody>
      <dsp:txXfrm>
        <a:off x="1885968" y="660418"/>
        <a:ext cx="2038060" cy="2038060"/>
      </dsp:txXfrm>
    </dsp:sp>
    <dsp:sp modelId="{06F2B317-5110-B94C-84A1-22E01F7471D3}">
      <dsp:nvSpPr>
        <dsp:cNvPr id="0" name=""/>
        <dsp:cNvSpPr/>
      </dsp:nvSpPr>
      <dsp:spPr>
        <a:xfrm>
          <a:off x="4208018" y="550164"/>
          <a:ext cx="2258568" cy="2258568"/>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dirty="0" smtClean="0">
              <a:effectLst>
                <a:outerShdw blurRad="38100" dist="38100" dir="2700000" algn="tl">
                  <a:srgbClr val="000000">
                    <a:alpha val="43137"/>
                  </a:srgbClr>
                </a:outerShdw>
              </a:effectLst>
            </a:rPr>
            <a:t>Source operand reference</a:t>
          </a:r>
          <a:endParaRPr lang="en-US" sz="1700" kern="1200" dirty="0">
            <a:effectLst>
              <a:outerShdw blurRad="38100" dist="38100" dir="2700000" algn="tl">
                <a:srgbClr val="000000">
                  <a:alpha val="43137"/>
                </a:srgbClr>
              </a:outerShdw>
            </a:effectLst>
          </a:endParaRPr>
        </a:p>
        <a:p>
          <a:pPr marL="114300" lvl="1" indent="-114300" algn="l" defTabSz="577850" rtl="0">
            <a:lnSpc>
              <a:spcPct val="90000"/>
            </a:lnSpc>
            <a:spcBef>
              <a:spcPct val="0"/>
            </a:spcBef>
            <a:spcAft>
              <a:spcPct val="15000"/>
            </a:spcAft>
            <a:buChar char="••"/>
          </a:pPr>
          <a:r>
            <a:rPr lang="en-US" sz="1300" kern="1200" dirty="0" smtClean="0">
              <a:effectLst>
                <a:outerShdw blurRad="38100" dist="38100" dir="2700000" algn="tl">
                  <a:srgbClr val="000000">
                    <a:alpha val="43137"/>
                  </a:srgbClr>
                </a:outerShdw>
              </a:effectLst>
            </a:rPr>
            <a:t>The operation may involve one or more source operands, that is, operands that are inputs for the operation</a:t>
          </a:r>
          <a:endParaRPr lang="en-US" sz="1300" kern="1200" dirty="0">
            <a:effectLst>
              <a:outerShdw blurRad="38100" dist="38100" dir="2700000" algn="tl">
                <a:srgbClr val="000000">
                  <a:alpha val="43137"/>
                </a:srgbClr>
              </a:outerShdw>
            </a:effectLst>
          </a:endParaRPr>
        </a:p>
      </dsp:txBody>
      <dsp:txXfrm>
        <a:off x="4318272" y="660418"/>
        <a:ext cx="2038060" cy="2038060"/>
      </dsp:txXfrm>
    </dsp:sp>
    <dsp:sp modelId="{5CED3117-5997-9241-ACAE-C2B634ACBCD2}">
      <dsp:nvSpPr>
        <dsp:cNvPr id="0" name=""/>
        <dsp:cNvSpPr/>
      </dsp:nvSpPr>
      <dsp:spPr>
        <a:xfrm>
          <a:off x="1775714" y="2982468"/>
          <a:ext cx="2258568" cy="2258568"/>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dirty="0" smtClean="0">
              <a:effectLst>
                <a:outerShdw blurRad="38100" dist="38100" dir="2700000" algn="tl">
                  <a:srgbClr val="000000">
                    <a:alpha val="43137"/>
                  </a:srgbClr>
                </a:outerShdw>
              </a:effectLst>
            </a:rPr>
            <a:t>Result operand reference</a:t>
          </a:r>
          <a:endParaRPr lang="en-US" sz="1700" kern="1200" dirty="0">
            <a:effectLst>
              <a:outerShdw blurRad="38100" dist="38100" dir="2700000" algn="tl">
                <a:srgbClr val="000000">
                  <a:alpha val="43137"/>
                </a:srgbClr>
              </a:outerShdw>
            </a:effectLst>
          </a:endParaRPr>
        </a:p>
        <a:p>
          <a:pPr marL="114300" lvl="1" indent="-114300" algn="l" defTabSz="577850" rtl="0">
            <a:lnSpc>
              <a:spcPct val="90000"/>
            </a:lnSpc>
            <a:spcBef>
              <a:spcPct val="0"/>
            </a:spcBef>
            <a:spcAft>
              <a:spcPct val="15000"/>
            </a:spcAft>
            <a:buChar char="••"/>
          </a:pPr>
          <a:r>
            <a:rPr lang="en-US" sz="1300" kern="1200" dirty="0" smtClean="0">
              <a:effectLst>
                <a:outerShdw blurRad="38100" dist="38100" dir="2700000" algn="tl">
                  <a:srgbClr val="000000">
                    <a:alpha val="43137"/>
                  </a:srgbClr>
                </a:outerShdw>
              </a:effectLst>
            </a:rPr>
            <a:t>The operation may produce a result</a:t>
          </a:r>
          <a:endParaRPr lang="en-US" sz="1300" kern="1200" dirty="0">
            <a:effectLst>
              <a:outerShdw blurRad="38100" dist="38100" dir="2700000" algn="tl">
                <a:srgbClr val="000000">
                  <a:alpha val="43137"/>
                </a:srgbClr>
              </a:outerShdw>
            </a:effectLst>
          </a:endParaRPr>
        </a:p>
      </dsp:txBody>
      <dsp:txXfrm>
        <a:off x="1885968" y="3092722"/>
        <a:ext cx="2038060" cy="2038060"/>
      </dsp:txXfrm>
    </dsp:sp>
    <dsp:sp modelId="{582D9E84-4A97-E646-B080-93B15AA28637}">
      <dsp:nvSpPr>
        <dsp:cNvPr id="0" name=""/>
        <dsp:cNvSpPr/>
      </dsp:nvSpPr>
      <dsp:spPr>
        <a:xfrm>
          <a:off x="4208018" y="2982468"/>
          <a:ext cx="2258568" cy="2258568"/>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lvl="0" algn="l" defTabSz="755650" rtl="0">
            <a:lnSpc>
              <a:spcPct val="90000"/>
            </a:lnSpc>
            <a:spcBef>
              <a:spcPct val="0"/>
            </a:spcBef>
            <a:spcAft>
              <a:spcPct val="35000"/>
            </a:spcAft>
          </a:pPr>
          <a:r>
            <a:rPr lang="en-US" sz="1700" kern="1200" dirty="0" smtClean="0"/>
            <a:t>Next instruction reference</a:t>
          </a:r>
          <a:endParaRPr lang="en-US" sz="1700" kern="1200" dirty="0"/>
        </a:p>
        <a:p>
          <a:pPr marL="114300" lvl="1" indent="-114300" algn="l" defTabSz="577850" rtl="0">
            <a:lnSpc>
              <a:spcPct val="90000"/>
            </a:lnSpc>
            <a:spcBef>
              <a:spcPct val="0"/>
            </a:spcBef>
            <a:spcAft>
              <a:spcPct val="15000"/>
            </a:spcAft>
            <a:buChar char="••"/>
          </a:pPr>
          <a:r>
            <a:rPr lang="en-US" sz="1300" kern="1200" dirty="0" smtClean="0"/>
            <a:t>This tells the processor where to fetch the next instruction after the execution of this instruction is complete</a:t>
          </a:r>
          <a:endParaRPr lang="en-US" sz="1300" kern="1200" dirty="0"/>
        </a:p>
      </dsp:txBody>
      <dsp:txXfrm>
        <a:off x="4318272" y="3092722"/>
        <a:ext cx="2038060" cy="2038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C15E2-0E91-4846-8ABC-A77940D4A179}">
      <dsp:nvSpPr>
        <dsp:cNvPr id="0" name=""/>
        <dsp:cNvSpPr/>
      </dsp:nvSpPr>
      <dsp:spPr>
        <a:xfrm>
          <a:off x="5562612" y="3730752"/>
          <a:ext cx="2710281" cy="17556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57150" lvl="1" indent="-57150" algn="l" defTabSz="400050" rtl="0">
            <a:lnSpc>
              <a:spcPct val="90000"/>
            </a:lnSpc>
            <a:spcBef>
              <a:spcPct val="0"/>
            </a:spcBef>
            <a:spcAft>
              <a:spcPct val="15000"/>
            </a:spcAft>
            <a:buChar char="••"/>
          </a:pPr>
          <a:r>
            <a:rPr lang="en-US" sz="900" kern="1200" dirty="0" smtClean="0"/>
            <a:t>I/O instructions are needed to transfer programs and data into memory and the results of computations back out to the user</a:t>
          </a:r>
          <a:endParaRPr lang="en-US" sz="900" kern="1200" dirty="0"/>
        </a:p>
      </dsp:txBody>
      <dsp:txXfrm>
        <a:off x="6414262" y="4208230"/>
        <a:ext cx="1820065" cy="1239604"/>
      </dsp:txXfrm>
    </dsp:sp>
    <dsp:sp modelId="{1271081F-DA7B-9646-B77E-4127E6C5A827}">
      <dsp:nvSpPr>
        <dsp:cNvPr id="0" name=""/>
        <dsp:cNvSpPr/>
      </dsp:nvSpPr>
      <dsp:spPr>
        <a:xfrm>
          <a:off x="228604" y="3733798"/>
          <a:ext cx="3670398" cy="17495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57150" lvl="1" indent="-57150" algn="l" defTabSz="400050" rtl="0">
            <a:lnSpc>
              <a:spcPct val="90000"/>
            </a:lnSpc>
            <a:spcBef>
              <a:spcPct val="0"/>
            </a:spcBef>
            <a:spcAft>
              <a:spcPct val="15000"/>
            </a:spcAft>
            <a:buChar char="••"/>
          </a:pPr>
          <a:r>
            <a:rPr lang="en-US" sz="900" kern="1200" dirty="0" smtClean="0"/>
            <a:t>Test instructions are used to test the value of a data word or the status of a computation</a:t>
          </a:r>
          <a:endParaRPr lang="en-US" sz="900" kern="1200" dirty="0"/>
        </a:p>
        <a:p>
          <a:pPr marL="57150" lvl="1" indent="-57150" algn="l" defTabSz="400050" rtl="0">
            <a:lnSpc>
              <a:spcPct val="90000"/>
            </a:lnSpc>
            <a:spcBef>
              <a:spcPct val="0"/>
            </a:spcBef>
            <a:spcAft>
              <a:spcPct val="15000"/>
            </a:spcAft>
            <a:buChar char="••"/>
          </a:pPr>
          <a:r>
            <a:rPr lang="en-US" sz="900" kern="1200" dirty="0" smtClean="0"/>
            <a:t>Branch instructions are used to branch to a different set of instructions depending on the decision made.</a:t>
          </a:r>
          <a:endParaRPr lang="en-US" sz="900" kern="1200" dirty="0"/>
        </a:p>
        <a:p>
          <a:pPr marL="57150" lvl="1" indent="-57150" algn="l" defTabSz="400050" rtl="0">
            <a:lnSpc>
              <a:spcPct val="90000"/>
            </a:lnSpc>
            <a:spcBef>
              <a:spcPct val="0"/>
            </a:spcBef>
            <a:spcAft>
              <a:spcPct val="15000"/>
            </a:spcAft>
            <a:buChar char="••"/>
          </a:pPr>
          <a:r>
            <a:rPr lang="en-US" sz="900" kern="1200" dirty="0" smtClean="0"/>
            <a:t>Test checks condition (Flag/Compare)</a:t>
          </a:r>
          <a:endParaRPr lang="en-US" sz="900" kern="1200" dirty="0"/>
        </a:p>
        <a:p>
          <a:pPr marL="57150" lvl="1" indent="-57150" algn="l" defTabSz="400050" rtl="0">
            <a:lnSpc>
              <a:spcPct val="90000"/>
            </a:lnSpc>
            <a:spcBef>
              <a:spcPct val="0"/>
            </a:spcBef>
            <a:spcAft>
              <a:spcPct val="15000"/>
            </a:spcAft>
            <a:buChar char="••"/>
          </a:pPr>
          <a:r>
            <a:rPr lang="en-US" sz="900" kern="1200" dirty="0" smtClean="0"/>
            <a:t>Branch jump based on results.</a:t>
          </a:r>
          <a:endParaRPr lang="en-US" sz="900" kern="1200" dirty="0"/>
        </a:p>
      </dsp:txBody>
      <dsp:txXfrm>
        <a:off x="267036" y="4209619"/>
        <a:ext cx="2492415" cy="1235302"/>
      </dsp:txXfrm>
    </dsp:sp>
    <dsp:sp modelId="{E013DB8C-C4D5-9245-9F44-E76F99512271}">
      <dsp:nvSpPr>
        <dsp:cNvPr id="0" name=""/>
        <dsp:cNvSpPr/>
      </dsp:nvSpPr>
      <dsp:spPr>
        <a:xfrm>
          <a:off x="5515507" y="0"/>
          <a:ext cx="2710281" cy="17556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57150" lvl="1" indent="-57150" algn="l" defTabSz="400050" rtl="0">
            <a:lnSpc>
              <a:spcPct val="90000"/>
            </a:lnSpc>
            <a:spcBef>
              <a:spcPct val="0"/>
            </a:spcBef>
            <a:spcAft>
              <a:spcPct val="15000"/>
            </a:spcAft>
            <a:buChar char="••"/>
          </a:pPr>
          <a:r>
            <a:rPr lang="en-US" sz="900" kern="1200" dirty="0" smtClean="0"/>
            <a:t>Movement of data into or out of register and or memory locations.</a:t>
          </a:r>
          <a:endParaRPr lang="en-US" sz="900" kern="1200" dirty="0"/>
        </a:p>
        <a:p>
          <a:pPr marL="57150" lvl="1" indent="-57150" algn="l" defTabSz="400050" rtl="0">
            <a:lnSpc>
              <a:spcPct val="90000"/>
            </a:lnSpc>
            <a:spcBef>
              <a:spcPct val="0"/>
            </a:spcBef>
            <a:spcAft>
              <a:spcPct val="15000"/>
            </a:spcAft>
            <a:buChar char="••"/>
          </a:pPr>
          <a:r>
            <a:rPr lang="en-US" sz="900" kern="1200" dirty="0" smtClean="0"/>
            <a:t>M -</a:t>
          </a:r>
          <a:r>
            <a:rPr lang="en-US" sz="900" kern="1200" dirty="0" smtClean="0">
              <a:sym typeface="Wingdings" panose="05000000000000000000" pitchFamily="2" charset="2"/>
            </a:rPr>
            <a:t>  R</a:t>
          </a:r>
          <a:endParaRPr lang="en-US" sz="900" kern="1200" dirty="0"/>
        </a:p>
      </dsp:txBody>
      <dsp:txXfrm>
        <a:off x="6367158" y="38566"/>
        <a:ext cx="1820065" cy="1239604"/>
      </dsp:txXfrm>
    </dsp:sp>
    <dsp:sp modelId="{D393D0F9-5D0B-304A-9364-031DA1DC3538}">
      <dsp:nvSpPr>
        <dsp:cNvPr id="0" name=""/>
        <dsp:cNvSpPr/>
      </dsp:nvSpPr>
      <dsp:spPr>
        <a:xfrm>
          <a:off x="232399" y="8"/>
          <a:ext cx="3350368" cy="17495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rtl="0">
            <a:lnSpc>
              <a:spcPct val="90000"/>
            </a:lnSpc>
            <a:spcBef>
              <a:spcPct val="0"/>
            </a:spcBef>
            <a:spcAft>
              <a:spcPct val="15000"/>
            </a:spcAft>
            <a:buChar char="••"/>
          </a:pPr>
          <a:r>
            <a:rPr lang="en-US" sz="1000" kern="1200" dirty="0" smtClean="0"/>
            <a:t>Arithmetic instructions provide computational capabilities for processing numeric data</a:t>
          </a:r>
          <a:endParaRPr lang="en-US" sz="1000" kern="1200" dirty="0"/>
        </a:p>
        <a:p>
          <a:pPr marL="57150" lvl="1" indent="-57150" algn="l" defTabSz="444500" rtl="0">
            <a:lnSpc>
              <a:spcPct val="90000"/>
            </a:lnSpc>
            <a:spcBef>
              <a:spcPct val="0"/>
            </a:spcBef>
            <a:spcAft>
              <a:spcPct val="15000"/>
            </a:spcAft>
            <a:buChar char="••"/>
          </a:pPr>
          <a:r>
            <a:rPr lang="en-US" sz="1000" kern="1200" dirty="0" smtClean="0"/>
            <a:t>Logic (Boolean) instructions operate on the bits of a word as bits rather than as numbers, thus they provide capabilities for processing any other type of data the user may wish to employ</a:t>
          </a:r>
          <a:endParaRPr lang="en-US" sz="1000" kern="1200" dirty="0"/>
        </a:p>
      </dsp:txBody>
      <dsp:txXfrm>
        <a:off x="270831" y="38440"/>
        <a:ext cx="2268394" cy="1235302"/>
      </dsp:txXfrm>
    </dsp:sp>
    <dsp:sp modelId="{64E7A613-FAC5-2A4B-84D5-823A0DA3329F}">
      <dsp:nvSpPr>
        <dsp:cNvPr id="0" name=""/>
        <dsp:cNvSpPr/>
      </dsp:nvSpPr>
      <dsp:spPr>
        <a:xfrm>
          <a:off x="1989124" y="312724"/>
          <a:ext cx="2375611" cy="2375611"/>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rtl="0">
            <a:lnSpc>
              <a:spcPct val="90000"/>
            </a:lnSpc>
            <a:spcBef>
              <a:spcPct val="0"/>
            </a:spcBef>
            <a:spcAft>
              <a:spcPct val="35000"/>
            </a:spcAft>
          </a:pPr>
          <a:r>
            <a:rPr lang="en-US" sz="2100" kern="1200" dirty="0" smtClean="0">
              <a:effectLst>
                <a:outerShdw blurRad="38100" dist="38100" dir="2700000" algn="tl">
                  <a:srgbClr val="000000">
                    <a:alpha val="43137"/>
                  </a:srgbClr>
                </a:outerShdw>
              </a:effectLst>
            </a:rPr>
            <a:t>Data processing</a:t>
          </a:r>
          <a:endParaRPr lang="en-US" sz="2100" kern="1200" dirty="0">
            <a:effectLst>
              <a:outerShdw blurRad="38100" dist="38100" dir="2700000" algn="tl">
                <a:srgbClr val="000000">
                  <a:alpha val="43137"/>
                </a:srgbClr>
              </a:outerShdw>
            </a:effectLst>
          </a:endParaRPr>
        </a:p>
      </dsp:txBody>
      <dsp:txXfrm>
        <a:off x="2684924" y="1008524"/>
        <a:ext cx="1679811" cy="1679811"/>
      </dsp:txXfrm>
    </dsp:sp>
    <dsp:sp modelId="{3B212426-56CB-2742-8EFE-A3AF6B61B920}">
      <dsp:nvSpPr>
        <dsp:cNvPr id="0" name=""/>
        <dsp:cNvSpPr/>
      </dsp:nvSpPr>
      <dsp:spPr>
        <a:xfrm rot="5400000">
          <a:off x="4474464" y="312724"/>
          <a:ext cx="2375611" cy="2375611"/>
        </a:xfrm>
        <a:prstGeom prst="pieWedge">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rtl="0">
            <a:lnSpc>
              <a:spcPct val="90000"/>
            </a:lnSpc>
            <a:spcBef>
              <a:spcPct val="0"/>
            </a:spcBef>
            <a:spcAft>
              <a:spcPct val="35000"/>
            </a:spcAft>
          </a:pPr>
          <a:r>
            <a:rPr lang="en-US" sz="2100" kern="1200" dirty="0" smtClean="0">
              <a:effectLst>
                <a:outerShdw blurRad="38100" dist="38100" dir="2700000" algn="tl">
                  <a:srgbClr val="000000">
                    <a:alpha val="43137"/>
                  </a:srgbClr>
                </a:outerShdw>
              </a:effectLst>
            </a:rPr>
            <a:t>Data storage</a:t>
          </a:r>
          <a:endParaRPr lang="en-US" sz="2100" kern="1200" dirty="0">
            <a:effectLst>
              <a:outerShdw blurRad="38100" dist="38100" dir="2700000" algn="tl">
                <a:srgbClr val="000000">
                  <a:alpha val="43137"/>
                </a:srgbClr>
              </a:outerShdw>
            </a:effectLst>
          </a:endParaRPr>
        </a:p>
      </dsp:txBody>
      <dsp:txXfrm rot="-5400000">
        <a:off x="4474464" y="1008524"/>
        <a:ext cx="1679811" cy="1679811"/>
      </dsp:txXfrm>
    </dsp:sp>
    <dsp:sp modelId="{0F90C031-7DF5-F44F-BC7E-06E0F85CB427}">
      <dsp:nvSpPr>
        <dsp:cNvPr id="0" name=""/>
        <dsp:cNvSpPr/>
      </dsp:nvSpPr>
      <dsp:spPr>
        <a:xfrm rot="10800000">
          <a:off x="4474464" y="2798064"/>
          <a:ext cx="2375611" cy="2375611"/>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rtl="0">
            <a:lnSpc>
              <a:spcPct val="90000"/>
            </a:lnSpc>
            <a:spcBef>
              <a:spcPct val="0"/>
            </a:spcBef>
            <a:spcAft>
              <a:spcPct val="35000"/>
            </a:spcAft>
          </a:pPr>
          <a:r>
            <a:rPr lang="en-US" sz="2100" kern="1200" dirty="0" smtClean="0">
              <a:effectLst>
                <a:outerShdw blurRad="38100" dist="38100" dir="2700000" algn="tl">
                  <a:srgbClr val="000000">
                    <a:alpha val="43137"/>
                  </a:srgbClr>
                </a:outerShdw>
              </a:effectLst>
            </a:rPr>
            <a:t>Data movement</a:t>
          </a:r>
          <a:endParaRPr lang="en-US" sz="2100" kern="1200" dirty="0">
            <a:effectLst>
              <a:outerShdw blurRad="38100" dist="38100" dir="2700000" algn="tl">
                <a:srgbClr val="000000">
                  <a:alpha val="43137"/>
                </a:srgbClr>
              </a:outerShdw>
            </a:effectLst>
          </a:endParaRPr>
        </a:p>
      </dsp:txBody>
      <dsp:txXfrm rot="10800000">
        <a:off x="4474464" y="2798064"/>
        <a:ext cx="1679811" cy="1679811"/>
      </dsp:txXfrm>
    </dsp:sp>
    <dsp:sp modelId="{D68EFB07-20BD-9848-85ED-45FB73135481}">
      <dsp:nvSpPr>
        <dsp:cNvPr id="0" name=""/>
        <dsp:cNvSpPr/>
      </dsp:nvSpPr>
      <dsp:spPr>
        <a:xfrm rot="16200000">
          <a:off x="1989124" y="2798064"/>
          <a:ext cx="2375611" cy="2375611"/>
        </a:xfrm>
        <a:prstGeom prst="pieWedge">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rtl="0">
            <a:lnSpc>
              <a:spcPct val="90000"/>
            </a:lnSpc>
            <a:spcBef>
              <a:spcPct val="0"/>
            </a:spcBef>
            <a:spcAft>
              <a:spcPct val="35000"/>
            </a:spcAft>
          </a:pPr>
          <a:r>
            <a:rPr lang="en-US" sz="2100" kern="1200" dirty="0" smtClean="0">
              <a:effectLst>
                <a:outerShdw blurRad="38100" dist="38100" dir="2700000" algn="tl">
                  <a:srgbClr val="000000">
                    <a:alpha val="43137"/>
                  </a:srgbClr>
                </a:outerShdw>
              </a:effectLst>
            </a:rPr>
            <a:t>Control</a:t>
          </a:r>
          <a:endParaRPr lang="en-US" sz="2100" kern="1200" dirty="0">
            <a:effectLst>
              <a:outerShdw blurRad="38100" dist="38100" dir="2700000" algn="tl">
                <a:srgbClr val="000000">
                  <a:alpha val="43137"/>
                </a:srgbClr>
              </a:outerShdw>
            </a:effectLst>
          </a:endParaRPr>
        </a:p>
      </dsp:txBody>
      <dsp:txXfrm rot="5400000">
        <a:off x="2684924" y="2798064"/>
        <a:ext cx="1679811" cy="1679811"/>
      </dsp:txXfrm>
    </dsp:sp>
    <dsp:sp modelId="{A04C8535-5121-1D48-89BE-ED9EAD28EFF1}">
      <dsp:nvSpPr>
        <dsp:cNvPr id="0" name=""/>
        <dsp:cNvSpPr/>
      </dsp:nvSpPr>
      <dsp:spPr>
        <a:xfrm>
          <a:off x="4009491" y="2249424"/>
          <a:ext cx="820216" cy="713232"/>
        </a:xfrm>
        <a:prstGeom prst="circularArrow">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 modelId="{FA519686-EE3E-034C-95BB-4F2415CF38CD}">
      <dsp:nvSpPr>
        <dsp:cNvPr id="0" name=""/>
        <dsp:cNvSpPr/>
      </dsp:nvSpPr>
      <dsp:spPr>
        <a:xfrm rot="10800000">
          <a:off x="4009491" y="2523744"/>
          <a:ext cx="820216" cy="713232"/>
        </a:xfrm>
        <a:prstGeom prst="circularArrow">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E567A-FFCB-E447-B0EB-DF566B287828}">
      <dsp:nvSpPr>
        <dsp:cNvPr id="0" name=""/>
        <dsp:cNvSpPr/>
      </dsp:nvSpPr>
      <dsp:spPr>
        <a:xfrm>
          <a:off x="0" y="3455364"/>
          <a:ext cx="8534400" cy="203037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Fundamental design issues:</a:t>
          </a:r>
          <a:endParaRPr lang="en-US" sz="1800" kern="1200" dirty="0">
            <a:effectLst>
              <a:outerShdw blurRad="38100" dist="38100" dir="2700000" algn="tl">
                <a:srgbClr val="000000">
                  <a:alpha val="43137"/>
                </a:srgbClr>
              </a:outerShdw>
            </a:effectLst>
          </a:endParaRPr>
        </a:p>
      </dsp:txBody>
      <dsp:txXfrm>
        <a:off x="0" y="3455364"/>
        <a:ext cx="8534400" cy="1096401"/>
      </dsp:txXfrm>
    </dsp:sp>
    <dsp:sp modelId="{FDFC3F15-9000-D642-934F-FD22C852295A}">
      <dsp:nvSpPr>
        <dsp:cNvPr id="0" name=""/>
        <dsp:cNvSpPr/>
      </dsp:nvSpPr>
      <dsp:spPr>
        <a:xfrm>
          <a:off x="1041" y="4511591"/>
          <a:ext cx="1706463" cy="94393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lvl="0" algn="l" defTabSz="533400" rtl="0">
            <a:lnSpc>
              <a:spcPct val="90000"/>
            </a:lnSpc>
            <a:spcBef>
              <a:spcPct val="0"/>
            </a:spcBef>
            <a:spcAft>
              <a:spcPct val="35000"/>
            </a:spcAft>
          </a:pPr>
          <a:r>
            <a:rPr lang="en-US" sz="1200" kern="1200" dirty="0" smtClean="0"/>
            <a:t>Operation repertoire</a:t>
          </a:r>
          <a:endParaRPr lang="en-US" sz="1200" kern="1200" dirty="0"/>
        </a:p>
        <a:p>
          <a:pPr marL="57150" lvl="1" indent="-57150" algn="l" defTabSz="400050" rtl="0">
            <a:lnSpc>
              <a:spcPct val="90000"/>
            </a:lnSpc>
            <a:spcBef>
              <a:spcPct val="0"/>
            </a:spcBef>
            <a:spcAft>
              <a:spcPct val="15000"/>
            </a:spcAft>
            <a:buChar char="••"/>
          </a:pPr>
          <a:r>
            <a:rPr lang="en-US" sz="900" kern="1200" dirty="0" smtClean="0"/>
            <a:t>How many and which operations to provide and how complex operations should be</a:t>
          </a:r>
          <a:endParaRPr lang="en-US" sz="900" kern="1200" dirty="0"/>
        </a:p>
      </dsp:txBody>
      <dsp:txXfrm>
        <a:off x="1041" y="4511591"/>
        <a:ext cx="1706463" cy="943939"/>
      </dsp:txXfrm>
    </dsp:sp>
    <dsp:sp modelId="{299A5A01-E6B1-3549-9A82-78303BEA5CF6}">
      <dsp:nvSpPr>
        <dsp:cNvPr id="0" name=""/>
        <dsp:cNvSpPr/>
      </dsp:nvSpPr>
      <dsp:spPr>
        <a:xfrm>
          <a:off x="1707505" y="4511591"/>
          <a:ext cx="1706463" cy="94393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lvl="0" algn="l" defTabSz="533400" rtl="0">
            <a:lnSpc>
              <a:spcPct val="90000"/>
            </a:lnSpc>
            <a:spcBef>
              <a:spcPct val="0"/>
            </a:spcBef>
            <a:spcAft>
              <a:spcPct val="35000"/>
            </a:spcAft>
          </a:pPr>
          <a:r>
            <a:rPr lang="en-US" sz="1200" kern="1200" dirty="0" smtClean="0"/>
            <a:t>Data types</a:t>
          </a:r>
          <a:endParaRPr lang="en-US" sz="1200" kern="1200" dirty="0"/>
        </a:p>
        <a:p>
          <a:pPr marL="57150" lvl="1" indent="-57150" algn="l" defTabSz="400050" rtl="0">
            <a:lnSpc>
              <a:spcPct val="90000"/>
            </a:lnSpc>
            <a:spcBef>
              <a:spcPct val="0"/>
            </a:spcBef>
            <a:spcAft>
              <a:spcPct val="15000"/>
            </a:spcAft>
            <a:buChar char="••"/>
          </a:pPr>
          <a:r>
            <a:rPr lang="en-US" sz="900" kern="1200" dirty="0" smtClean="0"/>
            <a:t>The various types of data upon which operations are performed</a:t>
          </a:r>
          <a:endParaRPr lang="en-US" sz="900" kern="1200" dirty="0"/>
        </a:p>
      </dsp:txBody>
      <dsp:txXfrm>
        <a:off x="1707505" y="4511591"/>
        <a:ext cx="1706463" cy="943939"/>
      </dsp:txXfrm>
    </dsp:sp>
    <dsp:sp modelId="{2B60D48B-0CBB-3640-8066-CD9CF8A8328E}">
      <dsp:nvSpPr>
        <dsp:cNvPr id="0" name=""/>
        <dsp:cNvSpPr/>
      </dsp:nvSpPr>
      <dsp:spPr>
        <a:xfrm>
          <a:off x="3413968" y="4511591"/>
          <a:ext cx="1706463" cy="94393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lvl="0" algn="l" defTabSz="533400" rtl="0">
            <a:lnSpc>
              <a:spcPct val="90000"/>
            </a:lnSpc>
            <a:spcBef>
              <a:spcPct val="0"/>
            </a:spcBef>
            <a:spcAft>
              <a:spcPct val="35000"/>
            </a:spcAft>
          </a:pPr>
          <a:r>
            <a:rPr lang="en-US" sz="1200" kern="1200" dirty="0" smtClean="0"/>
            <a:t>Instruction format</a:t>
          </a:r>
          <a:endParaRPr lang="en-US" sz="1200" kern="1200" dirty="0"/>
        </a:p>
        <a:p>
          <a:pPr marL="57150" lvl="1" indent="-57150" algn="l" defTabSz="400050" rtl="0">
            <a:lnSpc>
              <a:spcPct val="90000"/>
            </a:lnSpc>
            <a:spcBef>
              <a:spcPct val="0"/>
            </a:spcBef>
            <a:spcAft>
              <a:spcPct val="15000"/>
            </a:spcAft>
            <a:buChar char="••"/>
          </a:pPr>
          <a:r>
            <a:rPr lang="en-US" sz="900" kern="1200" dirty="0" smtClean="0"/>
            <a:t>Instruction length in bits, number of addresses, size of various fields, etc.</a:t>
          </a:r>
          <a:endParaRPr lang="en-US" sz="900" kern="1200" dirty="0"/>
        </a:p>
      </dsp:txBody>
      <dsp:txXfrm>
        <a:off x="3413968" y="4511591"/>
        <a:ext cx="1706463" cy="943939"/>
      </dsp:txXfrm>
    </dsp:sp>
    <dsp:sp modelId="{015B0615-A51D-BE4E-B6B0-DD65E7B83F35}">
      <dsp:nvSpPr>
        <dsp:cNvPr id="0" name=""/>
        <dsp:cNvSpPr/>
      </dsp:nvSpPr>
      <dsp:spPr>
        <a:xfrm>
          <a:off x="5120431" y="4511591"/>
          <a:ext cx="1706463" cy="94393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lvl="0" algn="l" defTabSz="533400" rtl="0">
            <a:lnSpc>
              <a:spcPct val="90000"/>
            </a:lnSpc>
            <a:spcBef>
              <a:spcPct val="0"/>
            </a:spcBef>
            <a:spcAft>
              <a:spcPct val="35000"/>
            </a:spcAft>
          </a:pPr>
          <a:r>
            <a:rPr lang="en-US" sz="1200" kern="1200" dirty="0" smtClean="0"/>
            <a:t>Registers</a:t>
          </a:r>
          <a:endParaRPr lang="en-US" sz="1200" kern="1200" dirty="0"/>
        </a:p>
        <a:p>
          <a:pPr marL="57150" lvl="1" indent="-57150" algn="l" defTabSz="400050" rtl="0">
            <a:lnSpc>
              <a:spcPct val="90000"/>
            </a:lnSpc>
            <a:spcBef>
              <a:spcPct val="0"/>
            </a:spcBef>
            <a:spcAft>
              <a:spcPct val="15000"/>
            </a:spcAft>
            <a:buChar char="••"/>
          </a:pPr>
          <a:r>
            <a:rPr lang="en-US" sz="900" kern="1200" dirty="0" smtClean="0"/>
            <a:t>Number of processor registers that can be referenced by instructions and their use</a:t>
          </a:r>
          <a:endParaRPr lang="en-US" sz="900" kern="1200" dirty="0"/>
        </a:p>
      </dsp:txBody>
      <dsp:txXfrm>
        <a:off x="5120431" y="4511591"/>
        <a:ext cx="1706463" cy="943939"/>
      </dsp:txXfrm>
    </dsp:sp>
    <dsp:sp modelId="{245DBD2D-001A-1647-A9D4-0EE759999A90}">
      <dsp:nvSpPr>
        <dsp:cNvPr id="0" name=""/>
        <dsp:cNvSpPr/>
      </dsp:nvSpPr>
      <dsp:spPr>
        <a:xfrm>
          <a:off x="6826894" y="4511591"/>
          <a:ext cx="1706463" cy="94393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lvl="0" algn="l" defTabSz="533400" rtl="0">
            <a:lnSpc>
              <a:spcPct val="90000"/>
            </a:lnSpc>
            <a:spcBef>
              <a:spcPct val="0"/>
            </a:spcBef>
            <a:spcAft>
              <a:spcPct val="35000"/>
            </a:spcAft>
          </a:pPr>
          <a:r>
            <a:rPr lang="en-US" sz="1200" kern="1200" dirty="0" smtClean="0"/>
            <a:t>Addressing</a:t>
          </a:r>
          <a:endParaRPr lang="en-US" sz="1200" kern="1200" dirty="0"/>
        </a:p>
        <a:p>
          <a:pPr marL="57150" lvl="1" indent="-57150" algn="l" defTabSz="400050" rtl="0">
            <a:lnSpc>
              <a:spcPct val="90000"/>
            </a:lnSpc>
            <a:spcBef>
              <a:spcPct val="0"/>
            </a:spcBef>
            <a:spcAft>
              <a:spcPct val="15000"/>
            </a:spcAft>
            <a:buChar char="••"/>
          </a:pPr>
          <a:r>
            <a:rPr lang="en-US" sz="900" kern="1200" dirty="0" smtClean="0"/>
            <a:t>The mode or modes by which the address of an operand is specified </a:t>
          </a:r>
          <a:endParaRPr lang="en-US" sz="900" kern="1200" dirty="0"/>
        </a:p>
      </dsp:txBody>
      <dsp:txXfrm>
        <a:off x="6826894" y="4511591"/>
        <a:ext cx="1706463" cy="943939"/>
      </dsp:txXfrm>
    </dsp:sp>
    <dsp:sp modelId="{E96926DD-E710-3B4C-8E85-4706A8EA77F7}">
      <dsp:nvSpPr>
        <dsp:cNvPr id="0" name=""/>
        <dsp:cNvSpPr/>
      </dsp:nvSpPr>
      <dsp:spPr>
        <a:xfrm rot="10800000">
          <a:off x="304806" y="2265735"/>
          <a:ext cx="7924787" cy="1220409"/>
        </a:xfrm>
        <a:prstGeom prst="upArrowCallou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solidFill>
                <a:schemeClr val="accent1">
                  <a:lumMod val="50000"/>
                </a:schemeClr>
              </a:solidFill>
              <a:effectLst/>
            </a:rPr>
            <a:t>Programmer’s means of controlling the processor</a:t>
          </a:r>
          <a:endParaRPr lang="en-US" sz="1800" kern="1200" dirty="0">
            <a:solidFill>
              <a:schemeClr val="accent1">
                <a:lumMod val="50000"/>
              </a:schemeClr>
            </a:solidFill>
            <a:effectLst/>
          </a:endParaRPr>
        </a:p>
      </dsp:txBody>
      <dsp:txXfrm rot="10800000">
        <a:off x="304806" y="2265735"/>
        <a:ext cx="7924787" cy="792985"/>
      </dsp:txXfrm>
    </dsp:sp>
    <dsp:sp modelId="{01AE4E59-7A07-2540-9D90-9EB69C1E6E80}">
      <dsp:nvSpPr>
        <dsp:cNvPr id="0" name=""/>
        <dsp:cNvSpPr/>
      </dsp:nvSpPr>
      <dsp:spPr>
        <a:xfrm rot="10800000">
          <a:off x="381018" y="1165233"/>
          <a:ext cx="7772363" cy="1131282"/>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Defines many of the functions performed by the processor</a:t>
          </a:r>
          <a:endParaRPr lang="en-US" sz="1800" kern="1200" dirty="0">
            <a:effectLst>
              <a:outerShdw blurRad="38100" dist="38100" dir="2700000" algn="tl">
                <a:srgbClr val="000000">
                  <a:alpha val="43137"/>
                </a:srgbClr>
              </a:outerShdw>
            </a:effectLst>
          </a:endParaRPr>
        </a:p>
      </dsp:txBody>
      <dsp:txXfrm rot="10800000">
        <a:off x="381018" y="1165233"/>
        <a:ext cx="7772363" cy="735073"/>
      </dsp:txXfrm>
    </dsp:sp>
    <dsp:sp modelId="{4CCC5995-C980-C545-822B-7C2E6DA5B193}">
      <dsp:nvSpPr>
        <dsp:cNvPr id="0" name=""/>
        <dsp:cNvSpPr/>
      </dsp:nvSpPr>
      <dsp:spPr>
        <a:xfrm rot="10800000">
          <a:off x="304806" y="663"/>
          <a:ext cx="7924787" cy="1195350"/>
        </a:xfrm>
        <a:prstGeom prst="upArrowCallou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solidFill>
                <a:schemeClr val="accent1">
                  <a:lumMod val="50000"/>
                </a:schemeClr>
              </a:solidFill>
              <a:effectLst/>
            </a:rPr>
            <a:t>Very complex because it affects so many aspects of the computer system</a:t>
          </a:r>
          <a:endParaRPr lang="en-US" sz="1800" kern="1200" dirty="0">
            <a:solidFill>
              <a:schemeClr val="accent1">
                <a:lumMod val="50000"/>
              </a:schemeClr>
            </a:solidFill>
            <a:effectLst/>
          </a:endParaRPr>
        </a:p>
      </dsp:txBody>
      <dsp:txXfrm rot="10800000">
        <a:off x="304806" y="663"/>
        <a:ext cx="7924787" cy="7767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EBC3F-3409-F640-A552-34E0EE96B84E}">
      <dsp:nvSpPr>
        <dsp:cNvPr id="0" name=""/>
        <dsp:cNvSpPr/>
      </dsp:nvSpPr>
      <dsp:spPr>
        <a:xfrm>
          <a:off x="1295400" y="0"/>
          <a:ext cx="4572000" cy="4572000"/>
        </a:xfrm>
        <a:prstGeom prst="triangl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7C8309DA-5AF4-ED4B-8005-9099F3579E74}">
      <dsp:nvSpPr>
        <dsp:cNvPr id="0" name=""/>
        <dsp:cNvSpPr/>
      </dsp:nvSpPr>
      <dsp:spPr>
        <a:xfrm rot="20654831">
          <a:off x="54498" y="388143"/>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t>Addresses</a:t>
          </a:r>
          <a:endParaRPr lang="en-US" sz="3400" kern="1200" dirty="0"/>
        </a:p>
      </dsp:txBody>
      <dsp:txXfrm>
        <a:off x="94166" y="427811"/>
        <a:ext cx="2892464" cy="733265"/>
      </dsp:txXfrm>
    </dsp:sp>
    <dsp:sp modelId="{60D366F8-501D-8042-914B-93C4C14B955F}">
      <dsp:nvSpPr>
        <dsp:cNvPr id="0" name=""/>
        <dsp:cNvSpPr/>
      </dsp:nvSpPr>
      <dsp:spPr>
        <a:xfrm rot="946966">
          <a:off x="4495793" y="99059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t>Numbers</a:t>
          </a:r>
          <a:endParaRPr lang="en-US" sz="3400" kern="1200" dirty="0"/>
        </a:p>
      </dsp:txBody>
      <dsp:txXfrm>
        <a:off x="4535461" y="1030267"/>
        <a:ext cx="2892464" cy="733265"/>
      </dsp:txXfrm>
    </dsp:sp>
    <dsp:sp modelId="{7EB31862-2E15-EC40-92A8-38C0729D347E}">
      <dsp:nvSpPr>
        <dsp:cNvPr id="0" name=""/>
        <dsp:cNvSpPr/>
      </dsp:nvSpPr>
      <dsp:spPr>
        <a:xfrm rot="846432">
          <a:off x="130426" y="248351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t>Characters</a:t>
          </a:r>
          <a:endParaRPr lang="en-US" sz="3400" kern="1200" dirty="0"/>
        </a:p>
      </dsp:txBody>
      <dsp:txXfrm>
        <a:off x="170094" y="2523187"/>
        <a:ext cx="2892464" cy="733265"/>
      </dsp:txXfrm>
    </dsp:sp>
    <dsp:sp modelId="{98354637-29DA-C24D-92DF-1340B4B82D84}">
      <dsp:nvSpPr>
        <dsp:cNvPr id="0" name=""/>
        <dsp:cNvSpPr/>
      </dsp:nvSpPr>
      <dsp:spPr>
        <a:xfrm rot="20892888">
          <a:off x="4395049" y="303811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kern="1200" dirty="0" smtClean="0"/>
            <a:t>Logical Data</a:t>
          </a:r>
          <a:endParaRPr lang="en-US" sz="3400" kern="1200" dirty="0"/>
        </a:p>
      </dsp:txBody>
      <dsp:txXfrm>
        <a:off x="4434717" y="3077787"/>
        <a:ext cx="2892464" cy="7332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184542-B6FC-0941-A085-C1719FD394DD}">
      <dsp:nvSpPr>
        <dsp:cNvPr id="0" name=""/>
        <dsp:cNvSpPr/>
      </dsp:nvSpPr>
      <dsp:spPr>
        <a:xfrm>
          <a:off x="3585210" y="1607057"/>
          <a:ext cx="1973579" cy="1973580"/>
        </a:xfrm>
        <a:prstGeom prst="ellipse">
          <a:avLst/>
        </a:prstGeom>
        <a:solidFill>
          <a:schemeClr val="accent4"/>
        </a:solidFill>
        <a:ln>
          <a:noFill/>
        </a:ln>
        <a:effectLst/>
      </dsp:spPr>
      <dsp:style>
        <a:lnRef idx="0">
          <a:scrgbClr r="0" g="0" b="0"/>
        </a:lnRef>
        <a:fillRef idx="3">
          <a:scrgbClr r="0" g="0" b="0"/>
        </a:fillRef>
        <a:effectRef idx="0">
          <a:scrgbClr r="0" g="0" b="0"/>
        </a:effectRef>
        <a:fontRef idx="minor">
          <a:schemeClr val="tx1"/>
        </a:fontRef>
      </dsp:style>
    </dsp:sp>
    <dsp:sp modelId="{9AA7EF0F-2B12-2347-882A-D3A39B320B34}">
      <dsp:nvSpPr>
        <dsp:cNvPr id="0" name=""/>
        <dsp:cNvSpPr/>
      </dsp:nvSpPr>
      <dsp:spPr>
        <a:xfrm>
          <a:off x="1951148" y="0"/>
          <a:ext cx="5241702" cy="13251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622300" rtl="0">
            <a:lnSpc>
              <a:spcPct val="90000"/>
            </a:lnSpc>
            <a:spcBef>
              <a:spcPct val="0"/>
            </a:spcBef>
            <a:spcAft>
              <a:spcPct val="35000"/>
            </a:spcAft>
          </a:pPr>
          <a:r>
            <a:rPr lang="en-US" sz="1400" kern="1200" dirty="0" smtClean="0"/>
            <a:t>ARM processors support data types of:</a:t>
          </a:r>
          <a:endParaRPr lang="en-US" sz="1400" kern="1200" dirty="0"/>
        </a:p>
        <a:p>
          <a:pPr marL="57150" lvl="1" indent="-57150" algn="l" defTabSz="488950" rtl="0">
            <a:lnSpc>
              <a:spcPct val="90000"/>
            </a:lnSpc>
            <a:spcBef>
              <a:spcPct val="0"/>
            </a:spcBef>
            <a:spcAft>
              <a:spcPct val="15000"/>
            </a:spcAft>
            <a:buChar char="••"/>
          </a:pPr>
          <a:r>
            <a:rPr lang="en-US" sz="1100" kern="1200" dirty="0" smtClean="0"/>
            <a:t>8 (byte) – can be stored at any location.</a:t>
          </a:r>
          <a:endParaRPr lang="en-US" sz="1100" kern="1200" dirty="0"/>
        </a:p>
        <a:p>
          <a:pPr marL="57150" lvl="1" indent="-57150" algn="l" defTabSz="488950" rtl="0">
            <a:lnSpc>
              <a:spcPct val="90000"/>
            </a:lnSpc>
            <a:spcBef>
              <a:spcPct val="0"/>
            </a:spcBef>
            <a:spcAft>
              <a:spcPct val="15000"/>
            </a:spcAft>
            <a:buChar char="••"/>
          </a:pPr>
          <a:r>
            <a:rPr lang="en-US" sz="1100" kern="1200" dirty="0" smtClean="0"/>
            <a:t>16 (halfword) – must be aligned, begin at even address {0,2,4,6..}</a:t>
          </a:r>
          <a:endParaRPr lang="en-US" sz="1100" kern="1200" dirty="0"/>
        </a:p>
        <a:p>
          <a:pPr marL="57150" lvl="1" indent="-57150" algn="l" defTabSz="488950" rtl="0">
            <a:lnSpc>
              <a:spcPct val="90000"/>
            </a:lnSpc>
            <a:spcBef>
              <a:spcPct val="0"/>
            </a:spcBef>
            <a:spcAft>
              <a:spcPct val="15000"/>
            </a:spcAft>
            <a:buChar char="••"/>
          </a:pPr>
          <a:r>
            <a:rPr lang="en-US" sz="1100" kern="1200" dirty="0" smtClean="0"/>
            <a:t>32 (word) bits in length – must be aligned, begin at multiple of 4 {0,4,5,..}</a:t>
          </a:r>
          <a:endParaRPr lang="en-US" sz="1100" kern="1200" dirty="0"/>
        </a:p>
        <a:p>
          <a:pPr marL="57150" lvl="1" indent="-57150" algn="l" defTabSz="488950" rtl="0">
            <a:lnSpc>
              <a:spcPct val="90000"/>
            </a:lnSpc>
            <a:spcBef>
              <a:spcPct val="0"/>
            </a:spcBef>
            <a:spcAft>
              <a:spcPct val="15000"/>
            </a:spcAft>
            <a:buChar char="••"/>
          </a:pPr>
          <a:r>
            <a:rPr lang="en-US" sz="1100" kern="1200" dirty="0" smtClean="0"/>
            <a:t>After loading the data from memory, the data must be extended into 32 bits </a:t>
          </a:r>
          <a:r>
            <a:rPr lang="en-US" sz="1100" kern="1200" dirty="0" err="1" smtClean="0"/>
            <a:t>bcz</a:t>
          </a:r>
          <a:r>
            <a:rPr lang="en-US" sz="1100" kern="1200" dirty="0" smtClean="0"/>
            <a:t> register size will be 32 bits.</a:t>
          </a:r>
          <a:endParaRPr lang="en-US" sz="1100" kern="1200" dirty="0"/>
        </a:p>
      </dsp:txBody>
      <dsp:txXfrm>
        <a:off x="1951148" y="0"/>
        <a:ext cx="5241702" cy="1325118"/>
      </dsp:txXfrm>
    </dsp:sp>
    <dsp:sp modelId="{38DACD41-8ED2-6A41-B99B-CE36DF007D30}">
      <dsp:nvSpPr>
        <dsp:cNvPr id="0" name=""/>
        <dsp:cNvSpPr/>
      </dsp:nvSpPr>
      <dsp:spPr>
        <a:xfrm>
          <a:off x="4335959" y="2152329"/>
          <a:ext cx="1973579" cy="1973580"/>
        </a:xfrm>
        <a:prstGeom prst="ellipse">
          <a:avLst/>
        </a:prstGeom>
        <a:solidFill>
          <a:schemeClr val="accent3"/>
        </a:solidFill>
        <a:ln>
          <a:noFill/>
        </a:ln>
        <a:effectLst/>
      </dsp:spPr>
      <dsp:style>
        <a:lnRef idx="0">
          <a:scrgbClr r="0" g="0" b="0"/>
        </a:lnRef>
        <a:fillRef idx="3">
          <a:scrgbClr r="0" g="0" b="0"/>
        </a:fillRef>
        <a:effectRef idx="0">
          <a:scrgbClr r="0" g="0" b="0"/>
        </a:effectRef>
        <a:fontRef idx="minor">
          <a:schemeClr val="tx1"/>
        </a:fontRef>
      </dsp:style>
    </dsp:sp>
    <dsp:sp modelId="{1AD636D3-10BD-E94E-A7E8-84A33DD9177A}">
      <dsp:nvSpPr>
        <dsp:cNvPr id="0" name=""/>
        <dsp:cNvSpPr/>
      </dsp:nvSpPr>
      <dsp:spPr>
        <a:xfrm>
          <a:off x="6466636" y="1748027"/>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622300" rtl="0">
            <a:lnSpc>
              <a:spcPct val="90000"/>
            </a:lnSpc>
            <a:spcBef>
              <a:spcPct val="0"/>
            </a:spcBef>
            <a:spcAft>
              <a:spcPct val="35000"/>
            </a:spcAft>
          </a:pPr>
          <a:r>
            <a:rPr lang="en-US" sz="1400" kern="1200" dirty="0" smtClean="0"/>
            <a:t>Alignment checking</a:t>
          </a:r>
          <a:endParaRPr lang="en-US" sz="1400" kern="1200" dirty="0"/>
        </a:p>
        <a:p>
          <a:pPr marL="57150" lvl="1" indent="-57150" algn="l" defTabSz="488950" rtl="0">
            <a:lnSpc>
              <a:spcPct val="90000"/>
            </a:lnSpc>
            <a:spcBef>
              <a:spcPct val="0"/>
            </a:spcBef>
            <a:spcAft>
              <a:spcPct val="15000"/>
            </a:spcAft>
            <a:buChar char="••"/>
          </a:pPr>
          <a:r>
            <a:rPr lang="en-US" sz="1100" kern="1200" dirty="0" smtClean="0"/>
            <a:t>When the appropriate control bit is set, a data abort signal indicates an alignment fault for attempting unaligned access</a:t>
          </a:r>
          <a:endParaRPr lang="en-US" sz="1100" kern="1200" dirty="0"/>
        </a:p>
      </dsp:txBody>
      <dsp:txXfrm>
        <a:off x="6466636" y="1748027"/>
        <a:ext cx="2052523" cy="1437894"/>
      </dsp:txXfrm>
    </dsp:sp>
    <dsp:sp modelId="{FEBA1883-BC67-4C4B-8A37-4C515D22848A}">
      <dsp:nvSpPr>
        <dsp:cNvPr id="0" name=""/>
        <dsp:cNvSpPr/>
      </dsp:nvSpPr>
      <dsp:spPr>
        <a:xfrm>
          <a:off x="4049396" y="3035366"/>
          <a:ext cx="1973579" cy="1973580"/>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4C20E20-3FB9-A64B-AC50-6A43E54B84FD}">
      <dsp:nvSpPr>
        <dsp:cNvPr id="0" name=""/>
        <dsp:cNvSpPr/>
      </dsp:nvSpPr>
      <dsp:spPr>
        <a:xfrm>
          <a:off x="6150863" y="4200906"/>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622300" rtl="0">
            <a:lnSpc>
              <a:spcPct val="90000"/>
            </a:lnSpc>
            <a:spcBef>
              <a:spcPct val="0"/>
            </a:spcBef>
            <a:spcAft>
              <a:spcPct val="35000"/>
            </a:spcAft>
          </a:pPr>
          <a:r>
            <a:rPr lang="en-US" sz="1400" kern="1200" dirty="0" smtClean="0"/>
            <a:t>Unaligned access</a:t>
          </a:r>
          <a:endParaRPr lang="en-US" sz="1400" kern="1200" dirty="0"/>
        </a:p>
        <a:p>
          <a:pPr marL="57150" lvl="1" indent="-57150" algn="l" defTabSz="488950" rtl="0">
            <a:lnSpc>
              <a:spcPct val="90000"/>
            </a:lnSpc>
            <a:spcBef>
              <a:spcPct val="0"/>
            </a:spcBef>
            <a:spcAft>
              <a:spcPct val="15000"/>
            </a:spcAft>
            <a:buChar char="••"/>
          </a:pPr>
          <a:r>
            <a:rPr lang="en-US" sz="1100" kern="1200" dirty="0" smtClean="0"/>
            <a:t>When this option is enabled, the processor uses one or more memory accesses to generate the required transfer of adjacent bytes transparently to the programmer</a:t>
          </a:r>
          <a:endParaRPr lang="en-US" sz="1100" kern="1200" dirty="0"/>
        </a:p>
      </dsp:txBody>
      <dsp:txXfrm>
        <a:off x="6150863" y="4200906"/>
        <a:ext cx="2052523" cy="1437894"/>
      </dsp:txXfrm>
    </dsp:sp>
    <dsp:sp modelId="{178CF4E2-741A-E842-BE8C-25A55749973B}">
      <dsp:nvSpPr>
        <dsp:cNvPr id="0" name=""/>
        <dsp:cNvSpPr/>
      </dsp:nvSpPr>
      <dsp:spPr>
        <a:xfrm>
          <a:off x="3121023" y="3035366"/>
          <a:ext cx="1973579" cy="1973580"/>
        </a:xfrm>
        <a:prstGeom prst="ellipse">
          <a:avLst/>
        </a:prstGeom>
        <a:solidFill>
          <a:schemeClr val="accent4"/>
        </a:solidFill>
        <a:ln>
          <a:noFill/>
        </a:ln>
        <a:effectLst/>
      </dsp:spPr>
      <dsp:style>
        <a:lnRef idx="0">
          <a:scrgbClr r="0" g="0" b="0"/>
        </a:lnRef>
        <a:fillRef idx="3">
          <a:scrgbClr r="0" g="0" b="0"/>
        </a:fillRef>
        <a:effectRef idx="0">
          <a:scrgbClr r="0" g="0" b="0"/>
        </a:effectRef>
        <a:fontRef idx="minor">
          <a:schemeClr val="tx1"/>
        </a:fontRef>
      </dsp:style>
    </dsp:sp>
    <dsp:sp modelId="{B0A836E1-B0CC-234C-9BB4-A6D0E050AF2C}">
      <dsp:nvSpPr>
        <dsp:cNvPr id="0" name=""/>
        <dsp:cNvSpPr/>
      </dsp:nvSpPr>
      <dsp:spPr>
        <a:xfrm>
          <a:off x="940612" y="4200906"/>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622300" rtl="0">
            <a:lnSpc>
              <a:spcPct val="90000"/>
            </a:lnSpc>
            <a:spcBef>
              <a:spcPct val="0"/>
            </a:spcBef>
            <a:spcAft>
              <a:spcPct val="35000"/>
            </a:spcAft>
          </a:pPr>
          <a:r>
            <a:rPr lang="en-US" sz="1400" kern="1200" dirty="0" smtClean="0"/>
            <a:t>For all three data types an unsigned interpretation is supported in which the value represents an unsigned, nonnegative integer</a:t>
          </a:r>
          <a:endParaRPr lang="en-US" sz="1400" kern="1200" dirty="0"/>
        </a:p>
      </dsp:txBody>
      <dsp:txXfrm>
        <a:off x="940612" y="4200906"/>
        <a:ext cx="2052523" cy="1437894"/>
      </dsp:txXfrm>
    </dsp:sp>
    <dsp:sp modelId="{C4FC9527-BF26-BE42-851A-08E582AEFD93}">
      <dsp:nvSpPr>
        <dsp:cNvPr id="0" name=""/>
        <dsp:cNvSpPr/>
      </dsp:nvSpPr>
      <dsp:spPr>
        <a:xfrm>
          <a:off x="2834460" y="2152329"/>
          <a:ext cx="1973579" cy="1973580"/>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DA09D31-9DF2-854D-8BA1-ACD362668A00}">
      <dsp:nvSpPr>
        <dsp:cNvPr id="0" name=""/>
        <dsp:cNvSpPr/>
      </dsp:nvSpPr>
      <dsp:spPr>
        <a:xfrm>
          <a:off x="624840" y="1748027"/>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622300" rtl="0">
            <a:lnSpc>
              <a:spcPct val="90000"/>
            </a:lnSpc>
            <a:spcBef>
              <a:spcPct val="0"/>
            </a:spcBef>
            <a:spcAft>
              <a:spcPct val="35000"/>
            </a:spcAft>
          </a:pPr>
          <a:r>
            <a:rPr lang="en-US" sz="1400" kern="1200" dirty="0" smtClean="0"/>
            <a:t>All three data types can also be used for twos complement signed integers</a:t>
          </a:r>
          <a:endParaRPr lang="en-US" sz="1400" kern="1200" dirty="0"/>
        </a:p>
      </dsp:txBody>
      <dsp:txXfrm>
        <a:off x="624840" y="1748027"/>
        <a:ext cx="2052523" cy="14378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D8596-A6FE-424F-BEA7-4FABD6880221}">
      <dsp:nvSpPr>
        <dsp:cNvPr id="0" name=""/>
        <dsp:cNvSpPr/>
      </dsp:nvSpPr>
      <dsp:spPr>
        <a:xfrm>
          <a:off x="0" y="23812"/>
          <a:ext cx="2643187" cy="1585912"/>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Load and store instructions</a:t>
          </a:r>
          <a:endParaRPr lang="en-US" sz="2500" kern="1200" dirty="0">
            <a:effectLst>
              <a:outerShdw blurRad="38100" dist="38100" dir="2700000" algn="tl">
                <a:srgbClr val="000000">
                  <a:alpha val="43137"/>
                </a:srgbClr>
              </a:outerShdw>
            </a:effectLst>
          </a:endParaRPr>
        </a:p>
      </dsp:txBody>
      <dsp:txXfrm>
        <a:off x="0" y="23812"/>
        <a:ext cx="2643187" cy="1585912"/>
      </dsp:txXfrm>
    </dsp:sp>
    <dsp:sp modelId="{CCA398C2-1718-184C-A4D9-50AF525977D0}">
      <dsp:nvSpPr>
        <dsp:cNvPr id="0" name=""/>
        <dsp:cNvSpPr/>
      </dsp:nvSpPr>
      <dsp:spPr>
        <a:xfrm>
          <a:off x="2907506" y="23812"/>
          <a:ext cx="2643187" cy="158591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Branch instructions</a:t>
          </a:r>
          <a:endParaRPr lang="en-US" sz="2500" kern="1200" dirty="0">
            <a:effectLst>
              <a:outerShdw blurRad="38100" dist="38100" dir="2700000" algn="tl">
                <a:srgbClr val="000000">
                  <a:alpha val="43137"/>
                </a:srgbClr>
              </a:outerShdw>
            </a:effectLst>
          </a:endParaRPr>
        </a:p>
      </dsp:txBody>
      <dsp:txXfrm>
        <a:off x="2907506" y="23812"/>
        <a:ext cx="2643187" cy="1585912"/>
      </dsp:txXfrm>
    </dsp:sp>
    <dsp:sp modelId="{64A8D5CD-3A52-B548-B685-481505185C5C}">
      <dsp:nvSpPr>
        <dsp:cNvPr id="0" name=""/>
        <dsp:cNvSpPr/>
      </dsp:nvSpPr>
      <dsp:spPr>
        <a:xfrm>
          <a:off x="5815012" y="23812"/>
          <a:ext cx="2643187" cy="1585912"/>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Data-processing instructions</a:t>
          </a:r>
          <a:endParaRPr lang="en-US" sz="2500" kern="1200" dirty="0">
            <a:effectLst>
              <a:outerShdw blurRad="38100" dist="38100" dir="2700000" algn="tl">
                <a:srgbClr val="000000">
                  <a:alpha val="43137"/>
                </a:srgbClr>
              </a:outerShdw>
            </a:effectLst>
          </a:endParaRPr>
        </a:p>
      </dsp:txBody>
      <dsp:txXfrm>
        <a:off x="5815012" y="23812"/>
        <a:ext cx="2643187" cy="1585912"/>
      </dsp:txXfrm>
    </dsp:sp>
    <dsp:sp modelId="{03F6787E-A3EA-ED45-9F3F-75B9DDD7AA05}">
      <dsp:nvSpPr>
        <dsp:cNvPr id="0" name=""/>
        <dsp:cNvSpPr/>
      </dsp:nvSpPr>
      <dsp:spPr>
        <a:xfrm>
          <a:off x="0" y="1874043"/>
          <a:ext cx="2643187" cy="158591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Multiply instructions</a:t>
          </a:r>
          <a:endParaRPr lang="en-US" sz="2500" kern="1200" dirty="0">
            <a:effectLst>
              <a:outerShdw blurRad="38100" dist="38100" dir="2700000" algn="tl">
                <a:srgbClr val="000000">
                  <a:alpha val="43137"/>
                </a:srgbClr>
              </a:outerShdw>
            </a:effectLst>
          </a:endParaRPr>
        </a:p>
      </dsp:txBody>
      <dsp:txXfrm>
        <a:off x="0" y="1874043"/>
        <a:ext cx="2643187" cy="1585912"/>
      </dsp:txXfrm>
    </dsp:sp>
    <dsp:sp modelId="{4AB18F4A-D2FC-3144-A837-0636156DD7D2}">
      <dsp:nvSpPr>
        <dsp:cNvPr id="0" name=""/>
        <dsp:cNvSpPr/>
      </dsp:nvSpPr>
      <dsp:spPr>
        <a:xfrm>
          <a:off x="2907506" y="1874043"/>
          <a:ext cx="2643187" cy="1585912"/>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Parallel addition and subtraction instructions</a:t>
          </a:r>
          <a:endParaRPr lang="en-US" sz="2500" kern="1200" dirty="0">
            <a:effectLst>
              <a:outerShdw blurRad="38100" dist="38100" dir="2700000" algn="tl">
                <a:srgbClr val="000000">
                  <a:alpha val="43137"/>
                </a:srgbClr>
              </a:outerShdw>
            </a:effectLst>
          </a:endParaRPr>
        </a:p>
      </dsp:txBody>
      <dsp:txXfrm>
        <a:off x="2907506" y="1874043"/>
        <a:ext cx="2643187" cy="1585912"/>
      </dsp:txXfrm>
    </dsp:sp>
    <dsp:sp modelId="{D25A60C3-6ADF-7A4B-933D-007770C77D18}">
      <dsp:nvSpPr>
        <dsp:cNvPr id="0" name=""/>
        <dsp:cNvSpPr/>
      </dsp:nvSpPr>
      <dsp:spPr>
        <a:xfrm>
          <a:off x="5815012" y="1874043"/>
          <a:ext cx="2643187" cy="158591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2"/>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Extend instructions</a:t>
          </a:r>
          <a:endParaRPr lang="en-US" sz="2500" kern="1200" dirty="0">
            <a:effectLst>
              <a:outerShdw blurRad="38100" dist="38100" dir="2700000" algn="tl">
                <a:srgbClr val="000000">
                  <a:alpha val="43137"/>
                </a:srgbClr>
              </a:outerShdw>
            </a:effectLst>
          </a:endParaRPr>
        </a:p>
      </dsp:txBody>
      <dsp:txXfrm>
        <a:off x="5815012" y="1874043"/>
        <a:ext cx="2643187" cy="1585912"/>
      </dsp:txXfrm>
    </dsp:sp>
    <dsp:sp modelId="{FE8FE05C-CAD8-8749-AE97-99459466D0E8}">
      <dsp:nvSpPr>
        <dsp:cNvPr id="0" name=""/>
        <dsp:cNvSpPr/>
      </dsp:nvSpPr>
      <dsp:spPr>
        <a:xfrm>
          <a:off x="2972370" y="3748087"/>
          <a:ext cx="2643187" cy="1585912"/>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kern="1200" dirty="0" smtClean="0">
              <a:effectLst>
                <a:outerShdw blurRad="38100" dist="38100" dir="2700000" algn="tl">
                  <a:srgbClr val="000000">
                    <a:alpha val="43137"/>
                  </a:srgbClr>
                </a:outerShdw>
              </a:effectLst>
            </a:rPr>
            <a:t>Status register access instructions</a:t>
          </a:r>
          <a:endParaRPr lang="en-US" sz="2500" kern="1200" dirty="0">
            <a:effectLst>
              <a:outerShdw blurRad="38100" dist="38100" dir="2700000" algn="tl">
                <a:srgbClr val="000000">
                  <a:alpha val="43137"/>
                </a:srgbClr>
              </a:outerShdw>
            </a:effectLst>
          </a:endParaRPr>
        </a:p>
      </dsp:txBody>
      <dsp:txXfrm>
        <a:off x="2972370" y="3748087"/>
        <a:ext cx="2643187" cy="1585912"/>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ycle4#3">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5">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2517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1431244"/>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12 “Instruction</a:t>
            </a:r>
            <a:r>
              <a:rPr lang="en-US" baseline="0" dirty="0" smtClean="0">
                <a:latin typeface="Times New Roman" pitchFamily="-110" charset="0"/>
              </a:rPr>
              <a:t> Sets:  Characteristics and Functions</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Much of what is discussed in this book is not readily apparent to the user or programmer of a computer. If a programmer is using a high-level language, such as Pascal or Ada, very little of the architecture of the underlying machine is visible.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One boundary where the computer designer and the computer programmer can view the same machine is the machine instruction set. From the designer’s point of view, the machine instruction set provides the functional requirements for the processor: implementing the processor is a task that in large part involves implementing the machine instruction set. The user who chooses to program in machine language (actually, in assembly language; see Appendix B) becomes aware of the register and memory structure, the types of data directly supported by the machine, and the functioning of the ALU.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description of a computer’s machine instruction set goes a long way toward explaining the computer’s processor. Accordingly, we focus on machine instructions in this chapter and the next. </a:t>
            </a:r>
            <a:endParaRPr lang="en-US" dirty="0" smtClean="0"/>
          </a:p>
          <a:p>
            <a:endParaRPr lang="en-US" dirty="0"/>
          </a:p>
        </p:txBody>
      </p:sp>
      <p:sp>
        <p:nvSpPr>
          <p:cNvPr id="4" name="Slide Number Placeholder 3"/>
          <p:cNvSpPr>
            <a:spLocks noGrp="1"/>
          </p:cNvSpPr>
          <p:nvPr>
            <p:ph type="sldNum" sz="quarter" idx="10"/>
          </p:nvPr>
        </p:nvSpPr>
        <p:spPr>
          <a:xfrm>
            <a:off x="3886200" y="8686800"/>
            <a:ext cx="2971800" cy="457200"/>
          </a:xfrm>
          <a:prstGeom prst="rect">
            <a:avLst/>
          </a:prstGeom>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operation of the processor is determined by the instructions it executes, referred to as </a:t>
            </a:r>
            <a:r>
              <a:rPr lang="en-US" sz="1200" i="1" kern="1200" dirty="0" smtClean="0">
                <a:solidFill>
                  <a:schemeClr val="tx1"/>
                </a:solidFill>
                <a:latin typeface="Times New Roman" pitchFamily="-1" charset="0"/>
                <a:ea typeface="+mn-ea"/>
                <a:cs typeface="+mn-cs"/>
              </a:rPr>
              <a:t>machine instructions </a:t>
            </a:r>
            <a:r>
              <a:rPr lang="en-US" sz="1200" kern="1200" dirty="0" smtClean="0">
                <a:solidFill>
                  <a:schemeClr val="tx1"/>
                </a:solidFill>
                <a:latin typeface="Times New Roman" pitchFamily="-1" charset="0"/>
                <a:ea typeface="+mn-ea"/>
                <a:cs typeface="+mn-cs"/>
              </a:rPr>
              <a:t>or </a:t>
            </a:r>
            <a:r>
              <a:rPr lang="en-US" sz="1200" i="1" kern="1200" dirty="0" smtClean="0">
                <a:solidFill>
                  <a:schemeClr val="tx1"/>
                </a:solidFill>
                <a:latin typeface="Times New Roman" pitchFamily="-1" charset="0"/>
                <a:ea typeface="+mn-ea"/>
                <a:cs typeface="+mn-cs"/>
              </a:rPr>
              <a:t>computer instructions. </a:t>
            </a:r>
            <a:r>
              <a:rPr lang="en-US" sz="1200" kern="1200" dirty="0" smtClean="0">
                <a:solidFill>
                  <a:schemeClr val="tx1"/>
                </a:solidFill>
                <a:latin typeface="Times New Roman" pitchFamily="-1" charset="0"/>
                <a:ea typeface="+mn-ea"/>
                <a:cs typeface="+mn-cs"/>
              </a:rPr>
              <a:t>The collection of different instructions that the processor can execute is referred to as the processor’s </a:t>
            </a:r>
            <a:r>
              <a:rPr lang="en-US" sz="1200" i="1" kern="1200" dirty="0" smtClean="0">
                <a:solidFill>
                  <a:schemeClr val="tx1"/>
                </a:solidFill>
                <a:latin typeface="Times New Roman" pitchFamily="-1" charset="0"/>
                <a:ea typeface="+mn-ea"/>
                <a:cs typeface="+mn-cs"/>
              </a:rPr>
              <a:t>instruction set.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Each instruction must contain the information required by the processor for execution. </a:t>
            </a:r>
            <a:endParaRPr lang="en-US" dirty="0" smtClean="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Operation code: </a:t>
            </a:r>
            <a:r>
              <a:rPr lang="en-US" sz="1200" kern="1200" dirty="0" smtClean="0">
                <a:solidFill>
                  <a:schemeClr val="tx1"/>
                </a:solidFill>
                <a:latin typeface="Times New Roman" pitchFamily="-1" charset="0"/>
                <a:ea typeface="+mn-ea"/>
                <a:cs typeface="+mn-cs"/>
              </a:rPr>
              <a:t>Specifies the operation to be performed (e.g., ADD, I/O). The operation is specified by a binary code, known as the operation code, or </a:t>
            </a:r>
            <a:r>
              <a:rPr lang="en-US" sz="1200" b="1" kern="1200" dirty="0" smtClean="0">
                <a:solidFill>
                  <a:schemeClr val="tx1"/>
                </a:solidFill>
                <a:latin typeface="Times New Roman" pitchFamily="-1" charset="0"/>
                <a:ea typeface="+mn-ea"/>
                <a:cs typeface="+mn-cs"/>
              </a:rPr>
              <a:t>opcode.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Source operand reference: </a:t>
            </a:r>
            <a:r>
              <a:rPr lang="en-US" sz="1200" kern="1200" dirty="0" smtClean="0">
                <a:solidFill>
                  <a:schemeClr val="tx1"/>
                </a:solidFill>
                <a:latin typeface="Times New Roman" pitchFamily="-1" charset="0"/>
                <a:ea typeface="+mn-ea"/>
                <a:cs typeface="+mn-cs"/>
              </a:rPr>
              <a:t>The operation may involve one or more source operands, that is, operands that are inputs for the operation.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Result operand reference: </a:t>
            </a:r>
            <a:r>
              <a:rPr lang="en-US" sz="1200" kern="1200" dirty="0" smtClean="0">
                <a:solidFill>
                  <a:schemeClr val="tx1"/>
                </a:solidFill>
                <a:latin typeface="Times New Roman" pitchFamily="-1" charset="0"/>
                <a:ea typeface="+mn-ea"/>
                <a:cs typeface="+mn-cs"/>
              </a:rPr>
              <a:t>The operation may produce a result.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Next instruction reference: </a:t>
            </a:r>
            <a:r>
              <a:rPr lang="en-US" sz="1200" kern="1200" dirty="0" smtClean="0">
                <a:solidFill>
                  <a:schemeClr val="tx1"/>
                </a:solidFill>
                <a:latin typeface="Times New Roman" pitchFamily="-1" charset="0"/>
                <a:ea typeface="+mn-ea"/>
                <a:cs typeface="+mn-cs"/>
              </a:rPr>
              <a:t>This tells the processor where to fetch the next instruction after the execution of this instruction is complete.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smtClean="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12.1, which repeats Figure 3.6, shows the steps involved in instruction execution and, by implication, defines the elements of a machine instruction.</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address of the next instruction to be fetched could be either a real address or a virtual address, depending on the architecture. Generally, the distinction is transparent to the instruction set architecture. In most cases, the next instruction to be fetched immediately follows the current instruction. In those cases, there is no explicit reference to the next instruction. When an explicit reference is needed, then the main memory or virtual memory address must be supplied. The form in which that address is supplied is discussed in Chapter 13. </a:t>
            </a:r>
            <a:endParaRPr lang="en-US" dirty="0" smtClean="0"/>
          </a:p>
          <a:p>
            <a:endParaRPr lang="en-GB"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Source and result operands can be in one of four areas: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Main or virtual memory: </a:t>
            </a:r>
            <a:r>
              <a:rPr lang="en-US" sz="1200" kern="1200" dirty="0" smtClean="0">
                <a:solidFill>
                  <a:schemeClr val="tx1"/>
                </a:solidFill>
                <a:latin typeface="Times New Roman" pitchFamily="-1" charset="0"/>
                <a:ea typeface="+mn-ea"/>
                <a:cs typeface="+mn-cs"/>
              </a:rPr>
              <a:t>As with next instruction references, the main or virtual memory address must be supplied.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Processor register: </a:t>
            </a:r>
            <a:r>
              <a:rPr lang="en-US" sz="1200" kern="1200" dirty="0" smtClean="0">
                <a:solidFill>
                  <a:schemeClr val="tx1"/>
                </a:solidFill>
                <a:latin typeface="Times New Roman" pitchFamily="-1" charset="0"/>
                <a:ea typeface="+mn-ea"/>
                <a:cs typeface="+mn-cs"/>
              </a:rPr>
              <a:t>With rare exceptions, a processor contains one or more registers that may be referenced by machine instructions. If only one register exists, reference to it may be implicit. If more than one register exists, then each register is assigned a unique name or number, and the instruction must contain the number of the desired register.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Immediate: </a:t>
            </a:r>
            <a:r>
              <a:rPr lang="en-US" sz="1200" kern="1200" dirty="0" smtClean="0">
                <a:solidFill>
                  <a:schemeClr val="tx1"/>
                </a:solidFill>
                <a:latin typeface="Times New Roman" pitchFamily="-1" charset="0"/>
                <a:ea typeface="+mn-ea"/>
                <a:cs typeface="+mn-cs"/>
              </a:rPr>
              <a:t>The value of the operand is contained in a field in the instruction being executed.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I/O device: </a:t>
            </a:r>
            <a:r>
              <a:rPr lang="en-US" sz="1200" kern="1200" dirty="0" smtClean="0">
                <a:solidFill>
                  <a:schemeClr val="tx1"/>
                </a:solidFill>
                <a:latin typeface="Times New Roman" pitchFamily="-1" charset="0"/>
                <a:ea typeface="+mn-ea"/>
                <a:cs typeface="+mn-cs"/>
              </a:rPr>
              <a:t>The instruction must specify the I/O module and device for the operation. If memory-mapped I/O is used, this is just another main or virtual memory address. </a:t>
            </a:r>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Within the computer, each instruction is represented by a sequence of bits. The instruction is divided into fields, corresponding to the constituent elements of the instruction.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 simple example of an instruction format is shown in Figure 12.2. As another example, the IAS instruction format is shown in Figure 2.2. With most instruction sets, more than one format is used. During instruction execution, an instruction is read into an instruction register (IR) in the processor. The processor must be able to extract the data from the various instruction fields to perform the required operation.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It is difficult for both the programmer and the reader of textbooks to deal with binary representations of machine instructions. Thus, it has become common practice to use a </a:t>
            </a:r>
            <a:r>
              <a:rPr lang="en-US" sz="1200" i="1" kern="1200" dirty="0" smtClean="0">
                <a:solidFill>
                  <a:schemeClr val="tx1"/>
                </a:solidFill>
                <a:latin typeface="Times New Roman" pitchFamily="-1" charset="0"/>
                <a:ea typeface="+mn-ea"/>
                <a:cs typeface="+mn-cs"/>
              </a:rPr>
              <a:t>symbolic representation </a:t>
            </a:r>
            <a:r>
              <a:rPr lang="en-US" sz="1200" kern="1200" dirty="0" smtClean="0">
                <a:solidFill>
                  <a:schemeClr val="tx1"/>
                </a:solidFill>
                <a:latin typeface="Times New Roman" pitchFamily="-1" charset="0"/>
                <a:ea typeface="+mn-ea"/>
                <a:cs typeface="+mn-cs"/>
              </a:rPr>
              <a:t>of machine instructions. An example of this was used for the IAS instruction set, in Table 1.1.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r>
              <a:rPr lang="en-US" sz="1200" b="0" i="0" u="none" strike="noStrike" kern="1200" baseline="0" dirty="0" err="1" smtClean="0">
                <a:solidFill>
                  <a:schemeClr val="tx1"/>
                </a:solidFill>
                <a:latin typeface="Times New Roman" pitchFamily="-1" charset="0"/>
                <a:ea typeface="+mn-ea"/>
                <a:cs typeface="+mn-cs"/>
              </a:rPr>
              <a:t>Opcodes</a:t>
            </a:r>
            <a:r>
              <a:rPr lang="en-US" sz="1200" b="0" i="0" u="none" strike="noStrike" kern="1200" baseline="0" dirty="0" smtClean="0">
                <a:solidFill>
                  <a:schemeClr val="tx1"/>
                </a:solidFill>
                <a:latin typeface="Times New Roman" pitchFamily="-1" charset="0"/>
                <a:ea typeface="+mn-ea"/>
                <a:cs typeface="+mn-cs"/>
              </a:rPr>
              <a:t> are represented by abbreviations, called mnemonics,  that indicate</a:t>
            </a:r>
          </a:p>
          <a:p>
            <a:r>
              <a:rPr lang="en-US" sz="1200" b="0" i="0" u="none" strike="noStrike" kern="1200" baseline="0" dirty="0" smtClean="0">
                <a:solidFill>
                  <a:schemeClr val="tx1"/>
                </a:solidFill>
                <a:latin typeface="Times New Roman" pitchFamily="-1" charset="0"/>
                <a:ea typeface="+mn-ea"/>
                <a:cs typeface="+mn-cs"/>
              </a:rPr>
              <a:t>the operation. Common examples include</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ADD Add</a:t>
            </a:r>
          </a:p>
          <a:p>
            <a:r>
              <a:rPr lang="en-US" sz="1200" b="0" i="0" u="none" strike="noStrike" kern="1200" baseline="0" dirty="0" smtClean="0">
                <a:solidFill>
                  <a:schemeClr val="tx1"/>
                </a:solidFill>
                <a:latin typeface="Times New Roman" pitchFamily="-1" charset="0"/>
                <a:ea typeface="+mn-ea"/>
                <a:cs typeface="+mn-cs"/>
              </a:rPr>
              <a:t>SUB Subtract</a:t>
            </a:r>
          </a:p>
          <a:p>
            <a:r>
              <a:rPr lang="en-US" sz="1200" b="0" i="0" u="none" strike="noStrike" kern="1200" baseline="0" dirty="0" smtClean="0">
                <a:solidFill>
                  <a:schemeClr val="tx1"/>
                </a:solidFill>
                <a:latin typeface="Times New Roman" pitchFamily="-1" charset="0"/>
                <a:ea typeface="+mn-ea"/>
                <a:cs typeface="+mn-cs"/>
              </a:rPr>
              <a:t>MUL Multiply</a:t>
            </a:r>
          </a:p>
          <a:p>
            <a:r>
              <a:rPr lang="en-US" sz="1200" b="0" i="0" u="none" strike="noStrike" kern="1200" baseline="0" dirty="0" smtClean="0">
                <a:solidFill>
                  <a:schemeClr val="tx1"/>
                </a:solidFill>
                <a:latin typeface="Times New Roman" pitchFamily="-1" charset="0"/>
                <a:ea typeface="+mn-ea"/>
                <a:cs typeface="+mn-cs"/>
              </a:rPr>
              <a:t>DIV Divide</a:t>
            </a:r>
          </a:p>
          <a:p>
            <a:r>
              <a:rPr lang="en-US" sz="1200" b="0" i="0" u="none" strike="noStrike" kern="1200" baseline="0" dirty="0" smtClean="0">
                <a:solidFill>
                  <a:schemeClr val="tx1"/>
                </a:solidFill>
                <a:latin typeface="Times New Roman" pitchFamily="-1" charset="0"/>
                <a:ea typeface="+mn-ea"/>
                <a:cs typeface="+mn-cs"/>
              </a:rPr>
              <a:t>LOAD Load data from memory</a:t>
            </a:r>
          </a:p>
          <a:p>
            <a:r>
              <a:rPr lang="en-US" sz="1200" b="0" i="0" u="none" strike="noStrike" kern="1200" baseline="0" dirty="0" smtClean="0">
                <a:solidFill>
                  <a:schemeClr val="tx1"/>
                </a:solidFill>
                <a:latin typeface="Times New Roman" pitchFamily="-1" charset="0"/>
                <a:ea typeface="+mn-ea"/>
                <a:cs typeface="+mn-cs"/>
              </a:rPr>
              <a:t>STOR Store data to memory</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Operands are also represented symbolically. For example, the instruction</a:t>
            </a:r>
          </a:p>
          <a:p>
            <a:r>
              <a:rPr lang="en-US" sz="1200" b="0" i="0" u="none" strike="noStrike" kern="1200" baseline="0" dirty="0" smtClean="0">
                <a:solidFill>
                  <a:schemeClr val="tx1"/>
                </a:solidFill>
                <a:latin typeface="Times New Roman" pitchFamily="-1" charset="0"/>
                <a:ea typeface="+mn-ea"/>
                <a:cs typeface="+mn-cs"/>
              </a:rPr>
              <a:t>ADD R, Y may mean add the value contained in data location Y to the contents of register</a:t>
            </a:r>
          </a:p>
          <a:p>
            <a:r>
              <a:rPr lang="en-US" sz="1200" b="0" i="0" u="none" strike="noStrike" kern="1200" baseline="0" dirty="0" smtClean="0">
                <a:solidFill>
                  <a:schemeClr val="tx1"/>
                </a:solidFill>
                <a:latin typeface="Times New Roman" pitchFamily="-1" charset="0"/>
                <a:ea typeface="+mn-ea"/>
                <a:cs typeface="+mn-cs"/>
              </a:rPr>
              <a:t>R. In this example, Y refers to the address of a location in memory, and R refers</a:t>
            </a:r>
          </a:p>
          <a:p>
            <a:r>
              <a:rPr lang="en-US" sz="1200" b="0" i="0" u="none" strike="noStrike" kern="1200" baseline="0" dirty="0" smtClean="0">
                <a:solidFill>
                  <a:schemeClr val="tx1"/>
                </a:solidFill>
                <a:latin typeface="Times New Roman" pitchFamily="-1" charset="0"/>
                <a:ea typeface="+mn-ea"/>
                <a:cs typeface="+mn-cs"/>
              </a:rPr>
              <a:t>to a particular register. Note that the operation is performed on the contents of a</a:t>
            </a:r>
          </a:p>
          <a:p>
            <a:r>
              <a:rPr lang="en-US" sz="1200" b="0" i="0" u="none" strike="noStrike" kern="1200" baseline="0" dirty="0" smtClean="0">
                <a:solidFill>
                  <a:schemeClr val="tx1"/>
                </a:solidFill>
                <a:latin typeface="Times New Roman" pitchFamily="-1" charset="0"/>
                <a:ea typeface="+mn-ea"/>
                <a:cs typeface="+mn-cs"/>
              </a:rPr>
              <a:t>location, not on its address.</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Thus, it is possible to write a machine-language program in symbolic form.</a:t>
            </a:r>
          </a:p>
          <a:p>
            <a:r>
              <a:rPr lang="en-US" sz="1200" b="0" i="0" u="none" strike="noStrike" kern="1200" baseline="0" dirty="0" smtClean="0">
                <a:solidFill>
                  <a:schemeClr val="tx1"/>
                </a:solidFill>
                <a:latin typeface="Times New Roman" pitchFamily="-1" charset="0"/>
                <a:ea typeface="+mn-ea"/>
                <a:cs typeface="+mn-cs"/>
              </a:rPr>
              <a:t>Each symbolic </a:t>
            </a:r>
            <a:r>
              <a:rPr lang="en-US" sz="1200" b="0" i="0" u="none" strike="noStrike" kern="1200" baseline="0" dirty="0" err="1" smtClean="0">
                <a:solidFill>
                  <a:schemeClr val="tx1"/>
                </a:solidFill>
                <a:latin typeface="Times New Roman" pitchFamily="-1" charset="0"/>
                <a:ea typeface="+mn-ea"/>
                <a:cs typeface="+mn-cs"/>
              </a:rPr>
              <a:t>opcode</a:t>
            </a:r>
            <a:r>
              <a:rPr lang="en-US" sz="1200" b="0" i="0" u="none" strike="noStrike" kern="1200" baseline="0" dirty="0" smtClean="0">
                <a:solidFill>
                  <a:schemeClr val="tx1"/>
                </a:solidFill>
                <a:latin typeface="Times New Roman" pitchFamily="-1" charset="0"/>
                <a:ea typeface="+mn-ea"/>
                <a:cs typeface="+mn-cs"/>
              </a:rPr>
              <a:t> has a fixed binary representation, and the programmer specifies</a:t>
            </a:r>
          </a:p>
          <a:p>
            <a:r>
              <a:rPr lang="en-US" sz="1200" b="0" i="0" u="none" strike="noStrike" kern="1200" baseline="0" dirty="0" smtClean="0">
                <a:solidFill>
                  <a:schemeClr val="tx1"/>
                </a:solidFill>
                <a:latin typeface="Times New Roman" pitchFamily="-1" charset="0"/>
                <a:ea typeface="+mn-ea"/>
                <a:cs typeface="+mn-cs"/>
              </a:rPr>
              <a:t>the location of each symbolic operand. For example, the programmer might</a:t>
            </a:r>
          </a:p>
          <a:p>
            <a:r>
              <a:rPr lang="en-US" sz="1200" b="0" i="0" u="none" strike="noStrike" kern="1200" baseline="0" dirty="0" smtClean="0">
                <a:solidFill>
                  <a:schemeClr val="tx1"/>
                </a:solidFill>
                <a:latin typeface="Times New Roman" pitchFamily="-1" charset="0"/>
                <a:ea typeface="+mn-ea"/>
                <a:cs typeface="+mn-cs"/>
              </a:rPr>
              <a:t>begin with a list of definitions:</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X =  513</a:t>
            </a:r>
          </a:p>
          <a:p>
            <a:r>
              <a:rPr lang="en-US" sz="1200" b="0" i="0" u="none" strike="noStrike" kern="1200" baseline="0" dirty="0" smtClean="0">
                <a:solidFill>
                  <a:schemeClr val="tx1"/>
                </a:solidFill>
                <a:latin typeface="Times New Roman" pitchFamily="-1" charset="0"/>
                <a:ea typeface="+mn-ea"/>
                <a:cs typeface="+mn-cs"/>
              </a:rPr>
              <a:t>Y =  514</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and so on. A simple program would accept this symbolic input, convert </a:t>
            </a:r>
            <a:r>
              <a:rPr lang="en-US" sz="1200" b="0" i="0" u="none" strike="noStrike" kern="1200" baseline="0" dirty="0" err="1" smtClean="0">
                <a:solidFill>
                  <a:schemeClr val="tx1"/>
                </a:solidFill>
                <a:latin typeface="Times New Roman" pitchFamily="-1" charset="0"/>
                <a:ea typeface="+mn-ea"/>
                <a:cs typeface="+mn-cs"/>
              </a:rPr>
              <a:t>opcodes</a:t>
            </a:r>
            <a:r>
              <a:rPr lang="en-US" sz="1200" b="0" i="0" u="none" strike="noStrike" kern="1200" baseline="0" dirty="0" smtClean="0">
                <a:solidFill>
                  <a:schemeClr val="tx1"/>
                </a:solidFill>
                <a:latin typeface="Times New Roman" pitchFamily="-1" charset="0"/>
                <a:ea typeface="+mn-ea"/>
                <a:cs typeface="+mn-cs"/>
              </a:rPr>
              <a:t> and</a:t>
            </a:r>
          </a:p>
          <a:p>
            <a:r>
              <a:rPr lang="en-US" sz="1200" b="0" i="0" u="none" strike="noStrike" kern="1200" baseline="0" dirty="0" smtClean="0">
                <a:solidFill>
                  <a:schemeClr val="tx1"/>
                </a:solidFill>
                <a:latin typeface="Times New Roman" pitchFamily="-1" charset="0"/>
                <a:ea typeface="+mn-ea"/>
                <a:cs typeface="+mn-cs"/>
              </a:rPr>
              <a:t>operand references to binary form, and construct binary machine instructions.</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Machine-language programmers are rare to the point of nonexistence. Most</a:t>
            </a:r>
          </a:p>
          <a:p>
            <a:r>
              <a:rPr lang="en-US" sz="1200" b="0" i="0" u="none" strike="noStrike" kern="1200" baseline="0" dirty="0" smtClean="0">
                <a:solidFill>
                  <a:schemeClr val="tx1"/>
                </a:solidFill>
                <a:latin typeface="Times New Roman" pitchFamily="-1" charset="0"/>
                <a:ea typeface="+mn-ea"/>
                <a:cs typeface="+mn-cs"/>
              </a:rPr>
              <a:t>programs today are written in a high-level language or, failing that, assembly language,</a:t>
            </a:r>
          </a:p>
          <a:p>
            <a:r>
              <a:rPr lang="en-US" sz="1200" b="0" i="0" u="none" strike="noStrike" kern="1200" baseline="0" dirty="0" smtClean="0">
                <a:solidFill>
                  <a:schemeClr val="tx1"/>
                </a:solidFill>
                <a:latin typeface="Times New Roman" pitchFamily="-1" charset="0"/>
                <a:ea typeface="+mn-ea"/>
                <a:cs typeface="+mn-cs"/>
              </a:rPr>
              <a:t>which is discussed in Appendix B. However, symbolic machine language</a:t>
            </a:r>
          </a:p>
          <a:p>
            <a:r>
              <a:rPr lang="en-US" sz="1200" b="0" i="0" u="none" strike="noStrike" kern="1200" baseline="0" dirty="0" smtClean="0">
                <a:solidFill>
                  <a:schemeClr val="tx1"/>
                </a:solidFill>
                <a:latin typeface="Times New Roman" pitchFamily="-1" charset="0"/>
                <a:ea typeface="+mn-ea"/>
                <a:cs typeface="+mn-cs"/>
              </a:rPr>
              <a:t>remains a useful tool for describing machine instructions, and we will use it for that</a:t>
            </a:r>
          </a:p>
          <a:p>
            <a:r>
              <a:rPr lang="en-US" sz="1200" b="0" i="0" u="none" strike="noStrike" kern="1200" baseline="0" dirty="0" smtClean="0">
                <a:solidFill>
                  <a:schemeClr val="tx1"/>
                </a:solidFill>
                <a:latin typeface="Times New Roman" pitchFamily="-1" charset="0"/>
                <a:ea typeface="+mn-ea"/>
                <a:cs typeface="+mn-cs"/>
              </a:rPr>
              <a:t>purpose.</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6</a:t>
            </a:r>
          </a:p>
        </p:txBody>
      </p:sp>
      <p:sp>
        <p:nvSpPr>
          <p:cNvPr id="153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6" name="Rectangle 6"/>
          <p:cNvSpPr>
            <a:spLocks noGrp="1" noRot="1" noChangeAspect="1" noChangeArrowheads="1" noTextEdit="1"/>
          </p:cNvSpPr>
          <p:nvPr>
            <p:ph type="sldImg"/>
          </p:nvPr>
        </p:nvSpPr>
        <p:spPr>
          <a:xfrm>
            <a:off x="1150938" y="692150"/>
            <a:ext cx="4556125" cy="3416300"/>
          </a:xfrm>
          <a:ln cap="flat"/>
        </p:spPr>
      </p:sp>
      <p:sp>
        <p:nvSpPr>
          <p:cNvPr id="15367"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A computer should have a set of instructions that allows the user to formulate any data processing task. Another way to view it is to consider the capabilities of a high-level programming language. Any program written in a high-level language must be translated into machine language to be executed. Thus, the set of machine instructions must be sufficient to express any of the instructions from a high-level language. With this in mind we can categorize instruction types as follows: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Data processing: </a:t>
            </a:r>
            <a:r>
              <a:rPr lang="en-US" sz="1200" kern="1200" dirty="0" smtClean="0">
                <a:solidFill>
                  <a:schemeClr val="tx1"/>
                </a:solidFill>
                <a:latin typeface="Times New Roman" pitchFamily="-1" charset="0"/>
                <a:ea typeface="+mn-ea"/>
                <a:cs typeface="+mn-cs"/>
              </a:rPr>
              <a:t>Arithmetic and logic instructions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Data storage: </a:t>
            </a:r>
            <a:r>
              <a:rPr lang="en-US" sz="1200" kern="1200" dirty="0" smtClean="0">
                <a:solidFill>
                  <a:schemeClr val="tx1"/>
                </a:solidFill>
                <a:latin typeface="Times New Roman" pitchFamily="-1" charset="0"/>
                <a:ea typeface="+mn-ea"/>
                <a:cs typeface="+mn-cs"/>
              </a:rPr>
              <a:t>Movement of data into or out of register and or memory </a:t>
            </a:r>
          </a:p>
          <a:p>
            <a:r>
              <a:rPr lang="en-US" sz="1200" kern="1200" dirty="0" smtClean="0">
                <a:solidFill>
                  <a:schemeClr val="tx1"/>
                </a:solidFill>
                <a:latin typeface="Times New Roman" pitchFamily="-1" charset="0"/>
                <a:ea typeface="+mn-ea"/>
                <a:cs typeface="+mn-cs"/>
              </a:rPr>
              <a:t>locations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Data movement: </a:t>
            </a:r>
            <a:r>
              <a:rPr lang="en-US" sz="1200" kern="1200" dirty="0" smtClean="0">
                <a:solidFill>
                  <a:schemeClr val="tx1"/>
                </a:solidFill>
                <a:latin typeface="Times New Roman" pitchFamily="-1" charset="0"/>
                <a:ea typeface="+mn-ea"/>
                <a:cs typeface="+mn-cs"/>
              </a:rPr>
              <a:t>I/O instructions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Control: </a:t>
            </a:r>
            <a:r>
              <a:rPr lang="en-US" sz="1200" kern="1200" dirty="0" smtClean="0">
                <a:solidFill>
                  <a:schemeClr val="tx1"/>
                </a:solidFill>
                <a:latin typeface="Times New Roman" pitchFamily="-1" charset="0"/>
                <a:ea typeface="+mn-ea"/>
                <a:cs typeface="+mn-cs"/>
              </a:rPr>
              <a:t>Test and branch instructions </a:t>
            </a:r>
          </a:p>
          <a:p>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smtClean="0">
                <a:solidFill>
                  <a:schemeClr val="tx1"/>
                </a:solidFill>
                <a:latin typeface="Times New Roman" pitchFamily="-1" charset="0"/>
                <a:ea typeface="+mn-ea"/>
                <a:cs typeface="+mn-cs"/>
              </a:rPr>
              <a:t>Arithmetic </a:t>
            </a:r>
            <a:r>
              <a:rPr lang="en-US" sz="1200" kern="1200" dirty="0" smtClean="0">
                <a:solidFill>
                  <a:schemeClr val="tx1"/>
                </a:solidFill>
                <a:latin typeface="Times New Roman" pitchFamily="-1" charset="0"/>
                <a:ea typeface="+mn-ea"/>
                <a:cs typeface="+mn-cs"/>
              </a:rPr>
              <a:t>instructions provide computational capabilities for processing numeric data. </a:t>
            </a:r>
            <a:r>
              <a:rPr lang="en-US" sz="1200" i="1" kern="1200" dirty="0" smtClean="0">
                <a:solidFill>
                  <a:schemeClr val="tx1"/>
                </a:solidFill>
                <a:latin typeface="Times New Roman" pitchFamily="-1" charset="0"/>
                <a:ea typeface="+mn-ea"/>
                <a:cs typeface="+mn-cs"/>
              </a:rPr>
              <a:t>Logic </a:t>
            </a:r>
            <a:r>
              <a:rPr lang="en-US" sz="1200" kern="1200" dirty="0" smtClean="0">
                <a:solidFill>
                  <a:schemeClr val="tx1"/>
                </a:solidFill>
                <a:latin typeface="Times New Roman" pitchFamily="-1" charset="0"/>
                <a:ea typeface="+mn-ea"/>
                <a:cs typeface="+mn-cs"/>
              </a:rPr>
              <a:t>(Boolean) instructions operate on the bits of a word as bits rather than as numbers; thus, they provide capabilities for processing any other type of data the user may wish to employ. These operations are performed primarily on data in processor registers. Therefore, there must be </a:t>
            </a:r>
            <a:r>
              <a:rPr lang="en-US" sz="1200" i="1" kern="1200" dirty="0" smtClean="0">
                <a:solidFill>
                  <a:schemeClr val="tx1"/>
                </a:solidFill>
                <a:latin typeface="Times New Roman" pitchFamily="-1" charset="0"/>
                <a:ea typeface="+mn-ea"/>
                <a:cs typeface="+mn-cs"/>
              </a:rPr>
              <a:t>memory </a:t>
            </a:r>
            <a:r>
              <a:rPr lang="en-US" sz="1200" kern="1200" dirty="0" smtClean="0">
                <a:solidFill>
                  <a:schemeClr val="tx1"/>
                </a:solidFill>
                <a:latin typeface="Times New Roman" pitchFamily="-1" charset="0"/>
                <a:ea typeface="+mn-ea"/>
                <a:cs typeface="+mn-cs"/>
              </a:rPr>
              <a:t>instructions for moving data between memory and the registers. </a:t>
            </a:r>
            <a:r>
              <a:rPr lang="en-US" sz="1200" i="1" kern="1200" dirty="0" smtClean="0">
                <a:solidFill>
                  <a:schemeClr val="tx1"/>
                </a:solidFill>
                <a:latin typeface="Times New Roman" pitchFamily="-1" charset="0"/>
                <a:ea typeface="+mn-ea"/>
                <a:cs typeface="+mn-cs"/>
              </a:rPr>
              <a:t>I/O </a:t>
            </a:r>
            <a:r>
              <a:rPr lang="en-US" sz="1200" kern="1200" dirty="0" smtClean="0">
                <a:solidFill>
                  <a:schemeClr val="tx1"/>
                </a:solidFill>
                <a:latin typeface="Times New Roman" pitchFamily="-1" charset="0"/>
                <a:ea typeface="+mn-ea"/>
                <a:cs typeface="+mn-cs"/>
              </a:rPr>
              <a:t>instructions are needed to transfer programs and data into memory and the results of computations back out to the user. </a:t>
            </a:r>
            <a:r>
              <a:rPr lang="en-US" sz="1200" i="1" kern="1200" dirty="0" smtClean="0">
                <a:solidFill>
                  <a:schemeClr val="tx1"/>
                </a:solidFill>
                <a:latin typeface="Times New Roman" pitchFamily="-1" charset="0"/>
                <a:ea typeface="+mn-ea"/>
                <a:cs typeface="+mn-cs"/>
              </a:rPr>
              <a:t>Test </a:t>
            </a:r>
            <a:r>
              <a:rPr lang="en-US" sz="1200" kern="1200" dirty="0" smtClean="0">
                <a:solidFill>
                  <a:schemeClr val="tx1"/>
                </a:solidFill>
                <a:latin typeface="Times New Roman" pitchFamily="-1" charset="0"/>
                <a:ea typeface="+mn-ea"/>
                <a:cs typeface="+mn-cs"/>
              </a:rPr>
              <a:t>instructions are used to test the value of a data word or the status of a computation. Branch instructions are then used to branch to a different set of instructions depending on the decision made. </a:t>
            </a:r>
            <a:endParaRPr lang="en-US" dirty="0" smtClean="0"/>
          </a:p>
          <a:p>
            <a:endParaRPr lang="en-US" sz="1200" kern="1200" dirty="0" smtClean="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r>
              <a:rPr lang="en-US" sz="1200" b="0" i="0" u="none" strike="noStrike" kern="1200" baseline="0" dirty="0" smtClean="0">
                <a:solidFill>
                  <a:schemeClr val="tx1"/>
                </a:solidFill>
                <a:latin typeface="Times New Roman" pitchFamily="-1" charset="0"/>
                <a:ea typeface="+mn-ea"/>
                <a:cs typeface="+mn-cs"/>
              </a:rPr>
              <a:t>One of the traditional ways of describing processor architecture is in terms of the</a:t>
            </a:r>
          </a:p>
          <a:p>
            <a:r>
              <a:rPr lang="en-US" sz="1200" b="0" i="0" u="none" strike="noStrike" kern="1200" baseline="0" dirty="0" smtClean="0">
                <a:solidFill>
                  <a:schemeClr val="tx1"/>
                </a:solidFill>
                <a:latin typeface="Times New Roman" pitchFamily="-1" charset="0"/>
                <a:ea typeface="+mn-ea"/>
                <a:cs typeface="+mn-cs"/>
              </a:rPr>
              <a:t>number of addresses contained in each instruction. This dimension has become less</a:t>
            </a:r>
          </a:p>
          <a:p>
            <a:r>
              <a:rPr lang="en-US" sz="1200" b="0" i="0" u="none" strike="noStrike" kern="1200" baseline="0" dirty="0" smtClean="0">
                <a:solidFill>
                  <a:schemeClr val="tx1"/>
                </a:solidFill>
                <a:latin typeface="Times New Roman" pitchFamily="-1" charset="0"/>
                <a:ea typeface="+mn-ea"/>
                <a:cs typeface="+mn-cs"/>
              </a:rPr>
              <a:t>significant with the increasing complexity of processor design. Nevertheless, it is useful</a:t>
            </a:r>
          </a:p>
          <a:p>
            <a:r>
              <a:rPr lang="en-US" sz="1200" b="0" i="0" u="none" strike="noStrike" kern="1200" baseline="0" dirty="0" smtClean="0">
                <a:solidFill>
                  <a:schemeClr val="tx1"/>
                </a:solidFill>
                <a:latin typeface="Times New Roman" pitchFamily="-1" charset="0"/>
                <a:ea typeface="+mn-ea"/>
                <a:cs typeface="+mn-cs"/>
              </a:rPr>
              <a:t>at this point to draw and analyze this distinction.</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What is the maximum number of addresses one might need in an instruction?</a:t>
            </a:r>
          </a:p>
          <a:p>
            <a:r>
              <a:rPr lang="en-US" sz="1200" b="0" i="0" u="none" strike="noStrike" kern="1200" baseline="0" dirty="0" smtClean="0">
                <a:solidFill>
                  <a:schemeClr val="tx1"/>
                </a:solidFill>
                <a:latin typeface="Times New Roman" pitchFamily="-1" charset="0"/>
                <a:ea typeface="+mn-ea"/>
                <a:cs typeface="+mn-cs"/>
              </a:rPr>
              <a:t>Evidently, arithmetic and logic instructions will require the most operands.</a:t>
            </a:r>
          </a:p>
          <a:p>
            <a:r>
              <a:rPr lang="en-US" sz="1200" b="0" i="0" u="none" strike="noStrike" kern="1200" baseline="0" dirty="0" smtClean="0">
                <a:solidFill>
                  <a:schemeClr val="tx1"/>
                </a:solidFill>
                <a:latin typeface="Times New Roman" pitchFamily="-1" charset="0"/>
                <a:ea typeface="+mn-ea"/>
                <a:cs typeface="+mn-cs"/>
              </a:rPr>
              <a:t>Virtually all arithmetic and logic operations are either unary (one source</a:t>
            </a:r>
          </a:p>
          <a:p>
            <a:r>
              <a:rPr lang="en-US" sz="1200" b="0" i="0" u="none" strike="noStrike" kern="1200" baseline="0" dirty="0" smtClean="0">
                <a:solidFill>
                  <a:schemeClr val="tx1"/>
                </a:solidFill>
                <a:latin typeface="Times New Roman" pitchFamily="-1" charset="0"/>
                <a:ea typeface="+mn-ea"/>
                <a:cs typeface="+mn-cs"/>
              </a:rPr>
              <a:t>operand) or binary (two source operands). Thus, we would need a maximum of</a:t>
            </a:r>
          </a:p>
          <a:p>
            <a:r>
              <a:rPr lang="en-US" sz="1200" b="0" i="0" u="none" strike="noStrike" kern="1200" baseline="0" dirty="0" smtClean="0">
                <a:solidFill>
                  <a:schemeClr val="tx1"/>
                </a:solidFill>
                <a:latin typeface="Times New Roman" pitchFamily="-1" charset="0"/>
                <a:ea typeface="+mn-ea"/>
                <a:cs typeface="+mn-cs"/>
              </a:rPr>
              <a:t>two addresses to reference source operands. The result of an operation must be</a:t>
            </a:r>
          </a:p>
          <a:p>
            <a:r>
              <a:rPr lang="en-US" sz="1200" b="0" i="0" u="none" strike="noStrike" kern="1200" baseline="0" dirty="0" smtClean="0">
                <a:solidFill>
                  <a:schemeClr val="tx1"/>
                </a:solidFill>
                <a:latin typeface="Times New Roman" pitchFamily="-1" charset="0"/>
                <a:ea typeface="+mn-ea"/>
                <a:cs typeface="+mn-cs"/>
              </a:rPr>
              <a:t>stored, suggesting a third address, which defines a destination operand. Finally,</a:t>
            </a:r>
          </a:p>
          <a:p>
            <a:r>
              <a:rPr lang="en-US" sz="1200" b="0" i="0" u="none" strike="noStrike" kern="1200" baseline="0" dirty="0" smtClean="0">
                <a:solidFill>
                  <a:schemeClr val="tx1"/>
                </a:solidFill>
                <a:latin typeface="Times New Roman" pitchFamily="-1" charset="0"/>
                <a:ea typeface="+mn-ea"/>
                <a:cs typeface="+mn-cs"/>
              </a:rPr>
              <a:t>after completion of an instruction, the next instruction must be fetched, and its</a:t>
            </a:r>
          </a:p>
          <a:p>
            <a:r>
              <a:rPr lang="en-US" sz="1200" b="0" i="0" u="none" strike="noStrike" kern="1200" baseline="0" dirty="0" smtClean="0">
                <a:solidFill>
                  <a:schemeClr val="tx1"/>
                </a:solidFill>
                <a:latin typeface="Times New Roman" pitchFamily="-1" charset="0"/>
                <a:ea typeface="+mn-ea"/>
                <a:cs typeface="+mn-cs"/>
              </a:rPr>
              <a:t>address is needed.</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This line of reasoning suggests that an instruction could plausibly be required</a:t>
            </a:r>
          </a:p>
          <a:p>
            <a:r>
              <a:rPr lang="en-US" sz="1200" b="0" i="0" u="none" strike="noStrike" kern="1200" baseline="0" dirty="0" smtClean="0">
                <a:solidFill>
                  <a:schemeClr val="tx1"/>
                </a:solidFill>
                <a:latin typeface="Times New Roman" pitchFamily="-1" charset="0"/>
                <a:ea typeface="+mn-ea"/>
                <a:cs typeface="+mn-cs"/>
              </a:rPr>
              <a:t>to contain four address references: two source operands, one destination operand,</a:t>
            </a:r>
          </a:p>
          <a:p>
            <a:r>
              <a:rPr lang="en-US" sz="1200" b="0" i="0" u="none" strike="noStrike" kern="1200" baseline="0" dirty="0" smtClean="0">
                <a:solidFill>
                  <a:schemeClr val="tx1"/>
                </a:solidFill>
                <a:latin typeface="Times New Roman" pitchFamily="-1" charset="0"/>
                <a:ea typeface="+mn-ea"/>
                <a:cs typeface="+mn-cs"/>
              </a:rPr>
              <a:t>and the address of the next instruction. In most architectures, many instructions</a:t>
            </a:r>
          </a:p>
          <a:p>
            <a:r>
              <a:rPr lang="en-US" sz="1200" b="0" i="0" u="none" strike="noStrike" kern="1200" baseline="0" dirty="0" smtClean="0">
                <a:solidFill>
                  <a:schemeClr val="tx1"/>
                </a:solidFill>
                <a:latin typeface="Times New Roman" pitchFamily="-1" charset="0"/>
                <a:ea typeface="+mn-ea"/>
                <a:cs typeface="+mn-cs"/>
              </a:rPr>
              <a:t>have one, two, or three operand addresses, with the address of the next instruction</a:t>
            </a:r>
          </a:p>
          <a:p>
            <a:r>
              <a:rPr lang="en-US" sz="1200" b="0" i="0" u="none" strike="noStrike" kern="1200" baseline="0" dirty="0" smtClean="0">
                <a:solidFill>
                  <a:schemeClr val="tx1"/>
                </a:solidFill>
                <a:latin typeface="Times New Roman" pitchFamily="-1" charset="0"/>
                <a:ea typeface="+mn-ea"/>
                <a:cs typeface="+mn-cs"/>
              </a:rPr>
              <a:t>being implicit (obtained from the program counter). Most architectures also have</a:t>
            </a:r>
          </a:p>
          <a:p>
            <a:r>
              <a:rPr lang="en-US" sz="1200" b="0" i="0" u="none" strike="noStrike" kern="1200" baseline="0" dirty="0" smtClean="0">
                <a:solidFill>
                  <a:schemeClr val="tx1"/>
                </a:solidFill>
                <a:latin typeface="Times New Roman" pitchFamily="-1" charset="0"/>
                <a:ea typeface="+mn-ea"/>
                <a:cs typeface="+mn-cs"/>
              </a:rPr>
              <a:t>a few special-purpose instructions with more operands. For example, the load and</a:t>
            </a:r>
          </a:p>
          <a:p>
            <a:r>
              <a:rPr lang="en-US" sz="1200" b="0" i="0" u="none" strike="noStrike" kern="1200" baseline="0" dirty="0" smtClean="0">
                <a:solidFill>
                  <a:schemeClr val="tx1"/>
                </a:solidFill>
                <a:latin typeface="Times New Roman" pitchFamily="-1" charset="0"/>
                <a:ea typeface="+mn-ea"/>
                <a:cs typeface="+mn-cs"/>
              </a:rPr>
              <a:t>store multiple instructions of the ARM architecture, described in Chapter 13, designate</a:t>
            </a:r>
          </a:p>
          <a:p>
            <a:r>
              <a:rPr lang="en-US" sz="1200" b="0" i="0" u="none" strike="noStrike" kern="1200" baseline="0" dirty="0" smtClean="0">
                <a:solidFill>
                  <a:schemeClr val="tx1"/>
                </a:solidFill>
                <a:latin typeface="Times New Roman" pitchFamily="-1" charset="0"/>
                <a:ea typeface="+mn-ea"/>
                <a:cs typeface="+mn-cs"/>
              </a:rPr>
              <a:t>up to 17 register operands in a single instruction.</a:t>
            </a: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12.3 compares typical one, two, and three address instructions that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could be used to compute Y = (A – B)/[C + (D * E)]. With three addresses, each instruction specifies two source operand locations and a destination operand location. Because we choose not to alter the value of any of the operand locations, a temporary location, T, is used to store some intermediate results. Note that there are four instructions and that the original expression had five operands.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Three-address instruction formats are not common because they require a relatively long instruction format to hold the three address references. With two- address instructions, and for binary operations, one address must do double duty as both an operand and a result. Thus, the instruction SUB Y, B carries out the calculation Y - B and stores the result in Y. The two-address format reduces the space requirement but also introduces some awkwardness. To avoid altering the value of an operand, a MOVE instruction is used to move one of the values to a result or temporary location before performing the operation. Our sample program expands to six instructions.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Simpler yet is the one-address instruction. For this to work, a second address must be implicit. This was common in earlier machines, with the implied address being a processor register known as the </a:t>
            </a:r>
            <a:r>
              <a:rPr lang="en-US" sz="1200" b="1" kern="1200" dirty="0" smtClean="0">
                <a:solidFill>
                  <a:schemeClr val="tx1"/>
                </a:solidFill>
                <a:latin typeface="Times New Roman" pitchFamily="-1" charset="0"/>
                <a:ea typeface="+mn-ea"/>
                <a:cs typeface="+mn-cs"/>
              </a:rPr>
              <a:t>accumulator </a:t>
            </a:r>
            <a:r>
              <a:rPr lang="en-US" sz="1200" kern="1200" dirty="0" smtClean="0">
                <a:solidFill>
                  <a:schemeClr val="tx1"/>
                </a:solidFill>
                <a:latin typeface="Times New Roman" pitchFamily="-1" charset="0"/>
                <a:ea typeface="+mn-ea"/>
                <a:cs typeface="+mn-cs"/>
              </a:rPr>
              <a:t>(AC). The accumulator contains one of the operands and is used to store the result. In our example, eight instructions are needed to accomplish the task.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It is, in fact, possible to make do with zero addresses for some instructions. Zero-address instructions are applicable to a special memory organization called a </a:t>
            </a:r>
            <a:r>
              <a:rPr lang="en-US" sz="1200" i="1" kern="1200" dirty="0" smtClean="0">
                <a:solidFill>
                  <a:schemeClr val="tx1"/>
                </a:solidFill>
                <a:latin typeface="Times New Roman" pitchFamily="-1" charset="0"/>
                <a:ea typeface="+mn-ea"/>
                <a:cs typeface="+mn-cs"/>
              </a:rPr>
              <a:t>stack. </a:t>
            </a:r>
            <a:r>
              <a:rPr lang="en-US" sz="1200" kern="1200" dirty="0" smtClean="0">
                <a:solidFill>
                  <a:schemeClr val="tx1"/>
                </a:solidFill>
                <a:latin typeface="Times New Roman" pitchFamily="-1" charset="0"/>
                <a:ea typeface="+mn-ea"/>
                <a:cs typeface="+mn-cs"/>
              </a:rPr>
              <a:t>A stack is a last-in-first-out set of locations. The stack is in a known location and, often, at least the top two elements are in processor registers. Thus, zero-address instructions would reference the top two stack elements. Stacks are described in Appendix I. Their use is explored further later in this chapter and in Chapter 13.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8</a:t>
            </a:r>
          </a:p>
        </p:txBody>
      </p:sp>
      <p:sp>
        <p:nvSpPr>
          <p:cNvPr id="194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Table 12.1 summarizes the interpretations to be placed on instructions with zero, one, two, or three addresses. In each case in the table, it is assumed that the address of the next instruction is implicit, and that one operation with two source operands and one result operand is to be performed.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number of addresses per instruction is a basic design decision. Fewer addresses per instruction result in instructions that are more primitive, requiring a less complex processor. It also results in instructions of shorter length. On the other hand, programs contain more total instructions, which in general results in longer execution times and longer, more complex programs. Also, there is an important threshold between one-address and multiple-address instructions. With one-address instructions, the programmer generally has available only one general-purpose register, the accumulator. With multiple-address instructions, it is common to have multiple general-purpose registers. This allows some operations to be performed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solely on registers. Because register references are faster than memory references, this speeds up execution. For reasons of flexibility and ability to use multiple registers, most contemporary machines employ a mixture of two- and three-address instructions.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design trade-offs involved in choosing the number of addresses per instruction are complicated by other factors. There is the issue of whether an address references a memory location or a register. Because there are fewer registers, fewer bits are needed for a register reference. Also, as we shall see in Chapter 13, a machine may offer a variety of addressing modes, and the specification of mode takes one or more bits. The result is that most processor designs involve a variety of instruction formats.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9</a:t>
            </a:r>
          </a:p>
        </p:txBody>
      </p:sp>
      <p:sp>
        <p:nvSpPr>
          <p:cNvPr id="215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10" name="Rectangle 6"/>
          <p:cNvSpPr>
            <a:spLocks noGrp="1" noRot="1" noChangeAspect="1" noChangeArrowheads="1" noTextEdit="1"/>
          </p:cNvSpPr>
          <p:nvPr>
            <p:ph type="sldImg"/>
          </p:nvPr>
        </p:nvSpPr>
        <p:spPr>
          <a:xfrm>
            <a:off x="1150938" y="692150"/>
            <a:ext cx="4556125" cy="3416300"/>
          </a:xfrm>
          <a:ln cap="flat"/>
        </p:spPr>
      </p:sp>
      <p:sp>
        <p:nvSpPr>
          <p:cNvPr id="2151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One of the most interesting, and most analyzed, aspects of computer design is instruction set design. The design of an instruction set is very complex because it affects so many aspects of the computer system. The instruction set defines many of the functions performed by the processor and thus has a significant effect on the implementation of the processor. The instruction set is the programmer’s means of controlling the processor. Thus, programmer requirements must be considered in designing the instruction set.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It may surprise you to know that some of the most fundamental issues relating to the design of instruction sets remain in dispute. Indeed, in recent years, the level of disagreement concerning these fundamentals has actually grown. The most important of these fundamental design issues include the following: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Operation repertoire: </a:t>
            </a:r>
            <a:r>
              <a:rPr lang="en-US" sz="1200" kern="1200" dirty="0" smtClean="0">
                <a:solidFill>
                  <a:schemeClr val="tx1"/>
                </a:solidFill>
                <a:latin typeface="Times New Roman" pitchFamily="-1" charset="0"/>
                <a:ea typeface="+mn-ea"/>
                <a:cs typeface="+mn-cs"/>
              </a:rPr>
              <a:t>How many and which operations to provide, and how complex operations should be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Data types: </a:t>
            </a:r>
            <a:r>
              <a:rPr lang="en-US" sz="1200" kern="1200" dirty="0" smtClean="0">
                <a:solidFill>
                  <a:schemeClr val="tx1"/>
                </a:solidFill>
                <a:latin typeface="Times New Roman" pitchFamily="-1" charset="0"/>
                <a:ea typeface="+mn-ea"/>
                <a:cs typeface="+mn-cs"/>
              </a:rPr>
              <a:t>The various types of data upon which operations are performed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Instruction format: </a:t>
            </a:r>
            <a:r>
              <a:rPr lang="en-US" sz="1200" kern="1200" dirty="0" smtClean="0">
                <a:solidFill>
                  <a:schemeClr val="tx1"/>
                </a:solidFill>
                <a:latin typeface="Times New Roman" pitchFamily="-1" charset="0"/>
                <a:ea typeface="+mn-ea"/>
                <a:cs typeface="+mn-cs"/>
              </a:rPr>
              <a:t>Instruction length (in bits), number of addresses, size of </a:t>
            </a:r>
          </a:p>
          <a:p>
            <a:r>
              <a:rPr lang="en-US" sz="1200" kern="1200" dirty="0" smtClean="0">
                <a:solidFill>
                  <a:schemeClr val="tx1"/>
                </a:solidFill>
                <a:latin typeface="Times New Roman" pitchFamily="-1" charset="0"/>
                <a:ea typeface="+mn-ea"/>
                <a:cs typeface="+mn-cs"/>
              </a:rPr>
              <a:t>various fields, and so on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Registers: </a:t>
            </a:r>
            <a:r>
              <a:rPr lang="en-US" sz="1200" kern="1200" dirty="0" smtClean="0">
                <a:solidFill>
                  <a:schemeClr val="tx1"/>
                </a:solidFill>
                <a:latin typeface="Times New Roman" pitchFamily="-1" charset="0"/>
                <a:ea typeface="+mn-ea"/>
                <a:cs typeface="+mn-cs"/>
              </a:rPr>
              <a:t>Number of processor registers that can be referenced by instructions, and their use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Addressing: </a:t>
            </a:r>
            <a:r>
              <a:rPr lang="en-US" sz="1200" kern="1200" dirty="0" smtClean="0">
                <a:solidFill>
                  <a:schemeClr val="tx1"/>
                </a:solidFill>
                <a:latin typeface="Times New Roman" pitchFamily="-1" charset="0"/>
                <a:ea typeface="+mn-ea"/>
                <a:cs typeface="+mn-cs"/>
              </a:rPr>
              <a:t>The mode or modes by which the address of an operand is specified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These issues are highly interrelated and must be considered together in designing an instruction set. This book, of course, must consider them in some sequence, but an attempt is made to show the interrelationships. </a:t>
            </a:r>
          </a:p>
          <a:p>
            <a:endParaRPr lang="en-US" sz="1200" kern="120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Because of the importance of this topic, much of Part Three is devoted to</a:t>
            </a:r>
          </a:p>
          <a:p>
            <a:r>
              <a:rPr lang="en-US" sz="1200" b="0" i="0" u="none" strike="noStrike" kern="1200" baseline="0" dirty="0" smtClean="0">
                <a:solidFill>
                  <a:schemeClr val="tx1"/>
                </a:solidFill>
                <a:latin typeface="Times New Roman" pitchFamily="-1" charset="0"/>
                <a:ea typeface="+mn-ea"/>
                <a:cs typeface="+mn-cs"/>
              </a:rPr>
              <a:t>instruction set design. Following this overview section, this chapter examines data</a:t>
            </a:r>
          </a:p>
          <a:p>
            <a:r>
              <a:rPr lang="en-US" sz="1200" b="0" i="0" u="none" strike="noStrike" kern="1200" baseline="0" dirty="0" smtClean="0">
                <a:solidFill>
                  <a:schemeClr val="tx1"/>
                </a:solidFill>
                <a:latin typeface="Times New Roman" pitchFamily="-1" charset="0"/>
                <a:ea typeface="+mn-ea"/>
                <a:cs typeface="+mn-cs"/>
              </a:rPr>
              <a:t>types and operation repertoire. Chapter 13 examines addressing modes (which</a:t>
            </a:r>
          </a:p>
          <a:p>
            <a:r>
              <a:rPr lang="en-US" sz="1200" b="0" i="0" u="none" strike="noStrike" kern="1200" baseline="0" dirty="0" smtClean="0">
                <a:solidFill>
                  <a:schemeClr val="tx1"/>
                </a:solidFill>
                <a:latin typeface="Times New Roman" pitchFamily="-1" charset="0"/>
                <a:ea typeface="+mn-ea"/>
                <a:cs typeface="+mn-cs"/>
              </a:rPr>
              <a:t>includes a consideration of registers) and instruction formats. Chapter 15 examines</a:t>
            </a:r>
          </a:p>
          <a:p>
            <a:r>
              <a:rPr lang="en-US" sz="1200" b="0" i="0" u="none" strike="noStrike" kern="1200" baseline="0" dirty="0" smtClean="0">
                <a:solidFill>
                  <a:schemeClr val="tx1"/>
                </a:solidFill>
                <a:latin typeface="Times New Roman" pitchFamily="-1" charset="0"/>
                <a:ea typeface="+mn-ea"/>
                <a:cs typeface="+mn-cs"/>
              </a:rPr>
              <a:t>the reduced instruction set computer (RISC). RISC architecture calls into question</a:t>
            </a:r>
          </a:p>
          <a:p>
            <a:r>
              <a:rPr lang="en-US" sz="1200" b="0" i="0" u="none" strike="noStrike" kern="1200" baseline="0" dirty="0" smtClean="0">
                <a:solidFill>
                  <a:schemeClr val="tx1"/>
                </a:solidFill>
                <a:latin typeface="Times New Roman" pitchFamily="-1" charset="0"/>
                <a:ea typeface="+mn-ea"/>
                <a:cs typeface="+mn-cs"/>
              </a:rPr>
              <a:t>many of the instruction set design decisions traditionally made in commercial</a:t>
            </a:r>
          </a:p>
          <a:p>
            <a:r>
              <a:rPr lang="en-US" sz="1200" b="0" i="0" u="none" strike="noStrike" kern="1200" baseline="0" dirty="0" smtClean="0">
                <a:solidFill>
                  <a:schemeClr val="tx1"/>
                </a:solidFill>
                <a:latin typeface="Times New Roman" pitchFamily="-1" charset="0"/>
                <a:ea typeface="+mn-ea"/>
                <a:cs typeface="+mn-cs"/>
              </a:rPr>
              <a:t>computers.</a:t>
            </a:r>
            <a:endParaRPr lang="en-US" sz="1200" kern="1200" dirty="0" smtClean="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14</a:t>
            </a:r>
          </a:p>
        </p:txBody>
      </p:sp>
      <p:sp>
        <p:nvSpPr>
          <p:cNvPr id="317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50" name="Rectangle 6"/>
          <p:cNvSpPr>
            <a:spLocks noGrp="1" noRot="1" noChangeAspect="1" noChangeArrowheads="1" noTextEdit="1"/>
          </p:cNvSpPr>
          <p:nvPr>
            <p:ph type="sldImg"/>
          </p:nvPr>
        </p:nvSpPr>
        <p:spPr>
          <a:xfrm>
            <a:off x="1150938" y="692150"/>
            <a:ext cx="4556125" cy="3416300"/>
          </a:xfrm>
          <a:ln cap="flat"/>
        </p:spPr>
      </p:sp>
      <p:sp>
        <p:nvSpPr>
          <p:cNvPr id="3175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Machine instructions operate on data. The most important general categories of data are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Addresses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Numbers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Characters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Logical data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We shall see, in discussing addressing modes in Chapter 13, that addresses are, in fact, a form of data. In many cases, some calculation must be performed on the operand reference in an instruction to determine the main or virtual memory address. In this context, addresses can be considered to be unsigned integers.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Other common data types are numbers, characters, and logical data, and each of these is briefly examined in this section. Beyond that, some machines define specialized data types or data structures. For example, there may be machine operations that operate directly on a list or a string of characters. </a:t>
            </a:r>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smtClean="0">
                <a:solidFill>
                  <a:schemeClr val="tx1"/>
                </a:solidFill>
                <a:latin typeface="Times New Roman" pitchFamily="-1" charset="0"/>
                <a:ea typeface="+mn-ea"/>
                <a:cs typeface="+mn-cs"/>
              </a:rPr>
              <a:t>All machine languages include numeric data types. Even in nonnumeric data processing, there is a need for numbers to act as counters, field widths, and so forth. An important distinction between numbers used in ordinary mathematics and numbers stored in a computer is that the latter are limited. This is true in two senses. First, there is a limit to the magnitude of numbers representable on a machine and second, in the case of floating-point numbers, a limit to their precision. Thus, the programmer is faced with understanding the consequences of rounding, overflow, and underflow.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Three types of numerical data are common in computers: </a:t>
            </a:r>
            <a:endParaRPr lang="en-US" dirty="0" smtClean="0"/>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Binary integer or binary fixed point </a:t>
            </a:r>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Binary floating point </a:t>
            </a:r>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Decimal </a:t>
            </a:r>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We examined the first two in some detail in Chapter 10. It remains to say a few words about decimal numbers. </a:t>
            </a:r>
          </a:p>
          <a:p>
            <a:pPr lvl="1"/>
            <a:endParaRPr lang="en-US" sz="1200" kern="1200" dirty="0" smtClean="0">
              <a:solidFill>
                <a:schemeClr val="tx1"/>
              </a:solidFill>
              <a:latin typeface="Times New Roman" pitchFamily="-1" charset="0"/>
              <a:ea typeface="ＭＳ Ｐゴシック" pitchFamily="-1" charset="-128"/>
              <a:cs typeface="+mn-cs"/>
            </a:endParaRPr>
          </a:p>
          <a:p>
            <a:pPr lvl="1"/>
            <a:r>
              <a:rPr lang="en-US" sz="1200" kern="1200" dirty="0" smtClean="0">
                <a:solidFill>
                  <a:schemeClr val="tx1"/>
                </a:solidFill>
                <a:latin typeface="Times New Roman" pitchFamily="-1" charset="0"/>
                <a:ea typeface="ＭＳ Ｐゴシック" pitchFamily="-1" charset="-128"/>
                <a:cs typeface="+mn-cs"/>
              </a:rPr>
              <a:t>Although all internal computer operations are binary in nature, the human users of the system deal with decimal numbers. Thus, there is a necessity to convert from decimal to binary on input and from binary to decimal on output. For applications in which there is a great deal of I/O and comparatively little, comparatively simple computation, it is preferable to store and operate on the numbers in decimal form. The most common representation for this purpose is </a:t>
            </a:r>
            <a:r>
              <a:rPr lang="en-US" sz="1200" b="1" kern="1200" dirty="0" smtClean="0">
                <a:solidFill>
                  <a:schemeClr val="tx1"/>
                </a:solidFill>
                <a:latin typeface="Times New Roman" pitchFamily="-1" charset="0"/>
                <a:ea typeface="ＭＳ Ｐゴシック" pitchFamily="-1" charset="-128"/>
                <a:cs typeface="+mn-cs"/>
              </a:rPr>
              <a:t>packed decimal. </a:t>
            </a:r>
          </a:p>
          <a:p>
            <a:pPr lvl="1"/>
            <a:endParaRPr lang="en-US" sz="1200" b="1" kern="1200" dirty="0" smtClean="0">
              <a:solidFill>
                <a:schemeClr val="tx1"/>
              </a:solidFill>
              <a:latin typeface="Times New Roman" pitchFamily="-1" charset="0"/>
              <a:ea typeface="ＭＳ Ｐゴシック" pitchFamily="-1" charset="-128"/>
              <a:cs typeface="+mn-cs"/>
            </a:endParaRPr>
          </a:p>
          <a:p>
            <a:r>
              <a:rPr lang="en-US" sz="1200" kern="1200" dirty="0" smtClean="0">
                <a:solidFill>
                  <a:schemeClr val="tx1"/>
                </a:solidFill>
                <a:latin typeface="Times New Roman" pitchFamily="-1" charset="0"/>
                <a:ea typeface="+mn-ea"/>
                <a:cs typeface="+mn-cs"/>
              </a:rPr>
              <a:t>With packed decimal, each decimal digit is represented by a 4-bit code, in the obvious way, with two digits stored per byte. Thus, 0 = 000, 1 = 0001, c, 8 = 1000, and 9 = 1001. Note that this is a rather inefficient code because only 10 of 16 possible 4-bit values are used. To form numbers, 4-bit codes are strung together, usually in multiples of 8 bits. Thus, the code for 246 is 0000 0010 0100 0110. This code is clearly less compact than a straight binary representation, but it avoids the con- version overhead. Negative numbers can be represented by including a 4-bit sign digit at either the left or right end of a string of packed decimal digits. Standard sign values are 1100 for positive (+) and 1101 for negative (-).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Many machines provide arithmetic instructions for performing operations directly on packed decimal numbers. The algorithms are quite similar to those described in Section 9.3 but must take into account the decimal carry operation. </a:t>
            </a:r>
            <a:endParaRPr lang="en-US" dirty="0" smtClean="0"/>
          </a:p>
          <a:p>
            <a:pPr lvl="1"/>
            <a:endParaRPr lang="en-US" sz="1200" kern="1200" dirty="0" smtClean="0">
              <a:solidFill>
                <a:schemeClr val="tx1"/>
              </a:solidFill>
              <a:latin typeface="Times New Roman" pitchFamily="-1" charset="0"/>
              <a:ea typeface="ＭＳ Ｐゴシック" pitchFamily="-1" charset="-128"/>
              <a:cs typeface="+mn-cs"/>
            </a:endParaRPr>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Times New Roman" pitchFamily="-1" charset="0"/>
                <a:ea typeface="+mn-ea"/>
                <a:cs typeface="+mn-cs"/>
              </a:rPr>
              <a:t>A common form of data is text or character strings. While textual data are most convenient for human beings, they cannot, in character form, be easily stored or transmitted by data processing and communications systems. Such systems are designed for binary data. Thus, a number of codes have been devised by which characters are represented by a sequence of bits. Perhaps the earliest common example of this is the Morse code. Today, the most commonly used character code in the International Reference Alphabet (IRA), referred to in the United States as the American Standard Code for Information Interchange (ASCII; see Appendix F). Each character in this code is represented by a unique 7-bit pattern; thus, 128 different characters can be represented. This is a larger number than is necessary to represent printable characters, and some of the patterns represent </a:t>
            </a:r>
            <a:r>
              <a:rPr lang="en-US" sz="1200" i="1" kern="1200" dirty="0" smtClean="0">
                <a:solidFill>
                  <a:schemeClr val="tx1"/>
                </a:solidFill>
                <a:latin typeface="Times New Roman" pitchFamily="-1" charset="0"/>
                <a:ea typeface="+mn-ea"/>
                <a:cs typeface="+mn-cs"/>
              </a:rPr>
              <a:t>control </a:t>
            </a:r>
            <a:r>
              <a:rPr lang="en-US" sz="1200" kern="1200" dirty="0" smtClean="0">
                <a:solidFill>
                  <a:schemeClr val="tx1"/>
                </a:solidFill>
                <a:latin typeface="Times New Roman" pitchFamily="-1" charset="0"/>
                <a:ea typeface="+mn-ea"/>
                <a:cs typeface="+mn-cs"/>
              </a:rPr>
              <a:t>characters. Some of these control characters have to do with controlling the printing of characters on a page. Others are concerned with communications procedures. IRA-encoded characters are almost always stored and transmitted using 8 bits per character. The eighth bit may be set to 0 or used as a parity bit for error detection. In the latter case, the bit is set such that the total number of binary 1s in each octet is always odd (odd parity) or always even (even parity).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Note in Table H.1 (Appendix H) that for the IRA bit pattern 011XXXX, the digits 0 through 9 are represented by their binary equivalents, 0000 through 1001, in the rightmost 4 bits. This is the same code as packed decimal. This facilitates con- version between 7-bit IRA and 4-bit packed decimal representation.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Another code used to encode characters is the Extended Binary Coded Decimal Interchange Code (EBCDIC). EBCDIC is used on IBM mainframes. It is an 8-bit code. As with IRA, EBCDIC is compatible with packed decimal. In the case of EBCDIC, the codes 11110000 through 11111001 represent the digits 0 through 9. </a:t>
            </a:r>
            <a:endParaRPr lang="en-US" dirty="0" smtClean="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Normally, each word or other addressable unit (byte, halfword, and so on) is treated as a single unit of data. It is sometimes useful, however, to consider an </a:t>
            </a:r>
            <a:r>
              <a:rPr lang="en-US" sz="1200" i="1" kern="1200" dirty="0" smtClean="0">
                <a:solidFill>
                  <a:schemeClr val="tx1"/>
                </a:solidFill>
                <a:latin typeface="Times New Roman" pitchFamily="-1" charset="0"/>
                <a:ea typeface="+mn-ea"/>
                <a:cs typeface="+mn-cs"/>
              </a:rPr>
              <a:t>n-bit </a:t>
            </a:r>
            <a:r>
              <a:rPr lang="en-US" sz="1200" kern="1200" dirty="0" smtClean="0">
                <a:solidFill>
                  <a:schemeClr val="tx1"/>
                </a:solidFill>
                <a:latin typeface="Times New Roman" pitchFamily="-1" charset="0"/>
                <a:ea typeface="+mn-ea"/>
                <a:cs typeface="+mn-cs"/>
              </a:rPr>
              <a:t>unit as consisting of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1-bit items of data, each item having the value 0 or 1. When data are viewed this way, they are considered to be </a:t>
            </a:r>
            <a:r>
              <a:rPr lang="en-US" sz="1200" i="1" kern="1200" dirty="0" smtClean="0">
                <a:solidFill>
                  <a:schemeClr val="tx1"/>
                </a:solidFill>
                <a:latin typeface="Times New Roman" pitchFamily="-1" charset="0"/>
                <a:ea typeface="+mn-ea"/>
                <a:cs typeface="+mn-cs"/>
              </a:rPr>
              <a:t>logical </a:t>
            </a:r>
            <a:r>
              <a:rPr lang="en-US" sz="1200" kern="1200" dirty="0" smtClean="0">
                <a:solidFill>
                  <a:schemeClr val="tx1"/>
                </a:solidFill>
                <a:latin typeface="Times New Roman" pitchFamily="-1" charset="0"/>
                <a:ea typeface="+mn-ea"/>
                <a:cs typeface="+mn-cs"/>
              </a:rPr>
              <a:t>data. </a:t>
            </a:r>
            <a:endParaRPr lang="en-US" dirty="0" smtClean="0"/>
          </a:p>
          <a:p>
            <a:endParaRPr lang="en-US" dirty="0" smtClean="0"/>
          </a:p>
          <a:p>
            <a:r>
              <a:rPr lang="en-US" sz="1200" kern="1200" dirty="0" smtClean="0">
                <a:solidFill>
                  <a:schemeClr val="tx1"/>
                </a:solidFill>
                <a:latin typeface="Times New Roman" pitchFamily="-1" charset="0"/>
                <a:ea typeface="+mn-ea"/>
                <a:cs typeface="+mn-cs"/>
              </a:rPr>
              <a:t>There are two advantages to the bit-oriented view. First, we may sometimes wish to store an array of Boolean or binary data items, in which each item can take on only the values 1 (true) and 0 (false). With logical data, memory can be used most efficiently for this storage. Second, there are occasions when we wish to manipulate the bits of a data item. For example, if floating-point operations are implemented in software, we need to be able to shift significant bits in some operations. Another example: To convert from IRA to packed decimal, we need to extract the rightmost 4 bits of each byte.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Note that, in the preceding examples, the same data are treated sometimes as logical and other times as numerical or text. The “type” of a unit of data is deter- mined by the operation being performed on it. While this is not normally the case in high-level languages, it is almost always the case with machine language. </a:t>
            </a:r>
            <a:endParaRPr lang="en-US" dirty="0" smtClean="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The x86 can deal with data types of 8 (byte), 16 (word), 32 (doubleword), 64 (quad- word), and 128 (double quadword) bits in length. To allow maximum flexibility in data structures and efficient memory utilization, words need not be aligned at even- numbered addresses; doublewords need not be aligned at addresses evenly divisible by 4; and quadwords need not be aligned at addresses evenly divisible by 8; and so on. However, when data are accessed across a 32-bit bus, data transfers take place in units of doublewords, beginning at addresses divisible by 4. The processor converts the request for misaligned values into a sequence of requests for the bus transfer. As with all of the Intel 80x86 machines, the x86 uses the little-endian style; that is, the least significant byte is stored in the lowest address (see Appendix 12A for a discussion of endianness).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byte, word, doubleword, quadword, and double quadword are referred to as general data types. In addition, the x86 supports an impressive array of specific data types that are recognized and operated on by particular instructions. Table 12.2 summarizes these types. </a:t>
            </a:r>
            <a:endParaRPr lang="en-US" dirty="0" smtClean="0"/>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12.4 illustrates the x86 numerical data types. The signed integers are in twos complement representation and may be 16, 32, or 64 bits long. The floating- point type actually refers to a set of types that are used by the floating-point unit and operated on by floating-point instructions. The three floating-point representations conform to the IEEE 754 standard. </a:t>
            </a:r>
            <a:endParaRPr lang="en-US" dirty="0" smtClean="0"/>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16</a:t>
            </a:r>
          </a:p>
        </p:txBody>
      </p:sp>
      <p:sp>
        <p:nvSpPr>
          <p:cNvPr id="3584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6" name="Rectangle 6"/>
          <p:cNvSpPr>
            <a:spLocks noGrp="1" noRot="1" noChangeAspect="1" noChangeArrowheads="1" noTextEdit="1"/>
          </p:cNvSpPr>
          <p:nvPr>
            <p:ph type="sldImg"/>
          </p:nvPr>
        </p:nvSpPr>
        <p:spPr>
          <a:xfrm>
            <a:off x="1150938" y="692150"/>
            <a:ext cx="4556125" cy="3416300"/>
          </a:xfrm>
          <a:ln cap="flat"/>
        </p:spPr>
      </p:sp>
      <p:sp>
        <p:nvSpPr>
          <p:cNvPr id="35847"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 packed SIMD (single-instruction-multiple-data) data types were introduced to the x86 architecture as part of the extensions of the instruction set to optimize performance of multimedia applications. These extensions include MMX (multimedia extensions) and SSE (streaming SIMD extensions). The basic concept is that multiple operands are packed into a single referenced memory item and that these multiple operands are operated on in parallel. The data types are as follows: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Packed byte and packed byte integer: </a:t>
            </a:r>
            <a:r>
              <a:rPr lang="en-US" sz="1200" kern="1200" dirty="0" smtClean="0">
                <a:solidFill>
                  <a:schemeClr val="tx1"/>
                </a:solidFill>
                <a:latin typeface="Times New Roman" pitchFamily="-1" charset="0"/>
                <a:ea typeface="+mn-ea"/>
                <a:cs typeface="+mn-cs"/>
              </a:rPr>
              <a:t>Bytes packed into a 64-bit quadword or 128-bit double quadword, interpreted as a bit field or as an integer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Packed word and packed word integer: </a:t>
            </a:r>
            <a:r>
              <a:rPr lang="en-US" sz="1200" b="0" kern="1200" dirty="0" smtClean="0">
                <a:solidFill>
                  <a:schemeClr val="tx1"/>
                </a:solidFill>
                <a:latin typeface="Times New Roman" pitchFamily="-1" charset="0"/>
                <a:ea typeface="+mn-ea"/>
                <a:cs typeface="+mn-cs"/>
              </a:rPr>
              <a:t>16-bit words packed into a 64-bit quad-</a:t>
            </a:r>
            <a:r>
              <a:rPr lang="en-US" sz="1200" b="1" kern="1200" dirty="0" smtClean="0">
                <a:solidFill>
                  <a:schemeClr val="tx1"/>
                </a:solidFill>
                <a:latin typeface="Times New Roman" pitchFamily="-1" charset="0"/>
                <a:ea typeface="+mn-ea"/>
                <a:cs typeface="+mn-cs"/>
              </a:rPr>
              <a:t> </a:t>
            </a:r>
            <a:r>
              <a:rPr lang="en-US" sz="1200" kern="1200" dirty="0" smtClean="0">
                <a:solidFill>
                  <a:schemeClr val="tx1"/>
                </a:solidFill>
                <a:latin typeface="Times New Roman" pitchFamily="-1" charset="0"/>
                <a:ea typeface="+mn-ea"/>
                <a:cs typeface="+mn-cs"/>
              </a:rPr>
              <a:t>word or 128-bit double quadword, interpreted as a bit field or as an integer </a:t>
            </a:r>
          </a:p>
          <a:p>
            <a:endParaRPr lang="en-GB" dirty="0" smtClean="0"/>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Packed doubleword and packed doubleword integer: </a:t>
            </a:r>
            <a:r>
              <a:rPr lang="en-US" sz="1200" kern="1200" dirty="0" smtClean="0">
                <a:solidFill>
                  <a:schemeClr val="tx1"/>
                </a:solidFill>
                <a:latin typeface="Times New Roman" pitchFamily="-1" charset="0"/>
                <a:ea typeface="+mn-ea"/>
                <a:cs typeface="+mn-cs"/>
              </a:rPr>
              <a:t>32-bit doublewords packed into a 64-bit quadword or 128-bit double quadword, interpreted as a bit field or as an integer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Packed quadword and packed qaudword integer: </a:t>
            </a:r>
            <a:r>
              <a:rPr lang="en-US" sz="1200" kern="1200" dirty="0" smtClean="0">
                <a:solidFill>
                  <a:schemeClr val="tx1"/>
                </a:solidFill>
                <a:latin typeface="Times New Roman" pitchFamily="-1" charset="0"/>
                <a:ea typeface="+mn-ea"/>
                <a:cs typeface="+mn-cs"/>
              </a:rPr>
              <a:t>Two 64-bit quadwords packed into a 128-bit double quadword, interpreted as a bit field or as an integer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Packed single-precision floating-point and packed double-precision floating- point: </a:t>
            </a:r>
            <a:r>
              <a:rPr lang="en-US" sz="1200" kern="1200" dirty="0" smtClean="0">
                <a:solidFill>
                  <a:schemeClr val="tx1"/>
                </a:solidFill>
                <a:latin typeface="Times New Roman" pitchFamily="-1" charset="0"/>
                <a:ea typeface="+mn-ea"/>
                <a:cs typeface="+mn-cs"/>
              </a:rPr>
              <a:t>Four 32-bit floating-point or two 64-bit floating-point values packed into a 128-bit double quadword </a:t>
            </a:r>
            <a:endParaRPr lang="en-US" dirty="0" smtClean="0"/>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r>
              <a:rPr lang="en-US" sz="1200" kern="1200" dirty="0" smtClean="0">
                <a:solidFill>
                  <a:schemeClr val="tx1"/>
                </a:solidFill>
                <a:latin typeface="Times New Roman" pitchFamily="-1" charset="0"/>
                <a:ea typeface="+mn-ea"/>
                <a:cs typeface="+mn-cs"/>
              </a:rPr>
              <a:t>ARM processors support data types of 8 (byte), 16 (halfword), and 32 (word) bits in length. Normally, halfword access should be halfword aligned and word accesses should be word aligned. For nonaligned access attempts, the architecture supports three alternatives.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Default case: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The address is treated as truncated, with address bits[1:0] treated as zero for word accesses, and address bit[0] treated as zero for halfword accesses.</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Load single word ARM instructions are architecturally defined to rotate right the word-aligned data transferred by a non word-aligned address one, two, or three bytes depending on the value of the two least significant address bits.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Alignment checking: </a:t>
            </a:r>
            <a:r>
              <a:rPr lang="en-US" sz="1200" kern="1200" dirty="0" smtClean="0">
                <a:solidFill>
                  <a:schemeClr val="tx1"/>
                </a:solidFill>
                <a:latin typeface="Times New Roman" pitchFamily="-1" charset="0"/>
                <a:ea typeface="+mn-ea"/>
                <a:cs typeface="+mn-cs"/>
              </a:rPr>
              <a:t>When the appropriate control bit is set, a data abort signal indicates an alignment fault for attempting unaligned access. </a:t>
            </a:r>
            <a:endParaRPr lang="en-US" dirty="0" smtClean="0"/>
          </a:p>
          <a:p>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r>
              <a:rPr lang="en-US" sz="1200" b="1" kern="1200" dirty="0" smtClean="0">
                <a:solidFill>
                  <a:schemeClr val="tx1"/>
                </a:solidFill>
                <a:latin typeface="Times New Roman" pitchFamily="-1" charset="0"/>
                <a:ea typeface="+mn-ea"/>
                <a:cs typeface="+mn-cs"/>
              </a:rPr>
              <a:t>Unaligned access: </a:t>
            </a:r>
            <a:r>
              <a:rPr lang="en-US" sz="1200" b="0" kern="1200" dirty="0" smtClean="0">
                <a:solidFill>
                  <a:schemeClr val="tx1"/>
                </a:solidFill>
                <a:latin typeface="Times New Roman" pitchFamily="-1" charset="0"/>
                <a:ea typeface="+mn-ea"/>
                <a:cs typeface="+mn-cs"/>
              </a:rPr>
              <a:t>When this option is enabled, the processor uses one or more </a:t>
            </a:r>
            <a:r>
              <a:rPr lang="en-US" sz="1200" kern="1200" dirty="0" smtClean="0">
                <a:solidFill>
                  <a:schemeClr val="tx1"/>
                </a:solidFill>
                <a:latin typeface="Times New Roman" pitchFamily="-1" charset="0"/>
                <a:ea typeface="+mn-ea"/>
                <a:cs typeface="+mn-cs"/>
              </a:rPr>
              <a:t>memory accesses to generate the required transfer of adjacent bytes transparently to the programmer.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For all three data types (byte, halfword, and word) an unsigned interpretation is supported, in which the value represents an unsigned, nonnegative integer. All three data types can also be used for twos complement signed integers.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majority of ARM processor implementations do not provide floating- point hardware, which saves power and area. If floating-point arithmetic is required in such processors, it must be implemented in software. ARM does support an optional floating-point coprocessor that supports the single- and double-precision floating point data types defined in IEEE 754. </a:t>
            </a:r>
            <a:endParaRPr lang="en-US" dirty="0" smtClean="0"/>
          </a:p>
          <a:p>
            <a:r>
              <a:rPr lang="en-US" sz="1200" kern="1200" dirty="0" smtClean="0">
                <a:solidFill>
                  <a:schemeClr val="tx1"/>
                </a:solidFill>
                <a:latin typeface="Times New Roman" pitchFamily="-1" charset="0"/>
                <a:ea typeface="+mn-ea"/>
                <a:cs typeface="+mn-cs"/>
              </a:rPr>
              <a:t> </a:t>
            </a:r>
            <a:endParaRPr lang="en-US" dirty="0" smtClean="0"/>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 number of different opcodes varies widely from machine to machine. However, the same general types of operations are found on all machines. A useful and typical categorization is the following: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Data transfer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Arithmetic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Logical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Conversion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I/O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System control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Transfer of control </a:t>
            </a:r>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Table 12.3 (based on [HAYE98]) lists common instruction types in each category. </a:t>
            </a:r>
            <a:endParaRPr lang="en-US" dirty="0" smtClean="0"/>
          </a:p>
          <a:p>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GB" dirty="0" smtClean="0"/>
              <a:t>Table 12.3, page 2 of 2</a:t>
            </a:r>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This section provides a brief survey of these various types of operations, together with a brief discussion of the actions taken by the processor to execute a particular type of operation (summarized in Table 12.4). </a:t>
            </a:r>
            <a:r>
              <a:rPr lang="en-US" sz="1200" b="0" i="0" u="none" strike="noStrike" kern="1200" baseline="0" dirty="0" smtClean="0">
                <a:solidFill>
                  <a:schemeClr val="tx1"/>
                </a:solidFill>
                <a:latin typeface="Times New Roman" pitchFamily="-1" charset="0"/>
                <a:ea typeface="+mn-ea"/>
                <a:cs typeface="+mn-cs"/>
              </a:rPr>
              <a:t>The latter topic is examined in more detail in Chapter 14.</a:t>
            </a: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x86 provides a complex array of operation types, including a number of specialized instructions. The intent was to provide tools for the compiler writer to produce optimized machine language translation of high-level language programs. Table 12.8 lists the types and gives examples of each. Most of these are the conventional instructions found in most machine instruction sets, but several types of instructions are tailored to the x86 architecture and are of particular interest. </a:t>
            </a:r>
            <a:r>
              <a:rPr lang="en-US" sz="1200" kern="1200" baseline="0" dirty="0" smtClean="0">
                <a:solidFill>
                  <a:schemeClr val="tx1"/>
                </a:solidFill>
                <a:latin typeface="Times New Roman" pitchFamily="-1" charset="0"/>
                <a:ea typeface="+mn-ea"/>
                <a:cs typeface="+mn-cs"/>
              </a:rPr>
              <a:t> </a:t>
            </a:r>
            <a:r>
              <a:rPr lang="en-US" sz="1200" b="0" i="0" u="none" strike="noStrike" kern="1200" baseline="0" dirty="0" smtClean="0">
                <a:solidFill>
                  <a:schemeClr val="tx1"/>
                </a:solidFill>
                <a:latin typeface="Times New Roman" pitchFamily="-1" charset="0"/>
                <a:ea typeface="+mn-ea"/>
                <a:cs typeface="+mn-cs"/>
              </a:rPr>
              <a:t>Appendix A of [CART06] lists the x86 instructions, together with the operands</a:t>
            </a:r>
          </a:p>
          <a:p>
            <a:r>
              <a:rPr lang="en-US" sz="1200" b="0" i="0" u="none" strike="noStrike" kern="1200" baseline="0" dirty="0" smtClean="0">
                <a:solidFill>
                  <a:schemeClr val="tx1"/>
                </a:solidFill>
                <a:latin typeface="Times New Roman" pitchFamily="-1" charset="0"/>
                <a:ea typeface="+mn-ea"/>
                <a:cs typeface="+mn-cs"/>
              </a:rPr>
              <a:t>for each and the effect of the instruction on the condition codes. Appendix B of</a:t>
            </a:r>
          </a:p>
          <a:p>
            <a:r>
              <a:rPr lang="en-US" sz="1200" b="0" i="0" u="none" strike="noStrike" kern="1200" baseline="0" dirty="0" smtClean="0">
                <a:solidFill>
                  <a:schemeClr val="tx1"/>
                </a:solidFill>
                <a:latin typeface="Times New Roman" pitchFamily="-1" charset="0"/>
                <a:ea typeface="+mn-ea"/>
                <a:cs typeface="+mn-cs"/>
              </a:rPr>
              <a:t>the NASM assembly language manual [NASM12] provides a more detailed description</a:t>
            </a:r>
          </a:p>
          <a:p>
            <a:r>
              <a:rPr lang="en-US" sz="1200" b="0" i="0" u="none" strike="noStrike" kern="1200" baseline="0" dirty="0" smtClean="0">
                <a:solidFill>
                  <a:schemeClr val="tx1"/>
                </a:solidFill>
                <a:latin typeface="Times New Roman" pitchFamily="-1" charset="0"/>
                <a:ea typeface="+mn-ea"/>
                <a:cs typeface="+mn-cs"/>
              </a:rPr>
              <a:t>of each x86 instruction. Both documents are available at </a:t>
            </a:r>
            <a:r>
              <a:rPr lang="en-US" sz="1200" b="0" i="0" u="none" strike="noStrike" kern="1200" baseline="0" dirty="0" err="1" smtClean="0">
                <a:solidFill>
                  <a:schemeClr val="tx1"/>
                </a:solidFill>
                <a:latin typeface="Times New Roman" pitchFamily="-1" charset="0"/>
                <a:ea typeface="+mn-ea"/>
                <a:cs typeface="+mn-cs"/>
              </a:rPr>
              <a:t>box.com</a:t>
            </a:r>
            <a:r>
              <a:rPr lang="en-US" sz="1200" b="0" i="0" u="none" strike="noStrike" kern="1200" baseline="0" dirty="0" smtClean="0">
                <a:solidFill>
                  <a:schemeClr val="tx1"/>
                </a:solidFill>
                <a:latin typeface="Times New Roman" pitchFamily="-1" charset="0"/>
                <a:ea typeface="+mn-ea"/>
                <a:cs typeface="+mn-cs"/>
              </a:rPr>
              <a:t>/COA10e.</a:t>
            </a:r>
          </a:p>
          <a:p>
            <a:endParaRPr lang="en-US" sz="1200" b="0" i="0" u="none" strike="noStrike" kern="1200" baseline="0" dirty="0" smtClean="0">
              <a:solidFill>
                <a:schemeClr val="tx1"/>
              </a:solidFill>
              <a:latin typeface="Times New Roman" pitchFamily="-1" charset="0"/>
              <a:ea typeface="+mn-ea"/>
              <a:cs typeface="+mn-cs"/>
            </a:endParaRPr>
          </a:p>
          <a:p>
            <a:endParaRPr lang="en-GB" dirty="0" smtClean="0"/>
          </a:p>
          <a:p>
            <a:r>
              <a:rPr lang="en-US" sz="1200" b="0" i="0" u="none" strike="noStrike" kern="1200" baseline="0" dirty="0" smtClean="0">
                <a:solidFill>
                  <a:schemeClr val="tx1"/>
                </a:solidFill>
                <a:latin typeface="Times New Roman" pitchFamily="-1" charset="0"/>
                <a:ea typeface="+mn-ea"/>
                <a:cs typeface="+mn-cs"/>
              </a:rPr>
              <a:t> The x86 provides four instructions to support</a:t>
            </a:r>
          </a:p>
          <a:p>
            <a:r>
              <a:rPr lang="en-US" sz="1200" b="0" i="0" u="none" strike="noStrike" kern="1200" baseline="0" dirty="0" smtClean="0">
                <a:solidFill>
                  <a:schemeClr val="tx1"/>
                </a:solidFill>
                <a:latin typeface="Times New Roman" pitchFamily="-1" charset="0"/>
                <a:ea typeface="+mn-ea"/>
                <a:cs typeface="+mn-cs"/>
              </a:rPr>
              <a:t>procedure call/return: CALL, ENTER, LEAVE, RETURN. It will be instructive to</a:t>
            </a:r>
          </a:p>
          <a:p>
            <a:r>
              <a:rPr lang="en-US" sz="1200" b="0" i="0" u="none" strike="noStrike" kern="1200" baseline="0" dirty="0" smtClean="0">
                <a:solidFill>
                  <a:schemeClr val="tx1"/>
                </a:solidFill>
                <a:latin typeface="Times New Roman" pitchFamily="-1" charset="0"/>
                <a:ea typeface="+mn-ea"/>
                <a:cs typeface="+mn-cs"/>
              </a:rPr>
              <a:t>look at the support provided by these instructions. Recall from Figure 12.10 that a</a:t>
            </a:r>
          </a:p>
          <a:p>
            <a:r>
              <a:rPr lang="en-US" sz="1200" b="0" i="0" u="none" strike="noStrike" kern="1200" baseline="0" dirty="0" smtClean="0">
                <a:solidFill>
                  <a:schemeClr val="tx1"/>
                </a:solidFill>
                <a:latin typeface="Times New Roman" pitchFamily="-1" charset="0"/>
                <a:ea typeface="+mn-ea"/>
                <a:cs typeface="+mn-cs"/>
              </a:rPr>
              <a:t>common means of implementing the procedure call/return mechanism is via the use</a:t>
            </a:r>
          </a:p>
          <a:p>
            <a:r>
              <a:rPr lang="en-US" sz="1200" b="0" i="0" u="none" strike="noStrike" kern="1200" baseline="0" dirty="0" smtClean="0">
                <a:solidFill>
                  <a:schemeClr val="tx1"/>
                </a:solidFill>
                <a:latin typeface="Times New Roman" pitchFamily="-1" charset="0"/>
                <a:ea typeface="+mn-ea"/>
                <a:cs typeface="+mn-cs"/>
              </a:rPr>
              <a:t>of stack frames. When a new procedure is called, the following must be performed</a:t>
            </a:r>
          </a:p>
          <a:p>
            <a:r>
              <a:rPr lang="en-US" sz="1200" b="0" i="0" u="none" strike="noStrike" kern="1200" baseline="0" dirty="0" smtClean="0">
                <a:solidFill>
                  <a:schemeClr val="tx1"/>
                </a:solidFill>
                <a:latin typeface="Times New Roman" pitchFamily="-1" charset="0"/>
                <a:ea typeface="+mn-ea"/>
                <a:cs typeface="+mn-cs"/>
              </a:rPr>
              <a:t>upon entry to the new procedure:</a:t>
            </a:r>
          </a:p>
          <a:p>
            <a:endParaRPr lang="en-US" sz="1200" b="1" i="0" u="none" strike="noStrike" kern="1200" baseline="0" dirty="0" smtClean="0">
              <a:solidFill>
                <a:schemeClr val="tx1"/>
              </a:solidFill>
              <a:latin typeface="Times New Roman" pitchFamily="-1" charset="0"/>
              <a:ea typeface="+mn-ea"/>
              <a:cs typeface="+mn-cs"/>
            </a:endParaRPr>
          </a:p>
          <a:p>
            <a:r>
              <a:rPr lang="en-US" sz="1200" b="1" i="0" u="none" strike="noStrike" kern="1200" baseline="0" dirty="0" smtClean="0">
                <a:solidFill>
                  <a:schemeClr val="tx1"/>
                </a:solidFill>
                <a:latin typeface="Times New Roman" pitchFamily="-1" charset="0"/>
                <a:ea typeface="+mn-ea"/>
                <a:cs typeface="+mn-cs"/>
              </a:rPr>
              <a:t>■ </a:t>
            </a:r>
            <a:r>
              <a:rPr lang="en-US" sz="1200" b="0" i="0" u="none" strike="noStrike" kern="1200" baseline="0" dirty="0" smtClean="0">
                <a:solidFill>
                  <a:schemeClr val="tx1"/>
                </a:solidFill>
                <a:latin typeface="Times New Roman" pitchFamily="-1" charset="0"/>
                <a:ea typeface="+mn-ea"/>
                <a:cs typeface="+mn-cs"/>
              </a:rPr>
              <a:t> Push the return point on the stack.</a:t>
            </a:r>
          </a:p>
          <a:p>
            <a:endParaRPr lang="en-US" sz="1200" b="1" i="0" u="none" strike="noStrike" kern="1200" baseline="0" dirty="0" smtClean="0">
              <a:solidFill>
                <a:schemeClr val="tx1"/>
              </a:solidFill>
              <a:latin typeface="Times New Roman" pitchFamily="-1" charset="0"/>
              <a:ea typeface="+mn-ea"/>
              <a:cs typeface="+mn-cs"/>
            </a:endParaRPr>
          </a:p>
          <a:p>
            <a:r>
              <a:rPr lang="en-US" sz="1200" b="1" i="0" u="none" strike="noStrike" kern="1200" baseline="0" dirty="0" smtClean="0">
                <a:solidFill>
                  <a:schemeClr val="tx1"/>
                </a:solidFill>
                <a:latin typeface="Times New Roman" pitchFamily="-1" charset="0"/>
                <a:ea typeface="+mn-ea"/>
                <a:cs typeface="+mn-cs"/>
              </a:rPr>
              <a:t>■ </a:t>
            </a:r>
            <a:r>
              <a:rPr lang="en-US" sz="1200" b="0" i="0" u="none" strike="noStrike" kern="1200" baseline="0" dirty="0" smtClean="0">
                <a:solidFill>
                  <a:schemeClr val="tx1"/>
                </a:solidFill>
                <a:latin typeface="Times New Roman" pitchFamily="-1" charset="0"/>
                <a:ea typeface="+mn-ea"/>
                <a:cs typeface="+mn-cs"/>
              </a:rPr>
              <a:t> Push the current frame pointer on the stack.</a:t>
            </a:r>
          </a:p>
          <a:p>
            <a:endParaRPr lang="en-US" sz="1200" b="1" i="0" u="none" strike="noStrike" kern="1200" baseline="0" dirty="0" smtClean="0">
              <a:solidFill>
                <a:schemeClr val="tx1"/>
              </a:solidFill>
              <a:latin typeface="Times New Roman" pitchFamily="-1" charset="0"/>
              <a:ea typeface="+mn-ea"/>
              <a:cs typeface="+mn-cs"/>
            </a:endParaRPr>
          </a:p>
          <a:p>
            <a:r>
              <a:rPr lang="en-US" sz="1200" b="1" i="0" u="none" strike="noStrike" kern="1200" baseline="0" dirty="0" smtClean="0">
                <a:solidFill>
                  <a:schemeClr val="tx1"/>
                </a:solidFill>
                <a:latin typeface="Times New Roman" pitchFamily="-1" charset="0"/>
                <a:ea typeface="+mn-ea"/>
                <a:cs typeface="+mn-cs"/>
              </a:rPr>
              <a:t>■ </a:t>
            </a:r>
            <a:r>
              <a:rPr lang="en-US" sz="1200" b="0" i="0" u="none" strike="noStrike" kern="1200" baseline="0" dirty="0" smtClean="0">
                <a:solidFill>
                  <a:schemeClr val="tx1"/>
                </a:solidFill>
                <a:latin typeface="Times New Roman" pitchFamily="-1" charset="0"/>
                <a:ea typeface="+mn-ea"/>
                <a:cs typeface="+mn-cs"/>
              </a:rPr>
              <a:t> Copy the stack pointer as the new value of the frame pointer.</a:t>
            </a:r>
          </a:p>
          <a:p>
            <a:endParaRPr lang="en-US" sz="1200" b="1" i="0" u="none" strike="noStrike" kern="1200" baseline="0" dirty="0" smtClean="0">
              <a:solidFill>
                <a:schemeClr val="tx1"/>
              </a:solidFill>
              <a:latin typeface="Times New Roman" pitchFamily="-1" charset="0"/>
              <a:ea typeface="+mn-ea"/>
              <a:cs typeface="+mn-cs"/>
            </a:endParaRPr>
          </a:p>
          <a:p>
            <a:r>
              <a:rPr lang="en-US" sz="1200" b="1" i="0" u="none" strike="noStrike" kern="1200" baseline="0" dirty="0" smtClean="0">
                <a:solidFill>
                  <a:schemeClr val="tx1"/>
                </a:solidFill>
                <a:latin typeface="Times New Roman" pitchFamily="-1" charset="0"/>
                <a:ea typeface="+mn-ea"/>
                <a:cs typeface="+mn-cs"/>
              </a:rPr>
              <a:t>■ </a:t>
            </a:r>
            <a:r>
              <a:rPr lang="en-US" sz="1200" b="0" i="0" u="none" strike="noStrike" kern="1200" baseline="0" dirty="0" smtClean="0">
                <a:solidFill>
                  <a:schemeClr val="tx1"/>
                </a:solidFill>
                <a:latin typeface="Times New Roman" pitchFamily="-1" charset="0"/>
                <a:ea typeface="+mn-ea"/>
                <a:cs typeface="+mn-cs"/>
              </a:rPr>
              <a:t> Adjust the stack pointer to allocate a frame.</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The CALL instruction pushes the current instruction pointer value onto the stack</a:t>
            </a:r>
          </a:p>
          <a:p>
            <a:r>
              <a:rPr lang="en-US" sz="1200" b="0" i="0" u="none" strike="noStrike" kern="1200" baseline="0" dirty="0" smtClean="0">
                <a:solidFill>
                  <a:schemeClr val="tx1"/>
                </a:solidFill>
                <a:latin typeface="Times New Roman" pitchFamily="-1" charset="0"/>
                <a:ea typeface="+mn-ea"/>
                <a:cs typeface="+mn-cs"/>
              </a:rPr>
              <a:t>and causes a jump to the entry point of the procedure by placing the address of the</a:t>
            </a:r>
          </a:p>
          <a:p>
            <a:r>
              <a:rPr lang="en-US" sz="1200" b="0" i="0" u="none" strike="noStrike" kern="1200" baseline="0" dirty="0" smtClean="0">
                <a:solidFill>
                  <a:schemeClr val="tx1"/>
                </a:solidFill>
                <a:latin typeface="Times New Roman" pitchFamily="-1" charset="0"/>
                <a:ea typeface="+mn-ea"/>
                <a:cs typeface="+mn-cs"/>
              </a:rPr>
              <a:t>entry point in the instruction pointer. In the 8088 and 8086 machines, the typical</a:t>
            </a:r>
          </a:p>
          <a:p>
            <a:r>
              <a:rPr lang="en-US" sz="1200" b="0" i="0" u="none" strike="noStrike" kern="1200" baseline="0" dirty="0" smtClean="0">
                <a:solidFill>
                  <a:schemeClr val="tx1"/>
                </a:solidFill>
                <a:latin typeface="Times New Roman" pitchFamily="-1" charset="0"/>
                <a:ea typeface="+mn-ea"/>
                <a:cs typeface="+mn-cs"/>
              </a:rPr>
              <a:t>procedure began with the sequence</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PUSH EBP </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MOV EBP, ESP </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SUB ESP, </a:t>
            </a:r>
            <a:r>
              <a:rPr lang="en-US" sz="1200" b="0" i="0" u="none" strike="noStrike" kern="1200" baseline="0" dirty="0" err="1" smtClean="0">
                <a:solidFill>
                  <a:schemeClr val="tx1"/>
                </a:solidFill>
                <a:latin typeface="Times New Roman" pitchFamily="-1" charset="0"/>
                <a:ea typeface="+mn-ea"/>
                <a:cs typeface="+mn-cs"/>
              </a:rPr>
              <a:t>space_for_locals</a:t>
            </a:r>
            <a:endParaRPr lang="en-US" sz="1200" b="0" i="0" u="none" strike="noStrike" kern="1200" baseline="0" dirty="0" smtClean="0">
              <a:solidFill>
                <a:schemeClr val="tx1"/>
              </a:solidFill>
              <a:latin typeface="Times New Roman" pitchFamily="-1" charset="0"/>
              <a:ea typeface="+mn-ea"/>
              <a:cs typeface="+mn-cs"/>
            </a:endParaRP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 where EBP is the frame pointer and ESP is the stack pointer. In the 80286 and later</a:t>
            </a:r>
          </a:p>
          <a:p>
            <a:r>
              <a:rPr lang="en-US" sz="1200" b="0" i="0" u="none" strike="noStrike" kern="1200" baseline="0" dirty="0" smtClean="0">
                <a:solidFill>
                  <a:schemeClr val="tx1"/>
                </a:solidFill>
                <a:latin typeface="Times New Roman" pitchFamily="-1" charset="0"/>
                <a:ea typeface="+mn-ea"/>
                <a:cs typeface="+mn-cs"/>
              </a:rPr>
              <a:t>machines, the ENTER instruction performs all the aforementioned operations in a</a:t>
            </a:r>
          </a:p>
          <a:p>
            <a:r>
              <a:rPr lang="en-US" sz="1200" b="0" i="0" u="none" strike="noStrike" kern="1200" baseline="0" dirty="0" smtClean="0">
                <a:solidFill>
                  <a:schemeClr val="tx1"/>
                </a:solidFill>
                <a:latin typeface="Times New Roman" pitchFamily="-1" charset="0"/>
                <a:ea typeface="+mn-ea"/>
                <a:cs typeface="+mn-cs"/>
              </a:rPr>
              <a:t>single instruction.</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The ENTER instruction was added to the instruction set to provide direct support</a:t>
            </a:r>
          </a:p>
          <a:p>
            <a:r>
              <a:rPr lang="en-US" sz="1200" b="0" i="0" u="none" strike="noStrike" kern="1200" baseline="0" dirty="0" smtClean="0">
                <a:solidFill>
                  <a:schemeClr val="tx1"/>
                </a:solidFill>
                <a:latin typeface="Times New Roman" pitchFamily="-1" charset="0"/>
                <a:ea typeface="+mn-ea"/>
                <a:cs typeface="+mn-cs"/>
              </a:rPr>
              <a:t>for the compiler. The instruction also includes a feature for support of what are</a:t>
            </a:r>
          </a:p>
          <a:p>
            <a:r>
              <a:rPr lang="en-US" sz="1200" b="0" i="0" u="none" strike="noStrike" kern="1200" baseline="0" dirty="0" smtClean="0">
                <a:solidFill>
                  <a:schemeClr val="tx1"/>
                </a:solidFill>
                <a:latin typeface="Times New Roman" pitchFamily="-1" charset="0"/>
                <a:ea typeface="+mn-ea"/>
                <a:cs typeface="+mn-cs"/>
              </a:rPr>
              <a:t>called nested procedures in languages such as Pascal, COBOL, and Ada (not found</a:t>
            </a:r>
          </a:p>
          <a:p>
            <a:r>
              <a:rPr lang="en-US" sz="1200" b="0" i="0" u="none" strike="noStrike" kern="1200" baseline="0" dirty="0" smtClean="0">
                <a:solidFill>
                  <a:schemeClr val="tx1"/>
                </a:solidFill>
                <a:latin typeface="Times New Roman" pitchFamily="-1" charset="0"/>
                <a:ea typeface="+mn-ea"/>
                <a:cs typeface="+mn-cs"/>
              </a:rPr>
              <a:t>in C or FORTRAN). It turns out that there are better ways of handling nested procedure</a:t>
            </a:r>
          </a:p>
          <a:p>
            <a:r>
              <a:rPr lang="en-US" sz="1200" b="0" i="0" u="none" strike="noStrike" kern="1200" baseline="0" dirty="0" smtClean="0">
                <a:solidFill>
                  <a:schemeClr val="tx1"/>
                </a:solidFill>
                <a:latin typeface="Times New Roman" pitchFamily="-1" charset="0"/>
                <a:ea typeface="+mn-ea"/>
                <a:cs typeface="+mn-cs"/>
              </a:rPr>
              <a:t>calls for these languages. Furthermore, although the ENTER instruction</a:t>
            </a:r>
            <a:endParaRPr lang="en-US" dirty="0" smtClean="0"/>
          </a:p>
          <a:p>
            <a:r>
              <a:rPr lang="en-US" sz="1200" b="0" i="0" u="none" strike="noStrike" kern="1200" baseline="0" dirty="0" smtClean="0">
                <a:solidFill>
                  <a:schemeClr val="tx1"/>
                </a:solidFill>
                <a:latin typeface="Times New Roman" pitchFamily="-1" charset="0"/>
                <a:ea typeface="+mn-ea"/>
                <a:cs typeface="+mn-cs"/>
              </a:rPr>
              <a:t> saves a few bytes of memory compared with the PUSH, MOV, SUB sequence (4</a:t>
            </a:r>
          </a:p>
          <a:p>
            <a:r>
              <a:rPr lang="en-US" sz="1200" b="0" i="0" u="none" strike="noStrike" kern="1200" baseline="0" dirty="0" smtClean="0">
                <a:solidFill>
                  <a:schemeClr val="tx1"/>
                </a:solidFill>
                <a:latin typeface="Times New Roman" pitchFamily="-1" charset="0"/>
                <a:ea typeface="+mn-ea"/>
                <a:cs typeface="+mn-cs"/>
              </a:rPr>
              <a:t>bytes versus 6 bytes), it actually takes longer to execute (10 clock cycles versus 6</a:t>
            </a:r>
          </a:p>
          <a:p>
            <a:r>
              <a:rPr lang="en-US" sz="1200" b="0" i="0" u="none" strike="noStrike" kern="1200" baseline="0" dirty="0" smtClean="0">
                <a:solidFill>
                  <a:schemeClr val="tx1"/>
                </a:solidFill>
                <a:latin typeface="Times New Roman" pitchFamily="-1" charset="0"/>
                <a:ea typeface="+mn-ea"/>
                <a:cs typeface="+mn-cs"/>
              </a:rPr>
              <a:t>clock cycles). Thus, although it may have seemed a good idea to the instruction set</a:t>
            </a:r>
          </a:p>
          <a:p>
            <a:r>
              <a:rPr lang="en-US" sz="1200" b="0" i="0" u="none" strike="noStrike" kern="1200" baseline="0" dirty="0" smtClean="0">
                <a:solidFill>
                  <a:schemeClr val="tx1"/>
                </a:solidFill>
                <a:latin typeface="Times New Roman" pitchFamily="-1" charset="0"/>
                <a:ea typeface="+mn-ea"/>
                <a:cs typeface="+mn-cs"/>
              </a:rPr>
              <a:t>designers to add this feature, it complicates the implementation of the processor</a:t>
            </a:r>
          </a:p>
          <a:p>
            <a:r>
              <a:rPr lang="en-US" sz="1200" b="0" i="0" u="none" strike="noStrike" kern="1200" baseline="0" dirty="0" smtClean="0">
                <a:solidFill>
                  <a:schemeClr val="tx1"/>
                </a:solidFill>
                <a:latin typeface="Times New Roman" pitchFamily="-1" charset="0"/>
                <a:ea typeface="+mn-ea"/>
                <a:cs typeface="+mn-cs"/>
              </a:rPr>
              <a:t>while providing little or no benefit. We will see that, in contrast, a RISC approach</a:t>
            </a:r>
          </a:p>
          <a:p>
            <a:r>
              <a:rPr lang="en-US" sz="1200" b="0" i="0" u="none" strike="noStrike" kern="1200" baseline="0" dirty="0" smtClean="0">
                <a:solidFill>
                  <a:schemeClr val="tx1"/>
                </a:solidFill>
                <a:latin typeface="Times New Roman" pitchFamily="-1" charset="0"/>
                <a:ea typeface="+mn-ea"/>
                <a:cs typeface="+mn-cs"/>
              </a:rPr>
              <a:t>to processor design would avoid complex instructions such as ENTER and might</a:t>
            </a:r>
          </a:p>
          <a:p>
            <a:r>
              <a:rPr lang="en-US" sz="1200" b="0" i="0" u="none" strike="noStrike" kern="1200" baseline="0" dirty="0" smtClean="0">
                <a:solidFill>
                  <a:schemeClr val="tx1"/>
                </a:solidFill>
                <a:latin typeface="Times New Roman" pitchFamily="-1" charset="0"/>
                <a:ea typeface="+mn-ea"/>
                <a:cs typeface="+mn-cs"/>
              </a:rPr>
              <a:t>produce a more efficient implementation with a sequence of simpler instructions.</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 Another set of specialized instructions deals with memory</a:t>
            </a:r>
          </a:p>
          <a:p>
            <a:r>
              <a:rPr lang="en-US" sz="1200" b="0" i="0" u="none" strike="noStrike" kern="1200" baseline="0" dirty="0" smtClean="0">
                <a:solidFill>
                  <a:schemeClr val="tx1"/>
                </a:solidFill>
                <a:latin typeface="Times New Roman" pitchFamily="-1" charset="0"/>
                <a:ea typeface="+mn-ea"/>
                <a:cs typeface="+mn-cs"/>
              </a:rPr>
              <a:t>segmentation. These are privileged instructions that can only be executed from the</a:t>
            </a:r>
          </a:p>
          <a:p>
            <a:r>
              <a:rPr lang="en-US" sz="1200" b="0" i="0" u="none" strike="noStrike" kern="1200" baseline="0" dirty="0" smtClean="0">
                <a:solidFill>
                  <a:schemeClr val="tx1"/>
                </a:solidFill>
                <a:latin typeface="Times New Roman" pitchFamily="-1" charset="0"/>
                <a:ea typeface="+mn-ea"/>
                <a:cs typeface="+mn-cs"/>
              </a:rPr>
              <a:t>operating system. They allow local and global segment tables (called descriptor</a:t>
            </a:r>
          </a:p>
          <a:p>
            <a:r>
              <a:rPr lang="en-US" sz="1200" b="0" i="0" u="none" strike="noStrike" kern="1200" baseline="0" dirty="0" smtClean="0">
                <a:solidFill>
                  <a:schemeClr val="tx1"/>
                </a:solidFill>
                <a:latin typeface="Times New Roman" pitchFamily="-1" charset="0"/>
                <a:ea typeface="+mn-ea"/>
                <a:cs typeface="+mn-cs"/>
              </a:rPr>
              <a:t>tables) to be loaded and read, and for the privilege level of a segment to be checked</a:t>
            </a:r>
          </a:p>
          <a:p>
            <a:r>
              <a:rPr lang="en-US" sz="1200" b="0" i="0" u="none" strike="noStrike" kern="1200" baseline="0" dirty="0" smtClean="0">
                <a:solidFill>
                  <a:schemeClr val="tx1"/>
                </a:solidFill>
                <a:latin typeface="Times New Roman" pitchFamily="-1" charset="0"/>
                <a:ea typeface="+mn-ea"/>
                <a:cs typeface="+mn-cs"/>
              </a:rPr>
              <a:t>and altered.</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The special instructions for dealing with the on-chip cache were discussed in Chapter 4.</a:t>
            </a:r>
            <a:endParaRPr lang="en-US" dirty="0"/>
          </a:p>
        </p:txBody>
      </p:sp>
    </p:spTree>
    <p:extLst>
      <p:ext uri="{BB962C8B-B14F-4D97-AF65-F5344CB8AC3E}">
        <p14:creationId xmlns:p14="http://schemas.microsoft.com/office/powerpoint/2010/main" val="2422541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27</a:t>
            </a:r>
          </a:p>
        </p:txBody>
      </p:sp>
      <p:sp>
        <p:nvSpPr>
          <p:cNvPr id="583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4" name="Rectangle 6"/>
          <p:cNvSpPr>
            <a:spLocks noGrp="1" noRot="1" noChangeAspect="1" noChangeArrowheads="1" noTextEdit="1"/>
          </p:cNvSpPr>
          <p:nvPr>
            <p:ph type="sldImg"/>
          </p:nvPr>
        </p:nvSpPr>
        <p:spPr>
          <a:xfrm>
            <a:off x="1150938" y="692150"/>
            <a:ext cx="4556125" cy="3416300"/>
          </a:xfrm>
          <a:ln cap="flat"/>
        </p:spPr>
      </p:sp>
      <p:sp>
        <p:nvSpPr>
          <p:cNvPr id="58375" name="Rectangle 7"/>
          <p:cNvSpPr>
            <a:spLocks noGrp="1" noChangeArrowheads="1"/>
          </p:cNvSpPr>
          <p:nvPr>
            <p:ph type="body" idx="1"/>
          </p:nvPr>
        </p:nvSpPr>
        <p:spPr>
          <a:ln/>
        </p:spPr>
        <p:txBody>
          <a:bodyPr/>
          <a:lstStyle/>
          <a:p>
            <a:r>
              <a:rPr lang="en-US" sz="1200" b="0" i="0" u="none" strike="noStrike" kern="1200" baseline="0" dirty="0" smtClean="0">
                <a:solidFill>
                  <a:schemeClr val="tx1"/>
                </a:solidFill>
                <a:latin typeface="Times New Roman" pitchFamily="-1" charset="0"/>
                <a:ea typeface="+mn-ea"/>
                <a:cs typeface="+mn-cs"/>
              </a:rPr>
              <a:t> Status flags are bits in special registers</a:t>
            </a:r>
          </a:p>
          <a:p>
            <a:r>
              <a:rPr lang="en-US" sz="1200" b="0" i="0" u="none" strike="noStrike" kern="1200" baseline="0" dirty="0" smtClean="0">
                <a:solidFill>
                  <a:schemeClr val="tx1"/>
                </a:solidFill>
                <a:latin typeface="Times New Roman" pitchFamily="-1" charset="0"/>
                <a:ea typeface="+mn-ea"/>
                <a:cs typeface="+mn-cs"/>
              </a:rPr>
              <a:t>that may be set by certain operations and used in conditional branch instructions.</a:t>
            </a:r>
          </a:p>
          <a:p>
            <a:r>
              <a:rPr lang="en-US" sz="1200" b="0" i="0" u="none" strike="noStrike" kern="1200" baseline="0" dirty="0" smtClean="0">
                <a:solidFill>
                  <a:schemeClr val="tx1"/>
                </a:solidFill>
                <a:latin typeface="Times New Roman" pitchFamily="-1" charset="0"/>
                <a:ea typeface="+mn-ea"/>
                <a:cs typeface="+mn-cs"/>
              </a:rPr>
              <a:t>The term condition code  refers to the settings of one or more status flags. In the</a:t>
            </a:r>
          </a:p>
          <a:p>
            <a:r>
              <a:rPr lang="en-US" sz="1200" b="0" i="0" u="none" strike="noStrike" kern="1200" baseline="0" dirty="0" smtClean="0">
                <a:solidFill>
                  <a:schemeClr val="tx1"/>
                </a:solidFill>
                <a:latin typeface="Times New Roman" pitchFamily="-1" charset="0"/>
                <a:ea typeface="+mn-ea"/>
                <a:cs typeface="+mn-cs"/>
              </a:rPr>
              <a:t>x86 and many other architectures, status flags are set by arithmetic and compare</a:t>
            </a:r>
          </a:p>
          <a:p>
            <a:r>
              <a:rPr lang="en-US" sz="1200" b="0" i="0" u="none" strike="noStrike" kern="1200" baseline="0" dirty="0" smtClean="0">
                <a:solidFill>
                  <a:schemeClr val="tx1"/>
                </a:solidFill>
                <a:latin typeface="Times New Roman" pitchFamily="-1" charset="0"/>
                <a:ea typeface="+mn-ea"/>
                <a:cs typeface="+mn-cs"/>
              </a:rPr>
              <a:t>operations. The compare operation in most languages subtracts two operands, as</a:t>
            </a:r>
          </a:p>
          <a:p>
            <a:r>
              <a:rPr lang="en-US" sz="1200" b="0" i="0" u="none" strike="noStrike" kern="1200" baseline="0" dirty="0" smtClean="0">
                <a:solidFill>
                  <a:schemeClr val="tx1"/>
                </a:solidFill>
                <a:latin typeface="Times New Roman" pitchFamily="-1" charset="0"/>
                <a:ea typeface="+mn-ea"/>
                <a:cs typeface="+mn-cs"/>
              </a:rPr>
              <a:t>does a subtract operation. The difference is that a compare operation only sets</a:t>
            </a:r>
          </a:p>
          <a:p>
            <a:r>
              <a:rPr lang="en-US" sz="1200" b="0" i="0" u="none" strike="noStrike" kern="1200" baseline="0" dirty="0" smtClean="0">
                <a:solidFill>
                  <a:schemeClr val="tx1"/>
                </a:solidFill>
                <a:latin typeface="Times New Roman" pitchFamily="-1" charset="0"/>
                <a:ea typeface="+mn-ea"/>
                <a:cs typeface="+mn-cs"/>
              </a:rPr>
              <a:t>status flags, whereas a subtract operation also stores the result of the subtraction</a:t>
            </a:r>
          </a:p>
          <a:p>
            <a:r>
              <a:rPr lang="en-US" sz="1200" b="0" i="0" u="none" strike="noStrike" kern="1200" baseline="0" dirty="0" smtClean="0">
                <a:solidFill>
                  <a:schemeClr val="tx1"/>
                </a:solidFill>
                <a:latin typeface="Times New Roman" pitchFamily="-1" charset="0"/>
                <a:ea typeface="+mn-ea"/>
                <a:cs typeface="+mn-cs"/>
              </a:rPr>
              <a:t>in the destination operand. Some architectures also set status flags for data transfer</a:t>
            </a:r>
          </a:p>
          <a:p>
            <a:r>
              <a:rPr lang="en-US" sz="1200" b="0" i="0" u="none" strike="noStrike" kern="1200" baseline="0" dirty="0" smtClean="0">
                <a:solidFill>
                  <a:schemeClr val="tx1"/>
                </a:solidFill>
                <a:latin typeface="Times New Roman" pitchFamily="-1" charset="0"/>
                <a:ea typeface="+mn-ea"/>
                <a:cs typeface="+mn-cs"/>
              </a:rPr>
              <a:t>instructions.</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Table 12.8 lists the status flags used on the x86. Each flag, or combinations</a:t>
            </a:r>
          </a:p>
          <a:p>
            <a:r>
              <a:rPr lang="en-US" sz="1200" b="0" i="0" u="none" strike="noStrike" kern="1200" baseline="0" dirty="0" smtClean="0">
                <a:solidFill>
                  <a:schemeClr val="tx1"/>
                </a:solidFill>
                <a:latin typeface="Times New Roman" pitchFamily="-1" charset="0"/>
                <a:ea typeface="+mn-ea"/>
                <a:cs typeface="+mn-cs"/>
              </a:rPr>
              <a:t>of these flags, can be tested for a conditional jump.</a:t>
            </a:r>
            <a:endParaRPr lang="en-GB" dirty="0"/>
          </a:p>
        </p:txBody>
      </p:sp>
    </p:spTree>
    <p:extLst>
      <p:ext uri="{BB962C8B-B14F-4D97-AF65-F5344CB8AC3E}">
        <p14:creationId xmlns:p14="http://schemas.microsoft.com/office/powerpoint/2010/main" val="718015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 charset="0"/>
                <a:ea typeface="+mn-ea"/>
                <a:cs typeface="+mn-cs"/>
              </a:rPr>
              <a:t> Table 12.9 shows the condition codes (combinations of status flag values) for which </a:t>
            </a:r>
          </a:p>
          <a:p>
            <a:r>
              <a:rPr lang="en-US" sz="1200" b="0" i="0" u="none" strike="noStrike" kern="1200" baseline="0" dirty="0" smtClean="0">
                <a:solidFill>
                  <a:schemeClr val="tx1"/>
                </a:solidFill>
                <a:latin typeface="Times New Roman" pitchFamily="-1" charset="0"/>
                <a:ea typeface="+mn-ea"/>
                <a:cs typeface="+mn-cs"/>
              </a:rPr>
              <a:t>conditional jump </a:t>
            </a:r>
            <a:r>
              <a:rPr lang="en-US" sz="1200" b="0" i="0" u="none" strike="noStrike" kern="1200" baseline="0" dirty="0" err="1" smtClean="0">
                <a:solidFill>
                  <a:schemeClr val="tx1"/>
                </a:solidFill>
                <a:latin typeface="Times New Roman" pitchFamily="-1" charset="0"/>
                <a:ea typeface="+mn-ea"/>
                <a:cs typeface="+mn-cs"/>
              </a:rPr>
              <a:t>opcodes</a:t>
            </a:r>
            <a:r>
              <a:rPr lang="en-US" sz="1200" b="0" i="0" u="none" strike="noStrike" kern="1200" baseline="0" dirty="0" smtClean="0">
                <a:solidFill>
                  <a:schemeClr val="tx1"/>
                </a:solidFill>
                <a:latin typeface="Times New Roman" pitchFamily="-1" charset="0"/>
                <a:ea typeface="+mn-ea"/>
                <a:cs typeface="+mn-cs"/>
              </a:rPr>
              <a:t> have been defined.</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Several interesting observations can be made about this list. First, we may</a:t>
            </a:r>
          </a:p>
          <a:p>
            <a:r>
              <a:rPr lang="en-US" sz="1200" b="0" i="0" u="none" strike="noStrike" kern="1200" baseline="0" dirty="0" smtClean="0">
                <a:solidFill>
                  <a:schemeClr val="tx1"/>
                </a:solidFill>
                <a:latin typeface="Times New Roman" pitchFamily="-1" charset="0"/>
                <a:ea typeface="+mn-ea"/>
                <a:cs typeface="+mn-cs"/>
              </a:rPr>
              <a:t>wish to test two operands to determine if one number is bigger than another. But</a:t>
            </a:r>
          </a:p>
          <a:p>
            <a:r>
              <a:rPr lang="en-US" sz="1200" b="0" i="0" u="none" strike="noStrike" kern="1200" baseline="0" dirty="0" smtClean="0">
                <a:solidFill>
                  <a:schemeClr val="tx1"/>
                </a:solidFill>
                <a:latin typeface="Times New Roman" pitchFamily="-1" charset="0"/>
                <a:ea typeface="+mn-ea"/>
                <a:cs typeface="+mn-cs"/>
              </a:rPr>
              <a:t>this will depend on whether the numbers are signed or unsigned. For example, the</a:t>
            </a:r>
          </a:p>
          <a:p>
            <a:r>
              <a:rPr lang="en-US" sz="1200" b="0" i="0" u="none" strike="noStrike" kern="1200" baseline="0" dirty="0" smtClean="0">
                <a:solidFill>
                  <a:schemeClr val="tx1"/>
                </a:solidFill>
                <a:latin typeface="Times New Roman" pitchFamily="-1" charset="0"/>
                <a:ea typeface="+mn-ea"/>
                <a:cs typeface="+mn-cs"/>
              </a:rPr>
              <a:t>8-bit number 11111111 is bigger than 00000000 if the two numbers are interpreted</a:t>
            </a:r>
          </a:p>
          <a:p>
            <a:r>
              <a:rPr lang="en-US" sz="1200" b="0" i="0" u="none" strike="noStrike" kern="1200" baseline="0" dirty="0" smtClean="0">
                <a:solidFill>
                  <a:schemeClr val="tx1"/>
                </a:solidFill>
                <a:latin typeface="Times New Roman" pitchFamily="-1" charset="0"/>
                <a:ea typeface="+mn-ea"/>
                <a:cs typeface="+mn-cs"/>
              </a:rPr>
              <a:t> as unsigned integers (255 &gt;  0) but is less if they are considered as 8-bit twos complement</a:t>
            </a:r>
          </a:p>
          <a:p>
            <a:r>
              <a:rPr lang="en-US" sz="1200" b="0" i="0" u="none" strike="noStrike" kern="1200" baseline="0" dirty="0" smtClean="0">
                <a:solidFill>
                  <a:schemeClr val="tx1"/>
                </a:solidFill>
                <a:latin typeface="Times New Roman" pitchFamily="-1" charset="0"/>
                <a:ea typeface="+mn-ea"/>
                <a:cs typeface="+mn-cs"/>
              </a:rPr>
              <a:t>numbers ( -  1&lt; 0). Many assembly languages therefore introduce two sets</a:t>
            </a:r>
          </a:p>
          <a:p>
            <a:r>
              <a:rPr lang="en-US" sz="1200" b="0" i="0" u="none" strike="noStrike" kern="1200" baseline="0" dirty="0" smtClean="0">
                <a:solidFill>
                  <a:schemeClr val="tx1"/>
                </a:solidFill>
                <a:latin typeface="Times New Roman" pitchFamily="-1" charset="0"/>
                <a:ea typeface="+mn-ea"/>
                <a:cs typeface="+mn-cs"/>
              </a:rPr>
              <a:t>of terms to distinguish the two cases: If we are comparing two numbers as signed</a:t>
            </a:r>
          </a:p>
          <a:p>
            <a:r>
              <a:rPr lang="en-US" sz="1200" b="0" i="0" u="none" strike="noStrike" kern="1200" baseline="0" dirty="0" smtClean="0">
                <a:solidFill>
                  <a:schemeClr val="tx1"/>
                </a:solidFill>
                <a:latin typeface="Times New Roman" pitchFamily="-1" charset="0"/>
                <a:ea typeface="+mn-ea"/>
                <a:cs typeface="+mn-cs"/>
              </a:rPr>
              <a:t>integers, we use the terms less than  and greater than;  if we are comparing them as</a:t>
            </a:r>
          </a:p>
          <a:p>
            <a:r>
              <a:rPr lang="en-US" sz="1200" b="0" i="0" u="none" strike="noStrike" kern="1200" baseline="0" dirty="0" smtClean="0">
                <a:solidFill>
                  <a:schemeClr val="tx1"/>
                </a:solidFill>
                <a:latin typeface="Times New Roman" pitchFamily="-1" charset="0"/>
                <a:ea typeface="+mn-ea"/>
                <a:cs typeface="+mn-cs"/>
              </a:rPr>
              <a:t>unsigned integers, we use the terms below  and above.</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 A second observation concerns the complexity of comparing signed integers.</a:t>
            </a:r>
          </a:p>
          <a:p>
            <a:r>
              <a:rPr lang="en-US" sz="1200" b="0" i="0" u="none" strike="noStrike" kern="1200" baseline="0" dirty="0" smtClean="0">
                <a:solidFill>
                  <a:schemeClr val="tx1"/>
                </a:solidFill>
                <a:latin typeface="Times New Roman" pitchFamily="-1" charset="0"/>
                <a:ea typeface="+mn-ea"/>
                <a:cs typeface="+mn-cs"/>
              </a:rPr>
              <a:t>A signed result is greater than or equal to zero if (1) the sign bit is zero and there is</a:t>
            </a:r>
          </a:p>
          <a:p>
            <a:r>
              <a:rPr lang="en-US" sz="1200" b="0" i="0" u="none" strike="noStrike" kern="1200" baseline="0" dirty="0" smtClean="0">
                <a:solidFill>
                  <a:schemeClr val="tx1"/>
                </a:solidFill>
                <a:latin typeface="Times New Roman" pitchFamily="-1" charset="0"/>
                <a:ea typeface="+mn-ea"/>
                <a:cs typeface="+mn-cs"/>
              </a:rPr>
              <a:t>no overflow (S =  0 AND O =  0), or (2) the sign bit is one and there is an overflow.</a:t>
            </a:r>
          </a:p>
          <a:p>
            <a:r>
              <a:rPr lang="en-US" sz="1200" b="0" i="0" u="none" strike="noStrike" kern="1200" baseline="0" dirty="0" smtClean="0">
                <a:solidFill>
                  <a:schemeClr val="tx1"/>
                </a:solidFill>
                <a:latin typeface="Times New Roman" pitchFamily="-1" charset="0"/>
                <a:ea typeface="+mn-ea"/>
                <a:cs typeface="+mn-cs"/>
              </a:rPr>
              <a:t>A study of Figure 10.4 should convince you that the conditions tested for the various</a:t>
            </a:r>
          </a:p>
          <a:p>
            <a:r>
              <a:rPr lang="en-US" sz="1200" b="0" i="0" u="none" strike="noStrike" kern="1200" baseline="0" dirty="0" smtClean="0">
                <a:solidFill>
                  <a:schemeClr val="tx1"/>
                </a:solidFill>
                <a:latin typeface="Times New Roman" pitchFamily="-1" charset="0"/>
                <a:ea typeface="+mn-ea"/>
                <a:cs typeface="+mn-cs"/>
              </a:rPr>
              <a:t>signed operations are appropriate.</a:t>
            </a:r>
            <a:endParaRPr lang="en-US" dirty="0"/>
          </a:p>
        </p:txBody>
      </p:sp>
    </p:spTree>
    <p:extLst>
      <p:ext uri="{BB962C8B-B14F-4D97-AF65-F5344CB8AC3E}">
        <p14:creationId xmlns:p14="http://schemas.microsoft.com/office/powerpoint/2010/main" val="18637394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b="0" i="0" u="none" strike="noStrike" kern="1200" baseline="0" dirty="0" smtClean="0">
                <a:solidFill>
                  <a:schemeClr val="tx1"/>
                </a:solidFill>
                <a:latin typeface="Times New Roman" pitchFamily="-1" charset="0"/>
                <a:ea typeface="+mn-ea"/>
                <a:cs typeface="+mn-cs"/>
              </a:rPr>
              <a:t>Table 12.10 lists the MMX instruction set. Most of the instructions involve</a:t>
            </a:r>
          </a:p>
          <a:p>
            <a:r>
              <a:rPr lang="en-US" sz="1200" b="0" i="0" u="none" strike="noStrike" kern="1200" baseline="0" dirty="0" smtClean="0">
                <a:solidFill>
                  <a:schemeClr val="tx1"/>
                </a:solidFill>
                <a:latin typeface="Times New Roman" pitchFamily="-1" charset="0"/>
                <a:ea typeface="+mn-ea"/>
                <a:cs typeface="+mn-cs"/>
              </a:rPr>
              <a:t>parallel operation on bytes, words, or </a:t>
            </a:r>
            <a:r>
              <a:rPr lang="en-US" sz="1200" b="0" i="0" u="none" strike="noStrike" kern="1200" baseline="0" dirty="0" err="1" smtClean="0">
                <a:solidFill>
                  <a:schemeClr val="tx1"/>
                </a:solidFill>
                <a:latin typeface="Times New Roman" pitchFamily="-1" charset="0"/>
                <a:ea typeface="+mn-ea"/>
                <a:cs typeface="+mn-cs"/>
              </a:rPr>
              <a:t>doublewords</a:t>
            </a:r>
            <a:r>
              <a:rPr lang="en-US" sz="1200" b="0" i="0" u="none" strike="noStrike" kern="1200" baseline="0" dirty="0" smtClean="0">
                <a:solidFill>
                  <a:schemeClr val="tx1"/>
                </a:solidFill>
                <a:latin typeface="Times New Roman" pitchFamily="-1" charset="0"/>
                <a:ea typeface="+mn-ea"/>
                <a:cs typeface="+mn-cs"/>
              </a:rPr>
              <a:t>. For example, the PSLLW</a:t>
            </a:r>
          </a:p>
          <a:p>
            <a:r>
              <a:rPr lang="en-US" sz="1200" b="0" i="0" u="none" strike="noStrike" kern="1200" baseline="0" dirty="0" smtClean="0">
                <a:solidFill>
                  <a:schemeClr val="tx1"/>
                </a:solidFill>
                <a:latin typeface="Times New Roman" pitchFamily="-1" charset="0"/>
                <a:ea typeface="+mn-ea"/>
                <a:cs typeface="+mn-cs"/>
              </a:rPr>
              <a:t>instruction performs a left logical shift separately on each of the four words in the</a:t>
            </a:r>
          </a:p>
          <a:p>
            <a:r>
              <a:rPr lang="en-US" sz="1200" b="0" i="0" u="none" strike="noStrike" kern="1200" baseline="0" dirty="0" smtClean="0">
                <a:solidFill>
                  <a:schemeClr val="tx1"/>
                </a:solidFill>
                <a:latin typeface="Times New Roman" pitchFamily="-1" charset="0"/>
                <a:ea typeface="+mn-ea"/>
                <a:cs typeface="+mn-cs"/>
              </a:rPr>
              <a:t>packed word operand; the PADDB instruction takes packed byte operands as input</a:t>
            </a:r>
          </a:p>
          <a:p>
            <a:r>
              <a:rPr lang="en-US" sz="1200" b="0" i="0" u="none" strike="noStrike" kern="1200" baseline="0" dirty="0" smtClean="0">
                <a:solidFill>
                  <a:schemeClr val="tx1"/>
                </a:solidFill>
                <a:latin typeface="Times New Roman" pitchFamily="-1" charset="0"/>
                <a:ea typeface="+mn-ea"/>
                <a:cs typeface="+mn-cs"/>
              </a:rPr>
              <a:t>and performs parallel additions on each byte position independently to produce a</a:t>
            </a:r>
          </a:p>
          <a:p>
            <a:r>
              <a:rPr lang="en-US" sz="1200" b="0" i="0" u="none" strike="noStrike" kern="1200" baseline="0" dirty="0" smtClean="0">
                <a:solidFill>
                  <a:schemeClr val="tx1"/>
                </a:solidFill>
                <a:latin typeface="Times New Roman" pitchFamily="-1" charset="0"/>
                <a:ea typeface="+mn-ea"/>
                <a:cs typeface="+mn-cs"/>
              </a:rPr>
              <a:t>packed byte output.</a:t>
            </a:r>
          </a:p>
          <a:p>
            <a:endParaRPr lang="en-US" sz="1200" b="0" i="0" u="none" strike="noStrike" kern="1200" baseline="0" dirty="0" smtClean="0">
              <a:solidFill>
                <a:schemeClr val="tx1"/>
              </a:solidFill>
              <a:latin typeface="Times New Roman" pitchFamily="-1" charset="0"/>
              <a:ea typeface="+mn-ea"/>
              <a:cs typeface="+mn-cs"/>
            </a:endParaRPr>
          </a:p>
          <a:p>
            <a:r>
              <a:rPr lang="en-US" sz="1200" b="0" i="0" u="none" strike="noStrike" kern="1200" baseline="0" dirty="0" smtClean="0">
                <a:solidFill>
                  <a:schemeClr val="tx1"/>
                </a:solidFill>
                <a:latin typeface="Times New Roman" pitchFamily="-1" charset="0"/>
                <a:ea typeface="+mn-ea"/>
                <a:cs typeface="+mn-cs"/>
              </a:rPr>
              <a:t> One unusual feature of the new instruction set is the introduction of saturation</a:t>
            </a:r>
          </a:p>
          <a:p>
            <a:r>
              <a:rPr lang="en-US" sz="1200" b="0" i="0" u="none" strike="noStrike" kern="1200" baseline="0" dirty="0" smtClean="0">
                <a:solidFill>
                  <a:schemeClr val="tx1"/>
                </a:solidFill>
                <a:latin typeface="Times New Roman" pitchFamily="-1" charset="0"/>
                <a:ea typeface="+mn-ea"/>
                <a:cs typeface="+mn-cs"/>
              </a:rPr>
              <a:t>arithmetic  for byte and 16-bit word operands. With ordinary unsigned arithmetic,</a:t>
            </a:r>
          </a:p>
          <a:p>
            <a:r>
              <a:rPr lang="en-US" sz="1200" b="0" i="0" u="none" strike="noStrike" kern="1200" baseline="0" dirty="0" smtClean="0">
                <a:solidFill>
                  <a:schemeClr val="tx1"/>
                </a:solidFill>
                <a:latin typeface="Times New Roman" pitchFamily="-1" charset="0"/>
                <a:ea typeface="+mn-ea"/>
                <a:cs typeface="+mn-cs"/>
              </a:rPr>
              <a:t>when an operation overflows (i.e., a carry out of the most significant bit), the</a:t>
            </a:r>
          </a:p>
          <a:p>
            <a:r>
              <a:rPr lang="en-US" sz="1200" b="0" i="0" u="none" strike="noStrike" kern="1200" baseline="0" dirty="0" smtClean="0">
                <a:solidFill>
                  <a:schemeClr val="tx1"/>
                </a:solidFill>
                <a:latin typeface="Times New Roman" pitchFamily="-1" charset="0"/>
                <a:ea typeface="+mn-ea"/>
                <a:cs typeface="+mn-cs"/>
              </a:rPr>
              <a:t>extra bit is truncated. This is referred to as wraparound, because the effect of the</a:t>
            </a:r>
          </a:p>
          <a:p>
            <a:r>
              <a:rPr lang="en-US" sz="1200" b="0" i="0" u="none" strike="noStrike" kern="1200" baseline="0" dirty="0" smtClean="0">
                <a:solidFill>
                  <a:schemeClr val="tx1"/>
                </a:solidFill>
                <a:latin typeface="Times New Roman" pitchFamily="-1" charset="0"/>
                <a:ea typeface="+mn-ea"/>
                <a:cs typeface="+mn-cs"/>
              </a:rPr>
              <a:t>truncation can be, for example, to produce an addition result that is smaller than the</a:t>
            </a:r>
          </a:p>
          <a:p>
            <a:r>
              <a:rPr lang="en-US" sz="1200" b="0" i="0" u="none" strike="noStrike" kern="1200" baseline="0" dirty="0" smtClean="0">
                <a:solidFill>
                  <a:schemeClr val="tx1"/>
                </a:solidFill>
                <a:latin typeface="Times New Roman" pitchFamily="-1" charset="0"/>
                <a:ea typeface="+mn-ea"/>
                <a:cs typeface="+mn-cs"/>
              </a:rPr>
              <a:t>two input operands.</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smtClean="0">
                <a:solidFill>
                  <a:schemeClr val="tx1"/>
                </a:solidFill>
                <a:latin typeface="Times New Roman" pitchFamily="-1" charset="0"/>
                <a:ea typeface="+mn-ea"/>
                <a:cs typeface="+mn-cs"/>
              </a:rPr>
              <a:t>The ARM architecture provides a large collection of operation types. The following </a:t>
            </a:r>
            <a:endParaRPr lang="en-US" dirty="0" smtClean="0"/>
          </a:p>
          <a:p>
            <a:r>
              <a:rPr lang="en-US" sz="1200" kern="1200" dirty="0" smtClean="0">
                <a:solidFill>
                  <a:schemeClr val="tx1"/>
                </a:solidFill>
                <a:latin typeface="Times New Roman" pitchFamily="-1" charset="0"/>
                <a:ea typeface="+mn-ea"/>
                <a:cs typeface="+mn-cs"/>
              </a:rPr>
              <a:t>are the principal categories: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Load and store instructions: </a:t>
            </a:r>
            <a:r>
              <a:rPr lang="en-US" sz="1200" kern="1200" dirty="0" smtClean="0">
                <a:solidFill>
                  <a:schemeClr val="tx1"/>
                </a:solidFill>
                <a:latin typeface="Times New Roman" pitchFamily="-1" charset="0"/>
                <a:ea typeface="+mn-ea"/>
                <a:cs typeface="+mn-cs"/>
              </a:rPr>
              <a:t>In the ARM architecture, only load and store instructions access memory locations; arithmetic and logical instructions are performed only on registers and immediate values encoded in the instruction. This limitation is characteristic of RISC design and it is explored further in Chapter 15. The ARM architecture supports two broad types of instruction that load or store the value of a single register, or a pair of registers, from or to memory: (1) load or store a 32-bit word or an 8-bit unsigned byte, and (2) load or store a 16-bit unsigned halfword, and load and sign extend a 16-bit halfword or an 8-bit byte.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Branch instructions: </a:t>
            </a:r>
            <a:r>
              <a:rPr lang="en-US" sz="1200" kern="1200" dirty="0" smtClean="0">
                <a:solidFill>
                  <a:schemeClr val="tx1"/>
                </a:solidFill>
                <a:latin typeface="Times New Roman" pitchFamily="-1" charset="0"/>
                <a:ea typeface="+mn-ea"/>
                <a:cs typeface="+mn-cs"/>
              </a:rPr>
              <a:t>ARM supports a branch instruction that allows a conditional branch forwards or backwards up to 32 MB. As the program counter is one of the general-purpose registers (R15), a branch or jump can also be generated by writing a value to R15. A subroutine call can be performed by a variant of the standard branch instruction. As well as allowing a branch forward or backward up to 32 MB, the Branch with Link (BL) instruction preserves the address of the instruction after the branch (the return address) in the LR (R14). Branches are determined by a 4-bit condition field in the instruction.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Data-processing instructions: </a:t>
            </a:r>
            <a:r>
              <a:rPr lang="en-US" sz="1200" kern="1200" dirty="0" smtClean="0">
                <a:solidFill>
                  <a:schemeClr val="tx1"/>
                </a:solidFill>
                <a:latin typeface="Times New Roman" pitchFamily="-1" charset="0"/>
                <a:ea typeface="+mn-ea"/>
                <a:cs typeface="+mn-cs"/>
              </a:rPr>
              <a:t>This category includes logical instructions (AND, OR, XOR), add and subtract instructions, and test and compare instructions.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Multiply instructions: </a:t>
            </a:r>
            <a:r>
              <a:rPr lang="en-US" sz="1200" kern="1200" dirty="0" smtClean="0">
                <a:solidFill>
                  <a:schemeClr val="tx1"/>
                </a:solidFill>
                <a:latin typeface="Times New Roman" pitchFamily="-1" charset="0"/>
                <a:ea typeface="+mn-ea"/>
                <a:cs typeface="+mn-cs"/>
              </a:rPr>
              <a:t>The integer multiply instructions operate on word or halfword operands and can produce normal or long results. For example, there is a multiply instruction that takes two 32-bit operands and produces a 64-bit result.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Parallel addition and subtraction instructions: </a:t>
            </a:r>
            <a:r>
              <a:rPr lang="en-US" sz="1200" kern="1200" dirty="0" smtClean="0">
                <a:solidFill>
                  <a:schemeClr val="tx1"/>
                </a:solidFill>
                <a:latin typeface="Times New Roman" pitchFamily="-1" charset="0"/>
                <a:ea typeface="+mn-ea"/>
                <a:cs typeface="+mn-cs"/>
              </a:rPr>
              <a:t>In addition to the normal data processing and multiply instructions, there are a set of parallel addition and subtraction instructions, in which portions of two operands are operated on in parallel. For example, ADD16 adds the top halfwords of two registers to form the top halfword of the result and adds the bottom halfwords of the same two registers to form the bottom halfword of the result. These instructions are useful in image processing applications, similar to the x86 MMX instructions.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Extend instructions: </a:t>
            </a:r>
            <a:r>
              <a:rPr lang="en-US" sz="1200" kern="1200" dirty="0" smtClean="0">
                <a:solidFill>
                  <a:schemeClr val="tx1"/>
                </a:solidFill>
                <a:latin typeface="Times New Roman" pitchFamily="-1" charset="0"/>
                <a:ea typeface="+mn-ea"/>
                <a:cs typeface="+mn-cs"/>
              </a:rPr>
              <a:t>There are several instructions for unpacking data by sign or zero extending bytes to halfwords or words, and halfwords to words.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Status register access instructions: </a:t>
            </a:r>
            <a:r>
              <a:rPr lang="en-US" sz="1200" kern="1200" dirty="0" smtClean="0">
                <a:solidFill>
                  <a:schemeClr val="tx1"/>
                </a:solidFill>
                <a:latin typeface="Times New Roman" pitchFamily="-1" charset="0"/>
                <a:ea typeface="+mn-ea"/>
                <a:cs typeface="+mn-cs"/>
              </a:rPr>
              <a:t>ARM provides the ability to read and also to write portions of the status register. </a:t>
            </a:r>
          </a:p>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ARM architecture defines four condition flags that are stored in the program status register: N, Z, C, and V (Negative, Zero, Carry and Overflow), with meanings essentially the same as the S, Z, C, and V flags </a:t>
            </a:r>
            <a:endParaRPr lang="en-US" dirty="0" smtClean="0"/>
          </a:p>
          <a:p>
            <a:r>
              <a:rPr lang="en-US" sz="1200" kern="1200" dirty="0" smtClean="0">
                <a:solidFill>
                  <a:schemeClr val="tx1"/>
                </a:solidFill>
                <a:latin typeface="Times New Roman" pitchFamily="-1" charset="0"/>
                <a:ea typeface="+mn-ea"/>
                <a:cs typeface="+mn-cs"/>
              </a:rPr>
              <a:t>in the x86 architecture. These four flags constitute a condition code in ARM. Table 12.11 shows the combination of conditions for which conditional execution is defined.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There are two unusual aspects to the use of condition codes in ARM: </a:t>
            </a:r>
            <a:endParaRPr lang="en-US" dirty="0" smtClean="0"/>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All instructions, not just branch instructions, include a condition code field, which means that virtually all instructions may be conditionally executed. Any combination of flag settings except 1110 or 1111 in an instruction’s condition code field signifies that the instruction will be executed only if the condition is met. </a:t>
            </a:r>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All data processing instructions (arithmetic, logical) includes an S bit that signifies whether the instruction updates the condition flags.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The use of conditional execution and conditional setting of the condition flags </a:t>
            </a:r>
          </a:p>
          <a:p>
            <a:r>
              <a:rPr lang="en-US" sz="1200" kern="1200" dirty="0" smtClean="0">
                <a:solidFill>
                  <a:schemeClr val="tx1"/>
                </a:solidFill>
                <a:latin typeface="Times New Roman" pitchFamily="-1" charset="0"/>
                <a:ea typeface="+mn-ea"/>
                <a:cs typeface="+mn-cs"/>
              </a:rPr>
              <a:t>helps in the design of shorter programs that use less memory. On the other hand, all instructions include 4 bits for the condition code, so there is a trade-off in that fewer bits in the 32-bit instruction are available for opcode and operands. Because the ARM is a RISC design that relies heavily on register addressing, this seems to be a reasonable trade-off. </a:t>
            </a:r>
            <a:endParaRPr lang="en-US" dirty="0" smtClean="0"/>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39</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smtClean="0"/>
              <a:t>Chapter 12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smtClean="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smtClean="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smtClean="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smtClean="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dirty="0"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293096"/>
            <a:ext cx="6191157" cy="833718"/>
          </a:xfrm>
        </p:spPr>
        <p:txBody>
          <a:bodyPr>
            <a:noAutofit/>
          </a:bodyPr>
          <a:lstStyle/>
          <a:p>
            <a:r>
              <a:rPr lang="en-US" sz="5400" dirty="0" smtClean="0">
                <a:effectLst>
                  <a:outerShdw blurRad="38100" dist="38100" dir="2700000" algn="tl">
                    <a:srgbClr val="000000">
                      <a:alpha val="43137"/>
                    </a:srgbClr>
                  </a:outerShdw>
                </a:effectLst>
              </a:rPr>
              <a:t>Chapter 12</a:t>
            </a:r>
            <a:endParaRPr lang="en-US" sz="5400" dirty="0">
              <a:effectLst>
                <a:outerShdw blurRad="38100" dist="38100" dir="2700000" algn="tl">
                  <a:srgbClr val="000000">
                    <a:alpha val="43137"/>
                  </a:srgbClr>
                </a:outerShdw>
              </a:effectLst>
            </a:endParaRPr>
          </a:p>
        </p:txBody>
      </p:sp>
      <p:sp>
        <p:nvSpPr>
          <p:cNvPr id="7" name="Text Placeholder 10"/>
          <p:cNvSpPr>
            <a:spLocks noGrp="1"/>
          </p:cNvSpPr>
          <p:nvPr>
            <p:ph type="body" sz="half" idx="2"/>
          </p:nvPr>
        </p:nvSpPr>
        <p:spPr>
          <a:xfrm>
            <a:off x="539552" y="5085184"/>
            <a:ext cx="6191157" cy="1219200"/>
          </a:xfrm>
        </p:spPr>
        <p:txBody>
          <a:bodyPr>
            <a:noAutofit/>
          </a:bodyPr>
          <a:lstStyle/>
          <a:p>
            <a:r>
              <a:rPr lang="en-US" sz="3200" dirty="0" smtClean="0"/>
              <a:t>Instruction Sets:</a:t>
            </a:r>
          </a:p>
          <a:p>
            <a:r>
              <a:rPr lang="en-US" sz="3200" dirty="0" smtClean="0"/>
              <a:t>Characteristics and Functions</a:t>
            </a:r>
            <a:endParaRPr lang="en-US" sz="32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762000" y="533400"/>
            <a:ext cx="7556313" cy="1116106"/>
          </a:xfrm>
          <a:noFill/>
          <a:ln/>
        </p:spPr>
        <p:txBody>
          <a:bodyPr lIns="90488" tIns="44450" rIns="90488" bIns="44450"/>
          <a:lstStyle/>
          <a:p>
            <a:r>
              <a:rPr lang="en-US" dirty="0" smtClean="0">
                <a:effectLst>
                  <a:outerShdw blurRad="38100" dist="38100" dir="2700000" algn="tl">
                    <a:srgbClr val="000000">
                      <a:alpha val="43137"/>
                    </a:srgbClr>
                  </a:outerShdw>
                </a:effectLst>
              </a:rPr>
              <a:t>Machine Instruction Characteristics</a:t>
            </a:r>
            <a:endParaRPr lang="en-US"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498474" y="2362200"/>
            <a:ext cx="7556313" cy="4038600"/>
          </a:xfrm>
          <a:noFill/>
          <a:ln/>
        </p:spPr>
        <p:txBody>
          <a:bodyPr lIns="90488" tIns="44450" rIns="90488" bIns="44450">
            <a:normAutofit/>
          </a:bodyPr>
          <a:lstStyle/>
          <a:p>
            <a:r>
              <a:rPr lang="en-US" dirty="0" smtClean="0"/>
              <a:t>The operation of the processor is determined by the instructions it executes, referred to as</a:t>
            </a:r>
            <a:r>
              <a:rPr lang="en-US" b="1" dirty="0" smtClean="0"/>
              <a:t> </a:t>
            </a:r>
            <a:r>
              <a:rPr lang="en-US" b="1" i="1" dirty="0" smtClean="0"/>
              <a:t>machine instructions </a:t>
            </a:r>
            <a:r>
              <a:rPr lang="en-US" b="1" dirty="0" smtClean="0"/>
              <a:t>or </a:t>
            </a:r>
            <a:r>
              <a:rPr lang="en-US" b="1" i="1" dirty="0" smtClean="0"/>
              <a:t>computer instructions</a:t>
            </a:r>
          </a:p>
          <a:p>
            <a:r>
              <a:rPr lang="en-US" dirty="0" smtClean="0"/>
              <a:t>The collection of different instructions that the processor can execute is referred to as the </a:t>
            </a:r>
            <a:r>
              <a:rPr lang="en-US" b="1" dirty="0" smtClean="0"/>
              <a:t>processor’s </a:t>
            </a:r>
            <a:r>
              <a:rPr lang="en-US" b="1" i="1" dirty="0" smtClean="0"/>
              <a:t>instruction set</a:t>
            </a:r>
          </a:p>
          <a:p>
            <a:r>
              <a:rPr lang="en-US" dirty="0" smtClean="0"/>
              <a:t>Each instruction must contain the information required by the processor for execution</a:t>
            </a:r>
          </a:p>
        </p:txBody>
      </p:sp>
      <p:pic>
        <p:nvPicPr>
          <p:cNvPr id="7" name="Picture 6"/>
          <p:cNvPicPr>
            <a:picLocks noChangeAspect="1"/>
          </p:cNvPicPr>
          <p:nvPr/>
        </p:nvPicPr>
        <p:blipFill>
          <a:blip r:embed="rId3"/>
          <a:stretch>
            <a:fillRect/>
          </a:stretch>
        </p:blipFill>
        <p:spPr>
          <a:xfrm>
            <a:off x="7315200" y="4876800"/>
            <a:ext cx="1358617" cy="1666875"/>
          </a:xfrm>
          <a:prstGeom prst="rect">
            <a:avLst/>
          </a:prstGeom>
        </p:spPr>
      </p:pic>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381000" y="228600"/>
            <a:ext cx="7556500" cy="1116012"/>
          </a:xfrm>
        </p:spPr>
        <p:txBody>
          <a:bodyPr/>
          <a:lstStyle/>
          <a:p>
            <a:r>
              <a:rPr lang="en-US" dirty="0" smtClean="0">
                <a:effectLst>
                  <a:outerShdw blurRad="38100" dist="38100" dir="2700000" algn="tl">
                    <a:srgbClr val="000000">
                      <a:alpha val="43137"/>
                    </a:srgbClr>
                  </a:outerShdw>
                </a:effectLst>
              </a:rPr>
              <a:t>Elements of a Machine Instruction</a:t>
            </a:r>
            <a:endParaRPr lang="en-US" dirty="0">
              <a:effectLst>
                <a:outerShdw blurRad="38100" dist="38100" dir="2700000" algn="tl">
                  <a:srgbClr val="000000">
                    <a:alpha val="43137"/>
                  </a:srgbClr>
                </a:outerShdw>
              </a:effectLst>
            </a:endParaRPr>
          </a:p>
        </p:txBody>
      </p:sp>
      <p:graphicFrame>
        <p:nvGraphicFramePr>
          <p:cNvPr id="11" name="Content Placeholder 10"/>
          <p:cNvGraphicFramePr>
            <a:graphicFrameLocks noGrp="1"/>
          </p:cNvGraphicFramePr>
          <p:nvPr>
            <p:ph idx="4294967295"/>
            <p:extLst>
              <p:ext uri="{D42A27DB-BD31-4B8C-83A1-F6EECF244321}">
                <p14:modId xmlns:p14="http://schemas.microsoft.com/office/powerpoint/2010/main" val="1919137848"/>
              </p:ext>
            </p:extLst>
          </p:nvPr>
        </p:nvGraphicFramePr>
        <p:xfrm>
          <a:off x="457200" y="914400"/>
          <a:ext cx="82423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4" name="Rectangle 3"/>
          <p:cNvSpPr/>
          <p:nvPr/>
        </p:nvSpPr>
        <p:spPr>
          <a:xfrm>
            <a:off x="7020272" y="4359378"/>
            <a:ext cx="2226315" cy="2246769"/>
          </a:xfrm>
          <a:prstGeom prst="rect">
            <a:avLst/>
          </a:prstGeom>
        </p:spPr>
        <p:txBody>
          <a:bodyPr wrap="none">
            <a:spAutoFit/>
          </a:bodyPr>
          <a:lstStyle/>
          <a:p>
            <a:r>
              <a:rPr lang="en-US" sz="2000" dirty="0">
                <a:solidFill>
                  <a:schemeClr val="tx1">
                    <a:lumMod val="65000"/>
                    <a:lumOff val="35000"/>
                  </a:schemeClr>
                </a:solidFill>
                <a:latin typeface="+mn-lt"/>
              </a:rPr>
              <a:t>Ex:</a:t>
            </a:r>
          </a:p>
          <a:p>
            <a:r>
              <a:rPr lang="en-US" sz="2000" dirty="0" smtClean="0">
                <a:solidFill>
                  <a:schemeClr val="tx1">
                    <a:lumMod val="65000"/>
                    <a:lumOff val="35000"/>
                  </a:schemeClr>
                </a:solidFill>
                <a:latin typeface="+mn-lt"/>
              </a:rPr>
              <a:t>ADD </a:t>
            </a:r>
            <a:r>
              <a:rPr lang="en-US" sz="2000" dirty="0">
                <a:solidFill>
                  <a:schemeClr val="tx1">
                    <a:lumMod val="65000"/>
                    <a:lumOff val="35000"/>
                  </a:schemeClr>
                </a:solidFill>
                <a:latin typeface="+mn-lt"/>
              </a:rPr>
              <a:t>R1, </a:t>
            </a:r>
            <a:r>
              <a:rPr lang="en-US" sz="2000" dirty="0" smtClean="0">
                <a:solidFill>
                  <a:schemeClr val="tx1">
                    <a:lumMod val="65000"/>
                    <a:lumOff val="35000"/>
                  </a:schemeClr>
                </a:solidFill>
                <a:latin typeface="+mn-lt"/>
              </a:rPr>
              <a:t>X,Y</a:t>
            </a:r>
          </a:p>
          <a:p>
            <a:endParaRPr lang="en-US" sz="2000" dirty="0">
              <a:solidFill>
                <a:schemeClr val="tx1">
                  <a:lumMod val="65000"/>
                  <a:lumOff val="35000"/>
                </a:schemeClr>
              </a:solidFill>
              <a:latin typeface="+mn-lt"/>
            </a:endParaRPr>
          </a:p>
          <a:p>
            <a:r>
              <a:rPr lang="en-US" sz="2000" dirty="0" smtClean="0">
                <a:solidFill>
                  <a:schemeClr val="tx1">
                    <a:lumMod val="65000"/>
                    <a:lumOff val="35000"/>
                  </a:schemeClr>
                </a:solidFill>
                <a:latin typeface="+mn-lt"/>
              </a:rPr>
              <a:t>Opcode: Add</a:t>
            </a:r>
          </a:p>
          <a:p>
            <a:r>
              <a:rPr lang="en-US" sz="2000" dirty="0" smtClean="0">
                <a:solidFill>
                  <a:schemeClr val="tx1">
                    <a:lumMod val="65000"/>
                    <a:lumOff val="35000"/>
                  </a:schemeClr>
                </a:solidFill>
                <a:latin typeface="+mn-lt"/>
              </a:rPr>
              <a:t>Source Op: X , Y</a:t>
            </a:r>
          </a:p>
          <a:p>
            <a:r>
              <a:rPr lang="en-US" sz="2000" dirty="0" smtClean="0">
                <a:solidFill>
                  <a:schemeClr val="tx1">
                    <a:lumMod val="65000"/>
                    <a:lumOff val="35000"/>
                  </a:schemeClr>
                </a:solidFill>
                <a:latin typeface="+mn-lt"/>
              </a:rPr>
              <a:t>Result Op: R1</a:t>
            </a:r>
          </a:p>
          <a:p>
            <a:r>
              <a:rPr lang="en-US" sz="2000" dirty="0" smtClean="0">
                <a:solidFill>
                  <a:schemeClr val="tx1">
                    <a:lumMod val="65000"/>
                    <a:lumOff val="35000"/>
                  </a:schemeClr>
                </a:solidFill>
                <a:latin typeface="+mn-lt"/>
              </a:rPr>
              <a:t>Next Instr: PC +1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Cycle</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323527" y="1412776"/>
            <a:ext cx="7731259" cy="4144724"/>
          </a:xfrm>
          <a:prstGeom prst="rect">
            <a:avLst/>
          </a:prstGeom>
        </p:spPr>
        <p:txBody>
          <a:bodyPr wrap="square">
            <a:spAutoFit/>
          </a:bodyPr>
          <a:lstStyle/>
          <a:p>
            <a:pPr marL="228600" indent="-228600" eaLnBrk="1" hangingPunct="1">
              <a:spcBef>
                <a:spcPts val="2000"/>
              </a:spcBef>
              <a:buClr>
                <a:schemeClr val="accent1"/>
              </a:buClr>
              <a:buSzPct val="75000"/>
              <a:buFont typeface="Wingdings" pitchFamily="2" charset="2"/>
              <a:buChar char="n"/>
            </a:pPr>
            <a:r>
              <a:rPr lang="en-US" sz="2000" dirty="0">
                <a:solidFill>
                  <a:schemeClr val="tx1">
                    <a:lumMod val="65000"/>
                    <a:lumOff val="35000"/>
                  </a:schemeClr>
                </a:solidFill>
                <a:latin typeface="+mn-lt"/>
              </a:rPr>
              <a:t>The instruction cycle is the complete process the CPU follows to execute one instruction.</a:t>
            </a:r>
          </a:p>
          <a:p>
            <a:pPr marL="228600" indent="-228600" eaLnBrk="1" hangingPunct="1">
              <a:spcBef>
                <a:spcPts val="2000"/>
              </a:spcBef>
              <a:buClr>
                <a:schemeClr val="accent1"/>
              </a:buClr>
              <a:buSzPct val="75000"/>
              <a:buFont typeface="Wingdings" pitchFamily="2" charset="2"/>
              <a:buChar char="n"/>
            </a:pPr>
            <a:r>
              <a:rPr lang="en-US" sz="2000" dirty="0">
                <a:solidFill>
                  <a:schemeClr val="tx1">
                    <a:lumMod val="65000"/>
                    <a:lumOff val="35000"/>
                  </a:schemeClr>
                </a:solidFill>
                <a:latin typeface="+mn-lt"/>
              </a:rPr>
              <a:t>Each instruction is divided into a sequence of sub cycles or </a:t>
            </a:r>
            <a:r>
              <a:rPr lang="en-US" sz="2000" dirty="0" smtClean="0">
                <a:solidFill>
                  <a:schemeClr val="tx1">
                    <a:lumMod val="65000"/>
                    <a:lumOff val="35000"/>
                  </a:schemeClr>
                </a:solidFill>
                <a:latin typeface="+mn-lt"/>
              </a:rPr>
              <a:t>phases.</a:t>
            </a:r>
          </a:p>
          <a:p>
            <a:pPr marL="228600" indent="-228600" eaLnBrk="1" hangingPunct="1">
              <a:spcBef>
                <a:spcPts val="2000"/>
              </a:spcBef>
              <a:buClr>
                <a:schemeClr val="accent1"/>
              </a:buClr>
              <a:buSzPct val="75000"/>
              <a:buFont typeface="Wingdings" pitchFamily="2" charset="2"/>
              <a:buChar char="n"/>
            </a:pPr>
            <a:r>
              <a:rPr lang="en-US" sz="2000" b="1" dirty="0">
                <a:solidFill>
                  <a:schemeClr val="tx1">
                    <a:lumMod val="65000"/>
                    <a:lumOff val="35000"/>
                  </a:schemeClr>
                </a:solidFill>
                <a:latin typeface="+mn-lt"/>
              </a:rPr>
              <a:t>Instruction </a:t>
            </a:r>
            <a:r>
              <a:rPr lang="en-US" sz="2000" b="1" dirty="0" smtClean="0">
                <a:solidFill>
                  <a:schemeClr val="tx1">
                    <a:lumMod val="65000"/>
                    <a:lumOff val="35000"/>
                  </a:schemeClr>
                </a:solidFill>
                <a:latin typeface="+mn-lt"/>
              </a:rPr>
              <a:t>Cycle </a:t>
            </a:r>
            <a:r>
              <a:rPr lang="en-US" sz="2000" dirty="0" smtClean="0">
                <a:solidFill>
                  <a:schemeClr val="tx1">
                    <a:lumMod val="65000"/>
                    <a:lumOff val="35000"/>
                  </a:schemeClr>
                </a:solidFill>
                <a:latin typeface="+mn-lt"/>
              </a:rPr>
              <a:t>= Fetch → Decode → Read </a:t>
            </a:r>
            <a:r>
              <a:rPr lang="en-US" sz="2000" dirty="0">
                <a:solidFill>
                  <a:schemeClr val="tx1">
                    <a:lumMod val="65000"/>
                    <a:lumOff val="35000"/>
                  </a:schemeClr>
                </a:solidFill>
              </a:rPr>
              <a:t>→</a:t>
            </a:r>
            <a:r>
              <a:rPr lang="en-US" sz="2000" dirty="0" smtClean="0">
                <a:solidFill>
                  <a:schemeClr val="tx1">
                    <a:lumMod val="65000"/>
                    <a:lumOff val="35000"/>
                  </a:schemeClr>
                </a:solidFill>
                <a:latin typeface="+mn-lt"/>
              </a:rPr>
              <a:t> Execute</a:t>
            </a:r>
          </a:p>
          <a:p>
            <a:pPr marL="914400" lvl="1" indent="-457200" eaLnBrk="1" hangingPunct="1">
              <a:lnSpc>
                <a:spcPct val="150000"/>
              </a:lnSpc>
              <a:spcBef>
                <a:spcPts val="0"/>
              </a:spcBef>
              <a:buClr>
                <a:schemeClr val="accent1"/>
              </a:buClr>
              <a:buSzPct val="75000"/>
              <a:buFont typeface="+mj-lt"/>
              <a:buAutoNum type="arabicPeriod"/>
            </a:pPr>
            <a:r>
              <a:rPr lang="en-US" sz="2000" b="1" dirty="0" smtClean="0">
                <a:solidFill>
                  <a:schemeClr val="tx1">
                    <a:lumMod val="65000"/>
                    <a:lumOff val="35000"/>
                  </a:schemeClr>
                </a:solidFill>
                <a:latin typeface="+mn-lt"/>
              </a:rPr>
              <a:t>Fetch</a:t>
            </a:r>
            <a:r>
              <a:rPr lang="en-US" sz="2000" dirty="0" smtClean="0">
                <a:solidFill>
                  <a:schemeClr val="tx1">
                    <a:lumMod val="65000"/>
                    <a:lumOff val="35000"/>
                  </a:schemeClr>
                </a:solidFill>
                <a:latin typeface="+mn-lt"/>
              </a:rPr>
              <a:t> an instruction from memory.</a:t>
            </a:r>
          </a:p>
          <a:p>
            <a:pPr marL="914400" lvl="1" indent="-457200" eaLnBrk="1" hangingPunct="1">
              <a:lnSpc>
                <a:spcPct val="150000"/>
              </a:lnSpc>
              <a:spcBef>
                <a:spcPts val="0"/>
              </a:spcBef>
              <a:buClr>
                <a:schemeClr val="accent1"/>
              </a:buClr>
              <a:buSzPct val="75000"/>
              <a:buFont typeface="+mj-lt"/>
              <a:buAutoNum type="arabicPeriod"/>
            </a:pPr>
            <a:r>
              <a:rPr lang="en-US" sz="2000" b="1" dirty="0" smtClean="0">
                <a:solidFill>
                  <a:schemeClr val="tx1">
                    <a:lumMod val="65000"/>
                    <a:lumOff val="35000"/>
                  </a:schemeClr>
                </a:solidFill>
                <a:latin typeface="+mn-lt"/>
              </a:rPr>
              <a:t>Decode</a:t>
            </a:r>
            <a:r>
              <a:rPr lang="en-US" sz="2000" dirty="0" smtClean="0">
                <a:solidFill>
                  <a:schemeClr val="tx1">
                    <a:lumMod val="65000"/>
                    <a:lumOff val="35000"/>
                  </a:schemeClr>
                </a:solidFill>
                <a:latin typeface="+mn-lt"/>
              </a:rPr>
              <a:t> the instruction.</a:t>
            </a:r>
          </a:p>
          <a:p>
            <a:pPr marL="914400" lvl="1" indent="-457200" eaLnBrk="1" hangingPunct="1">
              <a:spcBef>
                <a:spcPts val="0"/>
              </a:spcBef>
              <a:buClr>
                <a:schemeClr val="accent1"/>
              </a:buClr>
              <a:buSzPct val="75000"/>
              <a:buFont typeface="+mj-lt"/>
              <a:buAutoNum type="arabicPeriod"/>
            </a:pPr>
            <a:r>
              <a:rPr lang="en-US" sz="2000" b="1" dirty="0" smtClean="0">
                <a:solidFill>
                  <a:schemeClr val="tx1">
                    <a:lumMod val="65000"/>
                    <a:lumOff val="35000"/>
                  </a:schemeClr>
                </a:solidFill>
                <a:latin typeface="+mn-lt"/>
              </a:rPr>
              <a:t>Read </a:t>
            </a:r>
            <a:r>
              <a:rPr lang="en-US" sz="2000" dirty="0" smtClean="0">
                <a:solidFill>
                  <a:schemeClr val="tx1">
                    <a:lumMod val="65000"/>
                    <a:lumOff val="35000"/>
                  </a:schemeClr>
                </a:solidFill>
                <a:latin typeface="+mn-lt"/>
              </a:rPr>
              <a:t>the effective address from memory if the instruction has an indirect address.</a:t>
            </a:r>
          </a:p>
          <a:p>
            <a:pPr marL="914400" lvl="1" indent="-457200" eaLnBrk="1" hangingPunct="1">
              <a:lnSpc>
                <a:spcPct val="150000"/>
              </a:lnSpc>
              <a:spcBef>
                <a:spcPts val="0"/>
              </a:spcBef>
              <a:buClr>
                <a:schemeClr val="accent1"/>
              </a:buClr>
              <a:buSzPct val="75000"/>
              <a:buFont typeface="+mj-lt"/>
              <a:buAutoNum type="arabicPeriod"/>
            </a:pPr>
            <a:r>
              <a:rPr lang="en-US" sz="2000" b="1" dirty="0" smtClean="0">
                <a:solidFill>
                  <a:schemeClr val="tx1">
                    <a:lumMod val="65000"/>
                    <a:lumOff val="35000"/>
                  </a:schemeClr>
                </a:solidFill>
                <a:latin typeface="+mn-lt"/>
              </a:rPr>
              <a:t>Execute</a:t>
            </a:r>
            <a:r>
              <a:rPr lang="en-US" sz="2000" dirty="0" smtClean="0">
                <a:solidFill>
                  <a:schemeClr val="tx1">
                    <a:lumMod val="65000"/>
                    <a:lumOff val="35000"/>
                  </a:schemeClr>
                </a:solidFill>
                <a:latin typeface="+mn-lt"/>
              </a:rPr>
              <a:t> the instruction.</a:t>
            </a:r>
            <a:endParaRPr lang="en-US" sz="2000" dirty="0">
              <a:solidFill>
                <a:schemeClr val="tx1">
                  <a:lumMod val="65000"/>
                  <a:lumOff val="35000"/>
                </a:schemeClr>
              </a:solidFill>
              <a:latin typeface="+mn-lt"/>
            </a:endParaRPr>
          </a:p>
        </p:txBody>
      </p:sp>
    </p:spTree>
    <p:extLst>
      <p:ext uri="{BB962C8B-B14F-4D97-AF65-F5344CB8AC3E}">
        <p14:creationId xmlns:p14="http://schemas.microsoft.com/office/powerpoint/2010/main" val="553821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t="21886" b="22559"/>
          <a:stretch/>
        </p:blipFill>
        <p:spPr>
          <a:xfrm>
            <a:off x="-108520" y="44148"/>
            <a:ext cx="9505056" cy="6833702"/>
          </a:xfrm>
          <a:prstGeom prst="rect">
            <a:avLst/>
          </a:prstGeom>
        </p:spPr>
      </p:pic>
      <p:sp>
        <p:nvSpPr>
          <p:cNvPr id="4" name="Curved Down Arrow 3"/>
          <p:cNvSpPr/>
          <p:nvPr/>
        </p:nvSpPr>
        <p:spPr>
          <a:xfrm rot="2305614">
            <a:off x="4236480" y="230993"/>
            <a:ext cx="824956" cy="566258"/>
          </a:xfrm>
          <a:prstGeom prst="curvedDownArrow">
            <a:avLst/>
          </a:prstGeom>
          <a:solidFill>
            <a:schemeClr val="tx1"/>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 name="Curved Down Arrow 6"/>
          <p:cNvSpPr/>
          <p:nvPr/>
        </p:nvSpPr>
        <p:spPr>
          <a:xfrm rot="2305614">
            <a:off x="7394931" y="189533"/>
            <a:ext cx="824956" cy="566258"/>
          </a:xfrm>
          <a:prstGeom prst="curvedDownArrow">
            <a:avLst/>
          </a:prstGeom>
          <a:solidFill>
            <a:schemeClr val="tx1"/>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4"/>
          <p:cNvSpPr>
            <a:spLocks noGrp="1" noChangeArrowheads="1"/>
          </p:cNvSpPr>
          <p:nvPr>
            <p:ph type="title" idx="4294967295"/>
          </p:nvPr>
        </p:nvSpPr>
        <p:spPr>
          <a:xfrm>
            <a:off x="304800" y="228600"/>
            <a:ext cx="7556500" cy="1116012"/>
          </a:xfrm>
          <a:noFill/>
          <a:ln/>
        </p:spPr>
        <p:txBody>
          <a:bodyPr lIns="90488" tIns="44450" rIns="90488" bIns="44450"/>
          <a:lstStyle/>
          <a:p>
            <a:r>
              <a:rPr lang="en-US" dirty="0" smtClean="0"/>
              <a:t>Source and result operands can be in one of four areas:</a:t>
            </a:r>
            <a:br>
              <a:rPr lang="en-US" dirty="0" smtClean="0"/>
            </a:br>
            <a:endParaRPr lang="en-US" dirty="0"/>
          </a:p>
        </p:txBody>
      </p:sp>
      <p:sp>
        <p:nvSpPr>
          <p:cNvPr id="10245" name="Rectangle 5"/>
          <p:cNvSpPr>
            <a:spLocks noGrp="1" noChangeArrowheads="1"/>
          </p:cNvSpPr>
          <p:nvPr>
            <p:ph sz="half" idx="4294967295"/>
          </p:nvPr>
        </p:nvSpPr>
        <p:spPr>
          <a:xfrm>
            <a:off x="4700387" y="1295400"/>
            <a:ext cx="3986413" cy="3429000"/>
          </a:xfrm>
          <a:noFill/>
          <a:ln/>
        </p:spPr>
        <p:txBody>
          <a:bodyPr lIns="90488" tIns="44450" rIns="90488" bIns="44450">
            <a:normAutofit/>
          </a:bodyPr>
          <a:lstStyle/>
          <a:p>
            <a:pPr marL="457200" indent="-457200">
              <a:buSzPct val="100000"/>
              <a:buFont typeface="+mj-lt"/>
              <a:buAutoNum type="arabicParenR" startAt="3"/>
            </a:pPr>
            <a:r>
              <a:rPr lang="en-US" dirty="0" smtClean="0"/>
              <a:t>Processor register</a:t>
            </a:r>
          </a:p>
          <a:p>
            <a:pPr lvl="1">
              <a:lnSpc>
                <a:spcPct val="110000"/>
              </a:lnSpc>
            </a:pPr>
            <a:r>
              <a:rPr lang="en-US" sz="1700" dirty="0" smtClean="0"/>
              <a:t>A processor contains one or more registers that may be referenced by machine instructions. </a:t>
            </a:r>
          </a:p>
          <a:p>
            <a:pPr lvl="1">
              <a:lnSpc>
                <a:spcPct val="110000"/>
              </a:lnSpc>
            </a:pPr>
            <a:r>
              <a:rPr lang="en-US" sz="1700" dirty="0" smtClean="0"/>
              <a:t>If more than one register exists each register is assigned a unique name or number and the instruction must contain the number of the desired register.</a:t>
            </a:r>
          </a:p>
          <a:p>
            <a:pPr lvl="1">
              <a:lnSpc>
                <a:spcPct val="110000"/>
              </a:lnSpc>
            </a:pPr>
            <a:r>
              <a:rPr lang="en-US" sz="1700" b="1" dirty="0"/>
              <a:t>Ex: ADD R1, R2</a:t>
            </a:r>
            <a:endParaRPr lang="en-US" sz="1700" b="1" dirty="0" smtClean="0"/>
          </a:p>
        </p:txBody>
      </p:sp>
      <p:sp>
        <p:nvSpPr>
          <p:cNvPr id="6" name="Content Placeholder 5"/>
          <p:cNvSpPr>
            <a:spLocks noGrp="1"/>
          </p:cNvSpPr>
          <p:nvPr>
            <p:ph sz="half" idx="4294967295"/>
          </p:nvPr>
        </p:nvSpPr>
        <p:spPr>
          <a:xfrm>
            <a:off x="533399" y="4038600"/>
            <a:ext cx="4090787" cy="2286000"/>
          </a:xfrm>
        </p:spPr>
        <p:txBody>
          <a:bodyPr>
            <a:normAutofit/>
          </a:bodyPr>
          <a:lstStyle/>
          <a:p>
            <a:pPr marL="457200" indent="-457200">
              <a:buSzPct val="100000"/>
              <a:buFont typeface="+mj-lt"/>
              <a:buAutoNum type="arabicParenR" startAt="2"/>
            </a:pPr>
            <a:r>
              <a:rPr lang="en-US" dirty="0" smtClean="0"/>
              <a:t>I/O device</a:t>
            </a:r>
          </a:p>
          <a:p>
            <a:pPr lvl="1"/>
            <a:r>
              <a:rPr lang="en-US" sz="1700" dirty="0" smtClean="0"/>
              <a:t>The instruction must specify the I/O module and device for the operation.</a:t>
            </a:r>
            <a:r>
              <a:rPr lang="en-US" sz="1700" b="1" dirty="0" smtClean="0"/>
              <a:t> </a:t>
            </a:r>
            <a:r>
              <a:rPr lang="en-US" sz="1600" b="1" dirty="0"/>
              <a:t>Operand comes from or goes to an I/O device</a:t>
            </a:r>
            <a:endParaRPr lang="en-US" sz="1700" b="1" dirty="0"/>
          </a:p>
        </p:txBody>
      </p:sp>
      <p:sp>
        <p:nvSpPr>
          <p:cNvPr id="7" name="Content Placeholder 6"/>
          <p:cNvSpPr>
            <a:spLocks noGrp="1"/>
          </p:cNvSpPr>
          <p:nvPr>
            <p:ph sz="half" idx="4294967295"/>
          </p:nvPr>
        </p:nvSpPr>
        <p:spPr>
          <a:xfrm>
            <a:off x="593971" y="1586061"/>
            <a:ext cx="4106416" cy="1965325"/>
          </a:xfrm>
        </p:spPr>
        <p:txBody>
          <a:bodyPr>
            <a:normAutofit fontScale="92500"/>
          </a:bodyPr>
          <a:lstStyle/>
          <a:p>
            <a:pPr marL="457200" indent="-457200">
              <a:buSzPct val="100000"/>
              <a:buFont typeface="+mj-lt"/>
              <a:buAutoNum type="arabicParenR"/>
            </a:pPr>
            <a:r>
              <a:rPr lang="en-US" dirty="0" smtClean="0"/>
              <a:t>Main or virtual memory</a:t>
            </a:r>
          </a:p>
          <a:p>
            <a:pPr lvl="1"/>
            <a:r>
              <a:rPr lang="en-US" sz="1700" dirty="0" smtClean="0"/>
              <a:t>As with next instruction references, the main or virtual memory address must be supplied.</a:t>
            </a:r>
          </a:p>
          <a:p>
            <a:pPr lvl="1"/>
            <a:r>
              <a:rPr lang="en-US" sz="1600" b="1" dirty="0"/>
              <a:t>Virtual </a:t>
            </a:r>
            <a:r>
              <a:rPr lang="en-US" sz="1600" b="1" dirty="0" smtClean="0"/>
              <a:t>Address </a:t>
            </a:r>
            <a:r>
              <a:rPr lang="en-US" sz="1600" b="1" dirty="0"/>
              <a:t>→ </a:t>
            </a:r>
            <a:r>
              <a:rPr lang="en-US" sz="1600" b="1" dirty="0" smtClean="0"/>
              <a:t>MMU</a:t>
            </a:r>
            <a:r>
              <a:rPr lang="en-US" sz="1600" b="1" dirty="0"/>
              <a:t> + page tables</a:t>
            </a:r>
            <a:r>
              <a:rPr lang="en-US" sz="1600" b="1" dirty="0" smtClean="0"/>
              <a:t>​ </a:t>
            </a:r>
            <a:r>
              <a:rPr lang="en-US" sz="1600" b="1" dirty="0"/>
              <a:t>→ </a:t>
            </a:r>
            <a:r>
              <a:rPr lang="en-US" sz="1600" b="1" dirty="0" smtClean="0"/>
              <a:t>Physical</a:t>
            </a:r>
            <a:r>
              <a:rPr lang="en-US" sz="1600" b="1" dirty="0"/>
              <a:t> Address</a:t>
            </a:r>
            <a:endParaRPr lang="en-US" sz="1700" b="1" dirty="0"/>
          </a:p>
        </p:txBody>
      </p:sp>
      <p:sp>
        <p:nvSpPr>
          <p:cNvPr id="8" name="Content Placeholder 7"/>
          <p:cNvSpPr>
            <a:spLocks noGrp="1"/>
          </p:cNvSpPr>
          <p:nvPr>
            <p:ph sz="half" idx="4294967295"/>
          </p:nvPr>
        </p:nvSpPr>
        <p:spPr>
          <a:xfrm>
            <a:off x="4700387" y="4724400"/>
            <a:ext cx="4120085" cy="1965325"/>
          </a:xfrm>
        </p:spPr>
        <p:txBody>
          <a:bodyPr/>
          <a:lstStyle/>
          <a:p>
            <a:pPr marL="457200" indent="-457200">
              <a:buSzPct val="100000"/>
              <a:buFont typeface="+mj-lt"/>
              <a:buAutoNum type="arabicParenR" startAt="4"/>
            </a:pPr>
            <a:r>
              <a:rPr lang="en-US" dirty="0" smtClean="0"/>
              <a:t>Immediate</a:t>
            </a:r>
          </a:p>
          <a:p>
            <a:pPr lvl="1"/>
            <a:r>
              <a:rPr lang="en-US" sz="1700" dirty="0" smtClean="0"/>
              <a:t>The value of the operand is contained in a field in the instruction being executed.</a:t>
            </a:r>
          </a:p>
          <a:p>
            <a:pPr lvl="1"/>
            <a:r>
              <a:rPr lang="en-US" sz="1700" b="1" dirty="0"/>
              <a:t>Ex: ADD R1, #5</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Instruction Representation</a:t>
            </a:r>
          </a:p>
        </p:txBody>
      </p:sp>
      <p:sp>
        <p:nvSpPr>
          <p:cNvPr id="12293" name="Rectangle 5"/>
          <p:cNvSpPr>
            <a:spLocks noGrp="1" noChangeArrowheads="1"/>
          </p:cNvSpPr>
          <p:nvPr>
            <p:ph idx="1"/>
          </p:nvPr>
        </p:nvSpPr>
        <p:spPr>
          <a:xfrm>
            <a:off x="498474" y="1524000"/>
            <a:ext cx="7556313" cy="4602163"/>
          </a:xfrm>
          <a:noFill/>
          <a:ln/>
        </p:spPr>
        <p:txBody>
          <a:bodyPr lIns="90488" tIns="44450" rIns="90488" bIns="44450"/>
          <a:lstStyle/>
          <a:p>
            <a:r>
              <a:rPr lang="en-US" dirty="0" smtClean="0"/>
              <a:t>Within the computer each instruction is represented by a sequence of bits</a:t>
            </a:r>
          </a:p>
          <a:p>
            <a:r>
              <a:rPr lang="en-US" dirty="0" smtClean="0"/>
              <a:t>The instruction is divided into fields, corresponding to the constituent elements of the instruction</a:t>
            </a:r>
            <a:endParaRPr lang="en-US" dirty="0"/>
          </a:p>
        </p:txBody>
      </p:sp>
      <p:sp useBgFill="1">
        <p:nvSpPr>
          <p:cNvPr id="7" name="TextBox 6"/>
          <p:cNvSpPr txBox="1"/>
          <p:nvPr/>
        </p:nvSpPr>
        <p:spPr>
          <a:xfrm>
            <a:off x="2590800" y="5334000"/>
            <a:ext cx="4038600" cy="536761"/>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3"/>
          <a:stretch>
            <a:fillRect/>
          </a:stretch>
        </p:blipFill>
        <p:spPr>
          <a:xfrm>
            <a:off x="0" y="3213286"/>
            <a:ext cx="9048750" cy="2657475"/>
          </a:xfrm>
          <a:prstGeom prst="rect">
            <a:avLst/>
          </a:prstGeom>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Instruction Representation</a:t>
            </a:r>
          </a:p>
        </p:txBody>
      </p:sp>
      <p:sp>
        <p:nvSpPr>
          <p:cNvPr id="12293" name="Rectangle 5"/>
          <p:cNvSpPr>
            <a:spLocks noGrp="1" noChangeArrowheads="1"/>
          </p:cNvSpPr>
          <p:nvPr>
            <p:ph idx="1"/>
          </p:nvPr>
        </p:nvSpPr>
        <p:spPr>
          <a:xfrm>
            <a:off x="498474" y="1340768"/>
            <a:ext cx="7556313" cy="5040560"/>
          </a:xfrm>
          <a:noFill/>
          <a:ln/>
        </p:spPr>
        <p:txBody>
          <a:bodyPr lIns="90488" tIns="44450" rIns="90488" bIns="44450">
            <a:normAutofit/>
          </a:bodyPr>
          <a:lstStyle/>
          <a:p>
            <a:r>
              <a:rPr lang="en-US" dirty="0" err="1" smtClean="0"/>
              <a:t>Opcodes</a:t>
            </a:r>
            <a:r>
              <a:rPr lang="en-US" dirty="0" smtClean="0"/>
              <a:t> are represented by abbreviations                                                          called  </a:t>
            </a:r>
            <a:r>
              <a:rPr lang="en-US" i="1" dirty="0" smtClean="0"/>
              <a:t>mnemonics </a:t>
            </a:r>
            <a:endParaRPr lang="en-US" dirty="0" smtClean="0"/>
          </a:p>
          <a:p>
            <a:r>
              <a:rPr lang="en-US" dirty="0" smtClean="0"/>
              <a:t>Examples include:</a:t>
            </a:r>
          </a:p>
          <a:p>
            <a:pPr lvl="1"/>
            <a:r>
              <a:rPr lang="en-US" dirty="0" smtClean="0"/>
              <a:t>ADD	Add</a:t>
            </a:r>
          </a:p>
          <a:p>
            <a:pPr lvl="1"/>
            <a:r>
              <a:rPr lang="en-US" dirty="0" smtClean="0"/>
              <a:t>SUB		</a:t>
            </a:r>
            <a:r>
              <a:rPr lang="en-US" dirty="0"/>
              <a:t>Subtract</a:t>
            </a:r>
            <a:endParaRPr lang="en-US" sz="2000" dirty="0"/>
          </a:p>
          <a:p>
            <a:pPr lvl="1"/>
            <a:r>
              <a:rPr lang="en-US" sz="2000" dirty="0"/>
              <a:t>MUL	Multi</a:t>
            </a:r>
            <a:r>
              <a:rPr lang="en-US" dirty="0"/>
              <a:t>ply</a:t>
            </a:r>
          </a:p>
          <a:p>
            <a:pPr lvl="1"/>
            <a:r>
              <a:rPr lang="en-US" dirty="0" smtClean="0"/>
              <a:t>DIV		Divide</a:t>
            </a:r>
          </a:p>
          <a:p>
            <a:pPr lvl="1"/>
            <a:r>
              <a:rPr lang="en-US" dirty="0" smtClean="0"/>
              <a:t>LOAD	Load data from memory</a:t>
            </a:r>
          </a:p>
          <a:p>
            <a:pPr lvl="1"/>
            <a:r>
              <a:rPr lang="en-US" dirty="0" smtClean="0"/>
              <a:t>STOR	Store data to memory</a:t>
            </a:r>
          </a:p>
          <a:p>
            <a:pPr marL="228600" lvl="1">
              <a:spcBef>
                <a:spcPts val="2000"/>
              </a:spcBef>
              <a:buClr>
                <a:schemeClr val="accent1"/>
              </a:buClr>
            </a:pPr>
            <a:r>
              <a:rPr lang="en-US" sz="2000" dirty="0"/>
              <a:t>Operands are also represented </a:t>
            </a:r>
            <a:r>
              <a:rPr lang="en-US" sz="2000" dirty="0" smtClean="0"/>
              <a:t>symbolically</a:t>
            </a:r>
          </a:p>
          <a:p>
            <a:pPr marL="228600" lvl="1">
              <a:spcBef>
                <a:spcPts val="2000"/>
              </a:spcBef>
              <a:buClr>
                <a:schemeClr val="accent1"/>
              </a:buClr>
            </a:pPr>
            <a:r>
              <a:rPr lang="en-US" sz="2000" dirty="0" smtClean="0"/>
              <a:t>Each symbolic opcode has a fixed binary representation </a:t>
            </a:r>
          </a:p>
          <a:p>
            <a:pPr lvl="1"/>
            <a:r>
              <a:rPr lang="en-US" dirty="0"/>
              <a:t>The programmer specifies the location of each symbolic operand</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10" name="Picture 9"/>
          <p:cNvPicPr>
            <a:picLocks noChangeAspect="1"/>
          </p:cNvPicPr>
          <p:nvPr/>
        </p:nvPicPr>
        <p:blipFill>
          <a:blip r:embed="rId3">
            <a:duotone>
              <a:schemeClr val="accent2">
                <a:shade val="45000"/>
                <a:satMod val="135000"/>
              </a:schemeClr>
              <a:prstClr val="white"/>
            </a:duotone>
          </a:blip>
          <a:stretch>
            <a:fillRect/>
          </a:stretch>
        </p:blipFill>
        <p:spPr>
          <a:xfrm rot="20634146">
            <a:off x="6323747" y="101995"/>
            <a:ext cx="3321618" cy="2197804"/>
          </a:xfrm>
          <a:prstGeom prst="ellipse">
            <a:avLst/>
          </a:prstGeom>
          <a:ln>
            <a:noFill/>
          </a:ln>
          <a:effectLst>
            <a:softEdge rad="112500"/>
          </a:effectLst>
        </p:spPr>
      </p:pic>
      <p:cxnSp>
        <p:nvCxnSpPr>
          <p:cNvPr id="5" name="Straight Arrow Connector 4"/>
          <p:cNvCxnSpPr/>
          <p:nvPr/>
        </p:nvCxnSpPr>
        <p:spPr>
          <a:xfrm flipV="1">
            <a:off x="6019800" y="4272703"/>
            <a:ext cx="496416" cy="668465"/>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4"/>
          <a:stretch>
            <a:fillRect/>
          </a:stretch>
        </p:blipFill>
        <p:spPr>
          <a:xfrm>
            <a:off x="6181725" y="3345617"/>
            <a:ext cx="2962275" cy="923925"/>
          </a:xfrm>
          <a:prstGeom prst="rect">
            <a:avLst/>
          </a:prstGeom>
        </p:spPr>
      </p:pic>
      <p:sp>
        <p:nvSpPr>
          <p:cNvPr id="8" name="Rectangle 7"/>
          <p:cNvSpPr/>
          <p:nvPr/>
        </p:nvSpPr>
        <p:spPr>
          <a:xfrm>
            <a:off x="7631983" y="2793445"/>
            <a:ext cx="1512017" cy="707886"/>
          </a:xfrm>
          <a:prstGeom prst="rect">
            <a:avLst/>
          </a:prstGeom>
        </p:spPr>
        <p:txBody>
          <a:bodyPr wrap="none">
            <a:spAutoFit/>
          </a:bodyPr>
          <a:lstStyle/>
          <a:p>
            <a:pPr algn="ctr"/>
            <a:r>
              <a:rPr lang="en-US" sz="2000" dirty="0">
                <a:solidFill>
                  <a:schemeClr val="tx1">
                    <a:lumMod val="65000"/>
                    <a:lumOff val="35000"/>
                  </a:schemeClr>
                </a:solidFill>
                <a:latin typeface="+mn-lt"/>
              </a:rPr>
              <a:t>Address of </a:t>
            </a:r>
            <a:endParaRPr lang="en-US" sz="2000" dirty="0" smtClean="0">
              <a:solidFill>
                <a:schemeClr val="tx1">
                  <a:lumMod val="65000"/>
                  <a:lumOff val="35000"/>
                </a:schemeClr>
              </a:solidFill>
              <a:latin typeface="+mn-lt"/>
            </a:endParaRPr>
          </a:p>
          <a:p>
            <a:pPr algn="ctr"/>
            <a:r>
              <a:rPr lang="en-US" sz="2000" dirty="0" smtClean="0">
                <a:solidFill>
                  <a:schemeClr val="tx1">
                    <a:lumMod val="65000"/>
                    <a:lumOff val="35000"/>
                  </a:schemeClr>
                </a:solidFill>
                <a:latin typeface="+mn-lt"/>
              </a:rPr>
              <a:t>location</a:t>
            </a:r>
            <a:endParaRPr lang="en-US" sz="2000" dirty="0">
              <a:solidFill>
                <a:schemeClr val="tx1">
                  <a:lumMod val="65000"/>
                  <a:lumOff val="35000"/>
                </a:schemeClr>
              </a:solidFill>
              <a:latin typeface="+mn-lt"/>
            </a:endParaRPr>
          </a:p>
        </p:txBody>
      </p:sp>
      <p:sp>
        <p:nvSpPr>
          <p:cNvPr id="14" name="Rectangle 13"/>
          <p:cNvSpPr/>
          <p:nvPr/>
        </p:nvSpPr>
        <p:spPr>
          <a:xfrm>
            <a:off x="6351675" y="2814574"/>
            <a:ext cx="1172117" cy="400110"/>
          </a:xfrm>
          <a:prstGeom prst="rect">
            <a:avLst/>
          </a:prstGeom>
        </p:spPr>
        <p:txBody>
          <a:bodyPr wrap="none">
            <a:spAutoFit/>
          </a:bodyPr>
          <a:lstStyle/>
          <a:p>
            <a:pPr algn="ctr"/>
            <a:r>
              <a:rPr lang="en-US" sz="2000" dirty="0" smtClean="0">
                <a:solidFill>
                  <a:schemeClr val="tx1">
                    <a:lumMod val="65000"/>
                    <a:lumOff val="35000"/>
                  </a:schemeClr>
                </a:solidFill>
                <a:latin typeface="+mn-lt"/>
              </a:rPr>
              <a:t>Register</a:t>
            </a:r>
            <a:endParaRPr lang="en-US" sz="2000" dirty="0">
              <a:solidFill>
                <a:schemeClr val="tx1">
                  <a:lumMod val="65000"/>
                  <a:lumOff val="35000"/>
                </a:schemeClr>
              </a:solidFill>
              <a:latin typeface="+mn-lt"/>
            </a:endParaRPr>
          </a:p>
        </p:txBody>
      </p:sp>
      <p:sp>
        <p:nvSpPr>
          <p:cNvPr id="12" name="Rectangle 5"/>
          <p:cNvSpPr txBox="1">
            <a:spLocks noChangeArrowheads="1"/>
          </p:cNvSpPr>
          <p:nvPr/>
        </p:nvSpPr>
        <p:spPr>
          <a:xfrm>
            <a:off x="6528578" y="4140748"/>
            <a:ext cx="2169865" cy="1949041"/>
          </a:xfrm>
          <a:prstGeom prst="rect">
            <a:avLst/>
          </a:prstGeom>
          <a:noFill/>
          <a:ln/>
        </p:spPr>
        <p:txBody>
          <a:bodyPr vert="horz" lIns="90488" tIns="44450" rIns="90488" bIns="44450" rtlCol="0">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0"/>
              </a:spcBef>
              <a:spcAft>
                <a:spcPts val="0"/>
              </a:spcAft>
            </a:pPr>
            <a:r>
              <a:rPr lang="en-US" dirty="0" smtClean="0"/>
              <a:t>R = R + Y</a:t>
            </a:r>
          </a:p>
          <a:p>
            <a:pPr fontAlgn="auto">
              <a:spcBef>
                <a:spcPts val="0"/>
              </a:spcBef>
              <a:spcAft>
                <a:spcPts val="0"/>
              </a:spcAft>
            </a:pPr>
            <a:r>
              <a:rPr lang="en-US" dirty="0" smtClean="0"/>
              <a:t>Y = 20</a:t>
            </a:r>
          </a:p>
          <a:p>
            <a:pPr fontAlgn="auto">
              <a:spcBef>
                <a:spcPts val="0"/>
              </a:spcBef>
              <a:spcAft>
                <a:spcPts val="0"/>
              </a:spcAft>
            </a:pPr>
            <a:r>
              <a:rPr lang="en-US" dirty="0" smtClean="0"/>
              <a:t>R = 10</a:t>
            </a:r>
          </a:p>
          <a:p>
            <a:pPr fontAlgn="auto">
              <a:spcBef>
                <a:spcPts val="0"/>
              </a:spcBef>
              <a:spcAft>
                <a:spcPts val="0"/>
              </a:spcAft>
            </a:pPr>
            <a:r>
              <a:rPr lang="en-US" dirty="0" smtClean="0"/>
              <a:t>R = 30</a:t>
            </a:r>
          </a:p>
        </p:txBody>
      </p:sp>
    </p:spTree>
    <p:extLst>
      <p:ext uri="{BB962C8B-B14F-4D97-AF65-F5344CB8AC3E}">
        <p14:creationId xmlns:p14="http://schemas.microsoft.com/office/powerpoint/2010/main" val="2769720677"/>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433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4340" name="Rectangle 4"/>
          <p:cNvSpPr>
            <a:spLocks noGrp="1" noChangeArrowheads="1"/>
          </p:cNvSpPr>
          <p:nvPr>
            <p:ph type="title" idx="4294967295"/>
          </p:nvPr>
        </p:nvSpPr>
        <p:spPr>
          <a:xfrm>
            <a:off x="0" y="0"/>
            <a:ext cx="9144000" cy="1116013"/>
          </a:xfrm>
          <a:noFill/>
          <a:ln/>
        </p:spPr>
        <p:txBody>
          <a:bodyPr lIns="90488" tIns="44450" rIns="90488" bIns="44450"/>
          <a:lstStyle/>
          <a:p>
            <a:pPr algn="ctr"/>
            <a:r>
              <a:rPr lang="en-US" dirty="0">
                <a:effectLst>
                  <a:outerShdw blurRad="38100" dist="38100" dir="2700000" algn="tl">
                    <a:srgbClr val="000000">
                      <a:alpha val="43137"/>
                    </a:srgbClr>
                  </a:outerShdw>
                </a:effectLst>
              </a:rPr>
              <a:t>Instruction Types</a:t>
            </a:r>
          </a:p>
        </p:txBody>
      </p:sp>
      <p:graphicFrame>
        <p:nvGraphicFramePr>
          <p:cNvPr id="8" name="Content Placeholder 7"/>
          <p:cNvGraphicFramePr>
            <a:graphicFrameLocks noGrp="1"/>
          </p:cNvGraphicFramePr>
          <p:nvPr>
            <p:ph idx="4294967295"/>
            <p:extLst>
              <p:ext uri="{D42A27DB-BD31-4B8C-83A1-F6EECF244321}">
                <p14:modId xmlns:p14="http://schemas.microsoft.com/office/powerpoint/2010/main" val="3590010974"/>
              </p:ext>
            </p:extLst>
          </p:nvPr>
        </p:nvGraphicFramePr>
        <p:xfrm>
          <a:off x="163945" y="895927"/>
          <a:ext cx="88392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of Addresses/Operands</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5"/>
          <p:cNvSpPr txBox="1">
            <a:spLocks noChangeArrowheads="1"/>
          </p:cNvSpPr>
          <p:nvPr/>
        </p:nvSpPr>
        <p:spPr>
          <a:xfrm>
            <a:off x="498474" y="1340768"/>
            <a:ext cx="7556313" cy="5040560"/>
          </a:xfrm>
          <a:prstGeom prst="rect">
            <a:avLst/>
          </a:prstGeom>
          <a:noFill/>
          <a:ln/>
        </p:spPr>
        <p:txBody>
          <a:bodyPr lIns="90488" tIns="44450" rIns="90488" bIns="44450">
            <a:normAutofit fontScale="85000" lnSpcReduction="1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US" dirty="0" smtClean="0"/>
              <a:t>Arithmetic and logic instructions will require the most operands.</a:t>
            </a:r>
          </a:p>
          <a:p>
            <a:pPr lvl="1" fontAlgn="auto">
              <a:spcAft>
                <a:spcPts val="0"/>
              </a:spcAft>
            </a:pPr>
            <a:r>
              <a:rPr lang="en-US" dirty="0" smtClean="0"/>
              <a:t>Unary – one source operand (accumulator</a:t>
            </a:r>
            <a:r>
              <a:rPr lang="en-US" dirty="0" smtClean="0"/>
              <a:t>) – </a:t>
            </a:r>
            <a:r>
              <a:rPr lang="en-US" b="1" dirty="0" smtClean="0"/>
              <a:t>Ex: INC A</a:t>
            </a:r>
            <a:endParaRPr lang="en-US" b="1" dirty="0" smtClean="0"/>
          </a:p>
          <a:p>
            <a:pPr lvl="1" fontAlgn="auto">
              <a:spcAft>
                <a:spcPts val="0"/>
              </a:spcAft>
            </a:pPr>
            <a:r>
              <a:rPr lang="en-US" dirty="0" smtClean="0"/>
              <a:t>Binary – two source operand (general-purpose registers</a:t>
            </a:r>
            <a:r>
              <a:rPr lang="en-US" dirty="0" smtClean="0"/>
              <a:t>) – </a:t>
            </a:r>
            <a:r>
              <a:rPr lang="en-US" b="1" dirty="0" smtClean="0"/>
              <a:t>Ex: ADD A,B</a:t>
            </a:r>
            <a:endParaRPr lang="en-US" b="1" dirty="0" smtClean="0"/>
          </a:p>
          <a:p>
            <a:pPr fontAlgn="auto">
              <a:spcAft>
                <a:spcPts val="0"/>
              </a:spcAft>
            </a:pPr>
            <a:r>
              <a:rPr lang="en-US" dirty="0" smtClean="0"/>
              <a:t>Four address references</a:t>
            </a:r>
          </a:p>
          <a:p>
            <a:pPr lvl="1" fontAlgn="auto">
              <a:spcAft>
                <a:spcPts val="0"/>
              </a:spcAft>
            </a:pPr>
            <a:r>
              <a:rPr lang="en-US" dirty="0" smtClean="0"/>
              <a:t>Two source operands</a:t>
            </a:r>
          </a:p>
          <a:p>
            <a:pPr lvl="1" fontAlgn="auto">
              <a:spcAft>
                <a:spcPts val="0"/>
              </a:spcAft>
            </a:pPr>
            <a:r>
              <a:rPr lang="en-US" dirty="0" smtClean="0"/>
              <a:t>One destination operand</a:t>
            </a:r>
          </a:p>
          <a:p>
            <a:pPr lvl="1" fontAlgn="auto">
              <a:spcAft>
                <a:spcPts val="0"/>
              </a:spcAft>
            </a:pPr>
            <a:r>
              <a:rPr lang="en-US" dirty="0" smtClean="0"/>
              <a:t>Address of the next instruction</a:t>
            </a:r>
          </a:p>
          <a:p>
            <a:pPr marL="228600" lvl="1" fontAlgn="auto">
              <a:spcBef>
                <a:spcPts val="2000"/>
              </a:spcBef>
              <a:spcAft>
                <a:spcPts val="0"/>
              </a:spcAft>
              <a:buClr>
                <a:schemeClr val="accent1"/>
              </a:buClr>
            </a:pPr>
            <a:r>
              <a:rPr lang="en-US" sz="2000" b="1" dirty="0" smtClean="0"/>
              <a:t>Advantages: </a:t>
            </a:r>
            <a:r>
              <a:rPr lang="en-US" sz="2000" dirty="0" smtClean="0"/>
              <a:t>Fewer addresses per instruction result in instructions that are:</a:t>
            </a:r>
          </a:p>
          <a:p>
            <a:pPr lvl="1" fontAlgn="auto">
              <a:spcAft>
                <a:spcPts val="0"/>
              </a:spcAft>
            </a:pPr>
            <a:r>
              <a:rPr lang="en-US" sz="2000" dirty="0" smtClean="0"/>
              <a:t>More primitive</a:t>
            </a:r>
          </a:p>
          <a:p>
            <a:pPr lvl="1" fontAlgn="auto">
              <a:spcAft>
                <a:spcPts val="0"/>
              </a:spcAft>
            </a:pPr>
            <a:r>
              <a:rPr lang="en-US" sz="2000" dirty="0" smtClean="0"/>
              <a:t>Requiring a less complex processor</a:t>
            </a:r>
            <a:endParaRPr lang="en-US" sz="2000" dirty="0"/>
          </a:p>
          <a:p>
            <a:pPr lvl="1" fontAlgn="auto">
              <a:spcAft>
                <a:spcPts val="0"/>
              </a:spcAft>
            </a:pPr>
            <a:r>
              <a:rPr lang="en-US" sz="2000" dirty="0" smtClean="0"/>
              <a:t>Shorter instruction length</a:t>
            </a:r>
          </a:p>
          <a:p>
            <a:pPr marL="228600" lvl="1" fontAlgn="auto">
              <a:spcBef>
                <a:spcPts val="2000"/>
              </a:spcBef>
              <a:spcAft>
                <a:spcPts val="0"/>
              </a:spcAft>
              <a:buClr>
                <a:schemeClr val="accent1"/>
              </a:buClr>
            </a:pPr>
            <a:r>
              <a:rPr lang="en-US" sz="2000" b="1" dirty="0" smtClean="0"/>
              <a:t>Disadvantages: </a:t>
            </a:r>
            <a:r>
              <a:rPr lang="en-US" sz="2000" dirty="0" smtClean="0"/>
              <a:t>these instruction results in </a:t>
            </a:r>
          </a:p>
          <a:p>
            <a:pPr lvl="1" fontAlgn="auto">
              <a:spcAft>
                <a:spcPts val="0"/>
              </a:spcAft>
            </a:pPr>
            <a:r>
              <a:rPr lang="en-US" dirty="0" smtClean="0"/>
              <a:t>Longer and complex program</a:t>
            </a:r>
          </a:p>
          <a:p>
            <a:pPr lvl="1" fontAlgn="auto">
              <a:spcAft>
                <a:spcPts val="0"/>
              </a:spcAft>
            </a:pPr>
            <a:r>
              <a:rPr lang="en-US" dirty="0" smtClean="0"/>
              <a:t>Longer execution times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82958974"/>
              </p:ext>
            </p:extLst>
          </p:nvPr>
        </p:nvGraphicFramePr>
        <p:xfrm>
          <a:off x="3995936" y="2636912"/>
          <a:ext cx="3816425" cy="365760"/>
        </p:xfrm>
        <a:graphic>
          <a:graphicData uri="http://schemas.openxmlformats.org/drawingml/2006/table">
            <a:tbl>
              <a:tblPr firstRow="1" bandRow="1">
                <a:tableStyleId>{5C22544A-7EE6-4342-B048-85BDC9FD1C3A}</a:tableStyleId>
              </a:tblPr>
              <a:tblGrid>
                <a:gridCol w="763285">
                  <a:extLst>
                    <a:ext uri="{9D8B030D-6E8A-4147-A177-3AD203B41FA5}">
                      <a16:colId xmlns:a16="http://schemas.microsoft.com/office/drawing/2014/main" val="2188008718"/>
                    </a:ext>
                  </a:extLst>
                </a:gridCol>
                <a:gridCol w="763285">
                  <a:extLst>
                    <a:ext uri="{9D8B030D-6E8A-4147-A177-3AD203B41FA5}">
                      <a16:colId xmlns:a16="http://schemas.microsoft.com/office/drawing/2014/main" val="3689276603"/>
                    </a:ext>
                  </a:extLst>
                </a:gridCol>
                <a:gridCol w="763285">
                  <a:extLst>
                    <a:ext uri="{9D8B030D-6E8A-4147-A177-3AD203B41FA5}">
                      <a16:colId xmlns:a16="http://schemas.microsoft.com/office/drawing/2014/main" val="1878930100"/>
                    </a:ext>
                  </a:extLst>
                </a:gridCol>
                <a:gridCol w="763285">
                  <a:extLst>
                    <a:ext uri="{9D8B030D-6E8A-4147-A177-3AD203B41FA5}">
                      <a16:colId xmlns:a16="http://schemas.microsoft.com/office/drawing/2014/main" val="4190217821"/>
                    </a:ext>
                  </a:extLst>
                </a:gridCol>
                <a:gridCol w="763285">
                  <a:extLst>
                    <a:ext uri="{9D8B030D-6E8A-4147-A177-3AD203B41FA5}">
                      <a16:colId xmlns:a16="http://schemas.microsoft.com/office/drawing/2014/main" val="3444550649"/>
                    </a:ext>
                  </a:extLst>
                </a:gridCol>
              </a:tblGrid>
              <a:tr h="283056">
                <a:tc>
                  <a:txBody>
                    <a:bodyPr/>
                    <a:lstStyle/>
                    <a:p>
                      <a:pPr algn="ctr"/>
                      <a:r>
                        <a:rPr lang="en-US" dirty="0" smtClean="0"/>
                        <a:t>ADD</a:t>
                      </a:r>
                      <a:endParaRPr lang="en-US" dirty="0"/>
                    </a:p>
                  </a:txBody>
                  <a:tcPr/>
                </a:tc>
                <a:tc>
                  <a:txBody>
                    <a:bodyPr/>
                    <a:lstStyle/>
                    <a:p>
                      <a:pPr algn="ctr"/>
                      <a:r>
                        <a:rPr lang="en-US" dirty="0" smtClean="0"/>
                        <a:t>X</a:t>
                      </a:r>
                      <a:endParaRPr lang="en-US" dirty="0"/>
                    </a:p>
                  </a:txBody>
                  <a:tcPr/>
                </a:tc>
                <a:tc>
                  <a:txBody>
                    <a:bodyPr/>
                    <a:lstStyle/>
                    <a:p>
                      <a:pPr algn="ctr"/>
                      <a:r>
                        <a:rPr lang="en-US" dirty="0" smtClean="0"/>
                        <a:t>Y</a:t>
                      </a:r>
                      <a:endParaRPr lang="en-US" dirty="0"/>
                    </a:p>
                  </a:txBody>
                  <a:tcPr/>
                </a:tc>
                <a:tc>
                  <a:txBody>
                    <a:bodyPr/>
                    <a:lstStyle/>
                    <a:p>
                      <a:pPr algn="ctr"/>
                      <a:r>
                        <a:rPr lang="en-US" dirty="0" smtClean="0"/>
                        <a:t>Z</a:t>
                      </a:r>
                      <a:endParaRPr lang="en-US" dirty="0"/>
                    </a:p>
                  </a:txBody>
                  <a:tcPr/>
                </a:tc>
                <a:tc>
                  <a:txBody>
                    <a:bodyPr/>
                    <a:lstStyle/>
                    <a:p>
                      <a:pPr algn="ctr"/>
                      <a:r>
                        <a:rPr lang="en-US" dirty="0" smtClean="0"/>
                        <a:t>#500</a:t>
                      </a:r>
                      <a:endParaRPr lang="en-US" dirty="0"/>
                    </a:p>
                  </a:txBody>
                  <a:tcPr/>
                </a:tc>
                <a:extLst>
                  <a:ext uri="{0D108BD9-81ED-4DB2-BD59-A6C34878D82A}">
                    <a16:rowId xmlns:a16="http://schemas.microsoft.com/office/drawing/2014/main" val="3987618532"/>
                  </a:ext>
                </a:extLst>
              </a:tr>
            </a:tbl>
          </a:graphicData>
        </a:graphic>
      </p:graphicFrame>
    </p:spTree>
    <p:extLst>
      <p:ext uri="{BB962C8B-B14F-4D97-AF65-F5344CB8AC3E}">
        <p14:creationId xmlns:p14="http://schemas.microsoft.com/office/powerpoint/2010/main" val="301590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descr="f3.pdf"/>
          <p:cNvPicPr>
            <a:picLocks noChangeAspect="1"/>
          </p:cNvPicPr>
          <p:nvPr/>
        </p:nvPicPr>
        <p:blipFill rotWithShape="1">
          <a:blip r:embed="rId3">
            <a:extLst>
              <a:ext uri="{28A0092B-C50C-407E-A947-70E740481C1C}">
                <a14:useLocalDpi xmlns:a14="http://schemas.microsoft.com/office/drawing/2010/main" val="0"/>
              </a:ext>
            </a:extLst>
          </a:blip>
          <a:srcRect t="7912" b="33670"/>
          <a:stretch/>
        </p:blipFill>
        <p:spPr>
          <a:xfrm>
            <a:off x="-252536" y="-171400"/>
            <a:ext cx="9585463" cy="7246527"/>
          </a:xfrm>
          <a:prstGeom prst="rect">
            <a:avLst/>
          </a:prstGeom>
        </p:spPr>
      </p:pic>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843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pic>
        <p:nvPicPr>
          <p:cNvPr id="9" name="Picture 8"/>
          <p:cNvPicPr>
            <a:picLocks noChangeAspect="1"/>
          </p:cNvPicPr>
          <p:nvPr/>
        </p:nvPicPr>
        <p:blipFill>
          <a:blip r:embed="rId3"/>
          <a:stretch>
            <a:fillRect/>
          </a:stretch>
        </p:blipFill>
        <p:spPr>
          <a:xfrm>
            <a:off x="323528" y="4941168"/>
            <a:ext cx="7132320" cy="838200"/>
          </a:xfrm>
          <a:prstGeom prst="rect">
            <a:avLst/>
          </a:prstGeom>
        </p:spPr>
      </p:pic>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4"/>
          <a:stretch>
            <a:fillRect/>
          </a:stretch>
        </p:blipFill>
        <p:spPr>
          <a:xfrm>
            <a:off x="107504" y="2852936"/>
            <a:ext cx="8862523" cy="2160240"/>
          </a:xfrm>
          <a:prstGeom prst="rect">
            <a:avLst/>
          </a:prstGeom>
        </p:spPr>
      </p:pic>
      <p:sp>
        <p:nvSpPr>
          <p:cNvPr id="5" name="TextBox 4"/>
          <p:cNvSpPr txBox="1"/>
          <p:nvPr/>
        </p:nvSpPr>
        <p:spPr>
          <a:xfrm>
            <a:off x="1" y="900545"/>
            <a:ext cx="9144000" cy="1508105"/>
          </a:xfrm>
          <a:prstGeom prst="rect">
            <a:avLst/>
          </a:prstGeom>
          <a:noFill/>
        </p:spPr>
        <p:txBody>
          <a:bodyPr wrap="square" rtlCol="0">
            <a:spAutoFit/>
          </a:bodyPr>
          <a:lstStyle/>
          <a:p>
            <a:pPr algn="ctr"/>
            <a:r>
              <a:rPr lang="en-US" sz="3600" dirty="0">
                <a:latin typeface="+mn-lt"/>
              </a:rPr>
              <a:t>Table 12.1</a:t>
            </a:r>
            <a:r>
              <a:rPr lang="en-US" sz="2800" dirty="0">
                <a:latin typeface="+mn-lt"/>
              </a:rPr>
              <a:t>  </a:t>
            </a:r>
            <a:endParaRPr lang="en-US" sz="2800" dirty="0" smtClean="0">
              <a:latin typeface="+mn-lt"/>
            </a:endParaRPr>
          </a:p>
          <a:p>
            <a:pPr algn="ctr"/>
            <a:r>
              <a:rPr lang="en-US" sz="2800" dirty="0" smtClean="0">
                <a:latin typeface="+mn-lt"/>
              </a:rPr>
              <a:t>Utilization </a:t>
            </a:r>
            <a:r>
              <a:rPr lang="en-US" sz="2800" dirty="0">
                <a:latin typeface="+mn-lt"/>
              </a:rPr>
              <a:t>of Instruction Addresses </a:t>
            </a:r>
            <a:endParaRPr lang="en-US" sz="2800" dirty="0" smtClean="0">
              <a:latin typeface="+mn-lt"/>
            </a:endParaRPr>
          </a:p>
          <a:p>
            <a:pPr algn="ctr"/>
            <a:r>
              <a:rPr lang="en-US" sz="2800" dirty="0" smtClean="0">
                <a:latin typeface="+mn-lt"/>
              </a:rPr>
              <a:t>(Non branching</a:t>
            </a:r>
            <a:r>
              <a:rPr lang="en-US" sz="2800" cap="all" dirty="0" smtClean="0">
                <a:latin typeface="+mn-lt"/>
              </a:rPr>
              <a:t> </a:t>
            </a:r>
            <a:r>
              <a:rPr lang="en-US" sz="2800" dirty="0">
                <a:latin typeface="+mn-lt"/>
              </a:rPr>
              <a:t>Instructions) </a:t>
            </a:r>
          </a:p>
        </p:txBody>
      </p:sp>
      <p:sp>
        <p:nvSpPr>
          <p:cNvPr id="3" name="Rectangle 2"/>
          <p:cNvSpPr/>
          <p:nvPr/>
        </p:nvSpPr>
        <p:spPr>
          <a:xfrm>
            <a:off x="3914627" y="4865106"/>
            <a:ext cx="5226249" cy="1923604"/>
          </a:xfrm>
          <a:prstGeom prst="rect">
            <a:avLst/>
          </a:prstGeom>
        </p:spPr>
        <p:txBody>
          <a:bodyPr wrap="square">
            <a:spAutoFit/>
          </a:bodyPr>
          <a:lstStyle/>
          <a:p>
            <a:pPr algn="ctr"/>
            <a:r>
              <a:rPr lang="en-US" sz="1700" dirty="0">
                <a:solidFill>
                  <a:schemeClr val="tx1">
                    <a:lumMod val="65000"/>
                    <a:lumOff val="35000"/>
                  </a:schemeClr>
                </a:solidFill>
                <a:latin typeface="+mn-lt"/>
              </a:rPr>
              <a:t>Zero-address instructions are applicable to a special memory organization called a stack. A stack is a last-in-first-out set of locations. The stack is in a known location and, often, at least the top two elements are in processor registers. Thus, zero-address instructions would reference the top two stack elements.</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048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0484" name="Rectangle 4"/>
          <p:cNvSpPr>
            <a:spLocks noGrp="1" noChangeArrowheads="1"/>
          </p:cNvSpPr>
          <p:nvPr>
            <p:ph type="title" idx="4294967295"/>
          </p:nvPr>
        </p:nvSpPr>
        <p:spPr>
          <a:xfrm>
            <a:off x="323528" y="116632"/>
            <a:ext cx="7556500" cy="1116012"/>
          </a:xfrm>
        </p:spPr>
        <p:txBody>
          <a:bodyPr/>
          <a:lstStyle/>
          <a:p>
            <a:r>
              <a:rPr lang="en-US" dirty="0" smtClean="0">
                <a:effectLst>
                  <a:outerShdw blurRad="38100" dist="38100" dir="2700000" algn="tl">
                    <a:srgbClr val="000000">
                      <a:alpha val="43137"/>
                    </a:srgbClr>
                  </a:outerShdw>
                </a:effectLst>
              </a:rPr>
              <a:t>Instruction Set Design</a:t>
            </a:r>
            <a:endParaRPr lang="en-US" dirty="0">
              <a:effectLst>
                <a:outerShdw blurRad="38100" dist="38100" dir="2700000" algn="tl">
                  <a:srgbClr val="000000">
                    <a:alpha val="43137"/>
                  </a:srgbClr>
                </a:outerShdw>
              </a:effectLst>
            </a:endParaRPr>
          </a:p>
        </p:txBody>
      </p:sp>
      <p:graphicFrame>
        <p:nvGraphicFramePr>
          <p:cNvPr id="31" name="Content Placeholder 30"/>
          <p:cNvGraphicFramePr>
            <a:graphicFrameLocks noGrp="1"/>
          </p:cNvGraphicFramePr>
          <p:nvPr>
            <p:ph idx="4294967295"/>
            <p:extLst>
              <p:ext uri="{D42A27DB-BD31-4B8C-83A1-F6EECF244321}">
                <p14:modId xmlns:p14="http://schemas.microsoft.com/office/powerpoint/2010/main" val="1116843124"/>
              </p:ext>
            </p:extLst>
          </p:nvPr>
        </p:nvGraphicFramePr>
        <p:xfrm>
          <a:off x="327891" y="912091"/>
          <a:ext cx="85344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072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0724" name="Rectangle 4"/>
          <p:cNvSpPr>
            <a:spLocks noGrp="1" noChangeArrowheads="1"/>
          </p:cNvSpPr>
          <p:nvPr>
            <p:ph type="title" idx="4294967295"/>
          </p:nvPr>
        </p:nvSpPr>
        <p:spPr>
          <a:xfrm>
            <a:off x="0" y="484188"/>
            <a:ext cx="9144000" cy="1116012"/>
          </a:xfrm>
          <a:noFill/>
          <a:ln/>
        </p:spPr>
        <p:txBody>
          <a:bodyPr lIns="90488" tIns="44450" rIns="90488" bIns="44450"/>
          <a:lstStyle/>
          <a:p>
            <a:pPr algn="ctr"/>
            <a:r>
              <a:rPr lang="en-US" dirty="0">
                <a:effectLst>
                  <a:outerShdw blurRad="38100" dist="38100" dir="2700000" algn="tl">
                    <a:srgbClr val="000000">
                      <a:alpha val="43137"/>
                    </a:srgbClr>
                  </a:outerShdw>
                </a:effectLst>
              </a:rPr>
              <a:t>Types of </a:t>
            </a:r>
            <a:r>
              <a:rPr lang="en-US" dirty="0" smtClean="0">
                <a:effectLst>
                  <a:outerShdw blurRad="38100" dist="38100" dir="2700000" algn="tl">
                    <a:srgbClr val="000000">
                      <a:alpha val="43137"/>
                    </a:srgbClr>
                  </a:outerShdw>
                </a:effectLst>
              </a:rPr>
              <a:t>Operands</a:t>
            </a:r>
            <a:endParaRPr lang="en-US" dirty="0">
              <a:effectLst>
                <a:outerShdw blurRad="38100" dist="38100" dir="2700000" algn="tl">
                  <a:srgbClr val="000000">
                    <a:alpha val="43137"/>
                  </a:srgbClr>
                </a:outerShdw>
              </a:effectLst>
            </a:endParaRPr>
          </a:p>
        </p:txBody>
      </p:sp>
      <p:graphicFrame>
        <p:nvGraphicFramePr>
          <p:cNvPr id="6" name="Content Placeholder 5"/>
          <p:cNvGraphicFramePr>
            <a:graphicFrameLocks noGrp="1"/>
          </p:cNvGraphicFramePr>
          <p:nvPr>
            <p:ph idx="4294967295"/>
          </p:nvPr>
        </p:nvGraphicFramePr>
        <p:xfrm>
          <a:off x="685800" y="1752600"/>
          <a:ext cx="78486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556313" cy="1116106"/>
          </a:xfrm>
        </p:spPr>
        <p:txBody>
          <a:bodyPr/>
          <a:lstStyle/>
          <a:p>
            <a:r>
              <a:rPr lang="en-US" dirty="0" smtClean="0">
                <a:effectLst>
                  <a:outerShdw blurRad="38100" dist="38100" dir="2700000" algn="tl">
                    <a:srgbClr val="000000">
                      <a:alpha val="43137"/>
                    </a:srgbClr>
                  </a:outerShdw>
                </a:effectLst>
              </a:rPr>
              <a:t>Numbers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9552" y="1412776"/>
            <a:ext cx="7556313" cy="4572000"/>
          </a:xfrm>
        </p:spPr>
        <p:txBody>
          <a:bodyPr>
            <a:normAutofit fontScale="92500" lnSpcReduction="10000"/>
          </a:bodyPr>
          <a:lstStyle/>
          <a:p>
            <a:r>
              <a:rPr lang="en-US" dirty="0" smtClean="0"/>
              <a:t>All machine languages include numeric data types</a:t>
            </a:r>
          </a:p>
          <a:p>
            <a:r>
              <a:rPr lang="en-US" dirty="0" smtClean="0"/>
              <a:t>Numbers stored in a computer are limited:</a:t>
            </a:r>
          </a:p>
          <a:p>
            <a:pPr lvl="1"/>
            <a:r>
              <a:rPr lang="en-US" dirty="0" smtClean="0"/>
              <a:t>Limit to the magnitude of numbers representable on a machine</a:t>
            </a:r>
          </a:p>
          <a:p>
            <a:pPr lvl="1"/>
            <a:r>
              <a:rPr lang="en-US" dirty="0" smtClean="0"/>
              <a:t>In the case of floating-point numbers, a limit to their precision</a:t>
            </a:r>
          </a:p>
          <a:p>
            <a:pPr marL="228600" lvl="1">
              <a:spcBef>
                <a:spcPts val="2000"/>
              </a:spcBef>
              <a:buClr>
                <a:schemeClr val="accent1"/>
              </a:buClr>
            </a:pPr>
            <a:r>
              <a:rPr lang="en-US" sz="2000" b="1" dirty="0" smtClean="0"/>
              <a:t>Three types of numerical data are common in computers</a:t>
            </a:r>
            <a:r>
              <a:rPr lang="en-US" sz="2000" dirty="0" smtClean="0"/>
              <a:t>:</a:t>
            </a:r>
          </a:p>
          <a:p>
            <a:pPr lvl="1"/>
            <a:r>
              <a:rPr lang="en-US" dirty="0" smtClean="0"/>
              <a:t>Binary integer or binary fixed point</a:t>
            </a:r>
          </a:p>
          <a:p>
            <a:pPr lvl="1"/>
            <a:r>
              <a:rPr lang="en-US" dirty="0" smtClean="0"/>
              <a:t>Binary floating point</a:t>
            </a:r>
          </a:p>
          <a:p>
            <a:pPr lvl="1"/>
            <a:r>
              <a:rPr lang="en-US" dirty="0" smtClean="0"/>
              <a:t>Decimal</a:t>
            </a:r>
          </a:p>
          <a:p>
            <a:pPr marL="228600" lvl="1">
              <a:spcBef>
                <a:spcPts val="2000"/>
              </a:spcBef>
              <a:buClr>
                <a:schemeClr val="accent1"/>
              </a:buClr>
            </a:pPr>
            <a:r>
              <a:rPr lang="en-US" sz="2000" dirty="0" smtClean="0"/>
              <a:t>Packed decimal</a:t>
            </a:r>
          </a:p>
          <a:p>
            <a:pPr lvl="1"/>
            <a:r>
              <a:rPr lang="en-US" sz="1838" dirty="0" smtClean="0"/>
              <a:t>Each decimal digit is represented by a 4-bit code with two digits stored per byte </a:t>
            </a:r>
          </a:p>
          <a:p>
            <a:pPr lvl="1"/>
            <a:r>
              <a:rPr lang="en-US" sz="1838" dirty="0" smtClean="0"/>
              <a:t>To form numbers 4-bit codes are strung together, usually in multiples of 8 bits.</a:t>
            </a:r>
            <a:r>
              <a:rPr lang="en-US" sz="1838" b="1" dirty="0" smtClean="0"/>
              <a:t> Ex: the code for 246 is 0000 0010 0100 0110</a:t>
            </a: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5" name="Picture 4"/>
          <p:cNvPicPr>
            <a:picLocks noChangeAspect="1"/>
          </p:cNvPicPr>
          <p:nvPr/>
        </p:nvPicPr>
        <p:blipFill>
          <a:blip r:embed="rId3">
            <a:lum bright="20000" contrast="-20000"/>
          </a:blip>
          <a:stretch>
            <a:fillRect/>
          </a:stretch>
        </p:blipFill>
        <p:spPr>
          <a:xfrm>
            <a:off x="6972300" y="0"/>
            <a:ext cx="2171700" cy="22098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Characters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676400"/>
            <a:ext cx="7556313" cy="5181600"/>
          </a:xfrm>
        </p:spPr>
        <p:txBody>
          <a:bodyPr>
            <a:normAutofit/>
          </a:bodyPr>
          <a:lstStyle/>
          <a:p>
            <a:r>
              <a:rPr lang="en-US" dirty="0" smtClean="0"/>
              <a:t>A common form of data is text or character strings</a:t>
            </a:r>
          </a:p>
          <a:p>
            <a:r>
              <a:rPr lang="en-US" dirty="0" smtClean="0"/>
              <a:t>Textual data in character form cannot be easily stored or transmitted by data processing and communications systems because they are designed for binary data</a:t>
            </a:r>
          </a:p>
          <a:p>
            <a:r>
              <a:rPr lang="en-US" dirty="0" smtClean="0"/>
              <a:t>Most commonly used character code is the </a:t>
            </a:r>
            <a:r>
              <a:rPr lang="en-US" b="1" dirty="0" smtClean="0"/>
              <a:t>International Reference Alphabet (IRA)</a:t>
            </a:r>
          </a:p>
          <a:p>
            <a:pPr lvl="1"/>
            <a:r>
              <a:rPr lang="en-US" dirty="0" smtClean="0"/>
              <a:t>Referred to in the United States as the </a:t>
            </a:r>
            <a:r>
              <a:rPr lang="en-US" b="1" dirty="0" smtClean="0"/>
              <a:t>American Standard Code for Information Interchange (ASCII</a:t>
            </a:r>
            <a:r>
              <a:rPr lang="en-US" b="1" dirty="0" smtClean="0"/>
              <a:t>) </a:t>
            </a:r>
          </a:p>
          <a:p>
            <a:pPr lvl="1"/>
            <a:r>
              <a:rPr lang="en-US" b="1" dirty="0" smtClean="0"/>
              <a:t>Ex: </a:t>
            </a:r>
            <a:r>
              <a:rPr lang="en-US" dirty="0" smtClean="0"/>
              <a:t>A (65), a(97), 0(48), @(64)</a:t>
            </a:r>
            <a:endParaRPr lang="en-US" dirty="0" smtClean="0"/>
          </a:p>
          <a:p>
            <a:pPr marL="228600" lvl="1">
              <a:spcBef>
                <a:spcPts val="2000"/>
              </a:spcBef>
              <a:buClr>
                <a:schemeClr val="accent1"/>
              </a:buClr>
            </a:pPr>
            <a:r>
              <a:rPr lang="en-US" sz="2000" dirty="0" smtClean="0"/>
              <a:t>Another code used to encode characters is the </a:t>
            </a:r>
            <a:r>
              <a:rPr lang="en-US" sz="2000" b="1" dirty="0" smtClean="0"/>
              <a:t>Extended Binary Coded Decimal Interchange Code (EBCDIC)</a:t>
            </a:r>
          </a:p>
          <a:p>
            <a:pPr lvl="1"/>
            <a:r>
              <a:rPr lang="en-US" dirty="0" smtClean="0"/>
              <a:t>EBCDIC is used on </a:t>
            </a:r>
            <a:r>
              <a:rPr lang="en-US" b="1" dirty="0" smtClean="0"/>
              <a:t>IBM </a:t>
            </a:r>
            <a:r>
              <a:rPr lang="en-US" b="1" dirty="0" smtClean="0"/>
              <a:t>mainframes</a:t>
            </a:r>
            <a:endParaRPr lang="en-US" b="1" dirty="0" smtClean="0"/>
          </a:p>
          <a:p>
            <a:endParaRPr lang="en-US" dirty="0"/>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Logical Data</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An </a:t>
            </a:r>
            <a:r>
              <a:rPr lang="en-US" i="1" dirty="0" smtClean="0"/>
              <a:t>n</a:t>
            </a:r>
            <a:r>
              <a:rPr lang="en-US" dirty="0" smtClean="0"/>
              <a:t>-bit unit consisting of </a:t>
            </a:r>
            <a:r>
              <a:rPr lang="en-US" i="1" dirty="0" smtClean="0"/>
              <a:t>n </a:t>
            </a:r>
            <a:r>
              <a:rPr lang="en-US" dirty="0" smtClean="0"/>
              <a:t>1-bit items of data, each item having the value 0 or 1</a:t>
            </a:r>
          </a:p>
          <a:p>
            <a:r>
              <a:rPr lang="en-US" dirty="0" smtClean="0"/>
              <a:t>Two advantages to bit-oriented view:</a:t>
            </a:r>
          </a:p>
          <a:p>
            <a:pPr lvl="1"/>
            <a:r>
              <a:rPr lang="en-US" dirty="0" smtClean="0"/>
              <a:t>Memory can be used most efficiently for storing an array of Boolean or binary data items in which each item can take on only the values </a:t>
            </a:r>
            <a:r>
              <a:rPr lang="en-US" b="1" dirty="0" smtClean="0"/>
              <a:t>1 (true) and 0 (false)</a:t>
            </a:r>
          </a:p>
          <a:p>
            <a:pPr lvl="1"/>
            <a:r>
              <a:rPr lang="en-US" dirty="0" smtClean="0"/>
              <a:t>To manipulate the bits of a data item</a:t>
            </a:r>
          </a:p>
          <a:p>
            <a:pPr lvl="2"/>
            <a:r>
              <a:rPr lang="en-US" dirty="0" smtClean="0"/>
              <a:t>If floating-point operations are implemented in software, we need to be able to shift significant bits in some operations</a:t>
            </a:r>
          </a:p>
          <a:p>
            <a:pPr lvl="2"/>
            <a:r>
              <a:rPr lang="en-US" dirty="0" smtClean="0"/>
              <a:t>To convert from IRA to packed decimal, we need to extract the rightmost 4 bits of each byte</a:t>
            </a:r>
            <a:endParaRPr lang="en-US" dirty="0"/>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x86 and ARM Data Types</a:t>
            </a:r>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Content Placeholder 2"/>
          <p:cNvSpPr txBox="1">
            <a:spLocks/>
          </p:cNvSpPr>
          <p:nvPr/>
        </p:nvSpPr>
        <p:spPr>
          <a:xfrm>
            <a:off x="481706" y="1939411"/>
            <a:ext cx="7556313" cy="4144963"/>
          </a:xfrm>
          <a:prstGeom prst="rect">
            <a:avLst/>
          </a:prstGeom>
        </p:spPr>
        <p:txBody>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US" b="1" dirty="0" smtClean="0"/>
              <a:t>Data type: </a:t>
            </a:r>
            <a:r>
              <a:rPr lang="en-US" dirty="0" smtClean="0"/>
              <a:t>A specific kind of data that a processor can operate on.</a:t>
            </a:r>
          </a:p>
          <a:p>
            <a:pPr fontAlgn="auto">
              <a:spcAft>
                <a:spcPts val="0"/>
              </a:spcAft>
            </a:pPr>
            <a:r>
              <a:rPr lang="en-US" dirty="0" smtClean="0"/>
              <a:t>Examples:</a:t>
            </a:r>
          </a:p>
          <a:p>
            <a:pPr lvl="1" fontAlgn="auto">
              <a:spcAft>
                <a:spcPts val="0"/>
              </a:spcAft>
            </a:pPr>
            <a:r>
              <a:rPr lang="en-US" dirty="0" smtClean="0"/>
              <a:t>Integer (byte , word, double word)</a:t>
            </a:r>
          </a:p>
          <a:p>
            <a:pPr lvl="1" fontAlgn="auto">
              <a:spcAft>
                <a:spcPts val="0"/>
              </a:spcAft>
            </a:pPr>
            <a:r>
              <a:rPr lang="en-US" dirty="0" smtClean="0"/>
              <a:t>Floating-point (single, double precision)</a:t>
            </a:r>
          </a:p>
          <a:p>
            <a:pPr lvl="1" fontAlgn="auto">
              <a:spcAft>
                <a:spcPts val="0"/>
              </a:spcAft>
            </a:pPr>
            <a:r>
              <a:rPr lang="en-US" dirty="0" smtClean="0"/>
              <a:t>Characters and Boolean</a:t>
            </a:r>
          </a:p>
          <a:p>
            <a:pPr marL="228600" lvl="1" fontAlgn="auto">
              <a:spcBef>
                <a:spcPts val="2000"/>
              </a:spcBef>
              <a:spcAft>
                <a:spcPts val="0"/>
              </a:spcAft>
              <a:buClr>
                <a:schemeClr val="accent1"/>
              </a:buClr>
            </a:pPr>
            <a:r>
              <a:rPr lang="en-US" sz="2000" dirty="0" smtClean="0"/>
              <a:t>Purpose: Defines  how much memory is used and how data is interpreted.</a:t>
            </a:r>
            <a:endParaRPr lang="en-US" sz="2000" dirty="0"/>
          </a:p>
          <a:p>
            <a:pPr marL="228600" lvl="1" indent="0" fontAlgn="auto">
              <a:spcAft>
                <a:spcPts val="0"/>
              </a:spcAft>
              <a:buNone/>
            </a:pPr>
            <a:endParaRPr lang="en-US" dirty="0"/>
          </a:p>
        </p:txBody>
      </p:sp>
    </p:spTree>
    <p:extLst>
      <p:ext uri="{BB962C8B-B14F-4D97-AF65-F5344CB8AC3E}">
        <p14:creationId xmlns:p14="http://schemas.microsoft.com/office/powerpoint/2010/main" val="1307895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x86 </a:t>
            </a:r>
            <a:r>
              <a:rPr lang="en-US" dirty="0" smtClean="0"/>
              <a:t>Architecture Overview</a:t>
            </a:r>
            <a:endParaRPr lang="en-US" dirty="0"/>
          </a:p>
        </p:txBody>
      </p:sp>
      <p:sp>
        <p:nvSpPr>
          <p:cNvPr id="4" name="Content Placeholder 2"/>
          <p:cNvSpPr txBox="1">
            <a:spLocks/>
          </p:cNvSpPr>
          <p:nvPr/>
        </p:nvSpPr>
        <p:spPr>
          <a:xfrm>
            <a:off x="395536" y="1484784"/>
            <a:ext cx="8424936" cy="4144963"/>
          </a:xfrm>
          <a:prstGeom prst="rect">
            <a:avLst/>
          </a:prstGeom>
        </p:spPr>
        <p:txBody>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150000"/>
              </a:lnSpc>
              <a:spcBef>
                <a:spcPts val="0"/>
              </a:spcBef>
              <a:spcAft>
                <a:spcPts val="0"/>
              </a:spcAft>
            </a:pPr>
            <a:r>
              <a:rPr lang="en-US" dirty="0" smtClean="0"/>
              <a:t>Developed by </a:t>
            </a:r>
            <a:r>
              <a:rPr lang="en-US" b="1" dirty="0" smtClean="0"/>
              <a:t>Intel; </a:t>
            </a:r>
            <a:r>
              <a:rPr lang="en-US" dirty="0" smtClean="0"/>
              <a:t>dominant in PCs and Servers.</a:t>
            </a:r>
          </a:p>
          <a:p>
            <a:pPr fontAlgn="auto">
              <a:lnSpc>
                <a:spcPct val="150000"/>
              </a:lnSpc>
              <a:spcBef>
                <a:spcPts val="0"/>
              </a:spcBef>
              <a:spcAft>
                <a:spcPts val="0"/>
              </a:spcAft>
            </a:pPr>
            <a:r>
              <a:rPr lang="en-US" dirty="0" smtClean="0"/>
              <a:t>CISC </a:t>
            </a:r>
            <a:r>
              <a:rPr lang="en-US" b="1" dirty="0" smtClean="0"/>
              <a:t>(Complex Instruction Set Computing) </a:t>
            </a:r>
            <a:r>
              <a:rPr lang="en-US" dirty="0" smtClean="0"/>
              <a:t>architecture.</a:t>
            </a:r>
          </a:p>
          <a:p>
            <a:pPr fontAlgn="auto">
              <a:lnSpc>
                <a:spcPct val="150000"/>
              </a:lnSpc>
              <a:spcBef>
                <a:spcPts val="0"/>
              </a:spcBef>
              <a:spcAft>
                <a:spcPts val="0"/>
              </a:spcAft>
            </a:pPr>
            <a:r>
              <a:rPr lang="en-US" dirty="0" smtClean="0"/>
              <a:t>Rich set of instructions and varied data sizes.</a:t>
            </a:r>
          </a:p>
          <a:p>
            <a:pPr fontAlgn="auto">
              <a:lnSpc>
                <a:spcPct val="150000"/>
              </a:lnSpc>
              <a:spcBef>
                <a:spcPts val="0"/>
              </a:spcBef>
              <a:spcAft>
                <a:spcPts val="0"/>
              </a:spcAft>
            </a:pPr>
            <a:r>
              <a:rPr lang="en-US" dirty="0" smtClean="0"/>
              <a:t>Backward compatible  supports legacy </a:t>
            </a:r>
            <a:r>
              <a:rPr lang="en-US" b="1" dirty="0" smtClean="0"/>
              <a:t>16 – bit and 32 – bit </a:t>
            </a:r>
            <a:r>
              <a:rPr lang="en-US" dirty="0" smtClean="0"/>
              <a:t>modes.</a:t>
            </a:r>
          </a:p>
          <a:p>
            <a:pPr fontAlgn="auto">
              <a:lnSpc>
                <a:spcPct val="150000"/>
              </a:lnSpc>
              <a:spcBef>
                <a:spcPts val="0"/>
              </a:spcBef>
              <a:spcAft>
                <a:spcPts val="0"/>
              </a:spcAft>
            </a:pPr>
            <a:r>
              <a:rPr lang="en-US" dirty="0" smtClean="0"/>
              <a:t>Integers: Signed represent both positive and negative values whereas unsigned represents only non-negative values.</a:t>
            </a:r>
          </a:p>
          <a:p>
            <a:pPr fontAlgn="auto">
              <a:lnSpc>
                <a:spcPct val="150000"/>
              </a:lnSpc>
              <a:spcBef>
                <a:spcPts val="0"/>
              </a:spcBef>
              <a:spcAft>
                <a:spcPts val="0"/>
              </a:spcAft>
            </a:pPr>
            <a:r>
              <a:rPr lang="en-US" dirty="0" smtClean="0"/>
              <a:t>Floating data types are handled by </a:t>
            </a:r>
            <a:r>
              <a:rPr lang="en-US" b="1" dirty="0" smtClean="0"/>
              <a:t>X87 FPU </a:t>
            </a:r>
            <a:r>
              <a:rPr lang="en-US" dirty="0" smtClean="0"/>
              <a:t>and used for scientific and graphics computations.</a:t>
            </a:r>
          </a:p>
          <a:p>
            <a:pPr fontAlgn="auto">
              <a:lnSpc>
                <a:spcPct val="150000"/>
              </a:lnSpc>
              <a:spcBef>
                <a:spcPts val="0"/>
              </a:spcBef>
              <a:spcAft>
                <a:spcPts val="0"/>
              </a:spcAft>
            </a:pPr>
            <a:r>
              <a:rPr lang="en-US" dirty="0" smtClean="0"/>
              <a:t>Data Alignment in memory makes the faster performance than unaligned access (e.g., </a:t>
            </a:r>
            <a:r>
              <a:rPr lang="en-US" smtClean="0"/>
              <a:t>4 </a:t>
            </a:r>
            <a:r>
              <a:rPr lang="en-US" smtClean="0"/>
              <a:t>byte – 0,4,8,12,16….)</a:t>
            </a:r>
            <a:endParaRPr lang="en-US" dirty="0" smtClean="0"/>
          </a:p>
          <a:p>
            <a:pPr marL="0" indent="0" fontAlgn="auto">
              <a:spcBef>
                <a:spcPts val="0"/>
              </a:spcBef>
              <a:spcAft>
                <a:spcPts val="0"/>
              </a:spcAft>
              <a:buNone/>
            </a:pPr>
            <a:endParaRPr lang="en-US" dirty="0"/>
          </a:p>
        </p:txBody>
      </p:sp>
    </p:spTree>
    <p:extLst>
      <p:ext uri="{BB962C8B-B14F-4D97-AF65-F5344CB8AC3E}">
        <p14:creationId xmlns:p14="http://schemas.microsoft.com/office/powerpoint/2010/main" val="1278417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840377953"/>
              </p:ext>
            </p:extLst>
          </p:nvPr>
        </p:nvGraphicFramePr>
        <p:xfrm>
          <a:off x="323528" y="2204864"/>
          <a:ext cx="8466016" cy="3456385"/>
        </p:xfrm>
        <a:graphic>
          <a:graphicData uri="http://schemas.openxmlformats.org/drawingml/2006/table">
            <a:tbl>
              <a:tblPr>
                <a:tableStyleId>{F5AB1C69-6EDB-4FF4-983F-18BD219EF322}</a:tableStyleId>
              </a:tblPr>
              <a:tblGrid>
                <a:gridCol w="2116504">
                  <a:extLst>
                    <a:ext uri="{9D8B030D-6E8A-4147-A177-3AD203B41FA5}">
                      <a16:colId xmlns:a16="http://schemas.microsoft.com/office/drawing/2014/main" val="1211830302"/>
                    </a:ext>
                  </a:extLst>
                </a:gridCol>
                <a:gridCol w="2116504">
                  <a:extLst>
                    <a:ext uri="{9D8B030D-6E8A-4147-A177-3AD203B41FA5}">
                      <a16:colId xmlns:a16="http://schemas.microsoft.com/office/drawing/2014/main" val="730119656"/>
                    </a:ext>
                  </a:extLst>
                </a:gridCol>
                <a:gridCol w="2116504">
                  <a:extLst>
                    <a:ext uri="{9D8B030D-6E8A-4147-A177-3AD203B41FA5}">
                      <a16:colId xmlns:a16="http://schemas.microsoft.com/office/drawing/2014/main" val="80398178"/>
                    </a:ext>
                  </a:extLst>
                </a:gridCol>
                <a:gridCol w="2116504">
                  <a:extLst>
                    <a:ext uri="{9D8B030D-6E8A-4147-A177-3AD203B41FA5}">
                      <a16:colId xmlns:a16="http://schemas.microsoft.com/office/drawing/2014/main" val="2270443269"/>
                    </a:ext>
                  </a:extLst>
                </a:gridCol>
              </a:tblGrid>
              <a:tr h="319388">
                <a:tc>
                  <a:txBody>
                    <a:bodyPr/>
                    <a:lstStyle/>
                    <a:p>
                      <a:r>
                        <a:rPr lang="en-US" sz="1400" b="1"/>
                        <a:t>Data Type</a:t>
                      </a:r>
                    </a:p>
                  </a:txBody>
                  <a:tcPr marL="72719" marR="72719" marT="36359" marB="36359" anchor="ctr"/>
                </a:tc>
                <a:tc>
                  <a:txBody>
                    <a:bodyPr/>
                    <a:lstStyle/>
                    <a:p>
                      <a:r>
                        <a:rPr lang="en-US" sz="1400" b="1" dirty="0"/>
                        <a:t>Size</a:t>
                      </a:r>
                    </a:p>
                  </a:txBody>
                  <a:tcPr marL="72719" marR="72719" marT="36359" marB="36359" anchor="ctr"/>
                </a:tc>
                <a:tc>
                  <a:txBody>
                    <a:bodyPr/>
                    <a:lstStyle/>
                    <a:p>
                      <a:r>
                        <a:rPr lang="en-US" sz="1400" b="1"/>
                        <a:t>Name</a:t>
                      </a:r>
                    </a:p>
                  </a:txBody>
                  <a:tcPr marL="72719" marR="72719" marT="36359" marB="36359" anchor="ctr"/>
                </a:tc>
                <a:tc>
                  <a:txBody>
                    <a:bodyPr/>
                    <a:lstStyle/>
                    <a:p>
                      <a:r>
                        <a:rPr lang="en-US" sz="1400" b="1" dirty="0"/>
                        <a:t>Description</a:t>
                      </a:r>
                    </a:p>
                  </a:txBody>
                  <a:tcPr marL="72719" marR="72719" marT="36359" marB="36359" anchor="ctr"/>
                </a:tc>
                <a:extLst>
                  <a:ext uri="{0D108BD9-81ED-4DB2-BD59-A6C34878D82A}">
                    <a16:rowId xmlns:a16="http://schemas.microsoft.com/office/drawing/2014/main" val="2618039136"/>
                  </a:ext>
                </a:extLst>
              </a:tr>
              <a:tr h="557591">
                <a:tc>
                  <a:txBody>
                    <a:bodyPr/>
                    <a:lstStyle/>
                    <a:p>
                      <a:r>
                        <a:rPr lang="en-US" sz="1400"/>
                        <a:t>Integer</a:t>
                      </a:r>
                    </a:p>
                  </a:txBody>
                  <a:tcPr marL="72719" marR="72719" marT="36359" marB="36359" anchor="ctr"/>
                </a:tc>
                <a:tc>
                  <a:txBody>
                    <a:bodyPr/>
                    <a:lstStyle/>
                    <a:p>
                      <a:r>
                        <a:rPr lang="en-US" sz="1400"/>
                        <a:t>8-bit</a:t>
                      </a:r>
                    </a:p>
                  </a:txBody>
                  <a:tcPr marL="72719" marR="72719" marT="36359" marB="36359" anchor="ctr"/>
                </a:tc>
                <a:tc>
                  <a:txBody>
                    <a:bodyPr/>
                    <a:lstStyle/>
                    <a:p>
                      <a:r>
                        <a:rPr lang="en-US" sz="1400" b="1"/>
                        <a:t>Byte</a:t>
                      </a:r>
                    </a:p>
                  </a:txBody>
                  <a:tcPr marL="72719" marR="72719" marT="36359" marB="36359" anchor="ctr"/>
                </a:tc>
                <a:tc>
                  <a:txBody>
                    <a:bodyPr/>
                    <a:lstStyle/>
                    <a:p>
                      <a:r>
                        <a:rPr lang="en-US" sz="1400"/>
                        <a:t>Basic unit of data (small integer)</a:t>
                      </a:r>
                    </a:p>
                  </a:txBody>
                  <a:tcPr marL="72719" marR="72719" marT="36359" marB="36359" anchor="ctr"/>
                </a:tc>
                <a:extLst>
                  <a:ext uri="{0D108BD9-81ED-4DB2-BD59-A6C34878D82A}">
                    <a16:rowId xmlns:a16="http://schemas.microsoft.com/office/drawing/2014/main" val="1766960040"/>
                  </a:ext>
                </a:extLst>
              </a:tr>
              <a:tr h="557591">
                <a:tc>
                  <a:txBody>
                    <a:bodyPr/>
                    <a:lstStyle/>
                    <a:p>
                      <a:r>
                        <a:rPr lang="en-US" sz="1400"/>
                        <a:t>Integer</a:t>
                      </a:r>
                    </a:p>
                  </a:txBody>
                  <a:tcPr marL="72719" marR="72719" marT="36359" marB="36359" anchor="ctr"/>
                </a:tc>
                <a:tc>
                  <a:txBody>
                    <a:bodyPr/>
                    <a:lstStyle/>
                    <a:p>
                      <a:r>
                        <a:rPr lang="en-US" sz="1400"/>
                        <a:t>16-bit</a:t>
                      </a:r>
                    </a:p>
                  </a:txBody>
                  <a:tcPr marL="72719" marR="72719" marT="36359" marB="36359" anchor="ctr"/>
                </a:tc>
                <a:tc>
                  <a:txBody>
                    <a:bodyPr/>
                    <a:lstStyle/>
                    <a:p>
                      <a:r>
                        <a:rPr lang="en-US" sz="1400" b="1"/>
                        <a:t>Word</a:t>
                      </a:r>
                    </a:p>
                  </a:txBody>
                  <a:tcPr marL="72719" marR="72719" marT="36359" marB="36359" anchor="ctr"/>
                </a:tc>
                <a:tc>
                  <a:txBody>
                    <a:bodyPr/>
                    <a:lstStyle/>
                    <a:p>
                      <a:r>
                        <a:rPr lang="en-US" sz="1400"/>
                        <a:t>Standard data size in early x86</a:t>
                      </a:r>
                    </a:p>
                  </a:txBody>
                  <a:tcPr marL="72719" marR="72719" marT="36359" marB="36359" anchor="ctr"/>
                </a:tc>
                <a:extLst>
                  <a:ext uri="{0D108BD9-81ED-4DB2-BD59-A6C34878D82A}">
                    <a16:rowId xmlns:a16="http://schemas.microsoft.com/office/drawing/2014/main" val="700650872"/>
                  </a:ext>
                </a:extLst>
              </a:tr>
              <a:tr h="668431">
                <a:tc>
                  <a:txBody>
                    <a:bodyPr/>
                    <a:lstStyle/>
                    <a:p>
                      <a:r>
                        <a:rPr lang="en-US" sz="1400"/>
                        <a:t>Integer</a:t>
                      </a:r>
                    </a:p>
                  </a:txBody>
                  <a:tcPr marL="72719" marR="72719" marT="36359" marB="36359" anchor="ctr"/>
                </a:tc>
                <a:tc>
                  <a:txBody>
                    <a:bodyPr/>
                    <a:lstStyle/>
                    <a:p>
                      <a:r>
                        <a:rPr lang="en-US" sz="1400"/>
                        <a:t>32-bit</a:t>
                      </a:r>
                    </a:p>
                  </a:txBody>
                  <a:tcPr marL="72719" marR="72719" marT="36359" marB="36359" anchor="ctr"/>
                </a:tc>
                <a:tc>
                  <a:txBody>
                    <a:bodyPr/>
                    <a:lstStyle/>
                    <a:p>
                      <a:r>
                        <a:rPr lang="en-US" sz="1400" b="1"/>
                        <a:t>Double Word</a:t>
                      </a:r>
                    </a:p>
                  </a:txBody>
                  <a:tcPr marL="72719" marR="72719" marT="36359" marB="36359" anchor="ctr"/>
                </a:tc>
                <a:tc>
                  <a:txBody>
                    <a:bodyPr/>
                    <a:lstStyle/>
                    <a:p>
                      <a:r>
                        <a:rPr lang="en-US" sz="1400"/>
                        <a:t>Common integer size in modern systems</a:t>
                      </a:r>
                    </a:p>
                  </a:txBody>
                  <a:tcPr marL="72719" marR="72719" marT="36359" marB="36359" anchor="ctr"/>
                </a:tc>
                <a:extLst>
                  <a:ext uri="{0D108BD9-81ED-4DB2-BD59-A6C34878D82A}">
                    <a16:rowId xmlns:a16="http://schemas.microsoft.com/office/drawing/2014/main" val="1955545707"/>
                  </a:ext>
                </a:extLst>
              </a:tr>
              <a:tr h="557591">
                <a:tc>
                  <a:txBody>
                    <a:bodyPr/>
                    <a:lstStyle/>
                    <a:p>
                      <a:r>
                        <a:rPr lang="en-US" sz="1400"/>
                        <a:t>Integer</a:t>
                      </a:r>
                    </a:p>
                  </a:txBody>
                  <a:tcPr marL="72719" marR="72719" marT="36359" marB="36359" anchor="ctr"/>
                </a:tc>
                <a:tc>
                  <a:txBody>
                    <a:bodyPr/>
                    <a:lstStyle/>
                    <a:p>
                      <a:r>
                        <a:rPr lang="en-US" sz="1400"/>
                        <a:t>64-bit</a:t>
                      </a:r>
                    </a:p>
                  </a:txBody>
                  <a:tcPr marL="72719" marR="72719" marT="36359" marB="36359" anchor="ctr"/>
                </a:tc>
                <a:tc>
                  <a:txBody>
                    <a:bodyPr/>
                    <a:lstStyle/>
                    <a:p>
                      <a:r>
                        <a:rPr lang="en-US" sz="1400" b="1"/>
                        <a:t>Quad Word</a:t>
                      </a:r>
                    </a:p>
                  </a:txBody>
                  <a:tcPr marL="72719" marR="72719" marT="36359" marB="36359" anchor="ctr"/>
                </a:tc>
                <a:tc>
                  <a:txBody>
                    <a:bodyPr/>
                    <a:lstStyle/>
                    <a:p>
                      <a:r>
                        <a:rPr lang="en-US" sz="1400"/>
                        <a:t>Large integer for high precision</a:t>
                      </a:r>
                    </a:p>
                  </a:txBody>
                  <a:tcPr marL="72719" marR="72719" marT="36359" marB="36359" anchor="ctr"/>
                </a:tc>
                <a:extLst>
                  <a:ext uri="{0D108BD9-81ED-4DB2-BD59-A6C34878D82A}">
                    <a16:rowId xmlns:a16="http://schemas.microsoft.com/office/drawing/2014/main" val="3272166736"/>
                  </a:ext>
                </a:extLst>
              </a:tr>
              <a:tr h="795793">
                <a:tc>
                  <a:txBody>
                    <a:bodyPr/>
                    <a:lstStyle/>
                    <a:p>
                      <a:r>
                        <a:rPr lang="en-US" sz="1400"/>
                        <a:t>Floating</a:t>
                      </a:r>
                    </a:p>
                  </a:txBody>
                  <a:tcPr marL="72719" marR="72719" marT="36359" marB="36359" anchor="ctr"/>
                </a:tc>
                <a:tc>
                  <a:txBody>
                    <a:bodyPr/>
                    <a:lstStyle/>
                    <a:p>
                      <a:r>
                        <a:rPr lang="en-US" sz="1400"/>
                        <a:t>80-bit</a:t>
                      </a:r>
                    </a:p>
                  </a:txBody>
                  <a:tcPr marL="72719" marR="72719" marT="36359" marB="36359" anchor="ctr"/>
                </a:tc>
                <a:tc>
                  <a:txBody>
                    <a:bodyPr/>
                    <a:lstStyle/>
                    <a:p>
                      <a:r>
                        <a:rPr lang="en-US" sz="1400" b="1" dirty="0"/>
                        <a:t>Ten Bytes</a:t>
                      </a:r>
                    </a:p>
                  </a:txBody>
                  <a:tcPr marL="72719" marR="72719" marT="36359" marB="36359" anchor="ctr"/>
                </a:tc>
                <a:tc>
                  <a:txBody>
                    <a:bodyPr/>
                    <a:lstStyle/>
                    <a:p>
                      <a:r>
                        <a:rPr lang="en-US" sz="1400" dirty="0"/>
                        <a:t>Extended precision floating-point (x87 FPU)</a:t>
                      </a:r>
                    </a:p>
                  </a:txBody>
                  <a:tcPr marL="72719" marR="72719" marT="36359" marB="36359" anchor="ctr"/>
                </a:tc>
                <a:extLst>
                  <a:ext uri="{0D108BD9-81ED-4DB2-BD59-A6C34878D82A}">
                    <a16:rowId xmlns:a16="http://schemas.microsoft.com/office/drawing/2014/main" val="147713010"/>
                  </a:ext>
                </a:extLst>
              </a:tr>
            </a:tbl>
          </a:graphicData>
        </a:graphic>
      </p:graphicFrame>
      <p:sp>
        <p:nvSpPr>
          <p:cNvPr id="5" name="Title 1"/>
          <p:cNvSpPr txBox="1">
            <a:spLocks/>
          </p:cNvSpPr>
          <p:nvPr/>
        </p:nvSpPr>
        <p:spPr>
          <a:xfrm>
            <a:off x="611560" y="404664"/>
            <a:ext cx="7556313" cy="1116106"/>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3600" b="0" kern="1200">
                <a:solidFill>
                  <a:schemeClr val="accent1"/>
                </a:solidFill>
                <a:latin typeface="+mj-lt"/>
                <a:ea typeface="+mj-ea"/>
                <a:cs typeface="+mj-cs"/>
              </a:defRPr>
            </a:lvl1pPr>
          </a:lstStyle>
          <a:p>
            <a:pPr fontAlgn="auto">
              <a:spcAft>
                <a:spcPts val="0"/>
              </a:spcAft>
            </a:pPr>
            <a:r>
              <a:rPr lang="en-US" dirty="0" smtClean="0"/>
              <a:t>Intel x86 Data Types</a:t>
            </a:r>
            <a:endParaRPr lang="en-US" dirty="0"/>
          </a:p>
        </p:txBody>
      </p:sp>
    </p:spTree>
    <p:extLst>
      <p:ext uri="{BB962C8B-B14F-4D97-AF65-F5344CB8AC3E}">
        <p14:creationId xmlns:p14="http://schemas.microsoft.com/office/powerpoint/2010/main" val="3404842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3"/>
          <a:stretch>
            <a:fillRect/>
          </a:stretch>
        </p:blipFill>
        <p:spPr>
          <a:xfrm>
            <a:off x="179512" y="116632"/>
            <a:ext cx="6192688" cy="6476520"/>
          </a:xfrm>
          <a:prstGeom prst="rect">
            <a:avLst/>
          </a:prstGeom>
        </p:spPr>
      </p:pic>
      <p:sp>
        <p:nvSpPr>
          <p:cNvPr id="5" name="TextBox 4"/>
          <p:cNvSpPr txBox="1"/>
          <p:nvPr/>
        </p:nvSpPr>
        <p:spPr>
          <a:xfrm>
            <a:off x="6372200" y="1524000"/>
            <a:ext cx="2664296" cy="2123658"/>
          </a:xfrm>
          <a:prstGeom prst="rect">
            <a:avLst/>
          </a:prstGeom>
          <a:noFill/>
        </p:spPr>
        <p:txBody>
          <a:bodyPr wrap="square" rtlCol="0">
            <a:spAutoFit/>
          </a:bodyPr>
          <a:lstStyle/>
          <a:p>
            <a:pPr algn="ctr"/>
            <a:r>
              <a:rPr lang="en-US" sz="3200" dirty="0">
                <a:latin typeface="+mn-lt"/>
              </a:rPr>
              <a:t>Table 12.2</a:t>
            </a:r>
            <a:r>
              <a:rPr lang="en-US" sz="3600" dirty="0">
                <a:latin typeface="+mn-lt"/>
              </a:rPr>
              <a:t> </a:t>
            </a:r>
            <a:endParaRPr lang="en-US" sz="3600" dirty="0" smtClean="0">
              <a:latin typeface="+mn-lt"/>
            </a:endParaRPr>
          </a:p>
          <a:p>
            <a:pPr algn="ctr"/>
            <a:endParaRPr lang="en-US" sz="3200" dirty="0" smtClean="0">
              <a:latin typeface="+mn-lt"/>
            </a:endParaRPr>
          </a:p>
          <a:p>
            <a:pPr algn="ctr"/>
            <a:r>
              <a:rPr lang="en-US" sz="3200" dirty="0" smtClean="0">
                <a:latin typeface="+mn-lt"/>
              </a:rPr>
              <a:t>x86 </a:t>
            </a:r>
          </a:p>
          <a:p>
            <a:pPr algn="ctr"/>
            <a:r>
              <a:rPr lang="en-US" sz="3200" dirty="0" smtClean="0">
                <a:latin typeface="+mn-lt"/>
              </a:rPr>
              <a:t>Data </a:t>
            </a:r>
            <a:r>
              <a:rPr lang="en-US" sz="3200" dirty="0">
                <a:latin typeface="+mn-lt"/>
              </a:rPr>
              <a:t>Types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5" name="Picture 4" descr="f4.pdf"/>
          <p:cNvPicPr>
            <a:picLocks noChangeAspect="1"/>
          </p:cNvPicPr>
          <p:nvPr/>
        </p:nvPicPr>
        <p:blipFill rotWithShape="1">
          <a:blip r:embed="rId3">
            <a:extLst>
              <a:ext uri="{28A0092B-C50C-407E-A947-70E740481C1C}">
                <a14:useLocalDpi xmlns:a14="http://schemas.microsoft.com/office/drawing/2010/main" val="0"/>
              </a:ext>
            </a:extLst>
          </a:blip>
          <a:srcRect t="3704" b="9091"/>
          <a:stretch/>
        </p:blipFill>
        <p:spPr>
          <a:xfrm>
            <a:off x="1259632" y="-99392"/>
            <a:ext cx="5904656" cy="666364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481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4820" name="Rectangle 4"/>
          <p:cNvSpPr>
            <a:spLocks noGrp="1" noChangeArrowheads="1"/>
          </p:cNvSpPr>
          <p:nvPr>
            <p:ph type="title"/>
          </p:nvPr>
        </p:nvSpPr>
        <p:spPr>
          <a:noFill/>
          <a:ln/>
        </p:spPr>
        <p:txBody>
          <a:bodyPr lIns="90488" tIns="44450" rIns="90488" bIns="44450"/>
          <a:lstStyle/>
          <a:p>
            <a:r>
              <a:rPr lang="en-US" dirty="0" smtClean="0">
                <a:effectLst>
                  <a:outerShdw blurRad="38100" dist="38100" dir="2700000" algn="tl">
                    <a:srgbClr val="000000">
                      <a:alpha val="43137"/>
                    </a:srgbClr>
                  </a:outerShdw>
                </a:effectLst>
              </a:rPr>
              <a:t>Single-Instruction-Multiple-Data (SIMD) </a:t>
            </a:r>
            <a:r>
              <a:rPr lang="en-US" dirty="0">
                <a:effectLst>
                  <a:outerShdw blurRad="38100" dist="38100" dir="2700000" algn="tl">
                    <a:srgbClr val="000000">
                      <a:alpha val="43137"/>
                    </a:srgbClr>
                  </a:outerShdw>
                </a:effectLst>
              </a:rPr>
              <a:t>Data Types</a:t>
            </a:r>
          </a:p>
        </p:txBody>
      </p:sp>
      <p:sp>
        <p:nvSpPr>
          <p:cNvPr id="34821" name="Rectangle 5"/>
          <p:cNvSpPr>
            <a:spLocks noGrp="1" noChangeArrowheads="1"/>
          </p:cNvSpPr>
          <p:nvPr>
            <p:ph idx="1"/>
          </p:nvPr>
        </p:nvSpPr>
        <p:spPr>
          <a:xfrm>
            <a:off x="533400" y="2362200"/>
            <a:ext cx="7556313" cy="4724400"/>
          </a:xfrm>
          <a:noFill/>
          <a:ln/>
        </p:spPr>
        <p:txBody>
          <a:bodyPr lIns="90488" tIns="44450" rIns="90488" bIns="44450">
            <a:normAutofit/>
          </a:bodyPr>
          <a:lstStyle/>
          <a:p>
            <a:pPr>
              <a:lnSpc>
                <a:spcPct val="80000"/>
              </a:lnSpc>
            </a:pPr>
            <a:r>
              <a:rPr lang="en-US" sz="1800" dirty="0" smtClean="0"/>
              <a:t>Introduced to the </a:t>
            </a:r>
            <a:r>
              <a:rPr lang="en-US" sz="1800" b="1" dirty="0" smtClean="0"/>
              <a:t>x86 architecture </a:t>
            </a:r>
            <a:r>
              <a:rPr lang="en-US" sz="1800" dirty="0" smtClean="0"/>
              <a:t>as part of the extensions of the instruction set to optimize performance of multimedia applications</a:t>
            </a:r>
          </a:p>
          <a:p>
            <a:pPr>
              <a:lnSpc>
                <a:spcPct val="80000"/>
              </a:lnSpc>
            </a:pPr>
            <a:r>
              <a:rPr lang="en-US" sz="1800" dirty="0" smtClean="0"/>
              <a:t>These extensions include MMX (multimedia extensions) and SSE (streaming SIMD extensions)</a:t>
            </a:r>
          </a:p>
          <a:p>
            <a:pPr>
              <a:lnSpc>
                <a:spcPct val="80000"/>
              </a:lnSpc>
            </a:pPr>
            <a:r>
              <a:rPr lang="en-US" sz="1800" dirty="0" smtClean="0"/>
              <a:t>Data types:</a:t>
            </a:r>
          </a:p>
          <a:p>
            <a:pPr lvl="1">
              <a:lnSpc>
                <a:spcPct val="80000"/>
              </a:lnSpc>
            </a:pPr>
            <a:r>
              <a:rPr lang="en-US" sz="1600" dirty="0" smtClean="0"/>
              <a:t>Packed byte and packed byte integer</a:t>
            </a:r>
          </a:p>
          <a:p>
            <a:pPr lvl="1">
              <a:lnSpc>
                <a:spcPct val="80000"/>
              </a:lnSpc>
            </a:pPr>
            <a:r>
              <a:rPr lang="en-US" sz="1600" dirty="0" smtClean="0"/>
              <a:t>Packed word and packed word integer</a:t>
            </a:r>
          </a:p>
          <a:p>
            <a:pPr lvl="1">
              <a:lnSpc>
                <a:spcPct val="80000"/>
              </a:lnSpc>
            </a:pPr>
            <a:r>
              <a:rPr lang="en-US" sz="1600" dirty="0" smtClean="0"/>
              <a:t>Packed doubleword and packed doubleword integer</a:t>
            </a:r>
          </a:p>
          <a:p>
            <a:pPr lvl="1">
              <a:lnSpc>
                <a:spcPct val="80000"/>
              </a:lnSpc>
            </a:pPr>
            <a:r>
              <a:rPr lang="en-US" sz="1600" dirty="0" smtClean="0"/>
              <a:t>Packed quadword and packed quadword integer</a:t>
            </a:r>
          </a:p>
          <a:p>
            <a:pPr lvl="1">
              <a:lnSpc>
                <a:spcPct val="80000"/>
              </a:lnSpc>
            </a:pPr>
            <a:r>
              <a:rPr lang="en-US" sz="1600" dirty="0" smtClean="0"/>
              <a:t>Packed single-precision floating-point and packed double-precision floating-point</a:t>
            </a:r>
            <a:endParaRPr lang="en-US" sz="1600"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SISD/SIMD/MISD/MIMD</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pic>
        <p:nvPicPr>
          <p:cNvPr id="5" name="Picture 4"/>
          <p:cNvPicPr>
            <a:picLocks noChangeAspect="1"/>
          </p:cNvPicPr>
          <p:nvPr/>
        </p:nvPicPr>
        <p:blipFill>
          <a:blip r:embed="rId2"/>
          <a:stretch>
            <a:fillRect/>
          </a:stretch>
        </p:blipFill>
        <p:spPr>
          <a:xfrm>
            <a:off x="53930" y="1412776"/>
            <a:ext cx="8765679" cy="5010809"/>
          </a:xfrm>
          <a:prstGeom prst="rect">
            <a:avLst/>
          </a:prstGeom>
        </p:spPr>
      </p:pic>
    </p:spTree>
    <p:extLst>
      <p:ext uri="{BB962C8B-B14F-4D97-AF65-F5344CB8AC3E}">
        <p14:creationId xmlns:p14="http://schemas.microsoft.com/office/powerpoint/2010/main" val="418042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ARM Architecture Overview</a:t>
            </a:r>
            <a:endParaRPr lang="en-US" dirty="0"/>
          </a:p>
        </p:txBody>
      </p:sp>
      <p:sp>
        <p:nvSpPr>
          <p:cNvPr id="4" name="Content Placeholder 2"/>
          <p:cNvSpPr txBox="1">
            <a:spLocks/>
          </p:cNvSpPr>
          <p:nvPr/>
        </p:nvSpPr>
        <p:spPr>
          <a:xfrm>
            <a:off x="395536" y="1484784"/>
            <a:ext cx="7848872" cy="4144963"/>
          </a:xfrm>
          <a:prstGeom prst="rect">
            <a:avLst/>
          </a:prstGeom>
        </p:spPr>
        <p:txBody>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150000"/>
              </a:lnSpc>
              <a:spcBef>
                <a:spcPts val="0"/>
              </a:spcBef>
              <a:spcAft>
                <a:spcPts val="0"/>
              </a:spcAft>
            </a:pPr>
            <a:r>
              <a:rPr lang="en-US" dirty="0" smtClean="0"/>
              <a:t>ARM (Advanced RISC Machine) – </a:t>
            </a:r>
            <a:r>
              <a:rPr lang="en-US" b="1" dirty="0" smtClean="0"/>
              <a:t>RISC Architecture</a:t>
            </a:r>
          </a:p>
          <a:p>
            <a:pPr fontAlgn="auto">
              <a:lnSpc>
                <a:spcPct val="150000"/>
              </a:lnSpc>
              <a:spcBef>
                <a:spcPts val="0"/>
              </a:spcBef>
              <a:spcAft>
                <a:spcPts val="0"/>
              </a:spcAft>
            </a:pPr>
            <a:r>
              <a:rPr lang="en-US" dirty="0" smtClean="0"/>
              <a:t>Focused on simplicity and power efficiency.</a:t>
            </a:r>
          </a:p>
          <a:p>
            <a:pPr fontAlgn="auto">
              <a:lnSpc>
                <a:spcPct val="150000"/>
              </a:lnSpc>
              <a:spcBef>
                <a:spcPts val="0"/>
              </a:spcBef>
              <a:spcAft>
                <a:spcPts val="0"/>
              </a:spcAft>
            </a:pPr>
            <a:r>
              <a:rPr lang="en-US" dirty="0" smtClean="0"/>
              <a:t>Common in </a:t>
            </a:r>
            <a:r>
              <a:rPr lang="en-US" b="1" dirty="0" smtClean="0"/>
              <a:t>mobile and embedded systems</a:t>
            </a:r>
            <a:r>
              <a:rPr lang="en-US" dirty="0" smtClean="0"/>
              <a:t>.</a:t>
            </a:r>
          </a:p>
          <a:p>
            <a:pPr fontAlgn="auto">
              <a:lnSpc>
                <a:spcPct val="150000"/>
              </a:lnSpc>
              <a:spcBef>
                <a:spcPts val="0"/>
              </a:spcBef>
              <a:spcAft>
                <a:spcPts val="0"/>
              </a:spcAft>
            </a:pPr>
            <a:r>
              <a:rPr lang="en-US" dirty="0" smtClean="0"/>
              <a:t>Uses load/store architecture – all data operations use registers.</a:t>
            </a:r>
          </a:p>
          <a:p>
            <a:pPr fontAlgn="auto">
              <a:lnSpc>
                <a:spcPct val="150000"/>
              </a:lnSpc>
              <a:spcBef>
                <a:spcPts val="0"/>
              </a:spcBef>
              <a:spcAft>
                <a:spcPts val="0"/>
              </a:spcAft>
            </a:pPr>
            <a:r>
              <a:rPr lang="en-US" dirty="0" smtClean="0"/>
              <a:t>ARM usually enforce natural alignment.</a:t>
            </a:r>
          </a:p>
          <a:p>
            <a:pPr fontAlgn="auto">
              <a:lnSpc>
                <a:spcPct val="150000"/>
              </a:lnSpc>
              <a:spcBef>
                <a:spcPts val="0"/>
              </a:spcBef>
              <a:spcAft>
                <a:spcPts val="0"/>
              </a:spcAft>
            </a:pPr>
            <a:r>
              <a:rPr lang="en-US" dirty="0" smtClean="0"/>
              <a:t>ARM Supports:</a:t>
            </a:r>
          </a:p>
          <a:p>
            <a:pPr lvl="1" fontAlgn="auto">
              <a:lnSpc>
                <a:spcPct val="150000"/>
              </a:lnSpc>
              <a:spcBef>
                <a:spcPts val="0"/>
              </a:spcBef>
              <a:spcAft>
                <a:spcPts val="0"/>
              </a:spcAft>
            </a:pPr>
            <a:r>
              <a:rPr lang="en-US" dirty="0" smtClean="0"/>
              <a:t>Integer data types (8 bit to 64 bit)</a:t>
            </a:r>
          </a:p>
          <a:p>
            <a:pPr lvl="1" fontAlgn="auto">
              <a:lnSpc>
                <a:spcPct val="150000"/>
              </a:lnSpc>
              <a:spcBef>
                <a:spcPts val="0"/>
              </a:spcBef>
              <a:spcAft>
                <a:spcPts val="0"/>
              </a:spcAft>
            </a:pPr>
            <a:r>
              <a:rPr lang="en-US" dirty="0" smtClean="0"/>
              <a:t>Floating – point data types (32 bit to 64 bit)</a:t>
            </a:r>
          </a:p>
          <a:p>
            <a:pPr lvl="1" fontAlgn="auto">
              <a:lnSpc>
                <a:spcPct val="150000"/>
              </a:lnSpc>
              <a:spcBef>
                <a:spcPts val="0"/>
              </a:spcBef>
              <a:spcAft>
                <a:spcPts val="0"/>
              </a:spcAft>
            </a:pPr>
            <a:r>
              <a:rPr lang="en-US" dirty="0" smtClean="0"/>
              <a:t>Vector (SIMD) data types for NEON instructions</a:t>
            </a:r>
          </a:p>
          <a:p>
            <a:pPr lvl="1" fontAlgn="auto">
              <a:lnSpc>
                <a:spcPct val="150000"/>
              </a:lnSpc>
              <a:spcBef>
                <a:spcPts val="0"/>
              </a:spcBef>
              <a:spcAft>
                <a:spcPts val="0"/>
              </a:spcAft>
            </a:pPr>
            <a:r>
              <a:rPr lang="en-US" dirty="0" smtClean="0"/>
              <a:t>Boolean data (true/false)</a:t>
            </a:r>
            <a:endParaRPr lang="en-US" dirty="0"/>
          </a:p>
        </p:txBody>
      </p:sp>
    </p:spTree>
    <p:extLst>
      <p:ext uri="{BB962C8B-B14F-4D97-AF65-F5344CB8AC3E}">
        <p14:creationId xmlns:p14="http://schemas.microsoft.com/office/powerpoint/2010/main" val="2017144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179512" y="116632"/>
            <a:ext cx="8610600" cy="963612"/>
          </a:xfrm>
        </p:spPr>
        <p:txBody>
          <a:bodyPr/>
          <a:lstStyle/>
          <a:p>
            <a:r>
              <a:rPr lang="en-GB" dirty="0">
                <a:effectLst>
                  <a:outerShdw blurRad="38100" dist="38100" dir="2700000" algn="tl">
                    <a:srgbClr val="000000">
                      <a:alpha val="43137"/>
                    </a:srgbClr>
                  </a:outerShdw>
                </a:effectLst>
              </a:rPr>
              <a:t>ARM Data Types</a:t>
            </a:r>
          </a:p>
        </p:txBody>
      </p:sp>
      <p:graphicFrame>
        <p:nvGraphicFramePr>
          <p:cNvPr id="17" name="Content Placeholder 16"/>
          <p:cNvGraphicFramePr>
            <a:graphicFrameLocks noGrp="1"/>
          </p:cNvGraphicFramePr>
          <p:nvPr>
            <p:ph idx="4294967295"/>
            <p:extLst>
              <p:ext uri="{D42A27DB-BD31-4B8C-83A1-F6EECF244321}">
                <p14:modId xmlns:p14="http://schemas.microsoft.com/office/powerpoint/2010/main" val="3382900066"/>
              </p:ext>
            </p:extLst>
          </p:nvPr>
        </p:nvGraphicFramePr>
        <p:xfrm>
          <a:off x="115455" y="782782"/>
          <a:ext cx="91440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736" y="1772816"/>
            <a:ext cx="5638800" cy="1362075"/>
          </a:xfrm>
        </p:spPr>
        <p:txBody>
          <a:bodyPr>
            <a:normAutofit/>
          </a:bodyPr>
          <a:lstStyle/>
          <a:p>
            <a:r>
              <a:rPr lang="en-US" sz="4400" dirty="0"/>
              <a:t>Types of Operations</a:t>
            </a:r>
          </a:p>
        </p:txBody>
      </p:sp>
      <p:sp>
        <p:nvSpPr>
          <p:cNvPr id="3" name="Text Placeholder 2"/>
          <p:cNvSpPr>
            <a:spLocks noGrp="1"/>
          </p:cNvSpPr>
          <p:nvPr>
            <p:ph type="body" idx="1"/>
          </p:nvPr>
        </p:nvSpPr>
        <p:spPr>
          <a:xfrm>
            <a:off x="2411760" y="3284984"/>
            <a:ext cx="6246440" cy="2592288"/>
          </a:xfrm>
        </p:spPr>
        <p:txBody>
          <a:bodyPr>
            <a:noAutofit/>
          </a:bodyPr>
          <a:lstStyle/>
          <a:p>
            <a:pPr algn="just"/>
            <a:r>
              <a:rPr lang="en-US" sz="2000" dirty="0"/>
              <a:t>The number of different opcodes varies widely from machine to machine. However, the same general types of operations are found on all machines. A useful and typical categorization is the following: Data </a:t>
            </a:r>
            <a:r>
              <a:rPr lang="en-US" sz="2000" dirty="0" smtClean="0"/>
              <a:t>transfer, Arithmetic, Logical, Conversion, I/O, </a:t>
            </a:r>
            <a:r>
              <a:rPr lang="en-US" sz="2000" dirty="0"/>
              <a:t>System </a:t>
            </a:r>
            <a:r>
              <a:rPr lang="en-US" sz="2000" dirty="0" smtClean="0"/>
              <a:t>control, and  </a:t>
            </a:r>
            <a:r>
              <a:rPr lang="en-US" sz="2000" dirty="0"/>
              <a:t>Transfer of control</a:t>
            </a:r>
          </a:p>
        </p:txBody>
      </p:sp>
    </p:spTree>
    <p:extLst>
      <p:ext uri="{BB962C8B-B14F-4D97-AF65-F5344CB8AC3E}">
        <p14:creationId xmlns:p14="http://schemas.microsoft.com/office/powerpoint/2010/main" val="1499727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a:xfrm>
            <a:off x="107504" y="6492875"/>
            <a:ext cx="6122894" cy="365125"/>
          </a:xfrm>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stretch>
            <a:fillRect/>
          </a:stretch>
        </p:blipFill>
        <p:spPr>
          <a:xfrm>
            <a:off x="107504" y="116632"/>
            <a:ext cx="5887289" cy="6624736"/>
          </a:xfrm>
          <a:prstGeom prst="rect">
            <a:avLst/>
          </a:prstGeom>
        </p:spPr>
      </p:pic>
      <p:sp>
        <p:nvSpPr>
          <p:cNvPr id="4" name="TextBox 3"/>
          <p:cNvSpPr txBox="1"/>
          <p:nvPr/>
        </p:nvSpPr>
        <p:spPr>
          <a:xfrm>
            <a:off x="6137920" y="2091935"/>
            <a:ext cx="2880320" cy="2800767"/>
          </a:xfrm>
          <a:prstGeom prst="rect">
            <a:avLst/>
          </a:prstGeom>
          <a:noFill/>
        </p:spPr>
        <p:txBody>
          <a:bodyPr wrap="square" rtlCol="0">
            <a:spAutoFit/>
          </a:bodyPr>
          <a:lstStyle/>
          <a:p>
            <a:pPr algn="ctr"/>
            <a:r>
              <a:rPr lang="en-US" sz="3600" dirty="0">
                <a:latin typeface="+mn-lt"/>
              </a:rPr>
              <a:t>Table 12.3  </a:t>
            </a:r>
            <a:endParaRPr lang="en-US" sz="3600" dirty="0" smtClean="0">
              <a:latin typeface="+mn-lt"/>
            </a:endParaRPr>
          </a:p>
          <a:p>
            <a:pPr algn="ctr"/>
            <a:endParaRPr lang="en-US" sz="2800" dirty="0">
              <a:latin typeface="+mn-lt"/>
            </a:endParaRPr>
          </a:p>
          <a:p>
            <a:pPr algn="ctr"/>
            <a:r>
              <a:rPr lang="en-US" sz="2800" dirty="0" smtClean="0">
                <a:latin typeface="+mn-lt"/>
              </a:rPr>
              <a:t>Common </a:t>
            </a:r>
            <a:r>
              <a:rPr lang="en-US" sz="2800" dirty="0">
                <a:latin typeface="+mn-lt"/>
              </a:rPr>
              <a:t>Instruction Set Operations</a:t>
            </a:r>
          </a:p>
          <a:p>
            <a:pPr algn="ctr"/>
            <a:r>
              <a:rPr lang="en-US" sz="2800" dirty="0" smtClean="0">
                <a:latin typeface="+mn-lt"/>
              </a:rPr>
              <a:t> </a:t>
            </a:r>
            <a:r>
              <a:rPr lang="en-US" sz="2800" dirty="0">
                <a:latin typeface="+mn-lt"/>
              </a:rPr>
              <a:t>(page 1 of 2) </a:t>
            </a:r>
          </a:p>
        </p:txBody>
      </p:sp>
      <p:sp>
        <p:nvSpPr>
          <p:cNvPr id="5" name="TextBox 4"/>
          <p:cNvSpPr txBox="1"/>
          <p:nvPr/>
        </p:nvSpPr>
        <p:spPr>
          <a:xfrm>
            <a:off x="6012160" y="6093296"/>
            <a:ext cx="3131840" cy="461665"/>
          </a:xfrm>
          <a:prstGeom prst="rect">
            <a:avLst/>
          </a:prstGeom>
          <a:noFill/>
        </p:spPr>
        <p:txBody>
          <a:bodyPr wrap="square" rtlCol="0">
            <a:spAutoFit/>
          </a:bodyPr>
          <a:lstStyle/>
          <a:p>
            <a:pPr algn="ctr"/>
            <a:r>
              <a:rPr lang="en-US" sz="1200" dirty="0" smtClean="0">
                <a:latin typeface="+mn-lt"/>
              </a:rPr>
              <a:t>(Table can be found on page </a:t>
            </a:r>
          </a:p>
          <a:p>
            <a:pPr algn="ctr"/>
            <a:r>
              <a:rPr lang="en-US" sz="1200" dirty="0" smtClean="0">
                <a:latin typeface="+mn-lt"/>
              </a:rPr>
              <a:t>426 in textbook.)</a:t>
            </a:r>
            <a:endParaRPr lang="en-US" sz="1200" dirty="0">
              <a:latin typeface="+mn-lt"/>
            </a:endParaRP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11" name="TextBox 10"/>
          <p:cNvSpPr txBox="1"/>
          <p:nvPr/>
        </p:nvSpPr>
        <p:spPr>
          <a:xfrm>
            <a:off x="99391" y="4991652"/>
            <a:ext cx="184666" cy="461665"/>
          </a:xfrm>
          <a:prstGeom prst="rect">
            <a:avLst/>
          </a:prstGeom>
          <a:noFill/>
        </p:spPr>
        <p:txBody>
          <a:bodyPr wrap="none" rtlCol="0">
            <a:spAutoFit/>
          </a:bodyPr>
          <a:lstStyle/>
          <a:p>
            <a:endParaRPr lang="en-US" dirty="0"/>
          </a:p>
        </p:txBody>
      </p:sp>
      <p:pic>
        <p:nvPicPr>
          <p:cNvPr id="3" name="Picture 2"/>
          <p:cNvPicPr>
            <a:picLocks noChangeAspect="1"/>
          </p:cNvPicPr>
          <p:nvPr/>
        </p:nvPicPr>
        <p:blipFill>
          <a:blip r:embed="rId3"/>
          <a:stretch>
            <a:fillRect/>
          </a:stretch>
        </p:blipFill>
        <p:spPr>
          <a:xfrm>
            <a:off x="107504" y="188640"/>
            <a:ext cx="6083300" cy="6261100"/>
          </a:xfrm>
          <a:prstGeom prst="rect">
            <a:avLst/>
          </a:prstGeom>
        </p:spPr>
      </p:pic>
      <p:sp>
        <p:nvSpPr>
          <p:cNvPr id="9" name="TextBox 8"/>
          <p:cNvSpPr txBox="1"/>
          <p:nvPr/>
        </p:nvSpPr>
        <p:spPr>
          <a:xfrm>
            <a:off x="6156176" y="1466273"/>
            <a:ext cx="2880320" cy="2800767"/>
          </a:xfrm>
          <a:prstGeom prst="rect">
            <a:avLst/>
          </a:prstGeom>
          <a:noFill/>
        </p:spPr>
        <p:txBody>
          <a:bodyPr wrap="square" rtlCol="0">
            <a:spAutoFit/>
          </a:bodyPr>
          <a:lstStyle/>
          <a:p>
            <a:pPr algn="ctr"/>
            <a:r>
              <a:rPr lang="en-US" sz="3600" dirty="0">
                <a:latin typeface="+mn-lt"/>
              </a:rPr>
              <a:t>Table 12.3  </a:t>
            </a:r>
            <a:endParaRPr lang="en-US" sz="3600" dirty="0" smtClean="0">
              <a:latin typeface="+mn-lt"/>
            </a:endParaRPr>
          </a:p>
          <a:p>
            <a:pPr algn="ctr"/>
            <a:endParaRPr lang="en-US" sz="2800" dirty="0">
              <a:latin typeface="+mn-lt"/>
            </a:endParaRPr>
          </a:p>
          <a:p>
            <a:pPr algn="ctr"/>
            <a:r>
              <a:rPr lang="en-US" sz="2800" dirty="0" smtClean="0">
                <a:latin typeface="+mn-lt"/>
              </a:rPr>
              <a:t>Common </a:t>
            </a:r>
            <a:r>
              <a:rPr lang="en-US" sz="2800" dirty="0">
                <a:latin typeface="+mn-lt"/>
              </a:rPr>
              <a:t>Instruction Set </a:t>
            </a:r>
            <a:r>
              <a:rPr lang="en-US" sz="2800" dirty="0" smtClean="0">
                <a:latin typeface="+mn-lt"/>
              </a:rPr>
              <a:t>Operations</a:t>
            </a:r>
          </a:p>
          <a:p>
            <a:pPr algn="ctr"/>
            <a:r>
              <a:rPr lang="en-US" sz="2800" dirty="0" smtClean="0">
                <a:latin typeface="+mn-lt"/>
              </a:rPr>
              <a:t> </a:t>
            </a:r>
            <a:r>
              <a:rPr lang="en-US" sz="2800" dirty="0">
                <a:latin typeface="+mn-lt"/>
              </a:rPr>
              <a:t>(page </a:t>
            </a:r>
            <a:r>
              <a:rPr lang="en-US" sz="2800" dirty="0" smtClean="0">
                <a:latin typeface="+mn-lt"/>
              </a:rPr>
              <a:t>2 </a:t>
            </a:r>
            <a:r>
              <a:rPr lang="en-US" sz="2800" dirty="0">
                <a:latin typeface="+mn-lt"/>
              </a:rPr>
              <a:t>of 2) </a:t>
            </a:r>
          </a:p>
        </p:txBody>
      </p:sp>
      <p:sp>
        <p:nvSpPr>
          <p:cNvPr id="4" name="Rectangle 3"/>
          <p:cNvSpPr/>
          <p:nvPr/>
        </p:nvSpPr>
        <p:spPr>
          <a:xfrm>
            <a:off x="6260340" y="5805264"/>
            <a:ext cx="2883660" cy="461665"/>
          </a:xfrm>
          <a:prstGeom prst="rect">
            <a:avLst/>
          </a:prstGeom>
        </p:spPr>
        <p:txBody>
          <a:bodyPr wrap="square">
            <a:spAutoFit/>
          </a:bodyPr>
          <a:lstStyle/>
          <a:p>
            <a:pPr algn="ctr"/>
            <a:r>
              <a:rPr lang="en-US" sz="1200" dirty="0">
                <a:latin typeface="+mn-lt"/>
              </a:rPr>
              <a:t>(Table can be found on page </a:t>
            </a:r>
          </a:p>
          <a:p>
            <a:pPr algn="ctr"/>
            <a:r>
              <a:rPr lang="en-US" sz="1200" dirty="0">
                <a:latin typeface="+mn-lt"/>
              </a:rPr>
              <a:t>426 in textbook.)</a:t>
            </a: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761" y="260648"/>
            <a:ext cx="7556313" cy="1116106"/>
          </a:xfrm>
        </p:spPr>
        <p:txBody>
          <a:bodyPr/>
          <a:lstStyle/>
          <a:p>
            <a:r>
              <a:rPr lang="en-US" dirty="0" smtClean="0"/>
              <a:t>Examples: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37018618"/>
              </p:ext>
            </p:extLst>
          </p:nvPr>
        </p:nvGraphicFramePr>
        <p:xfrm>
          <a:off x="300084" y="1124744"/>
          <a:ext cx="7776864" cy="5551256"/>
        </p:xfrm>
        <a:graphic>
          <a:graphicData uri="http://schemas.openxmlformats.org/drawingml/2006/table">
            <a:tbl>
              <a:tblPr>
                <a:tableStyleId>{5940675A-B579-460E-94D1-54222C63F5DA}</a:tableStyleId>
              </a:tblPr>
              <a:tblGrid>
                <a:gridCol w="2232248">
                  <a:extLst>
                    <a:ext uri="{9D8B030D-6E8A-4147-A177-3AD203B41FA5}">
                      <a16:colId xmlns:a16="http://schemas.microsoft.com/office/drawing/2014/main" val="3007596869"/>
                    </a:ext>
                  </a:extLst>
                </a:gridCol>
                <a:gridCol w="2520280">
                  <a:extLst>
                    <a:ext uri="{9D8B030D-6E8A-4147-A177-3AD203B41FA5}">
                      <a16:colId xmlns:a16="http://schemas.microsoft.com/office/drawing/2014/main" val="2054114699"/>
                    </a:ext>
                  </a:extLst>
                </a:gridCol>
                <a:gridCol w="3024336">
                  <a:extLst>
                    <a:ext uri="{9D8B030D-6E8A-4147-A177-3AD203B41FA5}">
                      <a16:colId xmlns:a16="http://schemas.microsoft.com/office/drawing/2014/main" val="2046468393"/>
                    </a:ext>
                  </a:extLst>
                </a:gridCol>
              </a:tblGrid>
              <a:tr h="169394">
                <a:tc>
                  <a:txBody>
                    <a:bodyPr/>
                    <a:lstStyle/>
                    <a:p>
                      <a:pPr algn="ctr"/>
                      <a:r>
                        <a:rPr lang="en-US" sz="1500" b="1" dirty="0"/>
                        <a:t>Type</a:t>
                      </a:r>
                    </a:p>
                  </a:txBody>
                  <a:tcPr marL="36681" marR="36681" marT="18341" marB="18341" anchor="ctr"/>
                </a:tc>
                <a:tc>
                  <a:txBody>
                    <a:bodyPr/>
                    <a:lstStyle/>
                    <a:p>
                      <a:pPr algn="ctr"/>
                      <a:r>
                        <a:rPr lang="en-US" sz="1500" b="1" dirty="0"/>
                        <a:t>Example</a:t>
                      </a:r>
                    </a:p>
                  </a:txBody>
                  <a:tcPr marL="36681" marR="36681" marT="18341" marB="18341" anchor="ctr"/>
                </a:tc>
                <a:tc>
                  <a:txBody>
                    <a:bodyPr/>
                    <a:lstStyle/>
                    <a:p>
                      <a:pPr algn="ctr"/>
                      <a:r>
                        <a:rPr lang="en-US" sz="1500" b="1" dirty="0"/>
                        <a:t>Description</a:t>
                      </a:r>
                    </a:p>
                  </a:txBody>
                  <a:tcPr marL="36681" marR="36681" marT="18341" marB="18341" anchor="ctr"/>
                </a:tc>
                <a:extLst>
                  <a:ext uri="{0D108BD9-81ED-4DB2-BD59-A6C34878D82A}">
                    <a16:rowId xmlns:a16="http://schemas.microsoft.com/office/drawing/2014/main" val="2291625167"/>
                  </a:ext>
                </a:extLst>
              </a:tr>
              <a:tr h="550532">
                <a:tc>
                  <a:txBody>
                    <a:bodyPr/>
                    <a:lstStyle/>
                    <a:p>
                      <a:pPr algn="ctr"/>
                      <a:r>
                        <a:rPr lang="en-US" sz="1500" b="1"/>
                        <a:t>Data Transfer Instructions</a:t>
                      </a:r>
                    </a:p>
                  </a:txBody>
                  <a:tcPr marL="36681" marR="36681" marT="18341" marB="18341" anchor="ctr"/>
                </a:tc>
                <a:tc>
                  <a:txBody>
                    <a:bodyPr/>
                    <a:lstStyle/>
                    <a:p>
                      <a:pPr algn="ctr"/>
                      <a:r>
                        <a:rPr lang="en-US" sz="1500"/>
                        <a:t>MOV A, B</a:t>
                      </a:r>
                    </a:p>
                  </a:txBody>
                  <a:tcPr marL="36681" marR="36681" marT="18341" marB="18341" anchor="ctr"/>
                </a:tc>
                <a:tc>
                  <a:txBody>
                    <a:bodyPr/>
                    <a:lstStyle/>
                    <a:p>
                      <a:pPr algn="ctr"/>
                      <a:r>
                        <a:rPr lang="en-US" sz="1500"/>
                        <a:t>Copies data from one register/memory location to another without changing it.</a:t>
                      </a:r>
                    </a:p>
                  </a:txBody>
                  <a:tcPr marL="36681" marR="36681" marT="18341" marB="18341" anchor="ctr"/>
                </a:tc>
                <a:extLst>
                  <a:ext uri="{0D108BD9-81ED-4DB2-BD59-A6C34878D82A}">
                    <a16:rowId xmlns:a16="http://schemas.microsoft.com/office/drawing/2014/main" val="3107693985"/>
                  </a:ext>
                </a:extLst>
              </a:tr>
              <a:tr h="804625">
                <a:tc>
                  <a:txBody>
                    <a:bodyPr/>
                    <a:lstStyle/>
                    <a:p>
                      <a:pPr algn="ctr"/>
                      <a:r>
                        <a:rPr lang="en-US" sz="1500" b="1"/>
                        <a:t>Arithmetic Instructions</a:t>
                      </a:r>
                    </a:p>
                  </a:txBody>
                  <a:tcPr marL="36681" marR="36681" marT="18341" marB="18341" anchor="ctr"/>
                </a:tc>
                <a:tc>
                  <a:txBody>
                    <a:bodyPr/>
                    <a:lstStyle/>
                    <a:p>
                      <a:pPr algn="ctr"/>
                      <a:r>
                        <a:rPr lang="en-US" sz="1500" dirty="0"/>
                        <a:t>ADD A, B</a:t>
                      </a:r>
                    </a:p>
                  </a:txBody>
                  <a:tcPr marL="36681" marR="36681" marT="18341" marB="18341" anchor="ctr"/>
                </a:tc>
                <a:tc>
                  <a:txBody>
                    <a:bodyPr/>
                    <a:lstStyle/>
                    <a:p>
                      <a:pPr algn="ctr"/>
                      <a:r>
                        <a:rPr lang="en-US" sz="1500" dirty="0"/>
                        <a:t>Performs mathematical operations like addition, subtraction, multiplication, or division.</a:t>
                      </a:r>
                    </a:p>
                  </a:txBody>
                  <a:tcPr marL="36681" marR="36681" marT="18341" marB="18341" anchor="ctr"/>
                </a:tc>
                <a:extLst>
                  <a:ext uri="{0D108BD9-81ED-4DB2-BD59-A6C34878D82A}">
                    <a16:rowId xmlns:a16="http://schemas.microsoft.com/office/drawing/2014/main" val="3088969733"/>
                  </a:ext>
                </a:extLst>
              </a:tr>
              <a:tr h="550532">
                <a:tc>
                  <a:txBody>
                    <a:bodyPr/>
                    <a:lstStyle/>
                    <a:p>
                      <a:pPr algn="ctr"/>
                      <a:r>
                        <a:rPr lang="en-US" sz="1500" b="1"/>
                        <a:t>Logical Instructions</a:t>
                      </a:r>
                    </a:p>
                  </a:txBody>
                  <a:tcPr marL="36681" marR="36681" marT="18341" marB="18341" anchor="ctr"/>
                </a:tc>
                <a:tc>
                  <a:txBody>
                    <a:bodyPr/>
                    <a:lstStyle/>
                    <a:p>
                      <a:pPr algn="ctr"/>
                      <a:r>
                        <a:rPr lang="en-US" sz="1500"/>
                        <a:t>AND A, B</a:t>
                      </a:r>
                    </a:p>
                  </a:txBody>
                  <a:tcPr marL="36681" marR="36681" marT="18341" marB="18341" anchor="ctr"/>
                </a:tc>
                <a:tc>
                  <a:txBody>
                    <a:bodyPr/>
                    <a:lstStyle/>
                    <a:p>
                      <a:pPr algn="ctr"/>
                      <a:r>
                        <a:rPr lang="en-US" sz="1500"/>
                        <a:t>Performs bitwise logical operations (AND, OR, NOT, XOR) on binary data.</a:t>
                      </a:r>
                    </a:p>
                  </a:txBody>
                  <a:tcPr marL="36681" marR="36681" marT="18341" marB="18341" anchor="ctr"/>
                </a:tc>
                <a:extLst>
                  <a:ext uri="{0D108BD9-81ED-4DB2-BD59-A6C34878D82A}">
                    <a16:rowId xmlns:a16="http://schemas.microsoft.com/office/drawing/2014/main" val="1615344124"/>
                  </a:ext>
                </a:extLst>
              </a:tr>
              <a:tr h="677578">
                <a:tc>
                  <a:txBody>
                    <a:bodyPr/>
                    <a:lstStyle/>
                    <a:p>
                      <a:pPr algn="ctr"/>
                      <a:r>
                        <a:rPr lang="en-US" sz="1500" b="1"/>
                        <a:t>Conversion Instructions</a:t>
                      </a:r>
                    </a:p>
                  </a:txBody>
                  <a:tcPr marL="36681" marR="36681" marT="18341" marB="18341" anchor="ctr"/>
                </a:tc>
                <a:tc>
                  <a:txBody>
                    <a:bodyPr/>
                    <a:lstStyle/>
                    <a:p>
                      <a:pPr algn="ctr"/>
                      <a:r>
                        <a:rPr lang="en-US" sz="1500"/>
                        <a:t>CONVERT A, INT_TO_FLOAT</a:t>
                      </a:r>
                    </a:p>
                  </a:txBody>
                  <a:tcPr marL="36681" marR="36681" marT="18341" marB="18341" anchor="ctr"/>
                </a:tc>
                <a:tc>
                  <a:txBody>
                    <a:bodyPr/>
                    <a:lstStyle/>
                    <a:p>
                      <a:pPr algn="ctr"/>
                      <a:r>
                        <a:rPr lang="en-US" sz="1500" dirty="0"/>
                        <a:t>Converts data from one format/type to another (e.g., integer to float, BCD to binary).</a:t>
                      </a:r>
                    </a:p>
                  </a:txBody>
                  <a:tcPr marL="36681" marR="36681" marT="18341" marB="18341" anchor="ctr"/>
                </a:tc>
                <a:extLst>
                  <a:ext uri="{0D108BD9-81ED-4DB2-BD59-A6C34878D82A}">
                    <a16:rowId xmlns:a16="http://schemas.microsoft.com/office/drawing/2014/main" val="332653320"/>
                  </a:ext>
                </a:extLst>
              </a:tr>
              <a:tr h="677578">
                <a:tc>
                  <a:txBody>
                    <a:bodyPr/>
                    <a:lstStyle/>
                    <a:p>
                      <a:pPr algn="ctr"/>
                      <a:r>
                        <a:rPr lang="en-US" sz="1500" b="1"/>
                        <a:t>I/O (Input/Output) Instructions</a:t>
                      </a:r>
                    </a:p>
                  </a:txBody>
                  <a:tcPr marL="36681" marR="36681" marT="18341" marB="18341" anchor="ctr"/>
                </a:tc>
                <a:tc>
                  <a:txBody>
                    <a:bodyPr/>
                    <a:lstStyle/>
                    <a:p>
                      <a:pPr algn="ctr"/>
                      <a:r>
                        <a:rPr lang="en-US" sz="1500"/>
                        <a:t>IN A, KEYBOARD</a:t>
                      </a:r>
                    </a:p>
                  </a:txBody>
                  <a:tcPr marL="36681" marR="36681" marT="18341" marB="18341" anchor="ctr"/>
                </a:tc>
                <a:tc>
                  <a:txBody>
                    <a:bodyPr/>
                    <a:lstStyle/>
                    <a:p>
                      <a:pPr algn="ctr"/>
                      <a:r>
                        <a:rPr lang="en-US" sz="1500"/>
                        <a:t>Transfers data between CPU and external devices (keyboard, screen, printer, etc.).</a:t>
                      </a:r>
                    </a:p>
                  </a:txBody>
                  <a:tcPr marL="36681" marR="36681" marT="18341" marB="18341" anchor="ctr"/>
                </a:tc>
                <a:extLst>
                  <a:ext uri="{0D108BD9-81ED-4DB2-BD59-A6C34878D82A}">
                    <a16:rowId xmlns:a16="http://schemas.microsoft.com/office/drawing/2014/main" val="449840974"/>
                  </a:ext>
                </a:extLst>
              </a:tr>
              <a:tr h="677578">
                <a:tc>
                  <a:txBody>
                    <a:bodyPr/>
                    <a:lstStyle/>
                    <a:p>
                      <a:pPr algn="ctr"/>
                      <a:r>
                        <a:rPr lang="en-US" sz="1500" b="1"/>
                        <a:t>System Control Instructions</a:t>
                      </a:r>
                    </a:p>
                  </a:txBody>
                  <a:tcPr marL="36681" marR="36681" marT="18341" marB="18341" anchor="ctr"/>
                </a:tc>
                <a:tc>
                  <a:txBody>
                    <a:bodyPr/>
                    <a:lstStyle/>
                    <a:p>
                      <a:pPr algn="ctr"/>
                      <a:r>
                        <a:rPr lang="en-US" sz="1500"/>
                        <a:t>HLT</a:t>
                      </a:r>
                    </a:p>
                  </a:txBody>
                  <a:tcPr marL="36681" marR="36681" marT="18341" marB="18341" anchor="ctr"/>
                </a:tc>
                <a:tc>
                  <a:txBody>
                    <a:bodyPr/>
                    <a:lstStyle/>
                    <a:p>
                      <a:pPr algn="ctr"/>
                      <a:r>
                        <a:rPr lang="en-US" sz="1500"/>
                        <a:t>Controls the CPU/system state (start, stop, enable/disable interrupts).</a:t>
                      </a:r>
                    </a:p>
                  </a:txBody>
                  <a:tcPr marL="36681" marR="36681" marT="18341" marB="18341" anchor="ctr"/>
                </a:tc>
                <a:extLst>
                  <a:ext uri="{0D108BD9-81ED-4DB2-BD59-A6C34878D82A}">
                    <a16:rowId xmlns:a16="http://schemas.microsoft.com/office/drawing/2014/main" val="4205827601"/>
                  </a:ext>
                </a:extLst>
              </a:tr>
              <a:tr h="677578">
                <a:tc>
                  <a:txBody>
                    <a:bodyPr/>
                    <a:lstStyle/>
                    <a:p>
                      <a:pPr algn="ctr"/>
                      <a:r>
                        <a:rPr lang="en-US" sz="1500" b="1" dirty="0"/>
                        <a:t>Transfer of Control Instructions</a:t>
                      </a:r>
                    </a:p>
                  </a:txBody>
                  <a:tcPr marL="36681" marR="36681" marT="18341" marB="18341" anchor="ctr"/>
                </a:tc>
                <a:tc>
                  <a:txBody>
                    <a:bodyPr/>
                    <a:lstStyle/>
                    <a:p>
                      <a:pPr algn="ctr"/>
                      <a:r>
                        <a:rPr lang="en-US" sz="1500"/>
                        <a:t>JMP LABEL</a:t>
                      </a:r>
                    </a:p>
                  </a:txBody>
                  <a:tcPr marL="36681" marR="36681" marT="18341" marB="18341" anchor="ctr"/>
                </a:tc>
                <a:tc>
                  <a:txBody>
                    <a:bodyPr/>
                    <a:lstStyle/>
                    <a:p>
                      <a:pPr algn="ctr"/>
                      <a:r>
                        <a:rPr lang="en-US" sz="1500" dirty="0"/>
                        <a:t>Changes the normal execution flow by jumping to another instruction or function.</a:t>
                      </a:r>
                    </a:p>
                  </a:txBody>
                  <a:tcPr marL="36681" marR="36681" marT="18341" marB="18341" anchor="ctr"/>
                </a:tc>
                <a:extLst>
                  <a:ext uri="{0D108BD9-81ED-4DB2-BD59-A6C34878D82A}">
                    <a16:rowId xmlns:a16="http://schemas.microsoft.com/office/drawing/2014/main" val="2177727845"/>
                  </a:ext>
                </a:extLst>
              </a:tr>
            </a:tbl>
          </a:graphicData>
        </a:graphic>
      </p:graphicFrame>
    </p:spTree>
    <p:extLst>
      <p:ext uri="{BB962C8B-B14F-4D97-AF65-F5344CB8AC3E}">
        <p14:creationId xmlns:p14="http://schemas.microsoft.com/office/powerpoint/2010/main" val="4015801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3"/>
          <a:stretch>
            <a:fillRect/>
          </a:stretch>
        </p:blipFill>
        <p:spPr>
          <a:xfrm>
            <a:off x="467544" y="1268760"/>
            <a:ext cx="8136904" cy="5164131"/>
          </a:xfrm>
          <a:prstGeom prst="rect">
            <a:avLst/>
          </a:prstGeom>
        </p:spPr>
      </p:pic>
      <p:sp>
        <p:nvSpPr>
          <p:cNvPr id="6" name="TextBox 5"/>
          <p:cNvSpPr txBox="1"/>
          <p:nvPr/>
        </p:nvSpPr>
        <p:spPr>
          <a:xfrm>
            <a:off x="0" y="116632"/>
            <a:ext cx="9143999" cy="1015663"/>
          </a:xfrm>
          <a:prstGeom prst="rect">
            <a:avLst/>
          </a:prstGeom>
          <a:noFill/>
        </p:spPr>
        <p:txBody>
          <a:bodyPr wrap="square" rtlCol="0">
            <a:spAutoFit/>
          </a:bodyPr>
          <a:lstStyle/>
          <a:p>
            <a:pPr algn="ctr"/>
            <a:r>
              <a:rPr lang="en-US" sz="3200" dirty="0">
                <a:latin typeface="+mn-lt"/>
              </a:rPr>
              <a:t>Table 12.4</a:t>
            </a:r>
            <a:r>
              <a:rPr lang="en-US" sz="2800" dirty="0">
                <a:latin typeface="+mn-lt"/>
              </a:rPr>
              <a:t>  </a:t>
            </a:r>
            <a:endParaRPr lang="en-US" sz="2800" dirty="0" smtClean="0">
              <a:latin typeface="+mn-lt"/>
            </a:endParaRPr>
          </a:p>
          <a:p>
            <a:pPr algn="ctr"/>
            <a:r>
              <a:rPr lang="en-US" sz="2800" dirty="0" smtClean="0">
                <a:latin typeface="+mn-lt"/>
              </a:rPr>
              <a:t>Processor </a:t>
            </a:r>
            <a:r>
              <a:rPr lang="en-US" sz="2800" dirty="0">
                <a:latin typeface="+mn-lt"/>
              </a:rPr>
              <a:t>Actions for Various Types of Operations </a:t>
            </a:r>
          </a:p>
        </p:txBody>
      </p:sp>
      <p:sp>
        <p:nvSpPr>
          <p:cNvPr id="7" name="Rectangle 6"/>
          <p:cNvSpPr/>
          <p:nvPr/>
        </p:nvSpPr>
        <p:spPr>
          <a:xfrm>
            <a:off x="5220072" y="6309320"/>
            <a:ext cx="3819764" cy="276999"/>
          </a:xfrm>
          <a:prstGeom prst="rect">
            <a:avLst/>
          </a:prstGeom>
        </p:spPr>
        <p:txBody>
          <a:bodyPr wrap="square">
            <a:spAutoFit/>
          </a:bodyPr>
          <a:lstStyle/>
          <a:p>
            <a:pPr algn="ctr"/>
            <a:r>
              <a:rPr lang="en-US" sz="1200" dirty="0">
                <a:latin typeface="+mn-lt"/>
              </a:rPr>
              <a:t>(Table can be found on page </a:t>
            </a:r>
            <a:r>
              <a:rPr lang="en-US" sz="1200" dirty="0" smtClean="0">
                <a:latin typeface="+mn-lt"/>
              </a:rPr>
              <a:t>427 </a:t>
            </a:r>
            <a:r>
              <a:rPr lang="en-US" sz="1200" dirty="0">
                <a:latin typeface="+mn-lt"/>
              </a:rPr>
              <a:t>in textbook.)</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x</a:t>
            </a:r>
            <a:r>
              <a:rPr lang="en-US" dirty="0" smtClean="0"/>
              <a:t>86 Operation Types</a:t>
            </a:r>
            <a:endParaRPr lang="en-US" dirty="0"/>
          </a:p>
        </p:txBody>
      </p:sp>
      <p:sp>
        <p:nvSpPr>
          <p:cNvPr id="4" name="Content Placeholder 3"/>
          <p:cNvSpPr>
            <a:spLocks noGrp="1"/>
          </p:cNvSpPr>
          <p:nvPr>
            <p:ph idx="1"/>
          </p:nvPr>
        </p:nvSpPr>
        <p:spPr>
          <a:xfrm>
            <a:off x="498474" y="1556792"/>
            <a:ext cx="7673926" cy="4968552"/>
          </a:xfrm>
        </p:spPr>
        <p:txBody>
          <a:bodyPr>
            <a:normAutofit fontScale="85000" lnSpcReduction="20000"/>
          </a:bodyPr>
          <a:lstStyle/>
          <a:p>
            <a:r>
              <a:rPr lang="en-US" dirty="0" smtClean="0"/>
              <a:t>The x86 provides a complex array of operation types including a number of specialized instructions</a:t>
            </a:r>
          </a:p>
          <a:p>
            <a:r>
              <a:rPr lang="en-US" dirty="0" smtClean="0"/>
              <a:t>The intent was to provide tools for the compiler writer to produce optimized machine language translation of high-level language programs</a:t>
            </a:r>
          </a:p>
          <a:p>
            <a:r>
              <a:rPr lang="en-US" b="1" dirty="0" smtClean="0"/>
              <a:t>Provides four instructions to support procedure call/return:</a:t>
            </a:r>
          </a:p>
          <a:p>
            <a:pPr lvl="1"/>
            <a:r>
              <a:rPr lang="en-US" b="1" dirty="0"/>
              <a:t>CALL </a:t>
            </a:r>
            <a:r>
              <a:rPr lang="en-US" dirty="0"/>
              <a:t>: CALL FUNC, PUSH </a:t>
            </a:r>
            <a:r>
              <a:rPr lang="en-US" dirty="0" smtClean="0"/>
              <a:t>return_address - JUMP </a:t>
            </a:r>
            <a:r>
              <a:rPr lang="en-US" dirty="0"/>
              <a:t>FUNC</a:t>
            </a:r>
            <a:endParaRPr lang="en-US" dirty="0" smtClean="0"/>
          </a:p>
          <a:p>
            <a:pPr lvl="1"/>
            <a:r>
              <a:rPr lang="en-US" b="1" dirty="0"/>
              <a:t>ENTER: </a:t>
            </a:r>
            <a:r>
              <a:rPr lang="en-US" dirty="0"/>
              <a:t>ENTER 20, 0, 20 = space for local variables</a:t>
            </a:r>
            <a:endParaRPr lang="en-US" dirty="0" smtClean="0"/>
          </a:p>
          <a:p>
            <a:pPr lvl="1"/>
            <a:r>
              <a:rPr lang="en-US" b="1" dirty="0" smtClean="0"/>
              <a:t>LEAVE: </a:t>
            </a:r>
            <a:r>
              <a:rPr lang="en-US" dirty="0"/>
              <a:t>Reverses ENTER (destroys stack frame)</a:t>
            </a:r>
            <a:endParaRPr lang="en-US" dirty="0" smtClean="0"/>
          </a:p>
          <a:p>
            <a:pPr lvl="1"/>
            <a:r>
              <a:rPr lang="en-US" b="1" dirty="0" smtClean="0"/>
              <a:t>RETURN: </a:t>
            </a:r>
            <a:r>
              <a:rPr lang="en-US" dirty="0"/>
              <a:t>Returns control to calling function, POP </a:t>
            </a:r>
            <a:r>
              <a:rPr lang="en-US" dirty="0" smtClean="0"/>
              <a:t>return_address, JUMP </a:t>
            </a:r>
            <a:r>
              <a:rPr lang="en-US" dirty="0"/>
              <a:t>return_address</a:t>
            </a:r>
            <a:endParaRPr lang="en-US" dirty="0" smtClean="0"/>
          </a:p>
          <a:p>
            <a:r>
              <a:rPr lang="en-US" dirty="0" smtClean="0"/>
              <a:t>When a new procedure is called the following must be performed upon entry to the new procedure:</a:t>
            </a:r>
          </a:p>
          <a:p>
            <a:pPr lvl="1"/>
            <a:r>
              <a:rPr lang="en-US" dirty="0" smtClean="0"/>
              <a:t>Push the return point on the stack</a:t>
            </a:r>
          </a:p>
          <a:p>
            <a:pPr lvl="1"/>
            <a:r>
              <a:rPr lang="en-US" dirty="0" smtClean="0"/>
              <a:t>Push the current frame pointer on the stack</a:t>
            </a:r>
          </a:p>
          <a:p>
            <a:pPr lvl="1"/>
            <a:r>
              <a:rPr lang="en-US" dirty="0" smtClean="0"/>
              <a:t>Copy the stack pointer as the new value of the frame pointer</a:t>
            </a:r>
          </a:p>
          <a:p>
            <a:pPr lvl="1"/>
            <a:r>
              <a:rPr lang="en-US" dirty="0" smtClean="0"/>
              <a:t>Adjust the stack pointer to allocate a frame</a:t>
            </a:r>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2406544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73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4" name="TextBox 3"/>
          <p:cNvSpPr txBox="1"/>
          <p:nvPr/>
        </p:nvSpPr>
        <p:spPr>
          <a:xfrm>
            <a:off x="19147" y="332656"/>
            <a:ext cx="9144000" cy="1015663"/>
          </a:xfrm>
          <a:prstGeom prst="rect">
            <a:avLst/>
          </a:prstGeom>
          <a:noFill/>
        </p:spPr>
        <p:txBody>
          <a:bodyPr wrap="square" rtlCol="0">
            <a:spAutoFit/>
          </a:bodyPr>
          <a:lstStyle/>
          <a:p>
            <a:pPr algn="ctr"/>
            <a:r>
              <a:rPr lang="en-US" sz="3200" dirty="0">
                <a:latin typeface="+mn-lt"/>
              </a:rPr>
              <a:t>Table 12.8   </a:t>
            </a:r>
            <a:endParaRPr lang="en-US" sz="3200" dirty="0" smtClean="0">
              <a:latin typeface="+mn-lt"/>
            </a:endParaRPr>
          </a:p>
          <a:p>
            <a:pPr algn="ctr"/>
            <a:r>
              <a:rPr lang="en-US" sz="2800" dirty="0" smtClean="0">
                <a:latin typeface="+mn-lt"/>
              </a:rPr>
              <a:t>x86 </a:t>
            </a:r>
            <a:r>
              <a:rPr lang="en-US" sz="2800" dirty="0">
                <a:latin typeface="+mn-lt"/>
              </a:rPr>
              <a:t>Status Flags </a:t>
            </a:r>
          </a:p>
        </p:txBody>
      </p:sp>
      <p:sp>
        <p:nvSpPr>
          <p:cNvPr id="18"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732771776"/>
              </p:ext>
            </p:extLst>
          </p:nvPr>
        </p:nvGraphicFramePr>
        <p:xfrm>
          <a:off x="611559" y="1496309"/>
          <a:ext cx="8064896" cy="4717400"/>
        </p:xfrm>
        <a:graphic>
          <a:graphicData uri="http://schemas.openxmlformats.org/drawingml/2006/table">
            <a:tbl>
              <a:tblPr>
                <a:tableStyleId>{D7AC3CCA-C797-4891-BE02-D94E43425B78}</a:tableStyleId>
              </a:tblPr>
              <a:tblGrid>
                <a:gridCol w="1152129">
                  <a:extLst>
                    <a:ext uri="{9D8B030D-6E8A-4147-A177-3AD203B41FA5}">
                      <a16:colId xmlns:a16="http://schemas.microsoft.com/office/drawing/2014/main" val="1805523133"/>
                    </a:ext>
                  </a:extLst>
                </a:gridCol>
                <a:gridCol w="1440160">
                  <a:extLst>
                    <a:ext uri="{9D8B030D-6E8A-4147-A177-3AD203B41FA5}">
                      <a16:colId xmlns:a16="http://schemas.microsoft.com/office/drawing/2014/main" val="134389838"/>
                    </a:ext>
                  </a:extLst>
                </a:gridCol>
                <a:gridCol w="3456383">
                  <a:extLst>
                    <a:ext uri="{9D8B030D-6E8A-4147-A177-3AD203B41FA5}">
                      <a16:colId xmlns:a16="http://schemas.microsoft.com/office/drawing/2014/main" val="3016738042"/>
                    </a:ext>
                  </a:extLst>
                </a:gridCol>
                <a:gridCol w="2016224">
                  <a:extLst>
                    <a:ext uri="{9D8B030D-6E8A-4147-A177-3AD203B41FA5}">
                      <a16:colId xmlns:a16="http://schemas.microsoft.com/office/drawing/2014/main" val="3929827790"/>
                    </a:ext>
                  </a:extLst>
                </a:gridCol>
              </a:tblGrid>
              <a:tr h="142457">
                <a:tc>
                  <a:txBody>
                    <a:bodyPr/>
                    <a:lstStyle/>
                    <a:p>
                      <a:pPr algn="ctr"/>
                      <a:r>
                        <a:rPr lang="en-US" sz="1300" b="1"/>
                        <a:t>Status Bit</a:t>
                      </a:r>
                    </a:p>
                  </a:txBody>
                  <a:tcPr marL="31884" marR="31884" marT="15942" marB="15942" anchor="ctr"/>
                </a:tc>
                <a:tc>
                  <a:txBody>
                    <a:bodyPr/>
                    <a:lstStyle/>
                    <a:p>
                      <a:pPr algn="ctr"/>
                      <a:r>
                        <a:rPr lang="en-US" sz="1300" b="1"/>
                        <a:t>Name</a:t>
                      </a:r>
                    </a:p>
                  </a:txBody>
                  <a:tcPr marL="31884" marR="31884" marT="15942" marB="15942" anchor="ctr"/>
                </a:tc>
                <a:tc>
                  <a:txBody>
                    <a:bodyPr/>
                    <a:lstStyle/>
                    <a:p>
                      <a:pPr algn="ctr"/>
                      <a:r>
                        <a:rPr lang="en-US" sz="1300" b="1"/>
                        <a:t>Description</a:t>
                      </a:r>
                    </a:p>
                  </a:txBody>
                  <a:tcPr marL="31884" marR="31884" marT="15942" marB="15942" anchor="ctr"/>
                </a:tc>
                <a:tc>
                  <a:txBody>
                    <a:bodyPr/>
                    <a:lstStyle/>
                    <a:p>
                      <a:pPr algn="ctr"/>
                      <a:r>
                        <a:rPr lang="en-US" sz="1300" b="1" dirty="0"/>
                        <a:t>Example</a:t>
                      </a:r>
                    </a:p>
                  </a:txBody>
                  <a:tcPr marL="31884" marR="31884" marT="15942" marB="15942" anchor="ctr"/>
                </a:tc>
                <a:extLst>
                  <a:ext uri="{0D108BD9-81ED-4DB2-BD59-A6C34878D82A}">
                    <a16:rowId xmlns:a16="http://schemas.microsoft.com/office/drawing/2014/main" val="605383529"/>
                  </a:ext>
                </a:extLst>
              </a:tr>
              <a:tr h="1104042">
                <a:tc>
                  <a:txBody>
                    <a:bodyPr/>
                    <a:lstStyle/>
                    <a:p>
                      <a:pPr algn="ctr"/>
                      <a:r>
                        <a:rPr lang="en-US" sz="1300" b="1" dirty="0"/>
                        <a:t>CF</a:t>
                      </a:r>
                    </a:p>
                  </a:txBody>
                  <a:tcPr marL="31884" marR="31884" marT="15942" marB="15942" anchor="ctr"/>
                </a:tc>
                <a:tc>
                  <a:txBody>
                    <a:bodyPr/>
                    <a:lstStyle/>
                    <a:p>
                      <a:pPr algn="ctr"/>
                      <a:r>
                        <a:rPr lang="en-US" sz="1300" dirty="0"/>
                        <a:t>Carry Flag</a:t>
                      </a:r>
                    </a:p>
                  </a:txBody>
                  <a:tcPr marL="31884" marR="31884" marT="15942" marB="15942" anchor="ctr"/>
                </a:tc>
                <a:tc>
                  <a:txBody>
                    <a:bodyPr/>
                    <a:lstStyle/>
                    <a:p>
                      <a:pPr algn="ctr"/>
                      <a:r>
                        <a:rPr lang="en-US" sz="1300"/>
                        <a:t>Indicates a carry or borrow out of the most significant bit after an arithmetic operation. Also affected by shift/rotate operations.</a:t>
                      </a:r>
                    </a:p>
                  </a:txBody>
                  <a:tcPr marL="31884" marR="31884" marT="15942" marB="15942" anchor="ctr"/>
                </a:tc>
                <a:tc>
                  <a:txBody>
                    <a:bodyPr/>
                    <a:lstStyle/>
                    <a:p>
                      <a:pPr algn="ctr"/>
                      <a:r>
                        <a:rPr lang="en-US" sz="1300" dirty="0"/>
                        <a:t>11111111 + 00000001 = </a:t>
                      </a:r>
                      <a:endParaRPr lang="en-US" sz="1300" dirty="0" smtClean="0"/>
                    </a:p>
                    <a:p>
                      <a:pPr algn="ctr"/>
                      <a:r>
                        <a:rPr lang="en-US" sz="1300" dirty="0" smtClean="0"/>
                        <a:t>1 </a:t>
                      </a:r>
                      <a:r>
                        <a:rPr lang="en-US" sz="1300" dirty="0"/>
                        <a:t>00000000 → CF = 1</a:t>
                      </a:r>
                    </a:p>
                  </a:txBody>
                  <a:tcPr marL="31884" marR="31884" marT="15942" marB="15942" anchor="ctr"/>
                </a:tc>
                <a:extLst>
                  <a:ext uri="{0D108BD9-81ED-4DB2-BD59-A6C34878D82A}">
                    <a16:rowId xmlns:a16="http://schemas.microsoft.com/office/drawing/2014/main" val="2460239168"/>
                  </a:ext>
                </a:extLst>
              </a:tr>
              <a:tr h="783514">
                <a:tc>
                  <a:txBody>
                    <a:bodyPr/>
                    <a:lstStyle/>
                    <a:p>
                      <a:pPr algn="ctr"/>
                      <a:r>
                        <a:rPr lang="en-US" sz="1300" b="1"/>
                        <a:t>PF</a:t>
                      </a:r>
                    </a:p>
                  </a:txBody>
                  <a:tcPr marL="31884" marR="31884" marT="15942" marB="15942" anchor="ctr"/>
                </a:tc>
                <a:tc>
                  <a:txBody>
                    <a:bodyPr/>
                    <a:lstStyle/>
                    <a:p>
                      <a:pPr algn="ctr"/>
                      <a:r>
                        <a:rPr lang="en-US" sz="1300"/>
                        <a:t>Parity Flag</a:t>
                      </a:r>
                    </a:p>
                  </a:txBody>
                  <a:tcPr marL="31884" marR="31884" marT="15942" marB="15942" anchor="ctr"/>
                </a:tc>
                <a:tc>
                  <a:txBody>
                    <a:bodyPr/>
                    <a:lstStyle/>
                    <a:p>
                      <a:pPr algn="ctr"/>
                      <a:r>
                        <a:rPr lang="en-US" sz="1300"/>
                        <a:t>Indicates parity (even/odd) of the least significant byte of the result. PF = 1 if even parity.</a:t>
                      </a:r>
                    </a:p>
                  </a:txBody>
                  <a:tcPr marL="31884" marR="31884" marT="15942" marB="15942" anchor="ctr"/>
                </a:tc>
                <a:tc>
                  <a:txBody>
                    <a:bodyPr/>
                    <a:lstStyle/>
                    <a:p>
                      <a:pPr algn="ctr"/>
                      <a:r>
                        <a:rPr lang="en-US" sz="1300" dirty="0"/>
                        <a:t>00000000 → PF = </a:t>
                      </a:r>
                      <a:endParaRPr lang="en-US" sz="1300" dirty="0" smtClean="0"/>
                    </a:p>
                    <a:p>
                      <a:pPr algn="ctr"/>
                      <a:r>
                        <a:rPr lang="en-US" sz="1300" dirty="0" smtClean="0"/>
                        <a:t>1 </a:t>
                      </a:r>
                      <a:r>
                        <a:rPr lang="en-US" sz="1300" dirty="0"/>
                        <a:t>(even parity)</a:t>
                      </a:r>
                    </a:p>
                  </a:txBody>
                  <a:tcPr marL="31884" marR="31884" marT="15942" marB="15942" anchor="ctr"/>
                </a:tc>
                <a:extLst>
                  <a:ext uri="{0D108BD9-81ED-4DB2-BD59-A6C34878D82A}">
                    <a16:rowId xmlns:a16="http://schemas.microsoft.com/office/drawing/2014/main" val="3094024007"/>
                  </a:ext>
                </a:extLst>
              </a:tr>
              <a:tr h="997199">
                <a:tc>
                  <a:txBody>
                    <a:bodyPr/>
                    <a:lstStyle/>
                    <a:p>
                      <a:pPr algn="ctr"/>
                      <a:r>
                        <a:rPr lang="en-US" sz="1300" b="1"/>
                        <a:t>AF</a:t>
                      </a:r>
                    </a:p>
                  </a:txBody>
                  <a:tcPr marL="31884" marR="31884" marT="15942" marB="15942" anchor="ctr"/>
                </a:tc>
                <a:tc>
                  <a:txBody>
                    <a:bodyPr/>
                    <a:lstStyle/>
                    <a:p>
                      <a:pPr algn="ctr"/>
                      <a:r>
                        <a:rPr lang="en-US" sz="1300"/>
                        <a:t>Auxiliary Carry Flag</a:t>
                      </a:r>
                    </a:p>
                  </a:txBody>
                  <a:tcPr marL="31884" marR="31884" marT="15942" marB="15942" anchor="ctr"/>
                </a:tc>
                <a:tc>
                  <a:txBody>
                    <a:bodyPr/>
                    <a:lstStyle/>
                    <a:p>
                      <a:pPr algn="ctr"/>
                      <a:r>
                        <a:rPr lang="en-US" sz="1300"/>
                        <a:t>Indicates carry/borrow between lower nibble (4 bits) and upper nibble in 8-bit operations. Used in BCD arithmetic.</a:t>
                      </a:r>
                    </a:p>
                  </a:txBody>
                  <a:tcPr marL="31884" marR="31884" marT="15942" marB="15942" anchor="ctr"/>
                </a:tc>
                <a:tc>
                  <a:txBody>
                    <a:bodyPr/>
                    <a:lstStyle/>
                    <a:p>
                      <a:pPr algn="ctr"/>
                      <a:r>
                        <a:rPr lang="da-DK" sz="1300"/>
                        <a:t>0000 1111 + 0000 0001 → AF = 1</a:t>
                      </a:r>
                    </a:p>
                  </a:txBody>
                  <a:tcPr marL="31884" marR="31884" marT="15942" marB="15942" anchor="ctr"/>
                </a:tc>
                <a:extLst>
                  <a:ext uri="{0D108BD9-81ED-4DB2-BD59-A6C34878D82A}">
                    <a16:rowId xmlns:a16="http://schemas.microsoft.com/office/drawing/2014/main" val="4130247208"/>
                  </a:ext>
                </a:extLst>
              </a:tr>
              <a:tr h="462985">
                <a:tc>
                  <a:txBody>
                    <a:bodyPr/>
                    <a:lstStyle/>
                    <a:p>
                      <a:pPr algn="ctr"/>
                      <a:r>
                        <a:rPr lang="en-US" sz="1300" b="1"/>
                        <a:t>ZF</a:t>
                      </a:r>
                    </a:p>
                  </a:txBody>
                  <a:tcPr marL="31884" marR="31884" marT="15942" marB="15942" anchor="ctr"/>
                </a:tc>
                <a:tc>
                  <a:txBody>
                    <a:bodyPr/>
                    <a:lstStyle/>
                    <a:p>
                      <a:pPr algn="ctr"/>
                      <a:r>
                        <a:rPr lang="en-US" sz="1300"/>
                        <a:t>Zero Flag</a:t>
                      </a:r>
                    </a:p>
                  </a:txBody>
                  <a:tcPr marL="31884" marR="31884" marT="15942" marB="15942" anchor="ctr"/>
                </a:tc>
                <a:tc>
                  <a:txBody>
                    <a:bodyPr/>
                    <a:lstStyle/>
                    <a:p>
                      <a:pPr algn="ctr"/>
                      <a:r>
                        <a:rPr lang="en-US" sz="1300"/>
                        <a:t>Set to 1 if the result of an operation is zero.</a:t>
                      </a:r>
                    </a:p>
                  </a:txBody>
                  <a:tcPr marL="31884" marR="31884" marT="15942" marB="15942" anchor="ctr"/>
                </a:tc>
                <a:tc>
                  <a:txBody>
                    <a:bodyPr/>
                    <a:lstStyle/>
                    <a:p>
                      <a:pPr algn="ctr"/>
                      <a:r>
                        <a:rPr lang="en-US" sz="1300"/>
                        <a:t>5 - 5 = 0 → ZF = 1</a:t>
                      </a:r>
                    </a:p>
                  </a:txBody>
                  <a:tcPr marL="31884" marR="31884" marT="15942" marB="15942" anchor="ctr"/>
                </a:tc>
                <a:extLst>
                  <a:ext uri="{0D108BD9-81ED-4DB2-BD59-A6C34878D82A}">
                    <a16:rowId xmlns:a16="http://schemas.microsoft.com/office/drawing/2014/main" val="496505779"/>
                  </a:ext>
                </a:extLst>
              </a:tr>
              <a:tr h="462985">
                <a:tc>
                  <a:txBody>
                    <a:bodyPr/>
                    <a:lstStyle/>
                    <a:p>
                      <a:pPr algn="ctr"/>
                      <a:r>
                        <a:rPr lang="en-US" sz="1300" b="1"/>
                        <a:t>SF</a:t>
                      </a:r>
                    </a:p>
                  </a:txBody>
                  <a:tcPr marL="31884" marR="31884" marT="15942" marB="15942" anchor="ctr"/>
                </a:tc>
                <a:tc>
                  <a:txBody>
                    <a:bodyPr/>
                    <a:lstStyle/>
                    <a:p>
                      <a:pPr algn="ctr"/>
                      <a:r>
                        <a:rPr lang="en-US" sz="1300"/>
                        <a:t>Sign Flag</a:t>
                      </a:r>
                    </a:p>
                  </a:txBody>
                  <a:tcPr marL="31884" marR="31884" marT="15942" marB="15942" anchor="ctr"/>
                </a:tc>
                <a:tc>
                  <a:txBody>
                    <a:bodyPr/>
                    <a:lstStyle/>
                    <a:p>
                      <a:pPr algn="ctr"/>
                      <a:r>
                        <a:rPr lang="en-US" sz="1300"/>
                        <a:t>Indicates sign of result (1 = negative, 0 = positive).</a:t>
                      </a:r>
                    </a:p>
                  </a:txBody>
                  <a:tcPr marL="31884" marR="31884" marT="15942" marB="15942" anchor="ctr"/>
                </a:tc>
                <a:tc>
                  <a:txBody>
                    <a:bodyPr/>
                    <a:lstStyle/>
                    <a:p>
                      <a:pPr algn="ctr"/>
                      <a:r>
                        <a:rPr lang="en-US" sz="1300"/>
                        <a:t>-5 result → SF = 1</a:t>
                      </a:r>
                    </a:p>
                  </a:txBody>
                  <a:tcPr marL="31884" marR="31884" marT="15942" marB="15942" anchor="ctr"/>
                </a:tc>
                <a:extLst>
                  <a:ext uri="{0D108BD9-81ED-4DB2-BD59-A6C34878D82A}">
                    <a16:rowId xmlns:a16="http://schemas.microsoft.com/office/drawing/2014/main" val="1436881564"/>
                  </a:ext>
                </a:extLst>
              </a:tr>
              <a:tr h="676671">
                <a:tc>
                  <a:txBody>
                    <a:bodyPr/>
                    <a:lstStyle/>
                    <a:p>
                      <a:pPr algn="ctr"/>
                      <a:r>
                        <a:rPr lang="en-US" sz="1300" b="1" dirty="0"/>
                        <a:t>OF</a:t>
                      </a:r>
                    </a:p>
                  </a:txBody>
                  <a:tcPr marL="31884" marR="31884" marT="15942" marB="15942" anchor="ctr"/>
                </a:tc>
                <a:tc>
                  <a:txBody>
                    <a:bodyPr/>
                    <a:lstStyle/>
                    <a:p>
                      <a:pPr algn="ctr"/>
                      <a:r>
                        <a:rPr lang="en-US" sz="1300"/>
                        <a:t>Overflow Flag</a:t>
                      </a:r>
                    </a:p>
                  </a:txBody>
                  <a:tcPr marL="31884" marR="31884" marT="15942" marB="15942" anchor="ctr"/>
                </a:tc>
                <a:tc>
                  <a:txBody>
                    <a:bodyPr/>
                    <a:lstStyle/>
                    <a:p>
                      <a:pPr algn="ctr"/>
                      <a:r>
                        <a:rPr lang="en-US" sz="1300"/>
                        <a:t>Indicates arithmetic overflow in signed (2’s complement) operations.</a:t>
                      </a:r>
                    </a:p>
                  </a:txBody>
                  <a:tcPr marL="31884" marR="31884" marT="15942" marB="15942" anchor="ctr"/>
                </a:tc>
                <a:tc>
                  <a:txBody>
                    <a:bodyPr/>
                    <a:lstStyle/>
                    <a:p>
                      <a:pPr algn="ctr"/>
                      <a:r>
                        <a:rPr lang="en-US" sz="1300" dirty="0"/>
                        <a:t>127 + 1 = -128 (overflow) → OF = 1</a:t>
                      </a:r>
                    </a:p>
                  </a:txBody>
                  <a:tcPr marL="31884" marR="31884" marT="15942" marB="15942" anchor="ctr"/>
                </a:tc>
                <a:extLst>
                  <a:ext uri="{0D108BD9-81ED-4DB2-BD59-A6C34878D82A}">
                    <a16:rowId xmlns:a16="http://schemas.microsoft.com/office/drawing/2014/main" val="2624145982"/>
                  </a:ext>
                </a:extLst>
              </a:tr>
            </a:tbl>
          </a:graphicData>
        </a:graphic>
      </p:graphicFrame>
    </p:spTree>
    <p:extLst>
      <p:ext uri="{BB962C8B-B14F-4D97-AF65-F5344CB8AC3E}">
        <p14:creationId xmlns:p14="http://schemas.microsoft.com/office/powerpoint/2010/main" val="2156255843"/>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stretch>
            <a:fillRect/>
          </a:stretch>
        </p:blipFill>
        <p:spPr>
          <a:xfrm>
            <a:off x="179512" y="116632"/>
            <a:ext cx="6707708" cy="6595679"/>
          </a:xfrm>
          <a:prstGeom prst="rect">
            <a:avLst/>
          </a:prstGeom>
        </p:spPr>
      </p:pic>
      <p:sp>
        <p:nvSpPr>
          <p:cNvPr id="4" name="TextBox 3"/>
          <p:cNvSpPr txBox="1"/>
          <p:nvPr/>
        </p:nvSpPr>
        <p:spPr>
          <a:xfrm>
            <a:off x="6948264" y="1052736"/>
            <a:ext cx="2195736" cy="4770537"/>
          </a:xfrm>
          <a:prstGeom prst="rect">
            <a:avLst/>
          </a:prstGeom>
          <a:noFill/>
        </p:spPr>
        <p:txBody>
          <a:bodyPr wrap="square" rtlCol="0">
            <a:spAutoFit/>
          </a:bodyPr>
          <a:lstStyle/>
          <a:p>
            <a:pPr algn="ctr"/>
            <a:r>
              <a:rPr lang="en-US" sz="3200" dirty="0">
                <a:latin typeface="+mn-lt"/>
              </a:rPr>
              <a:t>Table 12.9</a:t>
            </a:r>
            <a:r>
              <a:rPr lang="en-US" dirty="0">
                <a:latin typeface="+mn-lt"/>
              </a:rPr>
              <a:t>  </a:t>
            </a:r>
            <a:endParaRPr lang="en-US" dirty="0" smtClean="0">
              <a:latin typeface="+mn-lt"/>
            </a:endParaRPr>
          </a:p>
          <a:p>
            <a:pPr algn="ctr"/>
            <a:endParaRPr lang="en-US" dirty="0">
              <a:latin typeface="+mn-lt"/>
            </a:endParaRPr>
          </a:p>
          <a:p>
            <a:pPr algn="ctr"/>
            <a:r>
              <a:rPr lang="en-US" dirty="0" smtClean="0">
                <a:latin typeface="+mn-lt"/>
              </a:rPr>
              <a:t>x86 </a:t>
            </a:r>
          </a:p>
          <a:p>
            <a:pPr algn="ctr"/>
            <a:r>
              <a:rPr lang="en-US" dirty="0" smtClean="0">
                <a:latin typeface="+mn-lt"/>
              </a:rPr>
              <a:t>Condition </a:t>
            </a:r>
            <a:r>
              <a:rPr lang="en-US" dirty="0">
                <a:latin typeface="+mn-lt"/>
              </a:rPr>
              <a:t>Codes </a:t>
            </a:r>
            <a:endParaRPr lang="en-US" dirty="0" smtClean="0">
              <a:latin typeface="+mn-lt"/>
            </a:endParaRPr>
          </a:p>
          <a:p>
            <a:pPr algn="ctr"/>
            <a:r>
              <a:rPr lang="en-US" dirty="0" smtClean="0">
                <a:latin typeface="+mn-lt"/>
              </a:rPr>
              <a:t>for </a:t>
            </a:r>
            <a:r>
              <a:rPr lang="en-US" dirty="0">
                <a:latin typeface="+mn-lt"/>
              </a:rPr>
              <a:t>Conditional Jump </a:t>
            </a:r>
            <a:endParaRPr lang="en-US" dirty="0" smtClean="0">
              <a:latin typeface="+mn-lt"/>
            </a:endParaRPr>
          </a:p>
          <a:p>
            <a:pPr algn="ctr"/>
            <a:r>
              <a:rPr lang="en-US" dirty="0" smtClean="0">
                <a:latin typeface="+mn-lt"/>
              </a:rPr>
              <a:t>and </a:t>
            </a:r>
          </a:p>
          <a:p>
            <a:pPr algn="ctr"/>
            <a:r>
              <a:rPr lang="en-US" dirty="0" smtClean="0">
                <a:latin typeface="+mn-lt"/>
              </a:rPr>
              <a:t>SET </a:t>
            </a:r>
            <a:r>
              <a:rPr lang="en-US" dirty="0">
                <a:latin typeface="+mn-lt"/>
              </a:rPr>
              <a:t>Instructions </a:t>
            </a:r>
          </a:p>
        </p:txBody>
      </p:sp>
      <p:sp>
        <p:nvSpPr>
          <p:cNvPr id="5" name="TextBox 4"/>
          <p:cNvSpPr txBox="1"/>
          <p:nvPr/>
        </p:nvSpPr>
        <p:spPr>
          <a:xfrm>
            <a:off x="6948264" y="6093296"/>
            <a:ext cx="2304256" cy="461665"/>
          </a:xfrm>
          <a:prstGeom prst="rect">
            <a:avLst/>
          </a:prstGeom>
          <a:noFill/>
        </p:spPr>
        <p:txBody>
          <a:bodyPr wrap="square" rtlCol="0">
            <a:spAutoFit/>
          </a:bodyPr>
          <a:lstStyle/>
          <a:p>
            <a:pPr algn="ctr"/>
            <a:r>
              <a:rPr lang="en-US" sz="1200" dirty="0" smtClean="0">
                <a:latin typeface="+mn-lt"/>
              </a:rPr>
              <a:t>(Table can be found on page 440 in the textbook.)</a:t>
            </a:r>
            <a:endParaRPr lang="en-US" sz="1200" dirty="0">
              <a:latin typeface="+mn-lt"/>
            </a:endParaRPr>
          </a:p>
        </p:txBody>
      </p:sp>
    </p:spTree>
    <p:extLst>
      <p:ext uri="{BB962C8B-B14F-4D97-AF65-F5344CB8AC3E}">
        <p14:creationId xmlns:p14="http://schemas.microsoft.com/office/powerpoint/2010/main" val="15533370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179512" y="6492875"/>
            <a:ext cx="6122894" cy="365125"/>
          </a:xfrm>
        </p:spPr>
        <p:txBody>
          <a:bodyPr/>
          <a:lstStyle/>
          <a:p>
            <a:r>
              <a:rPr lang="en-US" dirty="0" smtClean="0"/>
              <a:t>© 2016 Pearson Education, Inc., Hoboken, NJ. All rights reserved.</a:t>
            </a:r>
            <a:endParaRPr lang="en-US" dirty="0"/>
          </a:p>
        </p:txBody>
      </p:sp>
      <p:sp>
        <p:nvSpPr>
          <p:cNvPr id="5" name="TextBox 4"/>
          <p:cNvSpPr txBox="1"/>
          <p:nvPr/>
        </p:nvSpPr>
        <p:spPr>
          <a:xfrm>
            <a:off x="7850909" y="3821545"/>
            <a:ext cx="184666" cy="461665"/>
          </a:xfrm>
          <a:prstGeom prst="rect">
            <a:avLst/>
          </a:prstGeom>
          <a:noFill/>
        </p:spPr>
        <p:txBody>
          <a:bodyPr wrap="none" rtlCol="0">
            <a:spAutoFit/>
          </a:bodyPr>
          <a:lstStyle/>
          <a:p>
            <a:endParaRPr lang="en-US" dirty="0"/>
          </a:p>
        </p:txBody>
      </p:sp>
      <p:pic>
        <p:nvPicPr>
          <p:cNvPr id="6" name="Picture 5"/>
          <p:cNvPicPr>
            <a:picLocks noChangeAspect="1"/>
          </p:cNvPicPr>
          <p:nvPr/>
        </p:nvPicPr>
        <p:blipFill>
          <a:blip r:embed="rId3"/>
          <a:stretch>
            <a:fillRect/>
          </a:stretch>
        </p:blipFill>
        <p:spPr>
          <a:xfrm>
            <a:off x="179512" y="116632"/>
            <a:ext cx="6408712" cy="6234780"/>
          </a:xfrm>
          <a:prstGeom prst="rect">
            <a:avLst/>
          </a:prstGeom>
        </p:spPr>
      </p:pic>
      <p:sp>
        <p:nvSpPr>
          <p:cNvPr id="7" name="Rectangle 6"/>
          <p:cNvSpPr/>
          <p:nvPr/>
        </p:nvSpPr>
        <p:spPr>
          <a:xfrm>
            <a:off x="0" y="6141218"/>
            <a:ext cx="6588224" cy="430887"/>
          </a:xfrm>
          <a:prstGeom prst="rect">
            <a:avLst/>
          </a:prstGeom>
        </p:spPr>
        <p:txBody>
          <a:bodyPr wrap="square">
            <a:spAutoFit/>
          </a:bodyPr>
          <a:lstStyle/>
          <a:p>
            <a:r>
              <a:rPr lang="en-US" sz="1100" i="1" dirty="0">
                <a:latin typeface="+mn-lt"/>
              </a:rPr>
              <a:t>Note:</a:t>
            </a:r>
            <a:r>
              <a:rPr lang="en-US" sz="1100" dirty="0">
                <a:latin typeface="+mn-lt"/>
              </a:rPr>
              <a:t> If an instruction supports multiple data types [byte (B), word (W), </a:t>
            </a:r>
            <a:r>
              <a:rPr lang="en-US" sz="1100" dirty="0" err="1">
                <a:latin typeface="+mn-lt"/>
              </a:rPr>
              <a:t>doubleword</a:t>
            </a:r>
            <a:r>
              <a:rPr lang="en-US" sz="1100" dirty="0">
                <a:latin typeface="+mn-lt"/>
              </a:rPr>
              <a:t> (D), </a:t>
            </a:r>
            <a:r>
              <a:rPr lang="en-US" sz="1100" dirty="0" err="1">
                <a:latin typeface="+mn-lt"/>
              </a:rPr>
              <a:t>quadword</a:t>
            </a:r>
            <a:r>
              <a:rPr lang="en-US" sz="1100" dirty="0">
                <a:latin typeface="+mn-lt"/>
              </a:rPr>
              <a:t> (Q)], the data types are indicated in brackets.</a:t>
            </a:r>
          </a:p>
        </p:txBody>
      </p:sp>
      <p:sp>
        <p:nvSpPr>
          <p:cNvPr id="8" name="TextBox 7"/>
          <p:cNvSpPr txBox="1"/>
          <p:nvPr/>
        </p:nvSpPr>
        <p:spPr>
          <a:xfrm>
            <a:off x="6588225" y="1408545"/>
            <a:ext cx="2555776" cy="1938992"/>
          </a:xfrm>
          <a:prstGeom prst="rect">
            <a:avLst/>
          </a:prstGeom>
          <a:noFill/>
        </p:spPr>
        <p:txBody>
          <a:bodyPr wrap="square" rtlCol="0">
            <a:spAutoFit/>
          </a:bodyPr>
          <a:lstStyle/>
          <a:p>
            <a:pPr algn="ctr"/>
            <a:r>
              <a:rPr lang="en-US" sz="3200" dirty="0" smtClean="0">
                <a:latin typeface="+mn-lt"/>
              </a:rPr>
              <a:t>  Table </a:t>
            </a:r>
            <a:r>
              <a:rPr lang="en-US" sz="3200" dirty="0">
                <a:latin typeface="+mn-lt"/>
              </a:rPr>
              <a:t>12.10    </a:t>
            </a:r>
            <a:endParaRPr lang="en-US" sz="3200" dirty="0" smtClean="0">
              <a:latin typeface="+mn-lt"/>
            </a:endParaRPr>
          </a:p>
          <a:p>
            <a:pPr algn="ctr"/>
            <a:endParaRPr lang="en-US" sz="3200" dirty="0">
              <a:latin typeface="+mn-lt"/>
            </a:endParaRPr>
          </a:p>
          <a:p>
            <a:pPr algn="ctr"/>
            <a:r>
              <a:rPr lang="en-US" sz="2800" dirty="0" smtClean="0">
                <a:latin typeface="+mn-lt"/>
              </a:rPr>
              <a:t>MMX </a:t>
            </a:r>
            <a:r>
              <a:rPr lang="en-US" sz="2800" dirty="0">
                <a:latin typeface="+mn-lt"/>
              </a:rPr>
              <a:t>Instruction Set </a:t>
            </a:r>
            <a:endParaRPr lang="en-US" sz="3200" dirty="0">
              <a:latin typeface="+mn-lt"/>
            </a:endParaRPr>
          </a:p>
        </p:txBody>
      </p:sp>
      <p:sp>
        <p:nvSpPr>
          <p:cNvPr id="9" name="TextBox 8"/>
          <p:cNvSpPr txBox="1"/>
          <p:nvPr/>
        </p:nvSpPr>
        <p:spPr>
          <a:xfrm>
            <a:off x="6660232" y="5661248"/>
            <a:ext cx="2304256" cy="461665"/>
          </a:xfrm>
          <a:prstGeom prst="rect">
            <a:avLst/>
          </a:prstGeom>
          <a:noFill/>
        </p:spPr>
        <p:txBody>
          <a:bodyPr wrap="square" rtlCol="0">
            <a:spAutoFit/>
          </a:bodyPr>
          <a:lstStyle/>
          <a:p>
            <a:pPr algn="ctr"/>
            <a:r>
              <a:rPr lang="en-US" sz="1200" dirty="0" smtClean="0">
                <a:latin typeface="+mn-lt"/>
              </a:rPr>
              <a:t>(Table can be found on page 442 in the textbook.) </a:t>
            </a:r>
            <a:endParaRPr lang="en-US" sz="1200" dirty="0">
              <a:latin typeface="+mn-l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1520" y="116632"/>
            <a:ext cx="7556500" cy="1116012"/>
          </a:xfrm>
        </p:spPr>
        <p:txBody>
          <a:bodyPr/>
          <a:lstStyle/>
          <a:p>
            <a:r>
              <a:rPr lang="en-US" dirty="0" smtClean="0">
                <a:effectLst>
                  <a:outerShdw blurRad="38100" dist="38100" dir="2700000" algn="tl">
                    <a:srgbClr val="000000">
                      <a:alpha val="43137"/>
                    </a:srgbClr>
                  </a:outerShdw>
                </a:effectLst>
              </a:rPr>
              <a:t>ARM Operation Types</a:t>
            </a:r>
            <a:endParaRPr lang="en-US" dirty="0">
              <a:effectLst>
                <a:outerShdw blurRad="38100" dist="38100" dir="2700000" algn="tl">
                  <a:srgbClr val="000000">
                    <a:alpha val="43137"/>
                  </a:srgbClr>
                </a:outerShdw>
              </a:effectLst>
            </a:endParaRPr>
          </a:p>
        </p:txBody>
      </p:sp>
      <p:graphicFrame>
        <p:nvGraphicFramePr>
          <p:cNvPr id="9" name="Content Placeholder 8"/>
          <p:cNvGraphicFramePr>
            <a:graphicFrameLocks noGrp="1"/>
          </p:cNvGraphicFramePr>
          <p:nvPr>
            <p:ph idx="4294967295"/>
            <p:extLst>
              <p:ext uri="{D42A27DB-BD31-4B8C-83A1-F6EECF244321}">
                <p14:modId xmlns:p14="http://schemas.microsoft.com/office/powerpoint/2010/main" val="62784191"/>
              </p:ext>
            </p:extLst>
          </p:nvPr>
        </p:nvGraphicFramePr>
        <p:xfrm>
          <a:off x="395536" y="1052736"/>
          <a:ext cx="84582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5" name="Picture 4"/>
          <p:cNvPicPr>
            <a:picLocks noChangeAspect="1"/>
          </p:cNvPicPr>
          <p:nvPr/>
        </p:nvPicPr>
        <p:blipFill>
          <a:blip r:embed="rId3"/>
          <a:stretch>
            <a:fillRect/>
          </a:stretch>
        </p:blipFill>
        <p:spPr>
          <a:xfrm>
            <a:off x="107504" y="116632"/>
            <a:ext cx="7023224" cy="6480720"/>
          </a:xfrm>
          <a:prstGeom prst="rect">
            <a:avLst/>
          </a:prstGeom>
        </p:spPr>
      </p:pic>
      <p:sp>
        <p:nvSpPr>
          <p:cNvPr id="6" name="TextBox 5"/>
          <p:cNvSpPr txBox="1"/>
          <p:nvPr/>
        </p:nvSpPr>
        <p:spPr>
          <a:xfrm>
            <a:off x="7164289" y="1489364"/>
            <a:ext cx="1979712" cy="3416320"/>
          </a:xfrm>
          <a:prstGeom prst="rect">
            <a:avLst/>
          </a:prstGeom>
          <a:noFill/>
        </p:spPr>
        <p:txBody>
          <a:bodyPr wrap="square" rtlCol="0">
            <a:spAutoFit/>
          </a:bodyPr>
          <a:lstStyle/>
          <a:p>
            <a:pPr algn="ctr"/>
            <a:r>
              <a:rPr lang="en-US" dirty="0">
                <a:latin typeface="+mn-lt"/>
              </a:rPr>
              <a:t>Table 12.11  </a:t>
            </a:r>
            <a:endParaRPr lang="en-US" dirty="0" smtClean="0">
              <a:latin typeface="+mn-lt"/>
            </a:endParaRPr>
          </a:p>
          <a:p>
            <a:pPr algn="ctr"/>
            <a:endParaRPr lang="en-US" dirty="0">
              <a:latin typeface="+mn-lt"/>
            </a:endParaRPr>
          </a:p>
          <a:p>
            <a:pPr algn="ctr"/>
            <a:r>
              <a:rPr lang="en-US" dirty="0" smtClean="0">
                <a:latin typeface="+mn-lt"/>
              </a:rPr>
              <a:t>ARM </a:t>
            </a:r>
            <a:r>
              <a:rPr lang="en-US" dirty="0">
                <a:latin typeface="+mn-lt"/>
              </a:rPr>
              <a:t>Conditions for Conditional Instruction Execution</a:t>
            </a:r>
          </a:p>
          <a:p>
            <a:endParaRPr lang="en-US" dirty="0"/>
          </a:p>
        </p:txBody>
      </p:sp>
      <p:sp>
        <p:nvSpPr>
          <p:cNvPr id="7" name="TextBox 6"/>
          <p:cNvSpPr txBox="1"/>
          <p:nvPr/>
        </p:nvSpPr>
        <p:spPr>
          <a:xfrm>
            <a:off x="7119888" y="5805264"/>
            <a:ext cx="2024112" cy="461665"/>
          </a:xfrm>
          <a:prstGeom prst="rect">
            <a:avLst/>
          </a:prstGeom>
          <a:noFill/>
        </p:spPr>
        <p:txBody>
          <a:bodyPr wrap="none" rtlCol="0">
            <a:spAutoFit/>
          </a:bodyPr>
          <a:lstStyle/>
          <a:p>
            <a:pPr algn="ctr"/>
            <a:r>
              <a:rPr lang="en-US" sz="1200" dirty="0" smtClean="0">
                <a:latin typeface="+mn-lt"/>
              </a:rPr>
              <a:t>(Table can be found on</a:t>
            </a:r>
          </a:p>
          <a:p>
            <a:pPr algn="ctr"/>
            <a:r>
              <a:rPr lang="en-US" sz="1200" dirty="0" smtClean="0">
                <a:latin typeface="+mn-lt"/>
              </a:rPr>
              <a:t>Page 445 in the textbook.)</a:t>
            </a:r>
            <a:endParaRPr lang="en-US" sz="1200" dirty="0">
              <a:latin typeface="+mn-lt"/>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539552" y="2132856"/>
            <a:ext cx="3810000" cy="4464496"/>
          </a:xfrm>
        </p:spPr>
        <p:txBody>
          <a:bodyPr>
            <a:normAutofit/>
          </a:bodyPr>
          <a:lstStyle/>
          <a:p>
            <a:pPr>
              <a:spcBef>
                <a:spcPts val="600"/>
              </a:spcBef>
            </a:pPr>
            <a:r>
              <a:rPr lang="en-US" dirty="0" smtClean="0"/>
              <a:t>Machine instruction characteristics</a:t>
            </a:r>
          </a:p>
          <a:p>
            <a:pPr lvl="1"/>
            <a:r>
              <a:rPr lang="en-US" dirty="0" smtClean="0"/>
              <a:t>Elements of a machine instruction</a:t>
            </a:r>
          </a:p>
          <a:p>
            <a:pPr lvl="1"/>
            <a:r>
              <a:rPr lang="en-US" dirty="0" smtClean="0"/>
              <a:t>Instruction representation</a:t>
            </a:r>
          </a:p>
          <a:p>
            <a:pPr lvl="1"/>
            <a:r>
              <a:rPr lang="en-US" dirty="0" smtClean="0"/>
              <a:t>Instruction types</a:t>
            </a:r>
          </a:p>
          <a:p>
            <a:pPr lvl="1"/>
            <a:r>
              <a:rPr lang="en-US" dirty="0" smtClean="0"/>
              <a:t>Number of addresses</a:t>
            </a:r>
          </a:p>
          <a:p>
            <a:pPr lvl="1"/>
            <a:r>
              <a:rPr lang="en-US" dirty="0" smtClean="0"/>
              <a:t>Instruction set design</a:t>
            </a:r>
          </a:p>
          <a:p>
            <a:pPr>
              <a:spcBef>
                <a:spcPts val="600"/>
              </a:spcBef>
            </a:pPr>
            <a:r>
              <a:rPr lang="en-US" dirty="0" smtClean="0"/>
              <a:t>Types of operands</a:t>
            </a:r>
          </a:p>
          <a:p>
            <a:pPr lvl="1"/>
            <a:r>
              <a:rPr lang="en-US" dirty="0" smtClean="0"/>
              <a:t>Numbers</a:t>
            </a:r>
          </a:p>
          <a:p>
            <a:pPr lvl="1"/>
            <a:r>
              <a:rPr lang="en-US" dirty="0" smtClean="0"/>
              <a:t>Characters</a:t>
            </a:r>
          </a:p>
          <a:p>
            <a:pPr lvl="1"/>
            <a:r>
              <a:rPr lang="en-US" dirty="0" smtClean="0"/>
              <a:t>Logical data</a:t>
            </a:r>
          </a:p>
        </p:txBody>
      </p:sp>
      <p:sp>
        <p:nvSpPr>
          <p:cNvPr id="32" name="Content Placeholder 31"/>
          <p:cNvSpPr>
            <a:spLocks noGrp="1"/>
          </p:cNvSpPr>
          <p:nvPr>
            <p:ph sz="quarter" idx="4"/>
          </p:nvPr>
        </p:nvSpPr>
        <p:spPr>
          <a:xfrm>
            <a:off x="4495800" y="2133600"/>
            <a:ext cx="3810000" cy="4724400"/>
          </a:xfrm>
        </p:spPr>
        <p:txBody>
          <a:bodyPr>
            <a:normAutofit/>
          </a:bodyPr>
          <a:lstStyle/>
          <a:p>
            <a:pPr marL="228600" lvl="1">
              <a:spcBef>
                <a:spcPts val="1800"/>
              </a:spcBef>
              <a:buClr>
                <a:schemeClr val="accent1"/>
              </a:buClr>
            </a:pPr>
            <a:r>
              <a:rPr lang="en-US" dirty="0" smtClean="0"/>
              <a:t>Intel x86 and ARM data types</a:t>
            </a:r>
          </a:p>
          <a:p>
            <a:pPr marL="228600" lvl="1">
              <a:spcBef>
                <a:spcPts val="1800"/>
              </a:spcBef>
              <a:buClr>
                <a:schemeClr val="accent1"/>
              </a:buClr>
            </a:pPr>
            <a:r>
              <a:rPr lang="en-US" dirty="0" smtClean="0"/>
              <a:t>Types of operations</a:t>
            </a:r>
          </a:p>
          <a:p>
            <a:pPr lvl="1"/>
            <a:r>
              <a:rPr lang="en-US" sz="1946" dirty="0" smtClean="0"/>
              <a:t>Data transfer</a:t>
            </a:r>
          </a:p>
          <a:p>
            <a:pPr lvl="1"/>
            <a:r>
              <a:rPr lang="en-US" sz="1946" dirty="0" smtClean="0"/>
              <a:t>Arithmetic</a:t>
            </a:r>
          </a:p>
          <a:p>
            <a:pPr lvl="1"/>
            <a:r>
              <a:rPr lang="en-US" sz="1946" dirty="0" smtClean="0"/>
              <a:t>Logical</a:t>
            </a:r>
          </a:p>
          <a:p>
            <a:pPr lvl="1"/>
            <a:r>
              <a:rPr lang="en-US" sz="1946" dirty="0" smtClean="0"/>
              <a:t>Conversion</a:t>
            </a:r>
          </a:p>
          <a:p>
            <a:pPr lvl="1"/>
            <a:r>
              <a:rPr lang="en-US" sz="1946" dirty="0" smtClean="0"/>
              <a:t>Input/output</a:t>
            </a:r>
          </a:p>
          <a:p>
            <a:pPr lvl="1"/>
            <a:r>
              <a:rPr lang="en-US" sz="1946" dirty="0" smtClean="0"/>
              <a:t>System control</a:t>
            </a:r>
          </a:p>
          <a:p>
            <a:pPr lvl="1"/>
            <a:r>
              <a:rPr lang="en-US" sz="1946" dirty="0" smtClean="0"/>
              <a:t>Transfer of control</a:t>
            </a:r>
          </a:p>
          <a:p>
            <a:pPr marL="228600" lvl="1">
              <a:spcBef>
                <a:spcPts val="1800"/>
              </a:spcBef>
              <a:buClr>
                <a:schemeClr val="accent1"/>
              </a:buClr>
            </a:pPr>
            <a:r>
              <a:rPr lang="en-US" dirty="0" smtClean="0"/>
              <a:t>Intel x86 and ARM operation types</a:t>
            </a:r>
          </a:p>
        </p:txBody>
      </p:sp>
      <p:sp>
        <p:nvSpPr>
          <p:cNvPr id="44035" name="Rectangle 3"/>
          <p:cNvSpPr>
            <a:spLocks noGrp="1" noChangeArrowheads="1"/>
          </p:cNvSpPr>
          <p:nvPr>
            <p:ph type="body" idx="1"/>
          </p:nvPr>
        </p:nvSpPr>
        <p:spPr>
          <a:xfrm>
            <a:off x="539552" y="1052736"/>
            <a:ext cx="3657600" cy="1098177"/>
          </a:xfrm>
        </p:spPr>
        <p:txBody>
          <a:bodyPr>
            <a:normAutofit/>
          </a:bodyPr>
          <a:lstStyle/>
          <a:p>
            <a:endParaRPr lang="en-US" sz="800" dirty="0" smtClean="0"/>
          </a:p>
          <a:p>
            <a:endParaRPr lang="en-US" sz="800" dirty="0" smtClean="0"/>
          </a:p>
          <a:p>
            <a:r>
              <a:rPr lang="en-US" sz="3200" dirty="0" smtClean="0"/>
              <a:t>Chapter 12</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Instruction Sets:</a:t>
            </a:r>
          </a:p>
          <a:p>
            <a:r>
              <a:rPr lang="en-US" sz="2800" dirty="0" smtClean="0">
                <a:solidFill>
                  <a:schemeClr val="tx2"/>
                </a:solidFill>
                <a:latin typeface="+mj-lt"/>
                <a:ea typeface="+mj-ea"/>
                <a:cs typeface="+mj-cs"/>
              </a:rPr>
              <a:t>Characteristics and Functions</a:t>
            </a:r>
            <a:endParaRPr lang="en-US" sz="2800" dirty="0">
              <a:solidFill>
                <a:schemeClr val="tx2"/>
              </a:solidFill>
            </a:endParaRP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4967</TotalTime>
  <Words>9462</Words>
  <Application>Microsoft Office PowerPoint</Application>
  <PresentationFormat>On-screen Show (4:3)</PresentationFormat>
  <Paragraphs>779</Paragraphs>
  <Slides>39</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ＭＳ Ｐゴシック</vt:lpstr>
      <vt:lpstr>Arial</vt:lpstr>
      <vt:lpstr>Rockwell</vt:lpstr>
      <vt:lpstr>Times New Roman</vt:lpstr>
      <vt:lpstr>Wingdings</vt:lpstr>
      <vt:lpstr>Advantage</vt:lpstr>
      <vt:lpstr>William Stallings  Computer Organization  and Architecture 10th Edition</vt:lpstr>
      <vt:lpstr>Chapter 12</vt:lpstr>
      <vt:lpstr>Machine Instruction Characteristics</vt:lpstr>
      <vt:lpstr>Elements of a Machine Instruction</vt:lpstr>
      <vt:lpstr>Instruction Cycle</vt:lpstr>
      <vt:lpstr>PowerPoint Presentation</vt:lpstr>
      <vt:lpstr>Source and result operands can be in one of four areas: </vt:lpstr>
      <vt:lpstr>Instruction Representation</vt:lpstr>
      <vt:lpstr>Instruction Representation</vt:lpstr>
      <vt:lpstr>Instruction Types</vt:lpstr>
      <vt:lpstr>Number of Addresses/Operands</vt:lpstr>
      <vt:lpstr>PowerPoint Presentation</vt:lpstr>
      <vt:lpstr>PowerPoint Presentation</vt:lpstr>
      <vt:lpstr>Instruction Set Design</vt:lpstr>
      <vt:lpstr>Types of Operands</vt:lpstr>
      <vt:lpstr>Numbers </vt:lpstr>
      <vt:lpstr>Characters </vt:lpstr>
      <vt:lpstr>Logical Data</vt:lpstr>
      <vt:lpstr>Intel x86 and ARM Data Types</vt:lpstr>
      <vt:lpstr>Intel x86 Architecture Overview</vt:lpstr>
      <vt:lpstr>PowerPoint Presentation</vt:lpstr>
      <vt:lpstr>PowerPoint Presentation</vt:lpstr>
      <vt:lpstr>PowerPoint Presentation</vt:lpstr>
      <vt:lpstr>Single-Instruction-Multiple-Data (SIMD) Data Types</vt:lpstr>
      <vt:lpstr>SISD/SIMD/MISD/MIMD</vt:lpstr>
      <vt:lpstr>ARM Architecture Overview</vt:lpstr>
      <vt:lpstr>ARM Data Types</vt:lpstr>
      <vt:lpstr>Types of Operations</vt:lpstr>
      <vt:lpstr>PowerPoint Presentation</vt:lpstr>
      <vt:lpstr>PowerPoint Presentation</vt:lpstr>
      <vt:lpstr>Examples:</vt:lpstr>
      <vt:lpstr>PowerPoint Presentation</vt:lpstr>
      <vt:lpstr>x86 Operation Types</vt:lpstr>
      <vt:lpstr>PowerPoint Presentation</vt:lpstr>
      <vt:lpstr>PowerPoint Presentation</vt:lpstr>
      <vt:lpstr>PowerPoint Presentation</vt:lpstr>
      <vt:lpstr>ARM Operation Types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Instruction Sets</dc:title>
  <dc:creator>Adrian J Pullin</dc:creator>
  <cp:lastModifiedBy>Dell</cp:lastModifiedBy>
  <cp:revision>222</cp:revision>
  <dcterms:created xsi:type="dcterms:W3CDTF">2012-07-20T05:25:30Z</dcterms:created>
  <dcterms:modified xsi:type="dcterms:W3CDTF">2026-05-11T04:16:26Z</dcterms:modified>
</cp:coreProperties>
</file>