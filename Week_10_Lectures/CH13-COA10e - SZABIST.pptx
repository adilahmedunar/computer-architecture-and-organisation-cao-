
<file path=[Content_Types].xml><?xml version="1.0" encoding="utf-8"?>
<Types xmlns="http://schemas.openxmlformats.org/package/2006/content-types">
  <Default Extension="png" ContentType="image/png"/>
  <Default Extension="jpeg" ContentType="image/jpeg"/>
  <Default Extension="emf" ContentType="image/x-emf"/>
  <Default Extension="wmf" ContentType="image/x-wmf"/>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8" r:id="rId1"/>
  </p:sldMasterIdLst>
  <p:notesMasterIdLst>
    <p:notesMasterId r:id="rId29"/>
  </p:notesMasterIdLst>
  <p:handoutMasterIdLst>
    <p:handoutMasterId r:id="rId30"/>
  </p:handoutMasterIdLst>
  <p:sldIdLst>
    <p:sldId id="334" r:id="rId2"/>
    <p:sldId id="335" r:id="rId3"/>
    <p:sldId id="344" r:id="rId4"/>
    <p:sldId id="337" r:id="rId5"/>
    <p:sldId id="338" r:id="rId6"/>
    <p:sldId id="339" r:id="rId7"/>
    <p:sldId id="258" r:id="rId8"/>
    <p:sldId id="260" r:id="rId9"/>
    <p:sldId id="262" r:id="rId10"/>
    <p:sldId id="265" r:id="rId11"/>
    <p:sldId id="268" r:id="rId12"/>
    <p:sldId id="270" r:id="rId13"/>
    <p:sldId id="272" r:id="rId14"/>
    <p:sldId id="273" r:id="rId15"/>
    <p:sldId id="274" r:id="rId16"/>
    <p:sldId id="276" r:id="rId17"/>
    <p:sldId id="310" r:id="rId18"/>
    <p:sldId id="340" r:id="rId19"/>
    <p:sldId id="305" r:id="rId20"/>
    <p:sldId id="345" r:id="rId21"/>
    <p:sldId id="306" r:id="rId22"/>
    <p:sldId id="307" r:id="rId23"/>
    <p:sldId id="313" r:id="rId24"/>
    <p:sldId id="314" r:id="rId25"/>
    <p:sldId id="341" r:id="rId26"/>
    <p:sldId id="315" r:id="rId27"/>
    <p:sldId id="336" r:id="rId28"/>
  </p:sldIdLst>
  <p:sldSz cx="9144000" cy="6858000" type="screen4x3"/>
  <p:notesSz cx="6858000" cy="91440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sz="2400" kern="1200">
        <a:solidFill>
          <a:schemeClr val="tx1"/>
        </a:solidFill>
        <a:latin typeface="Times New Roman" pitchFamily="-1"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 charset="0"/>
        <a:ea typeface="+mn-ea"/>
        <a:cs typeface="+mn-cs"/>
      </a:defRPr>
    </a:lvl5pPr>
    <a:lvl6pPr marL="2286000" algn="l" defTabSz="457200" rtl="0" eaLnBrk="1" latinLnBrk="0" hangingPunct="1">
      <a:defRPr sz="2400" kern="1200">
        <a:solidFill>
          <a:schemeClr val="tx1"/>
        </a:solidFill>
        <a:latin typeface="Times New Roman" pitchFamily="-1" charset="0"/>
        <a:ea typeface="+mn-ea"/>
        <a:cs typeface="+mn-cs"/>
      </a:defRPr>
    </a:lvl6pPr>
    <a:lvl7pPr marL="2743200" algn="l" defTabSz="457200" rtl="0" eaLnBrk="1" latinLnBrk="0" hangingPunct="1">
      <a:defRPr sz="2400" kern="1200">
        <a:solidFill>
          <a:schemeClr val="tx1"/>
        </a:solidFill>
        <a:latin typeface="Times New Roman" pitchFamily="-1" charset="0"/>
        <a:ea typeface="+mn-ea"/>
        <a:cs typeface="+mn-cs"/>
      </a:defRPr>
    </a:lvl7pPr>
    <a:lvl8pPr marL="3200400" algn="l" defTabSz="457200" rtl="0" eaLnBrk="1" latinLnBrk="0" hangingPunct="1">
      <a:defRPr sz="2400" kern="1200">
        <a:solidFill>
          <a:schemeClr val="tx1"/>
        </a:solidFill>
        <a:latin typeface="Times New Roman" pitchFamily="-1" charset="0"/>
        <a:ea typeface="+mn-ea"/>
        <a:cs typeface="+mn-cs"/>
      </a:defRPr>
    </a:lvl8pPr>
    <a:lvl9pPr marL="3657600" algn="l" defTabSz="457200" rtl="0" eaLnBrk="1" latinLnBrk="0" hangingPunct="1">
      <a:defRPr sz="2400" kern="1200">
        <a:solidFill>
          <a:schemeClr val="tx1"/>
        </a:solidFill>
        <a:latin typeface="Times New Roman" pitchFamily="-1"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36" autoAdjust="0"/>
    <p:restoredTop sz="90629" autoAdjust="0"/>
  </p:normalViewPr>
  <p:slideViewPr>
    <p:cSldViewPr>
      <p:cViewPr varScale="1">
        <p:scale>
          <a:sx n="62" d="100"/>
          <a:sy n="62" d="100"/>
        </p:scale>
        <p:origin x="1404" y="48"/>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Lst>
  </p:outlineViewPr>
  <p:notesTextViewPr>
    <p:cViewPr>
      <p:scale>
        <a:sx n="100" d="100"/>
        <a:sy n="100" d="100"/>
      </p:scale>
      <p:origin x="0" y="0"/>
    </p:cViewPr>
  </p:notesTextViewPr>
  <p:sorterViewPr>
    <p:cViewPr>
      <p:scale>
        <a:sx n="66" d="100"/>
        <a:sy n="66" d="100"/>
      </p:scale>
      <p:origin x="0" y="954"/>
    </p:cViewPr>
  </p:sorterViewPr>
  <p:notesViewPr>
    <p:cSldViewPr>
      <p:cViewPr varScale="1">
        <p:scale>
          <a:sx n="61" d="100"/>
          <a:sy n="61" d="100"/>
        </p:scale>
        <p:origin x="-1710"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s>
</file>

<file path=ppt/_rels/viewProps.xml.rels><?xml version="1.0" encoding="UTF-8" standalone="yes"?>
<Relationships xmlns="http://schemas.openxmlformats.org/package/2006/relationships"><Relationship Id="rId8" Type="http://schemas.openxmlformats.org/officeDocument/2006/relationships/slide" Target="slides/slide13.xml"/><Relationship Id="rId13" Type="http://schemas.openxmlformats.org/officeDocument/2006/relationships/slide" Target="slides/slide21.xml"/><Relationship Id="rId3" Type="http://schemas.openxmlformats.org/officeDocument/2006/relationships/slide" Target="slides/slide8.xml"/><Relationship Id="rId7" Type="http://schemas.openxmlformats.org/officeDocument/2006/relationships/slide" Target="slides/slide12.xml"/><Relationship Id="rId12" Type="http://schemas.openxmlformats.org/officeDocument/2006/relationships/slide" Target="slides/slide19.xml"/><Relationship Id="rId2" Type="http://schemas.openxmlformats.org/officeDocument/2006/relationships/slide" Target="slides/slide7.xml"/><Relationship Id="rId1" Type="http://schemas.openxmlformats.org/officeDocument/2006/relationships/slide" Target="slides/slide1.xml"/><Relationship Id="rId6" Type="http://schemas.openxmlformats.org/officeDocument/2006/relationships/slide" Target="slides/slide11.xml"/><Relationship Id="rId11" Type="http://schemas.openxmlformats.org/officeDocument/2006/relationships/slide" Target="slides/slide16.xml"/><Relationship Id="rId5" Type="http://schemas.openxmlformats.org/officeDocument/2006/relationships/slide" Target="slides/slide10.xml"/><Relationship Id="rId15" Type="http://schemas.openxmlformats.org/officeDocument/2006/relationships/slide" Target="slides/slide27.xml"/><Relationship Id="rId10" Type="http://schemas.openxmlformats.org/officeDocument/2006/relationships/slide" Target="slides/slide15.xml"/><Relationship Id="rId4" Type="http://schemas.openxmlformats.org/officeDocument/2006/relationships/slide" Target="slides/slide9.xml"/><Relationship Id="rId9" Type="http://schemas.openxmlformats.org/officeDocument/2006/relationships/slide" Target="slides/slide14.xml"/><Relationship Id="rId14" Type="http://schemas.openxmlformats.org/officeDocument/2006/relationships/slide" Target="slides/slide22.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5">
  <dgm:title val=""/>
  <dgm:desc val=""/>
  <dgm:catLst>
    <dgm:cat type="accent3" pri="11500"/>
  </dgm:catLst>
  <dgm:styleLbl name="node0">
    <dgm:fillClrLst meth="cycle">
      <a:schemeClr val="accent3">
        <a:alpha val="80000"/>
      </a:schemeClr>
    </dgm:fillClrLst>
    <dgm:linClrLst meth="repeat">
      <a:schemeClr val="lt1"/>
    </dgm:linClrLst>
    <dgm:effectClrLst/>
    <dgm:txLinClrLst/>
    <dgm:txFillClrLst/>
    <dgm:txEffectClrLst/>
  </dgm:styleLbl>
  <dgm:styleLbl name="node1">
    <dgm:fillClrLst>
      <a:schemeClr val="accent3">
        <a:alpha val="90000"/>
      </a:schemeClr>
      <a:schemeClr val="accent3">
        <a:alpha val="50000"/>
      </a:schemeClr>
    </dgm:fillClrLst>
    <dgm:linClrLst meth="repeat">
      <a:schemeClr val="lt1"/>
    </dgm:linClrLst>
    <dgm:effectClrLst/>
    <dgm:txLinClrLst/>
    <dgm:txFillClrLst/>
    <dgm:txEffectClrLst/>
  </dgm:styleLbl>
  <dgm:styleLbl name="alignNode1">
    <dgm:fillClrLst>
      <a:schemeClr val="accent3">
        <a:alpha val="90000"/>
      </a:schemeClr>
      <a:schemeClr val="accent3">
        <a:alpha val="50000"/>
      </a:schemeClr>
    </dgm:fillClrLst>
    <dgm:linClrLst>
      <a:schemeClr val="accent3">
        <a:alpha val="90000"/>
      </a:schemeClr>
      <a:schemeClr val="accent3">
        <a:alpha val="50000"/>
      </a:schemeClr>
    </dgm:linClrLst>
    <dgm:effectClrLst/>
    <dgm:txLinClrLst/>
    <dgm:txFillClrLst/>
    <dgm:txEffectClrLst/>
  </dgm:styleLbl>
  <dgm:styleLbl name="lnNode1">
    <dgm:fillClrLst>
      <a:schemeClr val="accent3">
        <a:shade val="90000"/>
      </a:schemeClr>
      <a:schemeClr val="accent3">
        <a:alpha val="50000"/>
        <a:tint val="5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alpha val="80000"/>
      </a:schemeClr>
    </dgm:fillClrLst>
    <dgm:linClrLst meth="repeat">
      <a:schemeClr val="lt1"/>
    </dgm:linClrLst>
    <dgm:effectClrLst/>
    <dgm:txLinClrLst/>
    <dgm:txFillClrLst/>
    <dgm:txEffectClrLst/>
  </dgm:styleLbl>
  <dgm:styleLbl name="node2">
    <dgm:fillClrLst>
      <a:schemeClr val="accent3">
        <a:alpha val="70000"/>
      </a:schemeClr>
    </dgm:fillClrLst>
    <dgm:linClrLst meth="repeat">
      <a:schemeClr val="lt1"/>
    </dgm:linClrLst>
    <dgm:effectClrLst/>
    <dgm:txLinClrLst/>
    <dgm:txFillClrLst/>
    <dgm:txEffectClrLst/>
  </dgm:styleLbl>
  <dgm:styleLbl name="node3">
    <dgm:fillClrLst>
      <a:schemeClr val="accent3">
        <a:alpha val="50000"/>
      </a:schemeClr>
    </dgm:fillClrLst>
    <dgm:linClrLst meth="repeat">
      <a:schemeClr val="lt1"/>
    </dgm:linClrLst>
    <dgm:effectClrLst/>
    <dgm:txLinClrLst/>
    <dgm:txFillClrLst/>
    <dgm:txEffectClrLst/>
  </dgm:styleLbl>
  <dgm:styleLbl name="node4">
    <dgm:fillClrLst>
      <a:schemeClr val="accent3">
        <a:alpha val="30000"/>
      </a:schemeClr>
    </dgm:fillClrLst>
    <dgm:linClrLst meth="repeat">
      <a:schemeClr val="lt1"/>
    </dgm:linClrLst>
    <dgm:effectClrLst/>
    <dgm:txLinClrLst/>
    <dgm:txFillClrLst/>
    <dgm:txEffectClrLst/>
  </dgm:styleLbl>
  <dgm:styleLbl name="fgImgPlace1">
    <dgm:fillClrLst>
      <a:schemeClr val="accent3">
        <a:tint val="50000"/>
        <a:alpha val="90000"/>
      </a:schemeClr>
      <a:schemeClr val="accent3">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f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b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sibTrans1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alpha val="90000"/>
      </a:schemeClr>
    </dgm:fillClrLst>
    <dgm:linClrLst meth="repeat">
      <a:schemeClr val="lt1"/>
    </dgm:linClrLst>
    <dgm:effectClrLst/>
    <dgm:txLinClrLst/>
    <dgm:txFillClrLst/>
    <dgm:txEffectClrLst/>
  </dgm:styleLbl>
  <dgm:styleLbl name="asst1">
    <dgm:fillClrLst meth="repeat">
      <a:schemeClr val="accent3">
        <a:alpha val="90000"/>
      </a:schemeClr>
    </dgm:fillClrLst>
    <dgm:linClrLst meth="repeat">
      <a:schemeClr val="lt1"/>
    </dgm:linClrLst>
    <dgm:effectClrLst/>
    <dgm:txLinClrLst/>
    <dgm:txFillClrLst/>
    <dgm:txEffectClrLst/>
  </dgm:styleLbl>
  <dgm:styleLbl name="asst2">
    <dgm:fillClrLst>
      <a:schemeClr val="accent3">
        <a:alpha val="90000"/>
      </a:schemeClr>
    </dgm:fillClrLst>
    <dgm:linClrLst meth="repeat">
      <a:schemeClr val="lt1"/>
    </dgm:linClrLst>
    <dgm:effectClrLst/>
    <dgm:txLinClrLst/>
    <dgm:txFillClrLst/>
    <dgm:txEffectClrLst/>
  </dgm:styleLbl>
  <dgm:styleLbl name="asst3">
    <dgm:fillClrLst>
      <a:schemeClr val="accent3">
        <a:alpha val="70000"/>
      </a:schemeClr>
    </dgm:fillClrLst>
    <dgm:linClrLst meth="repeat">
      <a:schemeClr val="lt1"/>
    </dgm:linClrLst>
    <dgm:effectClrLst/>
    <dgm:txLinClrLst/>
    <dgm:txFillClrLst/>
    <dgm:txEffectClrLst/>
  </dgm:styleLbl>
  <dgm:styleLbl name="asst4">
    <dgm:fillClrLst>
      <a:schemeClr val="accent3">
        <a:alpha val="50000"/>
      </a:schemeClr>
    </dgm:fillClrLst>
    <dgm:linClrLst meth="repeat">
      <a:schemeClr val="lt1"/>
    </dgm:linClrLst>
    <dgm:effectClrLst/>
    <dgm:txLinClrLst/>
    <dgm:txFillClrLst/>
    <dgm:txEffectClrLst/>
  </dgm:styleLbl>
  <dgm:styleLbl name="parChTrans2D1">
    <dgm:fillClrLst meth="repeat">
      <a:schemeClr val="accent3">
        <a:shade val="8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a:schemeClr val="accent3">
        <a:alpha val="90000"/>
        <a:tint val="40000"/>
      </a:schemeClr>
      <a:schemeClr val="accent3">
        <a:alpha val="5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25B34CF-B405-0447-8EC6-2C6526248AC0}" type="doc">
      <dgm:prSet loTypeId="urn:microsoft.com/office/officeart/2008/layout/VerticalCurvedList" loCatId="" qsTypeId="urn:microsoft.com/office/officeart/2005/8/quickstyle/simple5" qsCatId="simple" csTypeId="urn:microsoft.com/office/officeart/2005/8/colors/accent2_2" csCatId="accent2"/>
      <dgm:spPr/>
      <dgm:t>
        <a:bodyPr/>
        <a:lstStyle/>
        <a:p>
          <a:endParaRPr lang="en-US"/>
        </a:p>
      </dgm:t>
    </dgm:pt>
    <dgm:pt modelId="{75777834-3F7A-2F43-BE45-D815F4554D66}">
      <dgm:prSet/>
      <dgm:spPr/>
      <dgm:t>
        <a:bodyPr/>
        <a:lstStyle/>
        <a:p>
          <a:pPr rtl="0"/>
          <a:r>
            <a:rPr lang="en-US" smtClean="0"/>
            <a:t>Immediate</a:t>
          </a:r>
          <a:endParaRPr lang="en-US"/>
        </a:p>
      </dgm:t>
    </dgm:pt>
    <dgm:pt modelId="{11D29F2F-DFD6-1143-B96C-9C759243A728}" type="parTrans" cxnId="{A1795E97-8CE8-0147-AD8B-8B73F25387F8}">
      <dgm:prSet/>
      <dgm:spPr/>
      <dgm:t>
        <a:bodyPr/>
        <a:lstStyle/>
        <a:p>
          <a:endParaRPr lang="en-US"/>
        </a:p>
      </dgm:t>
    </dgm:pt>
    <dgm:pt modelId="{EA574351-70BD-7A4A-B8BF-146C3F3BF2CE}" type="sibTrans" cxnId="{A1795E97-8CE8-0147-AD8B-8B73F25387F8}">
      <dgm:prSet/>
      <dgm:spPr/>
      <dgm:t>
        <a:bodyPr/>
        <a:lstStyle/>
        <a:p>
          <a:endParaRPr lang="en-US"/>
        </a:p>
      </dgm:t>
    </dgm:pt>
    <dgm:pt modelId="{E1500156-C505-0340-B1C2-444C9BA21F81}">
      <dgm:prSet/>
      <dgm:spPr/>
      <dgm:t>
        <a:bodyPr/>
        <a:lstStyle/>
        <a:p>
          <a:pPr rtl="0"/>
          <a:r>
            <a:rPr lang="en-US" dirty="0" smtClean="0"/>
            <a:t>Direct</a:t>
          </a:r>
          <a:endParaRPr lang="en-US" dirty="0"/>
        </a:p>
      </dgm:t>
    </dgm:pt>
    <dgm:pt modelId="{DE566744-A8CB-5B43-B79D-18D99AE5885A}" type="parTrans" cxnId="{B052D315-16E3-CF43-A041-D73359FFB62E}">
      <dgm:prSet/>
      <dgm:spPr/>
      <dgm:t>
        <a:bodyPr/>
        <a:lstStyle/>
        <a:p>
          <a:endParaRPr lang="en-US"/>
        </a:p>
      </dgm:t>
    </dgm:pt>
    <dgm:pt modelId="{5A293972-3D43-0346-B020-263B3F3BA174}" type="sibTrans" cxnId="{B052D315-16E3-CF43-A041-D73359FFB62E}">
      <dgm:prSet/>
      <dgm:spPr/>
      <dgm:t>
        <a:bodyPr/>
        <a:lstStyle/>
        <a:p>
          <a:endParaRPr lang="en-US"/>
        </a:p>
      </dgm:t>
    </dgm:pt>
    <dgm:pt modelId="{20520F51-CCC2-9E4B-A032-43DFA1E2C8E0}">
      <dgm:prSet/>
      <dgm:spPr/>
      <dgm:t>
        <a:bodyPr/>
        <a:lstStyle/>
        <a:p>
          <a:pPr rtl="0"/>
          <a:r>
            <a:rPr lang="en-US" dirty="0" smtClean="0"/>
            <a:t>Indirect</a:t>
          </a:r>
          <a:endParaRPr lang="en-US" dirty="0"/>
        </a:p>
      </dgm:t>
    </dgm:pt>
    <dgm:pt modelId="{8D512923-0E7E-6F48-B6AE-184DD114E0A6}" type="parTrans" cxnId="{A497AAEE-E439-954D-AE1D-78DED91858F7}">
      <dgm:prSet/>
      <dgm:spPr/>
      <dgm:t>
        <a:bodyPr/>
        <a:lstStyle/>
        <a:p>
          <a:endParaRPr lang="en-US"/>
        </a:p>
      </dgm:t>
    </dgm:pt>
    <dgm:pt modelId="{2C8A7E30-41C7-814D-B78E-8BC06DAC36AC}" type="sibTrans" cxnId="{A497AAEE-E439-954D-AE1D-78DED91858F7}">
      <dgm:prSet/>
      <dgm:spPr/>
      <dgm:t>
        <a:bodyPr/>
        <a:lstStyle/>
        <a:p>
          <a:endParaRPr lang="en-US"/>
        </a:p>
      </dgm:t>
    </dgm:pt>
    <dgm:pt modelId="{2418038E-2F04-9949-8BE2-1CA7FA4B55E6}">
      <dgm:prSet/>
      <dgm:spPr/>
      <dgm:t>
        <a:bodyPr/>
        <a:lstStyle/>
        <a:p>
          <a:pPr rtl="0"/>
          <a:r>
            <a:rPr lang="en-US" smtClean="0"/>
            <a:t>Register</a:t>
          </a:r>
          <a:endParaRPr lang="en-US"/>
        </a:p>
      </dgm:t>
    </dgm:pt>
    <dgm:pt modelId="{3BBDB8D6-7F56-974A-AB27-B4FAB6258733}" type="parTrans" cxnId="{3E4E289B-F248-1643-95BA-259F8AB1200F}">
      <dgm:prSet/>
      <dgm:spPr/>
      <dgm:t>
        <a:bodyPr/>
        <a:lstStyle/>
        <a:p>
          <a:endParaRPr lang="en-US"/>
        </a:p>
      </dgm:t>
    </dgm:pt>
    <dgm:pt modelId="{93247139-16B3-034C-866C-05023D4BEAE6}" type="sibTrans" cxnId="{3E4E289B-F248-1643-95BA-259F8AB1200F}">
      <dgm:prSet/>
      <dgm:spPr/>
      <dgm:t>
        <a:bodyPr/>
        <a:lstStyle/>
        <a:p>
          <a:endParaRPr lang="en-US"/>
        </a:p>
      </dgm:t>
    </dgm:pt>
    <dgm:pt modelId="{4A740C7F-980A-BA4C-9F10-B977C354A1EF}">
      <dgm:prSet/>
      <dgm:spPr/>
      <dgm:t>
        <a:bodyPr/>
        <a:lstStyle/>
        <a:p>
          <a:pPr rtl="0"/>
          <a:r>
            <a:rPr lang="en-US" dirty="0" smtClean="0"/>
            <a:t>Register indirect</a:t>
          </a:r>
          <a:endParaRPr lang="en-US" dirty="0"/>
        </a:p>
      </dgm:t>
    </dgm:pt>
    <dgm:pt modelId="{F7B9919E-504F-E74C-B1B3-9411DA73D15C}" type="parTrans" cxnId="{C871AAC2-21AB-C240-A4F4-27C8F1CFFDA6}">
      <dgm:prSet/>
      <dgm:spPr/>
      <dgm:t>
        <a:bodyPr/>
        <a:lstStyle/>
        <a:p>
          <a:endParaRPr lang="en-US"/>
        </a:p>
      </dgm:t>
    </dgm:pt>
    <dgm:pt modelId="{7769C3F9-7290-764B-BF8B-C4661331C5D3}" type="sibTrans" cxnId="{C871AAC2-21AB-C240-A4F4-27C8F1CFFDA6}">
      <dgm:prSet/>
      <dgm:spPr/>
      <dgm:t>
        <a:bodyPr/>
        <a:lstStyle/>
        <a:p>
          <a:endParaRPr lang="en-US"/>
        </a:p>
      </dgm:t>
    </dgm:pt>
    <dgm:pt modelId="{94C8CEAA-7A40-CA41-9257-05B9BB741D06}">
      <dgm:prSet/>
      <dgm:spPr/>
      <dgm:t>
        <a:bodyPr/>
        <a:lstStyle/>
        <a:p>
          <a:pPr rtl="0"/>
          <a:r>
            <a:rPr lang="en-US" dirty="0" smtClean="0"/>
            <a:t>Displacement</a:t>
          </a:r>
          <a:endParaRPr lang="en-US" dirty="0"/>
        </a:p>
      </dgm:t>
    </dgm:pt>
    <dgm:pt modelId="{9A4C0EF4-82A6-1749-8E32-E8606E3B3EF4}" type="parTrans" cxnId="{3E50F95F-4CC5-BF4A-9650-F7880777B8DE}">
      <dgm:prSet/>
      <dgm:spPr/>
      <dgm:t>
        <a:bodyPr/>
        <a:lstStyle/>
        <a:p>
          <a:endParaRPr lang="en-US"/>
        </a:p>
      </dgm:t>
    </dgm:pt>
    <dgm:pt modelId="{A75747F9-F737-4245-B9DB-39A5B1BAA618}" type="sibTrans" cxnId="{3E50F95F-4CC5-BF4A-9650-F7880777B8DE}">
      <dgm:prSet/>
      <dgm:spPr/>
      <dgm:t>
        <a:bodyPr/>
        <a:lstStyle/>
        <a:p>
          <a:endParaRPr lang="en-US"/>
        </a:p>
      </dgm:t>
    </dgm:pt>
    <dgm:pt modelId="{9F0B8155-4C3C-F64F-B1FE-C8CED244BD19}">
      <dgm:prSet/>
      <dgm:spPr/>
      <dgm:t>
        <a:bodyPr/>
        <a:lstStyle/>
        <a:p>
          <a:pPr rtl="0"/>
          <a:r>
            <a:rPr lang="en-US" smtClean="0"/>
            <a:t>Stack</a:t>
          </a:r>
          <a:endParaRPr lang="en-US"/>
        </a:p>
      </dgm:t>
    </dgm:pt>
    <dgm:pt modelId="{698B982D-6F08-F54E-8511-4591CFEFCAF5}" type="parTrans" cxnId="{9EAD2DB7-63A3-2440-91D0-BC350B92F6DC}">
      <dgm:prSet/>
      <dgm:spPr/>
      <dgm:t>
        <a:bodyPr/>
        <a:lstStyle/>
        <a:p>
          <a:endParaRPr lang="en-US"/>
        </a:p>
      </dgm:t>
    </dgm:pt>
    <dgm:pt modelId="{C6CCB07B-4177-4B43-9014-D319D7A125EA}" type="sibTrans" cxnId="{9EAD2DB7-63A3-2440-91D0-BC350B92F6DC}">
      <dgm:prSet/>
      <dgm:spPr/>
      <dgm:t>
        <a:bodyPr/>
        <a:lstStyle/>
        <a:p>
          <a:endParaRPr lang="en-US"/>
        </a:p>
      </dgm:t>
    </dgm:pt>
    <dgm:pt modelId="{BF9DF738-98B0-C944-A412-20FF9E615998}" type="pres">
      <dgm:prSet presAssocID="{C25B34CF-B405-0447-8EC6-2C6526248AC0}" presName="Name0" presStyleCnt="0">
        <dgm:presLayoutVars>
          <dgm:chMax val="7"/>
          <dgm:chPref val="7"/>
          <dgm:dir/>
        </dgm:presLayoutVars>
      </dgm:prSet>
      <dgm:spPr/>
      <dgm:t>
        <a:bodyPr/>
        <a:lstStyle/>
        <a:p>
          <a:endParaRPr lang="en-US"/>
        </a:p>
      </dgm:t>
    </dgm:pt>
    <dgm:pt modelId="{0C1F5FA3-3E5A-5349-B0E3-90B9E10C8F6B}" type="pres">
      <dgm:prSet presAssocID="{C25B34CF-B405-0447-8EC6-2C6526248AC0}" presName="Name1" presStyleCnt="0"/>
      <dgm:spPr/>
    </dgm:pt>
    <dgm:pt modelId="{390377C0-EA45-864D-9090-7408DAC540B9}" type="pres">
      <dgm:prSet presAssocID="{C25B34CF-B405-0447-8EC6-2C6526248AC0}" presName="cycle" presStyleCnt="0"/>
      <dgm:spPr/>
    </dgm:pt>
    <dgm:pt modelId="{A22BC15C-92F7-384A-AB55-067CDF731EFB}" type="pres">
      <dgm:prSet presAssocID="{C25B34CF-B405-0447-8EC6-2C6526248AC0}" presName="srcNode" presStyleLbl="node1" presStyleIdx="0" presStyleCnt="7"/>
      <dgm:spPr/>
    </dgm:pt>
    <dgm:pt modelId="{FC3FD2E1-6A44-304A-8ABE-D29421750942}" type="pres">
      <dgm:prSet presAssocID="{C25B34CF-B405-0447-8EC6-2C6526248AC0}" presName="conn" presStyleLbl="parChTrans1D2" presStyleIdx="0" presStyleCnt="1"/>
      <dgm:spPr/>
      <dgm:t>
        <a:bodyPr/>
        <a:lstStyle/>
        <a:p>
          <a:endParaRPr lang="en-US"/>
        </a:p>
      </dgm:t>
    </dgm:pt>
    <dgm:pt modelId="{1E8EAFC8-E1D4-0941-8651-CB27FA331F82}" type="pres">
      <dgm:prSet presAssocID="{C25B34CF-B405-0447-8EC6-2C6526248AC0}" presName="extraNode" presStyleLbl="node1" presStyleIdx="0" presStyleCnt="7"/>
      <dgm:spPr/>
    </dgm:pt>
    <dgm:pt modelId="{CC817098-3CCC-444C-9823-1DD65A190247}" type="pres">
      <dgm:prSet presAssocID="{C25B34CF-B405-0447-8EC6-2C6526248AC0}" presName="dstNode" presStyleLbl="node1" presStyleIdx="0" presStyleCnt="7"/>
      <dgm:spPr/>
    </dgm:pt>
    <dgm:pt modelId="{2CBD8BE2-2890-524A-8B30-4BF8372329EA}" type="pres">
      <dgm:prSet presAssocID="{75777834-3F7A-2F43-BE45-D815F4554D66}" presName="text_1" presStyleLbl="node1" presStyleIdx="0" presStyleCnt="7">
        <dgm:presLayoutVars>
          <dgm:bulletEnabled val="1"/>
        </dgm:presLayoutVars>
      </dgm:prSet>
      <dgm:spPr/>
      <dgm:t>
        <a:bodyPr/>
        <a:lstStyle/>
        <a:p>
          <a:endParaRPr lang="en-US"/>
        </a:p>
      </dgm:t>
    </dgm:pt>
    <dgm:pt modelId="{6F8CBFA9-534D-A043-9BE5-F1EC16A0742C}" type="pres">
      <dgm:prSet presAssocID="{75777834-3F7A-2F43-BE45-D815F4554D66}" presName="accent_1" presStyleCnt="0"/>
      <dgm:spPr/>
    </dgm:pt>
    <dgm:pt modelId="{3A908DAF-12B2-5D4A-8B94-244EFBE3757C}" type="pres">
      <dgm:prSet presAssocID="{75777834-3F7A-2F43-BE45-D815F4554D66}" presName="accentRepeatNode" presStyleLbl="solidFgAcc1" presStyleIdx="0" presStyleCnt="7"/>
      <dgm:spPr/>
    </dgm:pt>
    <dgm:pt modelId="{5D6CDD84-B3EF-9C46-B0CB-2C51976A425F}" type="pres">
      <dgm:prSet presAssocID="{E1500156-C505-0340-B1C2-444C9BA21F81}" presName="text_2" presStyleLbl="node1" presStyleIdx="1" presStyleCnt="7">
        <dgm:presLayoutVars>
          <dgm:bulletEnabled val="1"/>
        </dgm:presLayoutVars>
      </dgm:prSet>
      <dgm:spPr/>
      <dgm:t>
        <a:bodyPr/>
        <a:lstStyle/>
        <a:p>
          <a:endParaRPr lang="en-US"/>
        </a:p>
      </dgm:t>
    </dgm:pt>
    <dgm:pt modelId="{00EEC159-23E5-5743-93EE-2C82B101D40C}" type="pres">
      <dgm:prSet presAssocID="{E1500156-C505-0340-B1C2-444C9BA21F81}" presName="accent_2" presStyleCnt="0"/>
      <dgm:spPr/>
    </dgm:pt>
    <dgm:pt modelId="{C8DBD8D7-7921-8E46-8701-0CB59E7E5B84}" type="pres">
      <dgm:prSet presAssocID="{E1500156-C505-0340-B1C2-444C9BA21F81}" presName="accentRepeatNode" presStyleLbl="solidFgAcc1" presStyleIdx="1" presStyleCnt="7"/>
      <dgm:spPr/>
    </dgm:pt>
    <dgm:pt modelId="{D1813CF1-15BD-1746-9C06-CB67253200BC}" type="pres">
      <dgm:prSet presAssocID="{20520F51-CCC2-9E4B-A032-43DFA1E2C8E0}" presName="text_3" presStyleLbl="node1" presStyleIdx="2" presStyleCnt="7">
        <dgm:presLayoutVars>
          <dgm:bulletEnabled val="1"/>
        </dgm:presLayoutVars>
      </dgm:prSet>
      <dgm:spPr/>
      <dgm:t>
        <a:bodyPr/>
        <a:lstStyle/>
        <a:p>
          <a:endParaRPr lang="en-US"/>
        </a:p>
      </dgm:t>
    </dgm:pt>
    <dgm:pt modelId="{C85A44EB-BB52-3541-8A55-4858852D8C50}" type="pres">
      <dgm:prSet presAssocID="{20520F51-CCC2-9E4B-A032-43DFA1E2C8E0}" presName="accent_3" presStyleCnt="0"/>
      <dgm:spPr/>
    </dgm:pt>
    <dgm:pt modelId="{2DEFCA7B-7A11-FF43-8F11-DDD566601285}" type="pres">
      <dgm:prSet presAssocID="{20520F51-CCC2-9E4B-A032-43DFA1E2C8E0}" presName="accentRepeatNode" presStyleLbl="solidFgAcc1" presStyleIdx="2" presStyleCnt="7"/>
      <dgm:spPr/>
    </dgm:pt>
    <dgm:pt modelId="{4CE707F1-C341-234F-A380-871D988B9892}" type="pres">
      <dgm:prSet presAssocID="{2418038E-2F04-9949-8BE2-1CA7FA4B55E6}" presName="text_4" presStyleLbl="node1" presStyleIdx="3" presStyleCnt="7">
        <dgm:presLayoutVars>
          <dgm:bulletEnabled val="1"/>
        </dgm:presLayoutVars>
      </dgm:prSet>
      <dgm:spPr/>
      <dgm:t>
        <a:bodyPr/>
        <a:lstStyle/>
        <a:p>
          <a:endParaRPr lang="en-US"/>
        </a:p>
      </dgm:t>
    </dgm:pt>
    <dgm:pt modelId="{1D0C338F-F7B7-5848-86DA-8E93F7C650CE}" type="pres">
      <dgm:prSet presAssocID="{2418038E-2F04-9949-8BE2-1CA7FA4B55E6}" presName="accent_4" presStyleCnt="0"/>
      <dgm:spPr/>
    </dgm:pt>
    <dgm:pt modelId="{B3B8FADB-2792-7E42-B1BB-E58F1512CC74}" type="pres">
      <dgm:prSet presAssocID="{2418038E-2F04-9949-8BE2-1CA7FA4B55E6}" presName="accentRepeatNode" presStyleLbl="solidFgAcc1" presStyleIdx="3" presStyleCnt="7"/>
      <dgm:spPr/>
    </dgm:pt>
    <dgm:pt modelId="{5B2C71B8-E792-594F-A81D-941C9F99CA12}" type="pres">
      <dgm:prSet presAssocID="{4A740C7F-980A-BA4C-9F10-B977C354A1EF}" presName="text_5" presStyleLbl="node1" presStyleIdx="4" presStyleCnt="7">
        <dgm:presLayoutVars>
          <dgm:bulletEnabled val="1"/>
        </dgm:presLayoutVars>
      </dgm:prSet>
      <dgm:spPr/>
      <dgm:t>
        <a:bodyPr/>
        <a:lstStyle/>
        <a:p>
          <a:endParaRPr lang="en-US"/>
        </a:p>
      </dgm:t>
    </dgm:pt>
    <dgm:pt modelId="{1F172A6A-1856-0241-8841-1734DE3F27E5}" type="pres">
      <dgm:prSet presAssocID="{4A740C7F-980A-BA4C-9F10-B977C354A1EF}" presName="accent_5" presStyleCnt="0"/>
      <dgm:spPr/>
    </dgm:pt>
    <dgm:pt modelId="{61DA8E63-1670-9440-9A3A-B95BACF707FE}" type="pres">
      <dgm:prSet presAssocID="{4A740C7F-980A-BA4C-9F10-B977C354A1EF}" presName="accentRepeatNode" presStyleLbl="solidFgAcc1" presStyleIdx="4" presStyleCnt="7"/>
      <dgm:spPr/>
    </dgm:pt>
    <dgm:pt modelId="{827B38F0-B7C1-DA48-9512-1FA3389CDEAE}" type="pres">
      <dgm:prSet presAssocID="{94C8CEAA-7A40-CA41-9257-05B9BB741D06}" presName="text_6" presStyleLbl="node1" presStyleIdx="5" presStyleCnt="7">
        <dgm:presLayoutVars>
          <dgm:bulletEnabled val="1"/>
        </dgm:presLayoutVars>
      </dgm:prSet>
      <dgm:spPr/>
      <dgm:t>
        <a:bodyPr/>
        <a:lstStyle/>
        <a:p>
          <a:endParaRPr lang="en-US"/>
        </a:p>
      </dgm:t>
    </dgm:pt>
    <dgm:pt modelId="{4908F7C0-B955-7447-83E5-3A2BB242F7C3}" type="pres">
      <dgm:prSet presAssocID="{94C8CEAA-7A40-CA41-9257-05B9BB741D06}" presName="accent_6" presStyleCnt="0"/>
      <dgm:spPr/>
    </dgm:pt>
    <dgm:pt modelId="{C2157EE5-7641-3341-B2E7-021F543816F9}" type="pres">
      <dgm:prSet presAssocID="{94C8CEAA-7A40-CA41-9257-05B9BB741D06}" presName="accentRepeatNode" presStyleLbl="solidFgAcc1" presStyleIdx="5" presStyleCnt="7"/>
      <dgm:spPr/>
    </dgm:pt>
    <dgm:pt modelId="{9F226AE9-ADF4-EB4F-8906-BCCD10502E1B}" type="pres">
      <dgm:prSet presAssocID="{9F0B8155-4C3C-F64F-B1FE-C8CED244BD19}" presName="text_7" presStyleLbl="node1" presStyleIdx="6" presStyleCnt="7">
        <dgm:presLayoutVars>
          <dgm:bulletEnabled val="1"/>
        </dgm:presLayoutVars>
      </dgm:prSet>
      <dgm:spPr/>
      <dgm:t>
        <a:bodyPr/>
        <a:lstStyle/>
        <a:p>
          <a:endParaRPr lang="en-US"/>
        </a:p>
      </dgm:t>
    </dgm:pt>
    <dgm:pt modelId="{F8CCDF48-6C40-1741-A25C-ED15D2026B7E}" type="pres">
      <dgm:prSet presAssocID="{9F0B8155-4C3C-F64F-B1FE-C8CED244BD19}" presName="accent_7" presStyleCnt="0"/>
      <dgm:spPr/>
    </dgm:pt>
    <dgm:pt modelId="{757B9E9D-E0EF-514A-8620-B12728BAF68D}" type="pres">
      <dgm:prSet presAssocID="{9F0B8155-4C3C-F64F-B1FE-C8CED244BD19}" presName="accentRepeatNode" presStyleLbl="solidFgAcc1" presStyleIdx="6" presStyleCnt="7"/>
      <dgm:spPr/>
    </dgm:pt>
  </dgm:ptLst>
  <dgm:cxnLst>
    <dgm:cxn modelId="{45A711ED-414A-E84D-A209-553BBA4D9CAE}" type="presOf" srcId="{EA574351-70BD-7A4A-B8BF-146C3F3BF2CE}" destId="{FC3FD2E1-6A44-304A-8ABE-D29421750942}" srcOrd="0" destOrd="0" presId="urn:microsoft.com/office/officeart/2008/layout/VerticalCurvedList"/>
    <dgm:cxn modelId="{3E50F95F-4CC5-BF4A-9650-F7880777B8DE}" srcId="{C25B34CF-B405-0447-8EC6-2C6526248AC0}" destId="{94C8CEAA-7A40-CA41-9257-05B9BB741D06}" srcOrd="5" destOrd="0" parTransId="{9A4C0EF4-82A6-1749-8E32-E8606E3B3EF4}" sibTransId="{A75747F9-F737-4245-B9DB-39A5B1BAA618}"/>
    <dgm:cxn modelId="{9EAD2DB7-63A3-2440-91D0-BC350B92F6DC}" srcId="{C25B34CF-B405-0447-8EC6-2C6526248AC0}" destId="{9F0B8155-4C3C-F64F-B1FE-C8CED244BD19}" srcOrd="6" destOrd="0" parTransId="{698B982D-6F08-F54E-8511-4591CFEFCAF5}" sibTransId="{C6CCB07B-4177-4B43-9014-D319D7A125EA}"/>
    <dgm:cxn modelId="{C96E4DC7-A6D9-514C-AA50-DE773F2C8108}" type="presOf" srcId="{2418038E-2F04-9949-8BE2-1CA7FA4B55E6}" destId="{4CE707F1-C341-234F-A380-871D988B9892}" srcOrd="0" destOrd="0" presId="urn:microsoft.com/office/officeart/2008/layout/VerticalCurvedList"/>
    <dgm:cxn modelId="{8CC330BA-596B-4A43-8EC2-40A6E0914124}" type="presOf" srcId="{C25B34CF-B405-0447-8EC6-2C6526248AC0}" destId="{BF9DF738-98B0-C944-A412-20FF9E615998}" srcOrd="0" destOrd="0" presId="urn:microsoft.com/office/officeart/2008/layout/VerticalCurvedList"/>
    <dgm:cxn modelId="{B052D315-16E3-CF43-A041-D73359FFB62E}" srcId="{C25B34CF-B405-0447-8EC6-2C6526248AC0}" destId="{E1500156-C505-0340-B1C2-444C9BA21F81}" srcOrd="1" destOrd="0" parTransId="{DE566744-A8CB-5B43-B79D-18D99AE5885A}" sibTransId="{5A293972-3D43-0346-B020-263B3F3BA174}"/>
    <dgm:cxn modelId="{3E4E289B-F248-1643-95BA-259F8AB1200F}" srcId="{C25B34CF-B405-0447-8EC6-2C6526248AC0}" destId="{2418038E-2F04-9949-8BE2-1CA7FA4B55E6}" srcOrd="3" destOrd="0" parTransId="{3BBDB8D6-7F56-974A-AB27-B4FAB6258733}" sibTransId="{93247139-16B3-034C-866C-05023D4BEAE6}"/>
    <dgm:cxn modelId="{87E96314-9C77-F54C-8966-CEA96EEFF7FF}" type="presOf" srcId="{E1500156-C505-0340-B1C2-444C9BA21F81}" destId="{5D6CDD84-B3EF-9C46-B0CB-2C51976A425F}" srcOrd="0" destOrd="0" presId="urn:microsoft.com/office/officeart/2008/layout/VerticalCurvedList"/>
    <dgm:cxn modelId="{8726F796-B15C-2B43-8C89-7BB56B5001AD}" type="presOf" srcId="{4A740C7F-980A-BA4C-9F10-B977C354A1EF}" destId="{5B2C71B8-E792-594F-A81D-941C9F99CA12}" srcOrd="0" destOrd="0" presId="urn:microsoft.com/office/officeart/2008/layout/VerticalCurvedList"/>
    <dgm:cxn modelId="{31B4C958-FC09-3A46-B986-DC56CA521E13}" type="presOf" srcId="{94C8CEAA-7A40-CA41-9257-05B9BB741D06}" destId="{827B38F0-B7C1-DA48-9512-1FA3389CDEAE}" srcOrd="0" destOrd="0" presId="urn:microsoft.com/office/officeart/2008/layout/VerticalCurvedList"/>
    <dgm:cxn modelId="{F1DE4D36-1634-1F4A-9E8E-93359229FD09}" type="presOf" srcId="{20520F51-CCC2-9E4B-A032-43DFA1E2C8E0}" destId="{D1813CF1-15BD-1746-9C06-CB67253200BC}" srcOrd="0" destOrd="0" presId="urn:microsoft.com/office/officeart/2008/layout/VerticalCurvedList"/>
    <dgm:cxn modelId="{A497AAEE-E439-954D-AE1D-78DED91858F7}" srcId="{C25B34CF-B405-0447-8EC6-2C6526248AC0}" destId="{20520F51-CCC2-9E4B-A032-43DFA1E2C8E0}" srcOrd="2" destOrd="0" parTransId="{8D512923-0E7E-6F48-B6AE-184DD114E0A6}" sibTransId="{2C8A7E30-41C7-814D-B78E-8BC06DAC36AC}"/>
    <dgm:cxn modelId="{A1795E97-8CE8-0147-AD8B-8B73F25387F8}" srcId="{C25B34CF-B405-0447-8EC6-2C6526248AC0}" destId="{75777834-3F7A-2F43-BE45-D815F4554D66}" srcOrd="0" destOrd="0" parTransId="{11D29F2F-DFD6-1143-B96C-9C759243A728}" sibTransId="{EA574351-70BD-7A4A-B8BF-146C3F3BF2CE}"/>
    <dgm:cxn modelId="{C871AAC2-21AB-C240-A4F4-27C8F1CFFDA6}" srcId="{C25B34CF-B405-0447-8EC6-2C6526248AC0}" destId="{4A740C7F-980A-BA4C-9F10-B977C354A1EF}" srcOrd="4" destOrd="0" parTransId="{F7B9919E-504F-E74C-B1B3-9411DA73D15C}" sibTransId="{7769C3F9-7290-764B-BF8B-C4661331C5D3}"/>
    <dgm:cxn modelId="{B77F3117-5412-5144-A8D9-4431361D845E}" type="presOf" srcId="{75777834-3F7A-2F43-BE45-D815F4554D66}" destId="{2CBD8BE2-2890-524A-8B30-4BF8372329EA}" srcOrd="0" destOrd="0" presId="urn:microsoft.com/office/officeart/2008/layout/VerticalCurvedList"/>
    <dgm:cxn modelId="{B716AE0B-D3BC-FD4B-9465-68EAEA1A82A4}" type="presOf" srcId="{9F0B8155-4C3C-F64F-B1FE-C8CED244BD19}" destId="{9F226AE9-ADF4-EB4F-8906-BCCD10502E1B}" srcOrd="0" destOrd="0" presId="urn:microsoft.com/office/officeart/2008/layout/VerticalCurvedList"/>
    <dgm:cxn modelId="{43F3A8F5-ADE0-9E43-BB27-454A678C0DD6}" type="presParOf" srcId="{BF9DF738-98B0-C944-A412-20FF9E615998}" destId="{0C1F5FA3-3E5A-5349-B0E3-90B9E10C8F6B}" srcOrd="0" destOrd="0" presId="urn:microsoft.com/office/officeart/2008/layout/VerticalCurvedList"/>
    <dgm:cxn modelId="{02E6CE72-D7C1-6A44-BB23-ABFCAA59152C}" type="presParOf" srcId="{0C1F5FA3-3E5A-5349-B0E3-90B9E10C8F6B}" destId="{390377C0-EA45-864D-9090-7408DAC540B9}" srcOrd="0" destOrd="0" presId="urn:microsoft.com/office/officeart/2008/layout/VerticalCurvedList"/>
    <dgm:cxn modelId="{EA2ABC66-1B95-554A-830A-A7A38D3D0917}" type="presParOf" srcId="{390377C0-EA45-864D-9090-7408DAC540B9}" destId="{A22BC15C-92F7-384A-AB55-067CDF731EFB}" srcOrd="0" destOrd="0" presId="urn:microsoft.com/office/officeart/2008/layout/VerticalCurvedList"/>
    <dgm:cxn modelId="{B3B2DF92-BCD2-464B-BB62-1F906F7C28DC}" type="presParOf" srcId="{390377C0-EA45-864D-9090-7408DAC540B9}" destId="{FC3FD2E1-6A44-304A-8ABE-D29421750942}" srcOrd="1" destOrd="0" presId="urn:microsoft.com/office/officeart/2008/layout/VerticalCurvedList"/>
    <dgm:cxn modelId="{2162EBD7-94EE-274E-A1ED-0FAAA44422E3}" type="presParOf" srcId="{390377C0-EA45-864D-9090-7408DAC540B9}" destId="{1E8EAFC8-E1D4-0941-8651-CB27FA331F82}" srcOrd="2" destOrd="0" presId="urn:microsoft.com/office/officeart/2008/layout/VerticalCurvedList"/>
    <dgm:cxn modelId="{39EEB6B6-FC3C-2E41-89B0-67D0DF59AAD0}" type="presParOf" srcId="{390377C0-EA45-864D-9090-7408DAC540B9}" destId="{CC817098-3CCC-444C-9823-1DD65A190247}" srcOrd="3" destOrd="0" presId="urn:microsoft.com/office/officeart/2008/layout/VerticalCurvedList"/>
    <dgm:cxn modelId="{1D97750C-6FA7-5441-8698-077E6C6C74AC}" type="presParOf" srcId="{0C1F5FA3-3E5A-5349-B0E3-90B9E10C8F6B}" destId="{2CBD8BE2-2890-524A-8B30-4BF8372329EA}" srcOrd="1" destOrd="0" presId="urn:microsoft.com/office/officeart/2008/layout/VerticalCurvedList"/>
    <dgm:cxn modelId="{8B2B6577-FF6F-CB46-8A8C-53781C1D4E2C}" type="presParOf" srcId="{0C1F5FA3-3E5A-5349-B0E3-90B9E10C8F6B}" destId="{6F8CBFA9-534D-A043-9BE5-F1EC16A0742C}" srcOrd="2" destOrd="0" presId="urn:microsoft.com/office/officeart/2008/layout/VerticalCurvedList"/>
    <dgm:cxn modelId="{758FD0DD-B8AE-B743-B7EA-B207A2B3ED7A}" type="presParOf" srcId="{6F8CBFA9-534D-A043-9BE5-F1EC16A0742C}" destId="{3A908DAF-12B2-5D4A-8B94-244EFBE3757C}" srcOrd="0" destOrd="0" presId="urn:microsoft.com/office/officeart/2008/layout/VerticalCurvedList"/>
    <dgm:cxn modelId="{85ED3B53-E1B4-FA45-B4DF-AB6C8449B76D}" type="presParOf" srcId="{0C1F5FA3-3E5A-5349-B0E3-90B9E10C8F6B}" destId="{5D6CDD84-B3EF-9C46-B0CB-2C51976A425F}" srcOrd="3" destOrd="0" presId="urn:microsoft.com/office/officeart/2008/layout/VerticalCurvedList"/>
    <dgm:cxn modelId="{AACFFF4A-7118-7D46-87C1-90ABAAEF8A55}" type="presParOf" srcId="{0C1F5FA3-3E5A-5349-B0E3-90B9E10C8F6B}" destId="{00EEC159-23E5-5743-93EE-2C82B101D40C}" srcOrd="4" destOrd="0" presId="urn:microsoft.com/office/officeart/2008/layout/VerticalCurvedList"/>
    <dgm:cxn modelId="{9FAA9268-AEC0-1C4A-A893-1F88FDC2286C}" type="presParOf" srcId="{00EEC159-23E5-5743-93EE-2C82B101D40C}" destId="{C8DBD8D7-7921-8E46-8701-0CB59E7E5B84}" srcOrd="0" destOrd="0" presId="urn:microsoft.com/office/officeart/2008/layout/VerticalCurvedList"/>
    <dgm:cxn modelId="{78311103-C15B-7A46-ADDB-8EEA0FDF5CE0}" type="presParOf" srcId="{0C1F5FA3-3E5A-5349-B0E3-90B9E10C8F6B}" destId="{D1813CF1-15BD-1746-9C06-CB67253200BC}" srcOrd="5" destOrd="0" presId="urn:microsoft.com/office/officeart/2008/layout/VerticalCurvedList"/>
    <dgm:cxn modelId="{A9900B67-D7E6-CD47-AD55-2BA7AA313FEF}" type="presParOf" srcId="{0C1F5FA3-3E5A-5349-B0E3-90B9E10C8F6B}" destId="{C85A44EB-BB52-3541-8A55-4858852D8C50}" srcOrd="6" destOrd="0" presId="urn:microsoft.com/office/officeart/2008/layout/VerticalCurvedList"/>
    <dgm:cxn modelId="{014AABDD-1550-3E45-B75F-CDBBF5083CEB}" type="presParOf" srcId="{C85A44EB-BB52-3541-8A55-4858852D8C50}" destId="{2DEFCA7B-7A11-FF43-8F11-DDD566601285}" srcOrd="0" destOrd="0" presId="urn:microsoft.com/office/officeart/2008/layout/VerticalCurvedList"/>
    <dgm:cxn modelId="{03643C16-DBA0-C643-A390-A72071E5C67E}" type="presParOf" srcId="{0C1F5FA3-3E5A-5349-B0E3-90B9E10C8F6B}" destId="{4CE707F1-C341-234F-A380-871D988B9892}" srcOrd="7" destOrd="0" presId="urn:microsoft.com/office/officeart/2008/layout/VerticalCurvedList"/>
    <dgm:cxn modelId="{3351EE72-2596-4A42-8241-CB2D2A8754F5}" type="presParOf" srcId="{0C1F5FA3-3E5A-5349-B0E3-90B9E10C8F6B}" destId="{1D0C338F-F7B7-5848-86DA-8E93F7C650CE}" srcOrd="8" destOrd="0" presId="urn:microsoft.com/office/officeart/2008/layout/VerticalCurvedList"/>
    <dgm:cxn modelId="{08D4E3FF-D787-5B49-8E92-EA3E51305786}" type="presParOf" srcId="{1D0C338F-F7B7-5848-86DA-8E93F7C650CE}" destId="{B3B8FADB-2792-7E42-B1BB-E58F1512CC74}" srcOrd="0" destOrd="0" presId="urn:microsoft.com/office/officeart/2008/layout/VerticalCurvedList"/>
    <dgm:cxn modelId="{84B1A9EB-37FD-E04E-A016-695024A84F92}" type="presParOf" srcId="{0C1F5FA3-3E5A-5349-B0E3-90B9E10C8F6B}" destId="{5B2C71B8-E792-594F-A81D-941C9F99CA12}" srcOrd="9" destOrd="0" presId="urn:microsoft.com/office/officeart/2008/layout/VerticalCurvedList"/>
    <dgm:cxn modelId="{5004F275-2FD4-4D4B-84D5-685D71FD262F}" type="presParOf" srcId="{0C1F5FA3-3E5A-5349-B0E3-90B9E10C8F6B}" destId="{1F172A6A-1856-0241-8841-1734DE3F27E5}" srcOrd="10" destOrd="0" presId="urn:microsoft.com/office/officeart/2008/layout/VerticalCurvedList"/>
    <dgm:cxn modelId="{DFFB5A0F-E9C2-AB4A-AC62-7D74854CF91E}" type="presParOf" srcId="{1F172A6A-1856-0241-8841-1734DE3F27E5}" destId="{61DA8E63-1670-9440-9A3A-B95BACF707FE}" srcOrd="0" destOrd="0" presId="urn:microsoft.com/office/officeart/2008/layout/VerticalCurvedList"/>
    <dgm:cxn modelId="{F7300B60-C7F8-6A49-B149-E55666BB41FF}" type="presParOf" srcId="{0C1F5FA3-3E5A-5349-B0E3-90B9E10C8F6B}" destId="{827B38F0-B7C1-DA48-9512-1FA3389CDEAE}" srcOrd="11" destOrd="0" presId="urn:microsoft.com/office/officeart/2008/layout/VerticalCurvedList"/>
    <dgm:cxn modelId="{CAF84750-6409-5943-820D-2F058E20AAFF}" type="presParOf" srcId="{0C1F5FA3-3E5A-5349-B0E3-90B9E10C8F6B}" destId="{4908F7C0-B955-7447-83E5-3A2BB242F7C3}" srcOrd="12" destOrd="0" presId="urn:microsoft.com/office/officeart/2008/layout/VerticalCurvedList"/>
    <dgm:cxn modelId="{BBFA622B-29A3-7D42-A4FB-4EB8588B1923}" type="presParOf" srcId="{4908F7C0-B955-7447-83E5-3A2BB242F7C3}" destId="{C2157EE5-7641-3341-B2E7-021F543816F9}" srcOrd="0" destOrd="0" presId="urn:microsoft.com/office/officeart/2008/layout/VerticalCurvedList"/>
    <dgm:cxn modelId="{85EF2877-D94E-CD48-B404-E03C48BF88A6}" type="presParOf" srcId="{0C1F5FA3-3E5A-5349-B0E3-90B9E10C8F6B}" destId="{9F226AE9-ADF4-EB4F-8906-BCCD10502E1B}" srcOrd="13" destOrd="0" presId="urn:microsoft.com/office/officeart/2008/layout/VerticalCurvedList"/>
    <dgm:cxn modelId="{02E11A36-F209-7A4A-9718-5B5179B8428F}" type="presParOf" srcId="{0C1F5FA3-3E5A-5349-B0E3-90B9E10C8F6B}" destId="{F8CCDF48-6C40-1741-A25C-ED15D2026B7E}" srcOrd="14" destOrd="0" presId="urn:microsoft.com/office/officeart/2008/layout/VerticalCurvedList"/>
    <dgm:cxn modelId="{ABE8CFD7-36B0-3445-8366-16EA50ADE633}" type="presParOf" srcId="{F8CCDF48-6C40-1741-A25C-ED15D2026B7E}" destId="{757B9E9D-E0EF-514A-8620-B12728BAF68D}"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2FA89BD-1116-324D-97C8-88FE2DB3F9E8}" type="doc">
      <dgm:prSet loTypeId="urn:microsoft.com/office/officeart/2005/8/layout/hierarchy1" loCatId="hierarchy" qsTypeId="urn:microsoft.com/office/officeart/2005/8/quickstyle/simple4" qsCatId="simple" csTypeId="urn:microsoft.com/office/officeart/2005/8/colors/accent1_2" csCatId="accent1"/>
      <dgm:spPr/>
      <dgm:t>
        <a:bodyPr/>
        <a:lstStyle/>
        <a:p>
          <a:endParaRPr lang="en-US"/>
        </a:p>
      </dgm:t>
    </dgm:pt>
    <dgm:pt modelId="{068AB26D-4CFD-9E4C-A174-AB8867C02A29}">
      <dgm:prSet/>
      <dgm:spPr/>
      <dgm:t>
        <a:bodyPr/>
        <a:lstStyle/>
        <a:p>
          <a:pPr rtl="0"/>
          <a:r>
            <a:rPr lang="en-US" dirty="0" smtClean="0"/>
            <a:t>Address field contains the effective address of the operand</a:t>
          </a:r>
          <a:endParaRPr lang="en-US" dirty="0"/>
        </a:p>
      </dgm:t>
    </dgm:pt>
    <dgm:pt modelId="{502DAB36-1928-9E4E-8ECF-F64517C71482}" type="parTrans" cxnId="{14F81DE7-E285-5041-BD7D-1C6C0E0658B0}">
      <dgm:prSet/>
      <dgm:spPr/>
      <dgm:t>
        <a:bodyPr/>
        <a:lstStyle/>
        <a:p>
          <a:endParaRPr lang="en-US"/>
        </a:p>
      </dgm:t>
    </dgm:pt>
    <dgm:pt modelId="{93BF055A-D774-684E-97E6-98DE66B0102C}" type="sibTrans" cxnId="{14F81DE7-E285-5041-BD7D-1C6C0E0658B0}">
      <dgm:prSet/>
      <dgm:spPr/>
      <dgm:t>
        <a:bodyPr/>
        <a:lstStyle/>
        <a:p>
          <a:endParaRPr lang="en-US"/>
        </a:p>
      </dgm:t>
    </dgm:pt>
    <dgm:pt modelId="{B61EB01F-3255-E448-843C-0813C908709C}">
      <dgm:prSet/>
      <dgm:spPr/>
      <dgm:t>
        <a:bodyPr/>
        <a:lstStyle/>
        <a:p>
          <a:pPr rtl="0"/>
          <a:r>
            <a:rPr lang="en-US" dirty="0" smtClean="0"/>
            <a:t>Effective address (EA) = address field (A)</a:t>
          </a:r>
          <a:endParaRPr lang="en-US" dirty="0"/>
        </a:p>
      </dgm:t>
    </dgm:pt>
    <dgm:pt modelId="{B3781EA8-B71B-414E-8CE3-304268965574}" type="parTrans" cxnId="{CE0D4EDE-2517-FA42-8909-C851D9A1E132}">
      <dgm:prSet/>
      <dgm:spPr/>
      <dgm:t>
        <a:bodyPr/>
        <a:lstStyle/>
        <a:p>
          <a:endParaRPr lang="en-US"/>
        </a:p>
      </dgm:t>
    </dgm:pt>
    <dgm:pt modelId="{48C15F19-CC9A-FA4E-98CB-651D3D84BA1A}" type="sibTrans" cxnId="{CE0D4EDE-2517-FA42-8909-C851D9A1E132}">
      <dgm:prSet/>
      <dgm:spPr/>
      <dgm:t>
        <a:bodyPr/>
        <a:lstStyle/>
        <a:p>
          <a:endParaRPr lang="en-US"/>
        </a:p>
      </dgm:t>
    </dgm:pt>
    <dgm:pt modelId="{6061AE15-8788-1048-B0F2-AB4BFD703868}">
      <dgm:prSet/>
      <dgm:spPr/>
      <dgm:t>
        <a:bodyPr/>
        <a:lstStyle/>
        <a:p>
          <a:pPr rtl="0"/>
          <a:r>
            <a:rPr lang="en-US" dirty="0" smtClean="0"/>
            <a:t>Was common in earlier generations of computers </a:t>
          </a:r>
          <a:endParaRPr lang="en-US" dirty="0"/>
        </a:p>
      </dgm:t>
    </dgm:pt>
    <dgm:pt modelId="{ED0C1CDD-0CC2-1640-8034-B4A5B9EFCD7A}" type="parTrans" cxnId="{2F13B68C-D465-5C48-AD8E-698DC33478E5}">
      <dgm:prSet/>
      <dgm:spPr/>
      <dgm:t>
        <a:bodyPr/>
        <a:lstStyle/>
        <a:p>
          <a:endParaRPr lang="en-US"/>
        </a:p>
      </dgm:t>
    </dgm:pt>
    <dgm:pt modelId="{E60C307D-090B-5B41-BDBF-5D633537D7BD}" type="sibTrans" cxnId="{2F13B68C-D465-5C48-AD8E-698DC33478E5}">
      <dgm:prSet/>
      <dgm:spPr/>
      <dgm:t>
        <a:bodyPr/>
        <a:lstStyle/>
        <a:p>
          <a:endParaRPr lang="en-US"/>
        </a:p>
      </dgm:t>
    </dgm:pt>
    <dgm:pt modelId="{895AE01B-6F9C-BB4E-A002-7ABAE5B78A16}">
      <dgm:prSet/>
      <dgm:spPr/>
      <dgm:t>
        <a:bodyPr/>
        <a:lstStyle/>
        <a:p>
          <a:pPr rtl="0"/>
          <a:r>
            <a:rPr lang="en-US" dirty="0" smtClean="0"/>
            <a:t>Requires only one memory reference and no special calculation</a:t>
          </a:r>
          <a:endParaRPr lang="en-US" dirty="0"/>
        </a:p>
      </dgm:t>
    </dgm:pt>
    <dgm:pt modelId="{729079CE-ECB0-7A45-9179-F79E02618CD5}" type="parTrans" cxnId="{A7F95E04-5640-9F40-85BF-0CEA1BFA3741}">
      <dgm:prSet/>
      <dgm:spPr/>
      <dgm:t>
        <a:bodyPr/>
        <a:lstStyle/>
        <a:p>
          <a:endParaRPr lang="en-US"/>
        </a:p>
      </dgm:t>
    </dgm:pt>
    <dgm:pt modelId="{232DA005-3DB1-E04A-99C6-A9434DDE18D3}" type="sibTrans" cxnId="{A7F95E04-5640-9F40-85BF-0CEA1BFA3741}">
      <dgm:prSet/>
      <dgm:spPr/>
      <dgm:t>
        <a:bodyPr/>
        <a:lstStyle/>
        <a:p>
          <a:endParaRPr lang="en-US"/>
        </a:p>
      </dgm:t>
    </dgm:pt>
    <dgm:pt modelId="{E7959769-F8B0-3448-94F6-C6A9B40CA168}">
      <dgm:prSet/>
      <dgm:spPr/>
      <dgm:t>
        <a:bodyPr/>
        <a:lstStyle/>
        <a:p>
          <a:pPr rtl="0"/>
          <a:r>
            <a:rPr lang="en-US" dirty="0" smtClean="0"/>
            <a:t>Limitation is that it provides only a limited address space</a:t>
          </a:r>
          <a:endParaRPr lang="en-US" dirty="0"/>
        </a:p>
      </dgm:t>
    </dgm:pt>
    <dgm:pt modelId="{6B7CE556-39CD-C641-8A79-E73956A1C253}" type="parTrans" cxnId="{BB6D603F-0613-7247-A8C0-0F994BE8C913}">
      <dgm:prSet/>
      <dgm:spPr/>
      <dgm:t>
        <a:bodyPr/>
        <a:lstStyle/>
        <a:p>
          <a:endParaRPr lang="en-US"/>
        </a:p>
      </dgm:t>
    </dgm:pt>
    <dgm:pt modelId="{31922106-302F-0E44-A313-6D3EA063490B}" type="sibTrans" cxnId="{BB6D603F-0613-7247-A8C0-0F994BE8C913}">
      <dgm:prSet/>
      <dgm:spPr/>
      <dgm:t>
        <a:bodyPr/>
        <a:lstStyle/>
        <a:p>
          <a:endParaRPr lang="en-US"/>
        </a:p>
      </dgm:t>
    </dgm:pt>
    <dgm:pt modelId="{9F3805DB-70C8-BD4E-8D37-61EBD4D9E5E6}" type="pres">
      <dgm:prSet presAssocID="{92FA89BD-1116-324D-97C8-88FE2DB3F9E8}" presName="hierChild1" presStyleCnt="0">
        <dgm:presLayoutVars>
          <dgm:chPref val="1"/>
          <dgm:dir/>
          <dgm:animOne val="branch"/>
          <dgm:animLvl val="lvl"/>
          <dgm:resizeHandles/>
        </dgm:presLayoutVars>
      </dgm:prSet>
      <dgm:spPr/>
      <dgm:t>
        <a:bodyPr/>
        <a:lstStyle/>
        <a:p>
          <a:endParaRPr lang="en-US"/>
        </a:p>
      </dgm:t>
    </dgm:pt>
    <dgm:pt modelId="{E42C87E1-7929-CA48-A7F8-C039368070D9}" type="pres">
      <dgm:prSet presAssocID="{068AB26D-4CFD-9E4C-A174-AB8867C02A29}" presName="hierRoot1" presStyleCnt="0"/>
      <dgm:spPr/>
    </dgm:pt>
    <dgm:pt modelId="{931FC99A-3F62-9146-A872-FB474F6A460C}" type="pres">
      <dgm:prSet presAssocID="{068AB26D-4CFD-9E4C-A174-AB8867C02A29}" presName="composite" presStyleCnt="0"/>
      <dgm:spPr/>
    </dgm:pt>
    <dgm:pt modelId="{AA48DA74-07C8-5A45-AC22-9059F1952567}" type="pres">
      <dgm:prSet presAssocID="{068AB26D-4CFD-9E4C-A174-AB8867C02A29}" presName="background" presStyleLbl="node0" presStyleIdx="0" presStyleCnt="5"/>
      <dgm:spPr/>
    </dgm:pt>
    <dgm:pt modelId="{913AF7D1-B9F3-6846-94A7-D99908AC9A87}" type="pres">
      <dgm:prSet presAssocID="{068AB26D-4CFD-9E4C-A174-AB8867C02A29}" presName="text" presStyleLbl="fgAcc0" presStyleIdx="0" presStyleCnt="5" custLinFactY="-100000" custLinFactNeighborX="5253" custLinFactNeighborY="-109857">
        <dgm:presLayoutVars>
          <dgm:chPref val="3"/>
        </dgm:presLayoutVars>
      </dgm:prSet>
      <dgm:spPr/>
      <dgm:t>
        <a:bodyPr/>
        <a:lstStyle/>
        <a:p>
          <a:endParaRPr lang="en-US"/>
        </a:p>
      </dgm:t>
    </dgm:pt>
    <dgm:pt modelId="{3448DE12-6E0A-3745-A0E4-AE081ADBBD81}" type="pres">
      <dgm:prSet presAssocID="{068AB26D-4CFD-9E4C-A174-AB8867C02A29}" presName="hierChild2" presStyleCnt="0"/>
      <dgm:spPr/>
    </dgm:pt>
    <dgm:pt modelId="{7C05869D-DCE5-224E-9A1D-1E964D1EC942}" type="pres">
      <dgm:prSet presAssocID="{B61EB01F-3255-E448-843C-0813C908709C}" presName="hierRoot1" presStyleCnt="0"/>
      <dgm:spPr/>
    </dgm:pt>
    <dgm:pt modelId="{712FC35D-374A-B145-ADBF-F81021E6AAED}" type="pres">
      <dgm:prSet presAssocID="{B61EB01F-3255-E448-843C-0813C908709C}" presName="composite" presStyleCnt="0"/>
      <dgm:spPr/>
    </dgm:pt>
    <dgm:pt modelId="{12211905-1138-A64D-A172-424F7AF19CF4}" type="pres">
      <dgm:prSet presAssocID="{B61EB01F-3255-E448-843C-0813C908709C}" presName="background" presStyleLbl="node0" presStyleIdx="1" presStyleCnt="5"/>
      <dgm:spPr/>
    </dgm:pt>
    <dgm:pt modelId="{6D46C026-68A7-5742-AF4E-074BC1F884E1}" type="pres">
      <dgm:prSet presAssocID="{B61EB01F-3255-E448-843C-0813C908709C}" presName="text" presStyleLbl="fgAcc0" presStyleIdx="1" presStyleCnt="5" custLinFactY="-23900" custLinFactNeighborX="3113" custLinFactNeighborY="-100000">
        <dgm:presLayoutVars>
          <dgm:chPref val="3"/>
        </dgm:presLayoutVars>
      </dgm:prSet>
      <dgm:spPr/>
      <dgm:t>
        <a:bodyPr/>
        <a:lstStyle/>
        <a:p>
          <a:endParaRPr lang="en-US"/>
        </a:p>
      </dgm:t>
    </dgm:pt>
    <dgm:pt modelId="{092DFB7B-E14C-BF4B-A228-DFBBA633F7EC}" type="pres">
      <dgm:prSet presAssocID="{B61EB01F-3255-E448-843C-0813C908709C}" presName="hierChild2" presStyleCnt="0"/>
      <dgm:spPr/>
    </dgm:pt>
    <dgm:pt modelId="{3C73DDA4-5490-F240-9461-3B45FE3D6ADC}" type="pres">
      <dgm:prSet presAssocID="{6061AE15-8788-1048-B0F2-AB4BFD703868}" presName="hierRoot1" presStyleCnt="0"/>
      <dgm:spPr/>
    </dgm:pt>
    <dgm:pt modelId="{11D0DCB3-FD71-3F48-A37C-72F2FE4D1034}" type="pres">
      <dgm:prSet presAssocID="{6061AE15-8788-1048-B0F2-AB4BFD703868}" presName="composite" presStyleCnt="0"/>
      <dgm:spPr/>
    </dgm:pt>
    <dgm:pt modelId="{C5144ED8-933C-1B48-8D11-257811EF2561}" type="pres">
      <dgm:prSet presAssocID="{6061AE15-8788-1048-B0F2-AB4BFD703868}" presName="background" presStyleLbl="node0" presStyleIdx="2" presStyleCnt="5"/>
      <dgm:spPr/>
    </dgm:pt>
    <dgm:pt modelId="{297D322A-B2A9-5C43-975C-6419BB181B8E}" type="pres">
      <dgm:prSet presAssocID="{6061AE15-8788-1048-B0F2-AB4BFD703868}" presName="text" presStyleLbl="fgAcc0" presStyleIdx="2" presStyleCnt="5">
        <dgm:presLayoutVars>
          <dgm:chPref val="3"/>
        </dgm:presLayoutVars>
      </dgm:prSet>
      <dgm:spPr/>
      <dgm:t>
        <a:bodyPr/>
        <a:lstStyle/>
        <a:p>
          <a:endParaRPr lang="en-US"/>
        </a:p>
      </dgm:t>
    </dgm:pt>
    <dgm:pt modelId="{B3B8C628-2C1D-C341-987F-15C3698181B5}" type="pres">
      <dgm:prSet presAssocID="{6061AE15-8788-1048-B0F2-AB4BFD703868}" presName="hierChild2" presStyleCnt="0"/>
      <dgm:spPr/>
    </dgm:pt>
    <dgm:pt modelId="{EA4250D9-34D5-5E4E-A24E-38A4F95D2913}" type="pres">
      <dgm:prSet presAssocID="{895AE01B-6F9C-BB4E-A002-7ABAE5B78A16}" presName="hierRoot1" presStyleCnt="0"/>
      <dgm:spPr/>
    </dgm:pt>
    <dgm:pt modelId="{04569210-A2AC-2A45-8E19-DD23236ABF8D}" type="pres">
      <dgm:prSet presAssocID="{895AE01B-6F9C-BB4E-A002-7ABAE5B78A16}" presName="composite" presStyleCnt="0"/>
      <dgm:spPr/>
    </dgm:pt>
    <dgm:pt modelId="{C6195375-255E-164A-A511-E4D563E7E84E}" type="pres">
      <dgm:prSet presAssocID="{895AE01B-6F9C-BB4E-A002-7ABAE5B78A16}" presName="background" presStyleLbl="node0" presStyleIdx="3" presStyleCnt="5"/>
      <dgm:spPr/>
    </dgm:pt>
    <dgm:pt modelId="{FE5F2D3A-07E8-5B4E-88DF-D345FCC274BF}" type="pres">
      <dgm:prSet presAssocID="{895AE01B-6F9C-BB4E-A002-7ABAE5B78A16}" presName="text" presStyleLbl="fgAcc0" presStyleIdx="3" presStyleCnt="5" custLinFactY="25376" custLinFactNeighborX="-1167" custLinFactNeighborY="100000">
        <dgm:presLayoutVars>
          <dgm:chPref val="3"/>
        </dgm:presLayoutVars>
      </dgm:prSet>
      <dgm:spPr/>
      <dgm:t>
        <a:bodyPr/>
        <a:lstStyle/>
        <a:p>
          <a:endParaRPr lang="en-US"/>
        </a:p>
      </dgm:t>
    </dgm:pt>
    <dgm:pt modelId="{7982E46A-28C7-D842-B2FB-17E37C9E6040}" type="pres">
      <dgm:prSet presAssocID="{895AE01B-6F9C-BB4E-A002-7ABAE5B78A16}" presName="hierChild2" presStyleCnt="0"/>
      <dgm:spPr/>
    </dgm:pt>
    <dgm:pt modelId="{7789F0FC-5FCE-1345-823B-071DB6BDEA9F}" type="pres">
      <dgm:prSet presAssocID="{E7959769-F8B0-3448-94F6-C6A9B40CA168}" presName="hierRoot1" presStyleCnt="0"/>
      <dgm:spPr/>
    </dgm:pt>
    <dgm:pt modelId="{43907289-1915-814A-860C-3E18FAF916D8}" type="pres">
      <dgm:prSet presAssocID="{E7959769-F8B0-3448-94F6-C6A9B40CA168}" presName="composite" presStyleCnt="0"/>
      <dgm:spPr/>
    </dgm:pt>
    <dgm:pt modelId="{CDE3062D-FF32-8E4E-9EF4-D87D53435C1F}" type="pres">
      <dgm:prSet presAssocID="{E7959769-F8B0-3448-94F6-C6A9B40CA168}" presName="background" presStyleLbl="node0" presStyleIdx="4" presStyleCnt="5"/>
      <dgm:spPr/>
    </dgm:pt>
    <dgm:pt modelId="{8AB8A0B0-B803-DC4A-A0A0-7E45D900705C}" type="pres">
      <dgm:prSet presAssocID="{E7959769-F8B0-3448-94F6-C6A9B40CA168}" presName="text" presStyleLbl="fgAcc0" presStyleIdx="4" presStyleCnt="5" custLinFactY="100000" custLinFactNeighborX="2151" custLinFactNeighborY="154312">
        <dgm:presLayoutVars>
          <dgm:chPref val="3"/>
        </dgm:presLayoutVars>
      </dgm:prSet>
      <dgm:spPr/>
      <dgm:t>
        <a:bodyPr/>
        <a:lstStyle/>
        <a:p>
          <a:endParaRPr lang="en-US"/>
        </a:p>
      </dgm:t>
    </dgm:pt>
    <dgm:pt modelId="{F1E07AB8-D1E0-C947-8D7D-8AB75D3F23C4}" type="pres">
      <dgm:prSet presAssocID="{E7959769-F8B0-3448-94F6-C6A9B40CA168}" presName="hierChild2" presStyleCnt="0"/>
      <dgm:spPr/>
    </dgm:pt>
  </dgm:ptLst>
  <dgm:cxnLst>
    <dgm:cxn modelId="{91A7630B-B744-574C-9D37-FE7F3546AF68}" type="presOf" srcId="{068AB26D-4CFD-9E4C-A174-AB8867C02A29}" destId="{913AF7D1-B9F3-6846-94A7-D99908AC9A87}" srcOrd="0" destOrd="0" presId="urn:microsoft.com/office/officeart/2005/8/layout/hierarchy1"/>
    <dgm:cxn modelId="{BB6D603F-0613-7247-A8C0-0F994BE8C913}" srcId="{92FA89BD-1116-324D-97C8-88FE2DB3F9E8}" destId="{E7959769-F8B0-3448-94F6-C6A9B40CA168}" srcOrd="4" destOrd="0" parTransId="{6B7CE556-39CD-C641-8A79-E73956A1C253}" sibTransId="{31922106-302F-0E44-A313-6D3EA063490B}"/>
    <dgm:cxn modelId="{14F81DE7-E285-5041-BD7D-1C6C0E0658B0}" srcId="{92FA89BD-1116-324D-97C8-88FE2DB3F9E8}" destId="{068AB26D-4CFD-9E4C-A174-AB8867C02A29}" srcOrd="0" destOrd="0" parTransId="{502DAB36-1928-9E4E-8ECF-F64517C71482}" sibTransId="{93BF055A-D774-684E-97E6-98DE66B0102C}"/>
    <dgm:cxn modelId="{CE0D4EDE-2517-FA42-8909-C851D9A1E132}" srcId="{92FA89BD-1116-324D-97C8-88FE2DB3F9E8}" destId="{B61EB01F-3255-E448-843C-0813C908709C}" srcOrd="1" destOrd="0" parTransId="{B3781EA8-B71B-414E-8CE3-304268965574}" sibTransId="{48C15F19-CC9A-FA4E-98CB-651D3D84BA1A}"/>
    <dgm:cxn modelId="{E279E903-9A7E-B34F-9661-DE17B3F21575}" type="presOf" srcId="{B61EB01F-3255-E448-843C-0813C908709C}" destId="{6D46C026-68A7-5742-AF4E-074BC1F884E1}" srcOrd="0" destOrd="0" presId="urn:microsoft.com/office/officeart/2005/8/layout/hierarchy1"/>
    <dgm:cxn modelId="{1985FEC8-0546-8649-8743-6A74CF30190E}" type="presOf" srcId="{E7959769-F8B0-3448-94F6-C6A9B40CA168}" destId="{8AB8A0B0-B803-DC4A-A0A0-7E45D900705C}" srcOrd="0" destOrd="0" presId="urn:microsoft.com/office/officeart/2005/8/layout/hierarchy1"/>
    <dgm:cxn modelId="{9D7577EB-867C-5B47-ABC3-669FE2836611}" type="presOf" srcId="{92FA89BD-1116-324D-97C8-88FE2DB3F9E8}" destId="{9F3805DB-70C8-BD4E-8D37-61EBD4D9E5E6}" srcOrd="0" destOrd="0" presId="urn:microsoft.com/office/officeart/2005/8/layout/hierarchy1"/>
    <dgm:cxn modelId="{2F13B68C-D465-5C48-AD8E-698DC33478E5}" srcId="{92FA89BD-1116-324D-97C8-88FE2DB3F9E8}" destId="{6061AE15-8788-1048-B0F2-AB4BFD703868}" srcOrd="2" destOrd="0" parTransId="{ED0C1CDD-0CC2-1640-8034-B4A5B9EFCD7A}" sibTransId="{E60C307D-090B-5B41-BDBF-5D633537D7BD}"/>
    <dgm:cxn modelId="{A7F95E04-5640-9F40-85BF-0CEA1BFA3741}" srcId="{92FA89BD-1116-324D-97C8-88FE2DB3F9E8}" destId="{895AE01B-6F9C-BB4E-A002-7ABAE5B78A16}" srcOrd="3" destOrd="0" parTransId="{729079CE-ECB0-7A45-9179-F79E02618CD5}" sibTransId="{232DA005-3DB1-E04A-99C6-A9434DDE18D3}"/>
    <dgm:cxn modelId="{963393FE-A5B7-AD4E-A666-7833361FC71E}" type="presOf" srcId="{6061AE15-8788-1048-B0F2-AB4BFD703868}" destId="{297D322A-B2A9-5C43-975C-6419BB181B8E}" srcOrd="0" destOrd="0" presId="urn:microsoft.com/office/officeart/2005/8/layout/hierarchy1"/>
    <dgm:cxn modelId="{02397ACA-8E98-294D-98DF-0E68072B417E}" type="presOf" srcId="{895AE01B-6F9C-BB4E-A002-7ABAE5B78A16}" destId="{FE5F2D3A-07E8-5B4E-88DF-D345FCC274BF}" srcOrd="0" destOrd="0" presId="urn:microsoft.com/office/officeart/2005/8/layout/hierarchy1"/>
    <dgm:cxn modelId="{DC3D77B5-8C4B-2B4D-8191-ED44C6CCF2E6}" type="presParOf" srcId="{9F3805DB-70C8-BD4E-8D37-61EBD4D9E5E6}" destId="{E42C87E1-7929-CA48-A7F8-C039368070D9}" srcOrd="0" destOrd="0" presId="urn:microsoft.com/office/officeart/2005/8/layout/hierarchy1"/>
    <dgm:cxn modelId="{C8092223-B438-DF4B-985F-8E5B62E334E9}" type="presParOf" srcId="{E42C87E1-7929-CA48-A7F8-C039368070D9}" destId="{931FC99A-3F62-9146-A872-FB474F6A460C}" srcOrd="0" destOrd="0" presId="urn:microsoft.com/office/officeart/2005/8/layout/hierarchy1"/>
    <dgm:cxn modelId="{3C55B9EE-A4ED-BB43-9AC8-4D1B34D6509A}" type="presParOf" srcId="{931FC99A-3F62-9146-A872-FB474F6A460C}" destId="{AA48DA74-07C8-5A45-AC22-9059F1952567}" srcOrd="0" destOrd="0" presId="urn:microsoft.com/office/officeart/2005/8/layout/hierarchy1"/>
    <dgm:cxn modelId="{76F6004B-10E0-824A-9DB5-EABE4CCD647E}" type="presParOf" srcId="{931FC99A-3F62-9146-A872-FB474F6A460C}" destId="{913AF7D1-B9F3-6846-94A7-D99908AC9A87}" srcOrd="1" destOrd="0" presId="urn:microsoft.com/office/officeart/2005/8/layout/hierarchy1"/>
    <dgm:cxn modelId="{8939BDE6-F010-8845-B45B-6D197A721C0D}" type="presParOf" srcId="{E42C87E1-7929-CA48-A7F8-C039368070D9}" destId="{3448DE12-6E0A-3745-A0E4-AE081ADBBD81}" srcOrd="1" destOrd="0" presId="urn:microsoft.com/office/officeart/2005/8/layout/hierarchy1"/>
    <dgm:cxn modelId="{A903BA56-3CB8-A848-A7BA-D17559D86B5B}" type="presParOf" srcId="{9F3805DB-70C8-BD4E-8D37-61EBD4D9E5E6}" destId="{7C05869D-DCE5-224E-9A1D-1E964D1EC942}" srcOrd="1" destOrd="0" presId="urn:microsoft.com/office/officeart/2005/8/layout/hierarchy1"/>
    <dgm:cxn modelId="{A0673883-AA21-B147-BAE0-D60B8832DC02}" type="presParOf" srcId="{7C05869D-DCE5-224E-9A1D-1E964D1EC942}" destId="{712FC35D-374A-B145-ADBF-F81021E6AAED}" srcOrd="0" destOrd="0" presId="urn:microsoft.com/office/officeart/2005/8/layout/hierarchy1"/>
    <dgm:cxn modelId="{4F02EE5B-49CB-0946-BC4F-C46CFC361691}" type="presParOf" srcId="{712FC35D-374A-B145-ADBF-F81021E6AAED}" destId="{12211905-1138-A64D-A172-424F7AF19CF4}" srcOrd="0" destOrd="0" presId="urn:microsoft.com/office/officeart/2005/8/layout/hierarchy1"/>
    <dgm:cxn modelId="{589C6880-325D-0847-8F85-204ABB59CEFF}" type="presParOf" srcId="{712FC35D-374A-B145-ADBF-F81021E6AAED}" destId="{6D46C026-68A7-5742-AF4E-074BC1F884E1}" srcOrd="1" destOrd="0" presId="urn:microsoft.com/office/officeart/2005/8/layout/hierarchy1"/>
    <dgm:cxn modelId="{6B0433FC-C803-EF4C-A957-FA0914B722E3}" type="presParOf" srcId="{7C05869D-DCE5-224E-9A1D-1E964D1EC942}" destId="{092DFB7B-E14C-BF4B-A228-DFBBA633F7EC}" srcOrd="1" destOrd="0" presId="urn:microsoft.com/office/officeart/2005/8/layout/hierarchy1"/>
    <dgm:cxn modelId="{D07AF4CA-358D-B54B-9CFD-5441A294A762}" type="presParOf" srcId="{9F3805DB-70C8-BD4E-8D37-61EBD4D9E5E6}" destId="{3C73DDA4-5490-F240-9461-3B45FE3D6ADC}" srcOrd="2" destOrd="0" presId="urn:microsoft.com/office/officeart/2005/8/layout/hierarchy1"/>
    <dgm:cxn modelId="{34751E35-06EB-EF48-91BF-FAE972F25B95}" type="presParOf" srcId="{3C73DDA4-5490-F240-9461-3B45FE3D6ADC}" destId="{11D0DCB3-FD71-3F48-A37C-72F2FE4D1034}" srcOrd="0" destOrd="0" presId="urn:microsoft.com/office/officeart/2005/8/layout/hierarchy1"/>
    <dgm:cxn modelId="{D79BDA91-912C-D943-97E1-3CFFFE88C00F}" type="presParOf" srcId="{11D0DCB3-FD71-3F48-A37C-72F2FE4D1034}" destId="{C5144ED8-933C-1B48-8D11-257811EF2561}" srcOrd="0" destOrd="0" presId="urn:microsoft.com/office/officeart/2005/8/layout/hierarchy1"/>
    <dgm:cxn modelId="{B4D0C556-6648-614C-AA9D-6E3B876A532A}" type="presParOf" srcId="{11D0DCB3-FD71-3F48-A37C-72F2FE4D1034}" destId="{297D322A-B2A9-5C43-975C-6419BB181B8E}" srcOrd="1" destOrd="0" presId="urn:microsoft.com/office/officeart/2005/8/layout/hierarchy1"/>
    <dgm:cxn modelId="{1B94BD15-BA6D-2A4D-A16E-2B08B6409EB0}" type="presParOf" srcId="{3C73DDA4-5490-F240-9461-3B45FE3D6ADC}" destId="{B3B8C628-2C1D-C341-987F-15C3698181B5}" srcOrd="1" destOrd="0" presId="urn:microsoft.com/office/officeart/2005/8/layout/hierarchy1"/>
    <dgm:cxn modelId="{5A01DFF1-C87C-0B44-A4E9-7F9F0231C875}" type="presParOf" srcId="{9F3805DB-70C8-BD4E-8D37-61EBD4D9E5E6}" destId="{EA4250D9-34D5-5E4E-A24E-38A4F95D2913}" srcOrd="3" destOrd="0" presId="urn:microsoft.com/office/officeart/2005/8/layout/hierarchy1"/>
    <dgm:cxn modelId="{CB5CCB35-2A17-7F43-80F3-254C0F99B694}" type="presParOf" srcId="{EA4250D9-34D5-5E4E-A24E-38A4F95D2913}" destId="{04569210-A2AC-2A45-8E19-DD23236ABF8D}" srcOrd="0" destOrd="0" presId="urn:microsoft.com/office/officeart/2005/8/layout/hierarchy1"/>
    <dgm:cxn modelId="{CF2CCA79-D534-274A-93C8-EB8A2FD6324E}" type="presParOf" srcId="{04569210-A2AC-2A45-8E19-DD23236ABF8D}" destId="{C6195375-255E-164A-A511-E4D563E7E84E}" srcOrd="0" destOrd="0" presId="urn:microsoft.com/office/officeart/2005/8/layout/hierarchy1"/>
    <dgm:cxn modelId="{006A7ECB-DD27-F847-A16F-9351096735FF}" type="presParOf" srcId="{04569210-A2AC-2A45-8E19-DD23236ABF8D}" destId="{FE5F2D3A-07E8-5B4E-88DF-D345FCC274BF}" srcOrd="1" destOrd="0" presId="urn:microsoft.com/office/officeart/2005/8/layout/hierarchy1"/>
    <dgm:cxn modelId="{75DC0981-8CB5-7C4C-A336-8074D0A284F7}" type="presParOf" srcId="{EA4250D9-34D5-5E4E-A24E-38A4F95D2913}" destId="{7982E46A-28C7-D842-B2FB-17E37C9E6040}" srcOrd="1" destOrd="0" presId="urn:microsoft.com/office/officeart/2005/8/layout/hierarchy1"/>
    <dgm:cxn modelId="{212E048D-46B2-9440-B10C-3DDDE27C9453}" type="presParOf" srcId="{9F3805DB-70C8-BD4E-8D37-61EBD4D9E5E6}" destId="{7789F0FC-5FCE-1345-823B-071DB6BDEA9F}" srcOrd="4" destOrd="0" presId="urn:microsoft.com/office/officeart/2005/8/layout/hierarchy1"/>
    <dgm:cxn modelId="{CCE7D8CE-F785-EB40-8F9F-4711BD2D4A45}" type="presParOf" srcId="{7789F0FC-5FCE-1345-823B-071DB6BDEA9F}" destId="{43907289-1915-814A-860C-3E18FAF916D8}" srcOrd="0" destOrd="0" presId="urn:microsoft.com/office/officeart/2005/8/layout/hierarchy1"/>
    <dgm:cxn modelId="{EA3E0537-72C1-6043-A11D-A8DCCD8CAD5A}" type="presParOf" srcId="{43907289-1915-814A-860C-3E18FAF916D8}" destId="{CDE3062D-FF32-8E4E-9EF4-D87D53435C1F}" srcOrd="0" destOrd="0" presId="urn:microsoft.com/office/officeart/2005/8/layout/hierarchy1"/>
    <dgm:cxn modelId="{4CBCF4FA-8A04-B94A-88E3-C6EBDF524786}" type="presParOf" srcId="{43907289-1915-814A-860C-3E18FAF916D8}" destId="{8AB8A0B0-B803-DC4A-A0A0-7E45D900705C}" srcOrd="1" destOrd="0" presId="urn:microsoft.com/office/officeart/2005/8/layout/hierarchy1"/>
    <dgm:cxn modelId="{94CBC341-2820-9E49-84AE-89C3EEE05CFE}" type="presParOf" srcId="{7789F0FC-5FCE-1345-823B-071DB6BDEA9F}" destId="{F1E07AB8-D1E0-C947-8D7D-8AB75D3F23C4}"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3FFC2AD-2120-3042-8A32-31F9309CC9FB}" type="doc">
      <dgm:prSet loTypeId="urn:microsoft.com/office/officeart/2005/8/layout/matrix2" loCatId="" qsTypeId="urn:microsoft.com/office/officeart/2005/8/quickstyle/simple5" qsCatId="simple" csTypeId="urn:microsoft.com/office/officeart/2005/8/colors/accent3_5" csCatId="accent3"/>
      <dgm:spPr/>
      <dgm:t>
        <a:bodyPr/>
        <a:lstStyle/>
        <a:p>
          <a:endParaRPr lang="en-US"/>
        </a:p>
      </dgm:t>
    </dgm:pt>
    <dgm:pt modelId="{842866CA-E23A-694A-9984-25A7E8AED435}">
      <dgm:prSet/>
      <dgm:spPr/>
      <dgm:t>
        <a:bodyPr/>
        <a:lstStyle/>
        <a:p>
          <a:pPr rtl="0"/>
          <a:r>
            <a:rPr lang="en-US" smtClean="0"/>
            <a:t>Address field refers to a register rather than a main     memory address</a:t>
          </a:r>
          <a:endParaRPr lang="en-US"/>
        </a:p>
      </dgm:t>
    </dgm:pt>
    <dgm:pt modelId="{F1D45151-0E8F-1045-911C-85CF77258AC9}" type="parTrans" cxnId="{081224EF-5D8D-ED42-811C-E1522E33D711}">
      <dgm:prSet/>
      <dgm:spPr/>
      <dgm:t>
        <a:bodyPr/>
        <a:lstStyle/>
        <a:p>
          <a:endParaRPr lang="en-US"/>
        </a:p>
      </dgm:t>
    </dgm:pt>
    <dgm:pt modelId="{2AB330EA-A51B-4F4E-A6B6-CEF82F92C81D}" type="sibTrans" cxnId="{081224EF-5D8D-ED42-811C-E1522E33D711}">
      <dgm:prSet/>
      <dgm:spPr/>
      <dgm:t>
        <a:bodyPr/>
        <a:lstStyle/>
        <a:p>
          <a:endParaRPr lang="en-US"/>
        </a:p>
      </dgm:t>
    </dgm:pt>
    <dgm:pt modelId="{5D840648-1FBF-6E4D-AC0C-1EC503D4D81A}">
      <dgm:prSet/>
      <dgm:spPr/>
      <dgm:t>
        <a:bodyPr/>
        <a:lstStyle/>
        <a:p>
          <a:pPr rtl="0"/>
          <a:r>
            <a:rPr lang="en-US" smtClean="0"/>
            <a:t>EA = R</a:t>
          </a:r>
          <a:endParaRPr lang="en-US"/>
        </a:p>
      </dgm:t>
    </dgm:pt>
    <dgm:pt modelId="{5BB619D8-1F9C-9546-980F-B77695D15651}" type="parTrans" cxnId="{B555B3F5-ED66-E840-A36F-07BA2E2A9CF7}">
      <dgm:prSet/>
      <dgm:spPr/>
      <dgm:t>
        <a:bodyPr/>
        <a:lstStyle/>
        <a:p>
          <a:endParaRPr lang="en-US"/>
        </a:p>
      </dgm:t>
    </dgm:pt>
    <dgm:pt modelId="{A3383831-092E-2B48-A77C-80075FC87C45}" type="sibTrans" cxnId="{B555B3F5-ED66-E840-A36F-07BA2E2A9CF7}">
      <dgm:prSet/>
      <dgm:spPr/>
      <dgm:t>
        <a:bodyPr/>
        <a:lstStyle/>
        <a:p>
          <a:endParaRPr lang="en-US"/>
        </a:p>
      </dgm:t>
    </dgm:pt>
    <dgm:pt modelId="{19414C10-82B8-A14A-B37F-2F3AC36FA104}">
      <dgm:prSet/>
      <dgm:spPr/>
      <dgm:t>
        <a:bodyPr/>
        <a:lstStyle/>
        <a:p>
          <a:pPr rtl="0"/>
          <a:r>
            <a:rPr lang="en-US" smtClean="0"/>
            <a:t>Advantages:</a:t>
          </a:r>
          <a:endParaRPr lang="en-US"/>
        </a:p>
      </dgm:t>
    </dgm:pt>
    <dgm:pt modelId="{935CB947-14A1-444E-A8E1-F72DE166BA78}" type="parTrans" cxnId="{F6B3471A-F94B-E94E-B185-945F5DF348DB}">
      <dgm:prSet/>
      <dgm:spPr/>
      <dgm:t>
        <a:bodyPr/>
        <a:lstStyle/>
        <a:p>
          <a:endParaRPr lang="en-US"/>
        </a:p>
      </dgm:t>
    </dgm:pt>
    <dgm:pt modelId="{17287A93-A9CD-6040-B20F-7111E578754B}" type="sibTrans" cxnId="{F6B3471A-F94B-E94E-B185-945F5DF348DB}">
      <dgm:prSet/>
      <dgm:spPr/>
      <dgm:t>
        <a:bodyPr/>
        <a:lstStyle/>
        <a:p>
          <a:endParaRPr lang="en-US"/>
        </a:p>
      </dgm:t>
    </dgm:pt>
    <dgm:pt modelId="{228B42B7-D12A-0345-909A-CA849FEC2EA5}">
      <dgm:prSet/>
      <dgm:spPr/>
      <dgm:t>
        <a:bodyPr/>
        <a:lstStyle/>
        <a:p>
          <a:pPr rtl="0"/>
          <a:r>
            <a:rPr lang="en-US" smtClean="0"/>
            <a:t>Only a small address field is needed in the instruction</a:t>
          </a:r>
          <a:endParaRPr lang="en-US"/>
        </a:p>
      </dgm:t>
    </dgm:pt>
    <dgm:pt modelId="{C5CC4FE1-85C4-5848-A85D-F3AA97448FB9}" type="parTrans" cxnId="{6357D273-498F-2246-B94A-055EE446F2DB}">
      <dgm:prSet/>
      <dgm:spPr/>
      <dgm:t>
        <a:bodyPr/>
        <a:lstStyle/>
        <a:p>
          <a:endParaRPr lang="en-US"/>
        </a:p>
      </dgm:t>
    </dgm:pt>
    <dgm:pt modelId="{86F8A5FF-6E75-6248-9D02-EE0D0C42A4FF}" type="sibTrans" cxnId="{6357D273-498F-2246-B94A-055EE446F2DB}">
      <dgm:prSet/>
      <dgm:spPr/>
      <dgm:t>
        <a:bodyPr/>
        <a:lstStyle/>
        <a:p>
          <a:endParaRPr lang="en-US"/>
        </a:p>
      </dgm:t>
    </dgm:pt>
    <dgm:pt modelId="{94B01D7F-C84F-7447-B636-1B66BF02BF30}">
      <dgm:prSet/>
      <dgm:spPr/>
      <dgm:t>
        <a:bodyPr/>
        <a:lstStyle/>
        <a:p>
          <a:pPr rtl="0"/>
          <a:r>
            <a:rPr lang="en-US" smtClean="0"/>
            <a:t>No time-consuming memory references are required</a:t>
          </a:r>
          <a:endParaRPr lang="en-US"/>
        </a:p>
      </dgm:t>
    </dgm:pt>
    <dgm:pt modelId="{C2D1B592-94B5-6A4A-86C2-BC45ADC9953E}" type="parTrans" cxnId="{3FAC1522-DB11-6140-8746-48B742FDCD27}">
      <dgm:prSet/>
      <dgm:spPr/>
      <dgm:t>
        <a:bodyPr/>
        <a:lstStyle/>
        <a:p>
          <a:endParaRPr lang="en-US"/>
        </a:p>
      </dgm:t>
    </dgm:pt>
    <dgm:pt modelId="{037A529D-AD8D-094C-B91D-5FFE55990DC1}" type="sibTrans" cxnId="{3FAC1522-DB11-6140-8746-48B742FDCD27}">
      <dgm:prSet/>
      <dgm:spPr/>
      <dgm:t>
        <a:bodyPr/>
        <a:lstStyle/>
        <a:p>
          <a:endParaRPr lang="en-US"/>
        </a:p>
      </dgm:t>
    </dgm:pt>
    <dgm:pt modelId="{71B0F529-214F-E54F-AC27-3D0E4C6CFD22}">
      <dgm:prSet/>
      <dgm:spPr/>
      <dgm:t>
        <a:bodyPr/>
        <a:lstStyle/>
        <a:p>
          <a:pPr rtl="0"/>
          <a:r>
            <a:rPr lang="en-US" smtClean="0"/>
            <a:t>Disadvantage:</a:t>
          </a:r>
          <a:endParaRPr lang="en-US"/>
        </a:p>
      </dgm:t>
    </dgm:pt>
    <dgm:pt modelId="{A524F364-DF01-C247-9424-B1930DCD15EC}" type="parTrans" cxnId="{FF1CE0EB-9B4A-F44E-9C77-1570AB00696E}">
      <dgm:prSet/>
      <dgm:spPr/>
      <dgm:t>
        <a:bodyPr/>
        <a:lstStyle/>
        <a:p>
          <a:endParaRPr lang="en-US"/>
        </a:p>
      </dgm:t>
    </dgm:pt>
    <dgm:pt modelId="{6239FD61-458F-6146-8BC3-7A6A5CAFC9DB}" type="sibTrans" cxnId="{FF1CE0EB-9B4A-F44E-9C77-1570AB00696E}">
      <dgm:prSet/>
      <dgm:spPr/>
      <dgm:t>
        <a:bodyPr/>
        <a:lstStyle/>
        <a:p>
          <a:endParaRPr lang="en-US"/>
        </a:p>
      </dgm:t>
    </dgm:pt>
    <dgm:pt modelId="{72928E03-60C9-2740-8035-0D953A6AE95E}">
      <dgm:prSet/>
      <dgm:spPr/>
      <dgm:t>
        <a:bodyPr/>
        <a:lstStyle/>
        <a:p>
          <a:pPr rtl="0"/>
          <a:r>
            <a:rPr lang="en-US" smtClean="0"/>
            <a:t>The address space is very limited</a:t>
          </a:r>
          <a:endParaRPr lang="en-US"/>
        </a:p>
      </dgm:t>
    </dgm:pt>
    <dgm:pt modelId="{26724497-22DB-3140-ABA4-F93A95C272D1}" type="parTrans" cxnId="{6994A015-636B-8948-96D8-E4E3B0BA5C80}">
      <dgm:prSet/>
      <dgm:spPr/>
      <dgm:t>
        <a:bodyPr/>
        <a:lstStyle/>
        <a:p>
          <a:endParaRPr lang="en-US"/>
        </a:p>
      </dgm:t>
    </dgm:pt>
    <dgm:pt modelId="{A00AEF3A-9F30-E84E-AB6A-551D8E3AE0C3}" type="sibTrans" cxnId="{6994A015-636B-8948-96D8-E4E3B0BA5C80}">
      <dgm:prSet/>
      <dgm:spPr/>
      <dgm:t>
        <a:bodyPr/>
        <a:lstStyle/>
        <a:p>
          <a:endParaRPr lang="en-US"/>
        </a:p>
      </dgm:t>
    </dgm:pt>
    <dgm:pt modelId="{BF57F61A-A915-AE4D-85A1-3D51196DC795}" type="pres">
      <dgm:prSet presAssocID="{C3FFC2AD-2120-3042-8A32-31F9309CC9FB}" presName="matrix" presStyleCnt="0">
        <dgm:presLayoutVars>
          <dgm:chMax val="1"/>
          <dgm:dir/>
          <dgm:resizeHandles val="exact"/>
        </dgm:presLayoutVars>
      </dgm:prSet>
      <dgm:spPr/>
      <dgm:t>
        <a:bodyPr/>
        <a:lstStyle/>
        <a:p>
          <a:endParaRPr lang="en-US"/>
        </a:p>
      </dgm:t>
    </dgm:pt>
    <dgm:pt modelId="{A50EB2B9-06E1-6345-90F8-9577C98DD49A}" type="pres">
      <dgm:prSet presAssocID="{C3FFC2AD-2120-3042-8A32-31F9309CC9FB}" presName="axisShape" presStyleLbl="bgShp" presStyleIdx="0" presStyleCnt="1"/>
      <dgm:spPr/>
    </dgm:pt>
    <dgm:pt modelId="{0C4F3843-8CA9-7B47-94BF-4616B2186CF3}" type="pres">
      <dgm:prSet presAssocID="{C3FFC2AD-2120-3042-8A32-31F9309CC9FB}" presName="rect1" presStyleLbl="node1" presStyleIdx="0" presStyleCnt="4">
        <dgm:presLayoutVars>
          <dgm:chMax val="0"/>
          <dgm:chPref val="0"/>
          <dgm:bulletEnabled val="1"/>
        </dgm:presLayoutVars>
      </dgm:prSet>
      <dgm:spPr/>
      <dgm:t>
        <a:bodyPr/>
        <a:lstStyle/>
        <a:p>
          <a:endParaRPr lang="en-US"/>
        </a:p>
      </dgm:t>
    </dgm:pt>
    <dgm:pt modelId="{4994DBF4-399F-B847-B5E1-56CF3D810B3F}" type="pres">
      <dgm:prSet presAssocID="{C3FFC2AD-2120-3042-8A32-31F9309CC9FB}" presName="rect2" presStyleLbl="node1" presStyleIdx="1" presStyleCnt="4">
        <dgm:presLayoutVars>
          <dgm:chMax val="0"/>
          <dgm:chPref val="0"/>
          <dgm:bulletEnabled val="1"/>
        </dgm:presLayoutVars>
      </dgm:prSet>
      <dgm:spPr/>
      <dgm:t>
        <a:bodyPr/>
        <a:lstStyle/>
        <a:p>
          <a:endParaRPr lang="en-US"/>
        </a:p>
      </dgm:t>
    </dgm:pt>
    <dgm:pt modelId="{70BCC0E4-5247-B048-ACFC-F17CBC026825}" type="pres">
      <dgm:prSet presAssocID="{C3FFC2AD-2120-3042-8A32-31F9309CC9FB}" presName="rect3" presStyleLbl="node1" presStyleIdx="2" presStyleCnt="4">
        <dgm:presLayoutVars>
          <dgm:chMax val="0"/>
          <dgm:chPref val="0"/>
          <dgm:bulletEnabled val="1"/>
        </dgm:presLayoutVars>
      </dgm:prSet>
      <dgm:spPr/>
      <dgm:t>
        <a:bodyPr/>
        <a:lstStyle/>
        <a:p>
          <a:endParaRPr lang="en-US"/>
        </a:p>
      </dgm:t>
    </dgm:pt>
    <dgm:pt modelId="{A3664F60-92EC-F04A-A8E6-72B11CB21727}" type="pres">
      <dgm:prSet presAssocID="{C3FFC2AD-2120-3042-8A32-31F9309CC9FB}" presName="rect4" presStyleLbl="node1" presStyleIdx="3" presStyleCnt="4">
        <dgm:presLayoutVars>
          <dgm:chMax val="0"/>
          <dgm:chPref val="0"/>
          <dgm:bulletEnabled val="1"/>
        </dgm:presLayoutVars>
      </dgm:prSet>
      <dgm:spPr/>
      <dgm:t>
        <a:bodyPr/>
        <a:lstStyle/>
        <a:p>
          <a:endParaRPr lang="en-US"/>
        </a:p>
      </dgm:t>
    </dgm:pt>
  </dgm:ptLst>
  <dgm:cxnLst>
    <dgm:cxn modelId="{081224EF-5D8D-ED42-811C-E1522E33D711}" srcId="{C3FFC2AD-2120-3042-8A32-31F9309CC9FB}" destId="{842866CA-E23A-694A-9984-25A7E8AED435}" srcOrd="0" destOrd="0" parTransId="{F1D45151-0E8F-1045-911C-85CF77258AC9}" sibTransId="{2AB330EA-A51B-4F4E-A6B6-CEF82F92C81D}"/>
    <dgm:cxn modelId="{3FAC1522-DB11-6140-8746-48B742FDCD27}" srcId="{19414C10-82B8-A14A-B37F-2F3AC36FA104}" destId="{94B01D7F-C84F-7447-B636-1B66BF02BF30}" srcOrd="1" destOrd="0" parTransId="{C2D1B592-94B5-6A4A-86C2-BC45ADC9953E}" sibTransId="{037A529D-AD8D-094C-B91D-5FFE55990DC1}"/>
    <dgm:cxn modelId="{F6B3471A-F94B-E94E-B185-945F5DF348DB}" srcId="{C3FFC2AD-2120-3042-8A32-31F9309CC9FB}" destId="{19414C10-82B8-A14A-B37F-2F3AC36FA104}" srcOrd="2" destOrd="0" parTransId="{935CB947-14A1-444E-A8E1-F72DE166BA78}" sibTransId="{17287A93-A9CD-6040-B20F-7111E578754B}"/>
    <dgm:cxn modelId="{FF1CE0EB-9B4A-F44E-9C77-1570AB00696E}" srcId="{C3FFC2AD-2120-3042-8A32-31F9309CC9FB}" destId="{71B0F529-214F-E54F-AC27-3D0E4C6CFD22}" srcOrd="3" destOrd="0" parTransId="{A524F364-DF01-C247-9424-B1930DCD15EC}" sibTransId="{6239FD61-458F-6146-8BC3-7A6A5CAFC9DB}"/>
    <dgm:cxn modelId="{6994A015-636B-8948-96D8-E4E3B0BA5C80}" srcId="{71B0F529-214F-E54F-AC27-3D0E4C6CFD22}" destId="{72928E03-60C9-2740-8035-0D953A6AE95E}" srcOrd="0" destOrd="0" parTransId="{26724497-22DB-3140-ABA4-F93A95C272D1}" sibTransId="{A00AEF3A-9F30-E84E-AB6A-551D8E3AE0C3}"/>
    <dgm:cxn modelId="{EE9CC55F-0BA5-BF40-BB64-A052357EDF88}" type="presOf" srcId="{5D840648-1FBF-6E4D-AC0C-1EC503D4D81A}" destId="{4994DBF4-399F-B847-B5E1-56CF3D810B3F}" srcOrd="0" destOrd="0" presId="urn:microsoft.com/office/officeart/2005/8/layout/matrix2"/>
    <dgm:cxn modelId="{E8A85680-B06B-394C-A47B-A29F297AEDE8}" type="presOf" srcId="{C3FFC2AD-2120-3042-8A32-31F9309CC9FB}" destId="{BF57F61A-A915-AE4D-85A1-3D51196DC795}" srcOrd="0" destOrd="0" presId="urn:microsoft.com/office/officeart/2005/8/layout/matrix2"/>
    <dgm:cxn modelId="{C0500252-ED8B-5F4D-8C12-37A636124CB3}" type="presOf" srcId="{228B42B7-D12A-0345-909A-CA849FEC2EA5}" destId="{70BCC0E4-5247-B048-ACFC-F17CBC026825}" srcOrd="0" destOrd="1" presId="urn:microsoft.com/office/officeart/2005/8/layout/matrix2"/>
    <dgm:cxn modelId="{6357D273-498F-2246-B94A-055EE446F2DB}" srcId="{19414C10-82B8-A14A-B37F-2F3AC36FA104}" destId="{228B42B7-D12A-0345-909A-CA849FEC2EA5}" srcOrd="0" destOrd="0" parTransId="{C5CC4FE1-85C4-5848-A85D-F3AA97448FB9}" sibTransId="{86F8A5FF-6E75-6248-9D02-EE0D0C42A4FF}"/>
    <dgm:cxn modelId="{3C183CE5-EF37-104E-A289-3DA79A7826F0}" type="presOf" srcId="{19414C10-82B8-A14A-B37F-2F3AC36FA104}" destId="{70BCC0E4-5247-B048-ACFC-F17CBC026825}" srcOrd="0" destOrd="0" presId="urn:microsoft.com/office/officeart/2005/8/layout/matrix2"/>
    <dgm:cxn modelId="{6A2DD2D3-2053-724F-88BD-C234932EF65E}" type="presOf" srcId="{94B01D7F-C84F-7447-B636-1B66BF02BF30}" destId="{70BCC0E4-5247-B048-ACFC-F17CBC026825}" srcOrd="0" destOrd="2" presId="urn:microsoft.com/office/officeart/2005/8/layout/matrix2"/>
    <dgm:cxn modelId="{B555B3F5-ED66-E840-A36F-07BA2E2A9CF7}" srcId="{C3FFC2AD-2120-3042-8A32-31F9309CC9FB}" destId="{5D840648-1FBF-6E4D-AC0C-1EC503D4D81A}" srcOrd="1" destOrd="0" parTransId="{5BB619D8-1F9C-9546-980F-B77695D15651}" sibTransId="{A3383831-092E-2B48-A77C-80075FC87C45}"/>
    <dgm:cxn modelId="{D37A96CB-6093-A244-91C7-DF2ADB4F1C71}" type="presOf" srcId="{842866CA-E23A-694A-9984-25A7E8AED435}" destId="{0C4F3843-8CA9-7B47-94BF-4616B2186CF3}" srcOrd="0" destOrd="0" presId="urn:microsoft.com/office/officeart/2005/8/layout/matrix2"/>
    <dgm:cxn modelId="{2DC2E8D8-77DA-684C-AD40-06B92D3BEF5D}" type="presOf" srcId="{71B0F529-214F-E54F-AC27-3D0E4C6CFD22}" destId="{A3664F60-92EC-F04A-A8E6-72B11CB21727}" srcOrd="0" destOrd="0" presId="urn:microsoft.com/office/officeart/2005/8/layout/matrix2"/>
    <dgm:cxn modelId="{B2DB5E2F-911E-484B-8F42-20247F306EBC}" type="presOf" srcId="{72928E03-60C9-2740-8035-0D953A6AE95E}" destId="{A3664F60-92EC-F04A-A8E6-72B11CB21727}" srcOrd="0" destOrd="1" presId="urn:microsoft.com/office/officeart/2005/8/layout/matrix2"/>
    <dgm:cxn modelId="{496BBC38-16E3-A941-9157-018F04A5149F}" type="presParOf" srcId="{BF57F61A-A915-AE4D-85A1-3D51196DC795}" destId="{A50EB2B9-06E1-6345-90F8-9577C98DD49A}" srcOrd="0" destOrd="0" presId="urn:microsoft.com/office/officeart/2005/8/layout/matrix2"/>
    <dgm:cxn modelId="{F4BB2BC2-623B-C746-BC6F-3B4C7681BFE8}" type="presParOf" srcId="{BF57F61A-A915-AE4D-85A1-3D51196DC795}" destId="{0C4F3843-8CA9-7B47-94BF-4616B2186CF3}" srcOrd="1" destOrd="0" presId="urn:microsoft.com/office/officeart/2005/8/layout/matrix2"/>
    <dgm:cxn modelId="{2FCE28E6-A930-7740-945B-5E4687284486}" type="presParOf" srcId="{BF57F61A-A915-AE4D-85A1-3D51196DC795}" destId="{4994DBF4-399F-B847-B5E1-56CF3D810B3F}" srcOrd="2" destOrd="0" presId="urn:microsoft.com/office/officeart/2005/8/layout/matrix2"/>
    <dgm:cxn modelId="{CA973C86-54AE-EE48-894E-43328396BDA3}" type="presParOf" srcId="{BF57F61A-A915-AE4D-85A1-3D51196DC795}" destId="{70BCC0E4-5247-B048-ACFC-F17CBC026825}" srcOrd="3" destOrd="0" presId="urn:microsoft.com/office/officeart/2005/8/layout/matrix2"/>
    <dgm:cxn modelId="{9B5BF20E-5CEF-BB4D-87D4-B602CBD78C6C}" type="presParOf" srcId="{BF57F61A-A915-AE4D-85A1-3D51196DC795}" destId="{A3664F60-92EC-F04A-A8E6-72B11CB21727}" srcOrd="4" destOrd="0" presId="urn:microsoft.com/office/officeart/2005/8/layout/matrix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3F248E7-38A3-224F-A4F3-AE55B097C879}" type="doc">
      <dgm:prSet loTypeId="urn:microsoft.com/office/officeart/2005/8/layout/vList2" loCatId="" qsTypeId="urn:microsoft.com/office/officeart/2005/8/quickstyle/simple4" qsCatId="simple" csTypeId="urn:microsoft.com/office/officeart/2005/8/colors/accent4_2" csCatId="accent4"/>
      <dgm:spPr/>
      <dgm:t>
        <a:bodyPr/>
        <a:lstStyle/>
        <a:p>
          <a:endParaRPr lang="en-US"/>
        </a:p>
      </dgm:t>
    </dgm:pt>
    <dgm:pt modelId="{A8B2DE56-E158-8A4B-99C6-7C7FF05DFB55}">
      <dgm:prSet/>
      <dgm:spPr/>
      <dgm:t>
        <a:bodyPr/>
        <a:lstStyle/>
        <a:p>
          <a:pPr rtl="0"/>
          <a:r>
            <a:rPr lang="en-US" dirty="0" smtClean="0">
              <a:solidFill>
                <a:schemeClr val="accent2"/>
              </a:solidFill>
            </a:rPr>
            <a:t>The implicitly referenced register is the program counter (PC)</a:t>
          </a:r>
          <a:endParaRPr lang="en-US" dirty="0">
            <a:solidFill>
              <a:schemeClr val="accent2"/>
            </a:solidFill>
          </a:endParaRPr>
        </a:p>
      </dgm:t>
    </dgm:pt>
    <dgm:pt modelId="{1C4E7D2F-120A-9C42-8C03-8E1CF4E1D371}" type="parTrans" cxnId="{6CD74F0F-D712-A545-8A2D-BB4F16C81E95}">
      <dgm:prSet/>
      <dgm:spPr/>
      <dgm:t>
        <a:bodyPr/>
        <a:lstStyle/>
        <a:p>
          <a:endParaRPr lang="en-US"/>
        </a:p>
      </dgm:t>
    </dgm:pt>
    <dgm:pt modelId="{75E6ADF4-2DBA-574D-91C6-3DC2F6502AAB}" type="sibTrans" cxnId="{6CD74F0F-D712-A545-8A2D-BB4F16C81E95}">
      <dgm:prSet/>
      <dgm:spPr/>
      <dgm:t>
        <a:bodyPr/>
        <a:lstStyle/>
        <a:p>
          <a:endParaRPr lang="en-US"/>
        </a:p>
      </dgm:t>
    </dgm:pt>
    <dgm:pt modelId="{DF4BFC8F-0AC4-3645-BA66-3C4C28C12E92}">
      <dgm:prSet/>
      <dgm:spPr/>
      <dgm:t>
        <a:bodyPr/>
        <a:lstStyle/>
        <a:p>
          <a:pPr rtl="0"/>
          <a:r>
            <a:rPr lang="en-US" dirty="0" smtClean="0">
              <a:solidFill>
                <a:schemeClr val="accent2"/>
              </a:solidFill>
            </a:rPr>
            <a:t>The next instruction address is added to the address field to produce the EA</a:t>
          </a:r>
          <a:endParaRPr lang="en-US" dirty="0">
            <a:solidFill>
              <a:schemeClr val="accent2"/>
            </a:solidFill>
          </a:endParaRPr>
        </a:p>
      </dgm:t>
    </dgm:pt>
    <dgm:pt modelId="{CA9921EC-4CD8-0246-8015-BC5DA2B51794}" type="parTrans" cxnId="{653D4174-894A-3049-90F5-FC87D757A735}">
      <dgm:prSet/>
      <dgm:spPr/>
      <dgm:t>
        <a:bodyPr/>
        <a:lstStyle/>
        <a:p>
          <a:endParaRPr lang="en-US"/>
        </a:p>
      </dgm:t>
    </dgm:pt>
    <dgm:pt modelId="{DE3ACFA9-3F0E-454F-8717-2A67461649BE}" type="sibTrans" cxnId="{653D4174-894A-3049-90F5-FC87D757A735}">
      <dgm:prSet/>
      <dgm:spPr/>
      <dgm:t>
        <a:bodyPr/>
        <a:lstStyle/>
        <a:p>
          <a:endParaRPr lang="en-US"/>
        </a:p>
      </dgm:t>
    </dgm:pt>
    <dgm:pt modelId="{6D26E3B8-2472-2543-A1C5-A224C0A4AF1B}">
      <dgm:prSet/>
      <dgm:spPr/>
      <dgm:t>
        <a:bodyPr/>
        <a:lstStyle/>
        <a:p>
          <a:pPr rtl="0"/>
          <a:r>
            <a:rPr lang="en-US" dirty="0" smtClean="0">
              <a:solidFill>
                <a:schemeClr val="accent2"/>
              </a:solidFill>
            </a:rPr>
            <a:t>Typically the address field is treated as a twos complement number for this operation</a:t>
          </a:r>
          <a:endParaRPr lang="en-US" dirty="0">
            <a:solidFill>
              <a:schemeClr val="accent2"/>
            </a:solidFill>
          </a:endParaRPr>
        </a:p>
      </dgm:t>
    </dgm:pt>
    <dgm:pt modelId="{BD6B5B1C-437C-4445-A947-FE3AF13FADF3}" type="parTrans" cxnId="{3001C15F-9F45-CF49-9BE3-414EEF518B58}">
      <dgm:prSet/>
      <dgm:spPr/>
      <dgm:t>
        <a:bodyPr/>
        <a:lstStyle/>
        <a:p>
          <a:endParaRPr lang="en-US"/>
        </a:p>
      </dgm:t>
    </dgm:pt>
    <dgm:pt modelId="{4B13B619-FBC0-D64F-B5BC-2AF857120600}" type="sibTrans" cxnId="{3001C15F-9F45-CF49-9BE3-414EEF518B58}">
      <dgm:prSet/>
      <dgm:spPr/>
      <dgm:t>
        <a:bodyPr/>
        <a:lstStyle/>
        <a:p>
          <a:endParaRPr lang="en-US"/>
        </a:p>
      </dgm:t>
    </dgm:pt>
    <dgm:pt modelId="{F4509CA9-19E8-F64F-8E5D-B29815E39207}">
      <dgm:prSet/>
      <dgm:spPr/>
      <dgm:t>
        <a:bodyPr/>
        <a:lstStyle/>
        <a:p>
          <a:pPr rtl="0"/>
          <a:r>
            <a:rPr lang="en-US" dirty="0" smtClean="0">
              <a:solidFill>
                <a:schemeClr val="accent2"/>
              </a:solidFill>
            </a:rPr>
            <a:t>Thus the effective address is a displacement relative to the address of the instruction</a:t>
          </a:r>
          <a:endParaRPr lang="en-US" dirty="0">
            <a:solidFill>
              <a:schemeClr val="accent2"/>
            </a:solidFill>
          </a:endParaRPr>
        </a:p>
      </dgm:t>
    </dgm:pt>
    <dgm:pt modelId="{D2EFCA56-05DD-7045-8B0F-54220903B8BA}" type="parTrans" cxnId="{DA3A93A5-6473-CC45-B1A7-DDE05632E43B}">
      <dgm:prSet/>
      <dgm:spPr/>
      <dgm:t>
        <a:bodyPr/>
        <a:lstStyle/>
        <a:p>
          <a:endParaRPr lang="en-US"/>
        </a:p>
      </dgm:t>
    </dgm:pt>
    <dgm:pt modelId="{47E41E3F-43D0-4B43-A674-539EA23174CF}" type="sibTrans" cxnId="{DA3A93A5-6473-CC45-B1A7-DDE05632E43B}">
      <dgm:prSet/>
      <dgm:spPr/>
      <dgm:t>
        <a:bodyPr/>
        <a:lstStyle/>
        <a:p>
          <a:endParaRPr lang="en-US"/>
        </a:p>
      </dgm:t>
    </dgm:pt>
    <dgm:pt modelId="{E7A40534-3225-D346-93F2-FF53386452EB}">
      <dgm:prSet/>
      <dgm:spPr/>
      <dgm:t>
        <a:bodyPr/>
        <a:lstStyle/>
        <a:p>
          <a:pPr rtl="0"/>
          <a:r>
            <a:rPr lang="en-US" dirty="0" smtClean="0">
              <a:solidFill>
                <a:schemeClr val="accent2"/>
              </a:solidFill>
            </a:rPr>
            <a:t>Exploits the concept of locality</a:t>
          </a:r>
          <a:endParaRPr lang="en-US" dirty="0">
            <a:solidFill>
              <a:schemeClr val="accent2"/>
            </a:solidFill>
          </a:endParaRPr>
        </a:p>
      </dgm:t>
    </dgm:pt>
    <dgm:pt modelId="{7F6F1515-7DB9-6F47-B462-F019D1A0B198}" type="parTrans" cxnId="{4CD8DEF7-1A28-B346-A18C-5BF31062834F}">
      <dgm:prSet/>
      <dgm:spPr/>
      <dgm:t>
        <a:bodyPr/>
        <a:lstStyle/>
        <a:p>
          <a:endParaRPr lang="en-US"/>
        </a:p>
      </dgm:t>
    </dgm:pt>
    <dgm:pt modelId="{CA07F961-3EC7-924B-8DD6-6C0C325385B7}" type="sibTrans" cxnId="{4CD8DEF7-1A28-B346-A18C-5BF31062834F}">
      <dgm:prSet/>
      <dgm:spPr/>
      <dgm:t>
        <a:bodyPr/>
        <a:lstStyle/>
        <a:p>
          <a:endParaRPr lang="en-US"/>
        </a:p>
      </dgm:t>
    </dgm:pt>
    <dgm:pt modelId="{B836D070-0251-B34F-AC84-AB06566273EA}">
      <dgm:prSet/>
      <dgm:spPr/>
      <dgm:t>
        <a:bodyPr/>
        <a:lstStyle/>
        <a:p>
          <a:pPr rtl="0"/>
          <a:r>
            <a:rPr lang="en-US" dirty="0" smtClean="0">
              <a:solidFill>
                <a:schemeClr val="accent2"/>
              </a:solidFill>
            </a:rPr>
            <a:t>Saves address bits in the instruction if most memory references are relatively near to the instruction being executed</a:t>
          </a:r>
          <a:endParaRPr lang="en-US" dirty="0">
            <a:solidFill>
              <a:schemeClr val="accent2"/>
            </a:solidFill>
          </a:endParaRPr>
        </a:p>
      </dgm:t>
    </dgm:pt>
    <dgm:pt modelId="{72E8DAF6-FF75-8641-8D2D-167BB5F71979}" type="parTrans" cxnId="{3DF2400B-3472-D849-B4CC-7D7B8ED57377}">
      <dgm:prSet/>
      <dgm:spPr/>
      <dgm:t>
        <a:bodyPr/>
        <a:lstStyle/>
        <a:p>
          <a:endParaRPr lang="en-US"/>
        </a:p>
      </dgm:t>
    </dgm:pt>
    <dgm:pt modelId="{BE565BDC-3C56-C743-9CD9-3C2CF3646880}" type="sibTrans" cxnId="{3DF2400B-3472-D849-B4CC-7D7B8ED57377}">
      <dgm:prSet/>
      <dgm:spPr/>
      <dgm:t>
        <a:bodyPr/>
        <a:lstStyle/>
        <a:p>
          <a:endParaRPr lang="en-US"/>
        </a:p>
      </dgm:t>
    </dgm:pt>
    <dgm:pt modelId="{FF0C24AB-4797-5F4C-B34E-3FF98558FD55}" type="pres">
      <dgm:prSet presAssocID="{63F248E7-38A3-224F-A4F3-AE55B097C879}" presName="linear" presStyleCnt="0">
        <dgm:presLayoutVars>
          <dgm:animLvl val="lvl"/>
          <dgm:resizeHandles val="exact"/>
        </dgm:presLayoutVars>
      </dgm:prSet>
      <dgm:spPr/>
      <dgm:t>
        <a:bodyPr/>
        <a:lstStyle/>
        <a:p>
          <a:endParaRPr lang="en-US"/>
        </a:p>
      </dgm:t>
    </dgm:pt>
    <dgm:pt modelId="{514B404A-71F5-8646-9057-29EE6A4460B4}" type="pres">
      <dgm:prSet presAssocID="{A8B2DE56-E158-8A4B-99C6-7C7FF05DFB55}" presName="parentText" presStyleLbl="node1" presStyleIdx="0" presStyleCnt="3">
        <dgm:presLayoutVars>
          <dgm:chMax val="0"/>
          <dgm:bulletEnabled val="1"/>
        </dgm:presLayoutVars>
      </dgm:prSet>
      <dgm:spPr/>
      <dgm:t>
        <a:bodyPr/>
        <a:lstStyle/>
        <a:p>
          <a:endParaRPr lang="en-US"/>
        </a:p>
      </dgm:t>
    </dgm:pt>
    <dgm:pt modelId="{74C93090-5590-084D-A2AB-DAEF051BCBCD}" type="pres">
      <dgm:prSet presAssocID="{A8B2DE56-E158-8A4B-99C6-7C7FF05DFB55}" presName="childText" presStyleLbl="revTx" presStyleIdx="0" presStyleCnt="1">
        <dgm:presLayoutVars>
          <dgm:bulletEnabled val="1"/>
        </dgm:presLayoutVars>
      </dgm:prSet>
      <dgm:spPr/>
      <dgm:t>
        <a:bodyPr/>
        <a:lstStyle/>
        <a:p>
          <a:endParaRPr lang="en-US"/>
        </a:p>
      </dgm:t>
    </dgm:pt>
    <dgm:pt modelId="{B0BC29CD-AE8B-E844-A0F5-72CC0367FA5A}" type="pres">
      <dgm:prSet presAssocID="{E7A40534-3225-D346-93F2-FF53386452EB}" presName="parentText" presStyleLbl="node1" presStyleIdx="1" presStyleCnt="3">
        <dgm:presLayoutVars>
          <dgm:chMax val="0"/>
          <dgm:bulletEnabled val="1"/>
        </dgm:presLayoutVars>
      </dgm:prSet>
      <dgm:spPr/>
      <dgm:t>
        <a:bodyPr/>
        <a:lstStyle/>
        <a:p>
          <a:endParaRPr lang="en-US"/>
        </a:p>
      </dgm:t>
    </dgm:pt>
    <dgm:pt modelId="{62A9B9AA-3EAC-CB42-A578-F81E5083D809}" type="pres">
      <dgm:prSet presAssocID="{CA07F961-3EC7-924B-8DD6-6C0C325385B7}" presName="spacer" presStyleCnt="0"/>
      <dgm:spPr/>
    </dgm:pt>
    <dgm:pt modelId="{B65E83E5-C0CA-A94B-B54D-A9C7464AF21E}" type="pres">
      <dgm:prSet presAssocID="{B836D070-0251-B34F-AC84-AB06566273EA}" presName="parentText" presStyleLbl="node1" presStyleIdx="2" presStyleCnt="3">
        <dgm:presLayoutVars>
          <dgm:chMax val="0"/>
          <dgm:bulletEnabled val="1"/>
        </dgm:presLayoutVars>
      </dgm:prSet>
      <dgm:spPr/>
      <dgm:t>
        <a:bodyPr/>
        <a:lstStyle/>
        <a:p>
          <a:endParaRPr lang="en-US"/>
        </a:p>
      </dgm:t>
    </dgm:pt>
  </dgm:ptLst>
  <dgm:cxnLst>
    <dgm:cxn modelId="{3DF2400B-3472-D849-B4CC-7D7B8ED57377}" srcId="{63F248E7-38A3-224F-A4F3-AE55B097C879}" destId="{B836D070-0251-B34F-AC84-AB06566273EA}" srcOrd="2" destOrd="0" parTransId="{72E8DAF6-FF75-8641-8D2D-167BB5F71979}" sibTransId="{BE565BDC-3C56-C743-9CD9-3C2CF3646880}"/>
    <dgm:cxn modelId="{653D4174-894A-3049-90F5-FC87D757A735}" srcId="{A8B2DE56-E158-8A4B-99C6-7C7FF05DFB55}" destId="{DF4BFC8F-0AC4-3645-BA66-3C4C28C12E92}" srcOrd="0" destOrd="0" parTransId="{CA9921EC-4CD8-0246-8015-BC5DA2B51794}" sibTransId="{DE3ACFA9-3F0E-454F-8717-2A67461649BE}"/>
    <dgm:cxn modelId="{C632C7E2-577A-E14F-BB9C-77EAC1DD614A}" type="presOf" srcId="{E7A40534-3225-D346-93F2-FF53386452EB}" destId="{B0BC29CD-AE8B-E844-A0F5-72CC0367FA5A}" srcOrd="0" destOrd="0" presId="urn:microsoft.com/office/officeart/2005/8/layout/vList2"/>
    <dgm:cxn modelId="{FA1412E2-96EB-E247-A614-20821E9E1AE7}" type="presOf" srcId="{6D26E3B8-2472-2543-A1C5-A224C0A4AF1B}" destId="{74C93090-5590-084D-A2AB-DAEF051BCBCD}" srcOrd="0" destOrd="1" presId="urn:microsoft.com/office/officeart/2005/8/layout/vList2"/>
    <dgm:cxn modelId="{9BDC13EA-6676-3545-AEA4-BD7127DECB8E}" type="presOf" srcId="{F4509CA9-19E8-F64F-8E5D-B29815E39207}" destId="{74C93090-5590-084D-A2AB-DAEF051BCBCD}" srcOrd="0" destOrd="2" presId="urn:microsoft.com/office/officeart/2005/8/layout/vList2"/>
    <dgm:cxn modelId="{7CAD767C-FD26-D249-AEFB-14096EEF08D5}" type="presOf" srcId="{A8B2DE56-E158-8A4B-99C6-7C7FF05DFB55}" destId="{514B404A-71F5-8646-9057-29EE6A4460B4}" srcOrd="0" destOrd="0" presId="urn:microsoft.com/office/officeart/2005/8/layout/vList2"/>
    <dgm:cxn modelId="{89A14288-FAE2-B942-BEBD-24E3C4DAA8E1}" type="presOf" srcId="{DF4BFC8F-0AC4-3645-BA66-3C4C28C12E92}" destId="{74C93090-5590-084D-A2AB-DAEF051BCBCD}" srcOrd="0" destOrd="0" presId="urn:microsoft.com/office/officeart/2005/8/layout/vList2"/>
    <dgm:cxn modelId="{DA3A93A5-6473-CC45-B1A7-DDE05632E43B}" srcId="{A8B2DE56-E158-8A4B-99C6-7C7FF05DFB55}" destId="{F4509CA9-19E8-F64F-8E5D-B29815E39207}" srcOrd="2" destOrd="0" parTransId="{D2EFCA56-05DD-7045-8B0F-54220903B8BA}" sibTransId="{47E41E3F-43D0-4B43-A674-539EA23174CF}"/>
    <dgm:cxn modelId="{68D9F09A-182D-0241-A0CB-1252890E57D9}" type="presOf" srcId="{B836D070-0251-B34F-AC84-AB06566273EA}" destId="{B65E83E5-C0CA-A94B-B54D-A9C7464AF21E}" srcOrd="0" destOrd="0" presId="urn:microsoft.com/office/officeart/2005/8/layout/vList2"/>
    <dgm:cxn modelId="{6CD74F0F-D712-A545-8A2D-BB4F16C81E95}" srcId="{63F248E7-38A3-224F-A4F3-AE55B097C879}" destId="{A8B2DE56-E158-8A4B-99C6-7C7FF05DFB55}" srcOrd="0" destOrd="0" parTransId="{1C4E7D2F-120A-9C42-8C03-8E1CF4E1D371}" sibTransId="{75E6ADF4-2DBA-574D-91C6-3DC2F6502AAB}"/>
    <dgm:cxn modelId="{4CD8DEF7-1A28-B346-A18C-5BF31062834F}" srcId="{63F248E7-38A3-224F-A4F3-AE55B097C879}" destId="{E7A40534-3225-D346-93F2-FF53386452EB}" srcOrd="1" destOrd="0" parTransId="{7F6F1515-7DB9-6F47-B462-F019D1A0B198}" sibTransId="{CA07F961-3EC7-924B-8DD6-6C0C325385B7}"/>
    <dgm:cxn modelId="{3001C15F-9F45-CF49-9BE3-414EEF518B58}" srcId="{A8B2DE56-E158-8A4B-99C6-7C7FF05DFB55}" destId="{6D26E3B8-2472-2543-A1C5-A224C0A4AF1B}" srcOrd="1" destOrd="0" parTransId="{BD6B5B1C-437C-4445-A947-FE3AF13FADF3}" sibTransId="{4B13B619-FBC0-D64F-B5BC-2AF857120600}"/>
    <dgm:cxn modelId="{A384FAAA-B54D-8341-A868-DA66AB22A8A4}" type="presOf" srcId="{63F248E7-38A3-224F-A4F3-AE55B097C879}" destId="{FF0C24AB-4797-5F4C-B34E-3FF98558FD55}" srcOrd="0" destOrd="0" presId="urn:microsoft.com/office/officeart/2005/8/layout/vList2"/>
    <dgm:cxn modelId="{C7987BBB-3DC0-D244-A1DD-B60831714F73}" type="presParOf" srcId="{FF0C24AB-4797-5F4C-B34E-3FF98558FD55}" destId="{514B404A-71F5-8646-9057-29EE6A4460B4}" srcOrd="0" destOrd="0" presId="urn:microsoft.com/office/officeart/2005/8/layout/vList2"/>
    <dgm:cxn modelId="{B91997AC-2F0D-5848-B404-7B89EDE9C005}" type="presParOf" srcId="{FF0C24AB-4797-5F4C-B34E-3FF98558FD55}" destId="{74C93090-5590-084D-A2AB-DAEF051BCBCD}" srcOrd="1" destOrd="0" presId="urn:microsoft.com/office/officeart/2005/8/layout/vList2"/>
    <dgm:cxn modelId="{F860EAD6-C970-0944-A4D9-94A9A89386C4}" type="presParOf" srcId="{FF0C24AB-4797-5F4C-B34E-3FF98558FD55}" destId="{B0BC29CD-AE8B-E844-A0F5-72CC0367FA5A}" srcOrd="2" destOrd="0" presId="urn:microsoft.com/office/officeart/2005/8/layout/vList2"/>
    <dgm:cxn modelId="{E2102BFC-9D7C-F64E-BBD3-1CECBC55D23B}" type="presParOf" srcId="{FF0C24AB-4797-5F4C-B34E-3FF98558FD55}" destId="{62A9B9AA-3EAC-CB42-A578-F81E5083D809}" srcOrd="3" destOrd="0" presId="urn:microsoft.com/office/officeart/2005/8/layout/vList2"/>
    <dgm:cxn modelId="{EAF4A70D-FE87-8445-9EEE-0BB3C2666998}" type="presParOf" srcId="{FF0C24AB-4797-5F4C-B34E-3FF98558FD55}" destId="{B65E83E5-C0CA-A94B-B54D-A9C7464AF21E}"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978372B-9238-364C-81C3-3497B789A77C}" type="doc">
      <dgm:prSet loTypeId="urn:microsoft.com/office/officeart/2005/8/layout/hList6" loCatId="list" qsTypeId="urn:microsoft.com/office/officeart/2005/8/quickstyle/simple4" qsCatId="simple" csTypeId="urn:microsoft.com/office/officeart/2005/8/colors/colorful4" csCatId="colorful"/>
      <dgm:spPr/>
      <dgm:t>
        <a:bodyPr/>
        <a:lstStyle/>
        <a:p>
          <a:endParaRPr lang="en-US"/>
        </a:p>
      </dgm:t>
    </dgm:pt>
    <dgm:pt modelId="{A84DDF75-04FC-C749-87DB-D94F9CC939FC}">
      <dgm:prSet/>
      <dgm:spPr/>
      <dgm:t>
        <a:bodyPr/>
        <a:lstStyle/>
        <a:p>
          <a:pPr rtl="0"/>
          <a:r>
            <a:rPr lang="en-US" dirty="0" smtClean="0">
              <a:solidFill>
                <a:schemeClr val="accent2"/>
              </a:solidFill>
            </a:rPr>
            <a:t>Define the layout of the bits of an instruction, in terms of its constituent fields</a:t>
          </a:r>
          <a:endParaRPr lang="en-US" dirty="0">
            <a:solidFill>
              <a:schemeClr val="accent2"/>
            </a:solidFill>
          </a:endParaRPr>
        </a:p>
      </dgm:t>
    </dgm:pt>
    <dgm:pt modelId="{A2A25EBD-F6B1-DB40-835E-390C46DF6020}" type="parTrans" cxnId="{1CC99B2A-D711-4C42-901E-A6F1850441E0}">
      <dgm:prSet/>
      <dgm:spPr/>
      <dgm:t>
        <a:bodyPr/>
        <a:lstStyle/>
        <a:p>
          <a:endParaRPr lang="en-US"/>
        </a:p>
      </dgm:t>
    </dgm:pt>
    <dgm:pt modelId="{2BCE1379-D0CF-9D49-BBCB-2DD9B41358AF}" type="sibTrans" cxnId="{1CC99B2A-D711-4C42-901E-A6F1850441E0}">
      <dgm:prSet/>
      <dgm:spPr/>
      <dgm:t>
        <a:bodyPr/>
        <a:lstStyle/>
        <a:p>
          <a:endParaRPr lang="en-US"/>
        </a:p>
      </dgm:t>
    </dgm:pt>
    <dgm:pt modelId="{E52EECE0-E083-6E4D-88A7-8ED519498F8F}">
      <dgm:prSet/>
      <dgm:spPr/>
      <dgm:t>
        <a:bodyPr/>
        <a:lstStyle/>
        <a:p>
          <a:pPr rtl="0"/>
          <a:r>
            <a:rPr lang="en-US" dirty="0" smtClean="0">
              <a:solidFill>
                <a:schemeClr val="accent2"/>
              </a:solidFill>
            </a:rPr>
            <a:t>Must include an opcode and, implicitly or explicitly, indicate the addressing mode for each operand</a:t>
          </a:r>
          <a:endParaRPr lang="en-US" dirty="0">
            <a:solidFill>
              <a:schemeClr val="accent2"/>
            </a:solidFill>
          </a:endParaRPr>
        </a:p>
      </dgm:t>
    </dgm:pt>
    <dgm:pt modelId="{1E64E5D5-F98E-B040-980C-DC21ADEC3D4E}" type="parTrans" cxnId="{4A1396E4-C0A5-C344-A231-865DD8A2268E}">
      <dgm:prSet/>
      <dgm:spPr/>
      <dgm:t>
        <a:bodyPr/>
        <a:lstStyle/>
        <a:p>
          <a:endParaRPr lang="en-US"/>
        </a:p>
      </dgm:t>
    </dgm:pt>
    <dgm:pt modelId="{DE6DFE48-F63D-3F4F-A1AC-F5540F50A00B}" type="sibTrans" cxnId="{4A1396E4-C0A5-C344-A231-865DD8A2268E}">
      <dgm:prSet/>
      <dgm:spPr/>
      <dgm:t>
        <a:bodyPr/>
        <a:lstStyle/>
        <a:p>
          <a:endParaRPr lang="en-US"/>
        </a:p>
      </dgm:t>
    </dgm:pt>
    <dgm:pt modelId="{A61C6F7B-D81F-D246-8E70-7D0563A0E411}">
      <dgm:prSet/>
      <dgm:spPr/>
      <dgm:t>
        <a:bodyPr/>
        <a:lstStyle/>
        <a:p>
          <a:pPr rtl="0"/>
          <a:r>
            <a:rPr lang="en-US" dirty="0" smtClean="0">
              <a:solidFill>
                <a:schemeClr val="accent2"/>
              </a:solidFill>
            </a:rPr>
            <a:t>For most instruction sets more than one instruction format is used</a:t>
          </a:r>
          <a:endParaRPr lang="en-US" dirty="0">
            <a:solidFill>
              <a:schemeClr val="accent2"/>
            </a:solidFill>
          </a:endParaRPr>
        </a:p>
      </dgm:t>
    </dgm:pt>
    <dgm:pt modelId="{F15AE2EB-4028-A44F-AABC-E78CC77CC24C}" type="parTrans" cxnId="{7322B393-6AA8-9243-AE81-180FAB8B3074}">
      <dgm:prSet/>
      <dgm:spPr/>
      <dgm:t>
        <a:bodyPr/>
        <a:lstStyle/>
        <a:p>
          <a:endParaRPr lang="en-US"/>
        </a:p>
      </dgm:t>
    </dgm:pt>
    <dgm:pt modelId="{0BB87ACD-2A9D-AA41-9463-420EE7A7C066}" type="sibTrans" cxnId="{7322B393-6AA8-9243-AE81-180FAB8B3074}">
      <dgm:prSet/>
      <dgm:spPr/>
      <dgm:t>
        <a:bodyPr/>
        <a:lstStyle/>
        <a:p>
          <a:endParaRPr lang="en-US"/>
        </a:p>
      </dgm:t>
    </dgm:pt>
    <dgm:pt modelId="{4D1EA63D-B30E-3848-9AA2-AA5A58F507AD}" type="pres">
      <dgm:prSet presAssocID="{5978372B-9238-364C-81C3-3497B789A77C}" presName="Name0" presStyleCnt="0">
        <dgm:presLayoutVars>
          <dgm:dir/>
          <dgm:resizeHandles val="exact"/>
        </dgm:presLayoutVars>
      </dgm:prSet>
      <dgm:spPr/>
      <dgm:t>
        <a:bodyPr/>
        <a:lstStyle/>
        <a:p>
          <a:endParaRPr lang="en-US"/>
        </a:p>
      </dgm:t>
    </dgm:pt>
    <dgm:pt modelId="{E839FB02-6AB5-C645-8052-5011DD110ED1}" type="pres">
      <dgm:prSet presAssocID="{A84DDF75-04FC-C749-87DB-D94F9CC939FC}" presName="node" presStyleLbl="node1" presStyleIdx="0" presStyleCnt="3">
        <dgm:presLayoutVars>
          <dgm:bulletEnabled val="1"/>
        </dgm:presLayoutVars>
      </dgm:prSet>
      <dgm:spPr/>
      <dgm:t>
        <a:bodyPr/>
        <a:lstStyle/>
        <a:p>
          <a:endParaRPr lang="en-US"/>
        </a:p>
      </dgm:t>
    </dgm:pt>
    <dgm:pt modelId="{02CFCACE-554D-C74A-91CF-5CC2083A97F7}" type="pres">
      <dgm:prSet presAssocID="{2BCE1379-D0CF-9D49-BBCB-2DD9B41358AF}" presName="sibTrans" presStyleCnt="0"/>
      <dgm:spPr/>
      <dgm:t>
        <a:bodyPr/>
        <a:lstStyle/>
        <a:p>
          <a:endParaRPr lang="en-US"/>
        </a:p>
      </dgm:t>
    </dgm:pt>
    <dgm:pt modelId="{9C22D813-78A6-F44B-A184-BA63B43415D4}" type="pres">
      <dgm:prSet presAssocID="{E52EECE0-E083-6E4D-88A7-8ED519498F8F}" presName="node" presStyleLbl="node1" presStyleIdx="1" presStyleCnt="3">
        <dgm:presLayoutVars>
          <dgm:bulletEnabled val="1"/>
        </dgm:presLayoutVars>
      </dgm:prSet>
      <dgm:spPr/>
      <dgm:t>
        <a:bodyPr/>
        <a:lstStyle/>
        <a:p>
          <a:endParaRPr lang="en-US"/>
        </a:p>
      </dgm:t>
    </dgm:pt>
    <dgm:pt modelId="{479C62A6-4DE6-2340-8AAB-AEF4A604ABB8}" type="pres">
      <dgm:prSet presAssocID="{DE6DFE48-F63D-3F4F-A1AC-F5540F50A00B}" presName="sibTrans" presStyleCnt="0"/>
      <dgm:spPr/>
      <dgm:t>
        <a:bodyPr/>
        <a:lstStyle/>
        <a:p>
          <a:endParaRPr lang="en-US"/>
        </a:p>
      </dgm:t>
    </dgm:pt>
    <dgm:pt modelId="{11DA530E-381C-884C-92DD-C175D8033C96}" type="pres">
      <dgm:prSet presAssocID="{A61C6F7B-D81F-D246-8E70-7D0563A0E411}" presName="node" presStyleLbl="node1" presStyleIdx="2" presStyleCnt="3">
        <dgm:presLayoutVars>
          <dgm:bulletEnabled val="1"/>
        </dgm:presLayoutVars>
      </dgm:prSet>
      <dgm:spPr/>
      <dgm:t>
        <a:bodyPr/>
        <a:lstStyle/>
        <a:p>
          <a:endParaRPr lang="en-US"/>
        </a:p>
      </dgm:t>
    </dgm:pt>
  </dgm:ptLst>
  <dgm:cxnLst>
    <dgm:cxn modelId="{A7A330B4-3D0E-664B-B1A1-084CA6DCA15E}" type="presOf" srcId="{E52EECE0-E083-6E4D-88A7-8ED519498F8F}" destId="{9C22D813-78A6-F44B-A184-BA63B43415D4}" srcOrd="0" destOrd="0" presId="urn:microsoft.com/office/officeart/2005/8/layout/hList6"/>
    <dgm:cxn modelId="{1CC99B2A-D711-4C42-901E-A6F1850441E0}" srcId="{5978372B-9238-364C-81C3-3497B789A77C}" destId="{A84DDF75-04FC-C749-87DB-D94F9CC939FC}" srcOrd="0" destOrd="0" parTransId="{A2A25EBD-F6B1-DB40-835E-390C46DF6020}" sibTransId="{2BCE1379-D0CF-9D49-BBCB-2DD9B41358AF}"/>
    <dgm:cxn modelId="{3487D38A-4453-9244-9625-117A5AD13F19}" type="presOf" srcId="{5978372B-9238-364C-81C3-3497B789A77C}" destId="{4D1EA63D-B30E-3848-9AA2-AA5A58F507AD}" srcOrd="0" destOrd="0" presId="urn:microsoft.com/office/officeart/2005/8/layout/hList6"/>
    <dgm:cxn modelId="{4A1396E4-C0A5-C344-A231-865DD8A2268E}" srcId="{5978372B-9238-364C-81C3-3497B789A77C}" destId="{E52EECE0-E083-6E4D-88A7-8ED519498F8F}" srcOrd="1" destOrd="0" parTransId="{1E64E5D5-F98E-B040-980C-DC21ADEC3D4E}" sibTransId="{DE6DFE48-F63D-3F4F-A1AC-F5540F50A00B}"/>
    <dgm:cxn modelId="{6FF957D8-C305-4B4E-8994-7453F5EEBE2D}" type="presOf" srcId="{A61C6F7B-D81F-D246-8E70-7D0563A0E411}" destId="{11DA530E-381C-884C-92DD-C175D8033C96}" srcOrd="0" destOrd="0" presId="urn:microsoft.com/office/officeart/2005/8/layout/hList6"/>
    <dgm:cxn modelId="{AB1AE5FA-9F41-5C4B-9F00-F11A469F950F}" type="presOf" srcId="{A84DDF75-04FC-C749-87DB-D94F9CC939FC}" destId="{E839FB02-6AB5-C645-8052-5011DD110ED1}" srcOrd="0" destOrd="0" presId="urn:microsoft.com/office/officeart/2005/8/layout/hList6"/>
    <dgm:cxn modelId="{7322B393-6AA8-9243-AE81-180FAB8B3074}" srcId="{5978372B-9238-364C-81C3-3497B789A77C}" destId="{A61C6F7B-D81F-D246-8E70-7D0563A0E411}" srcOrd="2" destOrd="0" parTransId="{F15AE2EB-4028-A44F-AABC-E78CC77CC24C}" sibTransId="{0BB87ACD-2A9D-AA41-9463-420EE7A7C066}"/>
    <dgm:cxn modelId="{7E7F9B36-5C61-CB4C-A077-2A93964CE9CB}" type="presParOf" srcId="{4D1EA63D-B30E-3848-9AA2-AA5A58F507AD}" destId="{E839FB02-6AB5-C645-8052-5011DD110ED1}" srcOrd="0" destOrd="0" presId="urn:microsoft.com/office/officeart/2005/8/layout/hList6"/>
    <dgm:cxn modelId="{E038BDF2-6E4D-6941-8F58-802212B60D2C}" type="presParOf" srcId="{4D1EA63D-B30E-3848-9AA2-AA5A58F507AD}" destId="{02CFCACE-554D-C74A-91CF-5CC2083A97F7}" srcOrd="1" destOrd="0" presId="urn:microsoft.com/office/officeart/2005/8/layout/hList6"/>
    <dgm:cxn modelId="{BD562AEA-96CD-7543-84B2-DC5858ABC0D8}" type="presParOf" srcId="{4D1EA63D-B30E-3848-9AA2-AA5A58F507AD}" destId="{9C22D813-78A6-F44B-A184-BA63B43415D4}" srcOrd="2" destOrd="0" presId="urn:microsoft.com/office/officeart/2005/8/layout/hList6"/>
    <dgm:cxn modelId="{11A381D9-0323-DD40-88FD-9F4AE4282261}" type="presParOf" srcId="{4D1EA63D-B30E-3848-9AA2-AA5A58F507AD}" destId="{479C62A6-4DE6-2340-8AAB-AEF4A604ABB8}" srcOrd="3" destOrd="0" presId="urn:microsoft.com/office/officeart/2005/8/layout/hList6"/>
    <dgm:cxn modelId="{773838D9-EEC3-BD43-A837-7F6EE739BCC6}" type="presParOf" srcId="{4D1EA63D-B30E-3848-9AA2-AA5A58F507AD}" destId="{11DA530E-381C-884C-92DD-C175D8033C96}" srcOrd="4"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5D17FB3-E440-6A4F-B7D3-293DE85510F6}" type="doc">
      <dgm:prSet loTypeId="urn:microsoft.com/office/officeart/2005/8/layout/default" loCatId="" qsTypeId="urn:microsoft.com/office/officeart/2005/8/quickstyle/simple4" qsCatId="simple" csTypeId="urn:microsoft.com/office/officeart/2005/8/colors/colorful4" csCatId="colorful"/>
      <dgm:spPr/>
      <dgm:t>
        <a:bodyPr/>
        <a:lstStyle/>
        <a:p>
          <a:endParaRPr lang="en-US"/>
        </a:p>
      </dgm:t>
    </dgm:pt>
    <dgm:pt modelId="{9AEE2E66-27AF-D94B-8E74-F7EC8B7B4107}">
      <dgm:prSet/>
      <dgm:spPr/>
      <dgm:t>
        <a:bodyPr/>
        <a:lstStyle/>
        <a:p>
          <a:pPr rtl="0"/>
          <a:r>
            <a:rPr lang="en-US" dirty="0" smtClean="0">
              <a:solidFill>
                <a:schemeClr val="accent2"/>
              </a:solidFill>
            </a:rPr>
            <a:t>Number of addressing modes	</a:t>
          </a:r>
          <a:endParaRPr lang="en-US" dirty="0">
            <a:solidFill>
              <a:schemeClr val="accent2"/>
            </a:solidFill>
          </a:endParaRPr>
        </a:p>
      </dgm:t>
    </dgm:pt>
    <dgm:pt modelId="{8AB2495B-FDED-A542-8D70-3786670ABA01}" type="parTrans" cxnId="{739F25D3-223E-5445-85A9-60FC4C82EB58}">
      <dgm:prSet/>
      <dgm:spPr/>
      <dgm:t>
        <a:bodyPr/>
        <a:lstStyle/>
        <a:p>
          <a:endParaRPr lang="en-US"/>
        </a:p>
      </dgm:t>
    </dgm:pt>
    <dgm:pt modelId="{ABB20859-8428-F14E-B216-7154F1AE07D4}" type="sibTrans" cxnId="{739F25D3-223E-5445-85A9-60FC4C82EB58}">
      <dgm:prSet/>
      <dgm:spPr/>
      <dgm:t>
        <a:bodyPr/>
        <a:lstStyle/>
        <a:p>
          <a:endParaRPr lang="en-US"/>
        </a:p>
      </dgm:t>
    </dgm:pt>
    <dgm:pt modelId="{B297A6D1-6B6F-FB43-9466-D800DE79CC4D}">
      <dgm:prSet/>
      <dgm:spPr/>
      <dgm:t>
        <a:bodyPr/>
        <a:lstStyle/>
        <a:p>
          <a:pPr rtl="0"/>
          <a:r>
            <a:rPr lang="en-US" dirty="0" smtClean="0">
              <a:solidFill>
                <a:schemeClr val="accent2"/>
              </a:solidFill>
            </a:rPr>
            <a:t>Number of operands</a:t>
          </a:r>
          <a:endParaRPr lang="en-US" dirty="0">
            <a:solidFill>
              <a:schemeClr val="accent2"/>
            </a:solidFill>
          </a:endParaRPr>
        </a:p>
      </dgm:t>
    </dgm:pt>
    <dgm:pt modelId="{92415BC5-8E50-4343-9DC9-9F973C7DCC25}" type="parTrans" cxnId="{CD218FB7-8135-684C-BF8A-4273A7C96E45}">
      <dgm:prSet/>
      <dgm:spPr/>
      <dgm:t>
        <a:bodyPr/>
        <a:lstStyle/>
        <a:p>
          <a:endParaRPr lang="en-US"/>
        </a:p>
      </dgm:t>
    </dgm:pt>
    <dgm:pt modelId="{CDAB6B77-D360-BC4F-804B-B717691E54CB}" type="sibTrans" cxnId="{CD218FB7-8135-684C-BF8A-4273A7C96E45}">
      <dgm:prSet/>
      <dgm:spPr/>
      <dgm:t>
        <a:bodyPr/>
        <a:lstStyle/>
        <a:p>
          <a:endParaRPr lang="en-US"/>
        </a:p>
      </dgm:t>
    </dgm:pt>
    <dgm:pt modelId="{F50C517B-16D1-B849-8EF0-8C98FA877BEA}">
      <dgm:prSet/>
      <dgm:spPr/>
      <dgm:t>
        <a:bodyPr/>
        <a:lstStyle/>
        <a:p>
          <a:pPr rtl="0"/>
          <a:r>
            <a:rPr lang="en-US" dirty="0" smtClean="0">
              <a:solidFill>
                <a:schemeClr val="accent2"/>
              </a:solidFill>
            </a:rPr>
            <a:t>Register versus memory</a:t>
          </a:r>
          <a:endParaRPr lang="en-US" dirty="0">
            <a:solidFill>
              <a:schemeClr val="accent2"/>
            </a:solidFill>
          </a:endParaRPr>
        </a:p>
      </dgm:t>
    </dgm:pt>
    <dgm:pt modelId="{07B03D8D-888B-D34C-BB8D-283A164FD355}" type="parTrans" cxnId="{6E9F6A7E-4D7D-5141-94F8-0EC2FFEBC30F}">
      <dgm:prSet/>
      <dgm:spPr/>
      <dgm:t>
        <a:bodyPr/>
        <a:lstStyle/>
        <a:p>
          <a:endParaRPr lang="en-US"/>
        </a:p>
      </dgm:t>
    </dgm:pt>
    <dgm:pt modelId="{4586DD4F-8D61-9F43-9475-92257A1A256A}" type="sibTrans" cxnId="{6E9F6A7E-4D7D-5141-94F8-0EC2FFEBC30F}">
      <dgm:prSet/>
      <dgm:spPr/>
      <dgm:t>
        <a:bodyPr/>
        <a:lstStyle/>
        <a:p>
          <a:endParaRPr lang="en-US"/>
        </a:p>
      </dgm:t>
    </dgm:pt>
    <dgm:pt modelId="{E8124A79-2EB2-8346-8789-DF8D254E1437}">
      <dgm:prSet/>
      <dgm:spPr/>
      <dgm:t>
        <a:bodyPr/>
        <a:lstStyle/>
        <a:p>
          <a:pPr rtl="0"/>
          <a:r>
            <a:rPr lang="en-US" dirty="0" smtClean="0">
              <a:solidFill>
                <a:schemeClr val="accent2"/>
              </a:solidFill>
            </a:rPr>
            <a:t>Number of register sets</a:t>
          </a:r>
          <a:endParaRPr lang="en-US" dirty="0">
            <a:solidFill>
              <a:schemeClr val="accent2"/>
            </a:solidFill>
          </a:endParaRPr>
        </a:p>
      </dgm:t>
    </dgm:pt>
    <dgm:pt modelId="{94387FF2-DB90-2847-8C78-4FB43C18C44C}" type="parTrans" cxnId="{1A30B05A-B014-4F43-889E-ADA64EF2C06D}">
      <dgm:prSet/>
      <dgm:spPr/>
      <dgm:t>
        <a:bodyPr/>
        <a:lstStyle/>
        <a:p>
          <a:endParaRPr lang="en-US"/>
        </a:p>
      </dgm:t>
    </dgm:pt>
    <dgm:pt modelId="{9FE48CF8-4E9B-D84B-B124-EF4F004DFAAF}" type="sibTrans" cxnId="{1A30B05A-B014-4F43-889E-ADA64EF2C06D}">
      <dgm:prSet/>
      <dgm:spPr/>
      <dgm:t>
        <a:bodyPr/>
        <a:lstStyle/>
        <a:p>
          <a:endParaRPr lang="en-US"/>
        </a:p>
      </dgm:t>
    </dgm:pt>
    <dgm:pt modelId="{98FFAAB8-4D35-0D40-9511-077DABD5C852}">
      <dgm:prSet/>
      <dgm:spPr/>
      <dgm:t>
        <a:bodyPr/>
        <a:lstStyle/>
        <a:p>
          <a:pPr rtl="0"/>
          <a:r>
            <a:rPr lang="en-US" dirty="0" smtClean="0">
              <a:solidFill>
                <a:schemeClr val="accent2"/>
              </a:solidFill>
            </a:rPr>
            <a:t>Address range</a:t>
          </a:r>
          <a:endParaRPr lang="en-US" dirty="0">
            <a:solidFill>
              <a:schemeClr val="accent2"/>
            </a:solidFill>
          </a:endParaRPr>
        </a:p>
      </dgm:t>
    </dgm:pt>
    <dgm:pt modelId="{100A0CDE-A711-314D-B275-1C97838FF1E4}" type="parTrans" cxnId="{ECDDB5C4-8450-9A49-BB13-E47F98B26223}">
      <dgm:prSet/>
      <dgm:spPr/>
      <dgm:t>
        <a:bodyPr/>
        <a:lstStyle/>
        <a:p>
          <a:endParaRPr lang="en-US"/>
        </a:p>
      </dgm:t>
    </dgm:pt>
    <dgm:pt modelId="{4D5871A4-6BEE-2348-8A4E-DCAD835EBD7E}" type="sibTrans" cxnId="{ECDDB5C4-8450-9A49-BB13-E47F98B26223}">
      <dgm:prSet/>
      <dgm:spPr/>
      <dgm:t>
        <a:bodyPr/>
        <a:lstStyle/>
        <a:p>
          <a:endParaRPr lang="en-US"/>
        </a:p>
      </dgm:t>
    </dgm:pt>
    <dgm:pt modelId="{86BF62D0-CCA8-2B4A-A711-8DFB4CCE5363}">
      <dgm:prSet/>
      <dgm:spPr/>
      <dgm:t>
        <a:bodyPr/>
        <a:lstStyle/>
        <a:p>
          <a:pPr rtl="0"/>
          <a:r>
            <a:rPr lang="en-US" dirty="0" smtClean="0">
              <a:solidFill>
                <a:schemeClr val="accent2"/>
              </a:solidFill>
            </a:rPr>
            <a:t>Address granularity</a:t>
          </a:r>
          <a:endParaRPr lang="en-US" dirty="0">
            <a:solidFill>
              <a:schemeClr val="accent2"/>
            </a:solidFill>
          </a:endParaRPr>
        </a:p>
      </dgm:t>
    </dgm:pt>
    <dgm:pt modelId="{B4377790-0992-4B4D-8B4B-58342305303F}" type="parTrans" cxnId="{ACB0D45A-FBFD-2A47-BB69-960B1D9DAD8C}">
      <dgm:prSet/>
      <dgm:spPr/>
      <dgm:t>
        <a:bodyPr/>
        <a:lstStyle/>
        <a:p>
          <a:endParaRPr lang="en-US"/>
        </a:p>
      </dgm:t>
    </dgm:pt>
    <dgm:pt modelId="{7A84B130-D757-9C4E-AF3E-D970F8D8910D}" type="sibTrans" cxnId="{ACB0D45A-FBFD-2A47-BB69-960B1D9DAD8C}">
      <dgm:prSet/>
      <dgm:spPr/>
      <dgm:t>
        <a:bodyPr/>
        <a:lstStyle/>
        <a:p>
          <a:endParaRPr lang="en-US"/>
        </a:p>
      </dgm:t>
    </dgm:pt>
    <dgm:pt modelId="{76757134-4DD3-DD42-980C-793F2415FCA7}" type="pres">
      <dgm:prSet presAssocID="{F5D17FB3-E440-6A4F-B7D3-293DE85510F6}" presName="diagram" presStyleCnt="0">
        <dgm:presLayoutVars>
          <dgm:dir/>
          <dgm:resizeHandles val="exact"/>
        </dgm:presLayoutVars>
      </dgm:prSet>
      <dgm:spPr/>
      <dgm:t>
        <a:bodyPr/>
        <a:lstStyle/>
        <a:p>
          <a:endParaRPr lang="en-US"/>
        </a:p>
      </dgm:t>
    </dgm:pt>
    <dgm:pt modelId="{C35741C0-AF00-CA44-9BD7-897AD833618C}" type="pres">
      <dgm:prSet presAssocID="{9AEE2E66-27AF-D94B-8E74-F7EC8B7B4107}" presName="node" presStyleLbl="node1" presStyleIdx="0" presStyleCnt="6">
        <dgm:presLayoutVars>
          <dgm:bulletEnabled val="1"/>
        </dgm:presLayoutVars>
      </dgm:prSet>
      <dgm:spPr/>
      <dgm:t>
        <a:bodyPr/>
        <a:lstStyle/>
        <a:p>
          <a:endParaRPr lang="en-US"/>
        </a:p>
      </dgm:t>
    </dgm:pt>
    <dgm:pt modelId="{6A10D592-1828-B54B-8EC0-C92E61B4C478}" type="pres">
      <dgm:prSet presAssocID="{ABB20859-8428-F14E-B216-7154F1AE07D4}" presName="sibTrans" presStyleCnt="0"/>
      <dgm:spPr/>
    </dgm:pt>
    <dgm:pt modelId="{72BB6A60-8F22-2D4E-BC0F-3DC0A691A29B}" type="pres">
      <dgm:prSet presAssocID="{B297A6D1-6B6F-FB43-9466-D800DE79CC4D}" presName="node" presStyleLbl="node1" presStyleIdx="1" presStyleCnt="6">
        <dgm:presLayoutVars>
          <dgm:bulletEnabled val="1"/>
        </dgm:presLayoutVars>
      </dgm:prSet>
      <dgm:spPr/>
      <dgm:t>
        <a:bodyPr/>
        <a:lstStyle/>
        <a:p>
          <a:endParaRPr lang="en-US"/>
        </a:p>
      </dgm:t>
    </dgm:pt>
    <dgm:pt modelId="{0D0F39F2-3712-B149-92BA-64A063C01F53}" type="pres">
      <dgm:prSet presAssocID="{CDAB6B77-D360-BC4F-804B-B717691E54CB}" presName="sibTrans" presStyleCnt="0"/>
      <dgm:spPr/>
    </dgm:pt>
    <dgm:pt modelId="{352CB0F1-5B6C-6945-ABF3-ED695AFC0D9A}" type="pres">
      <dgm:prSet presAssocID="{F50C517B-16D1-B849-8EF0-8C98FA877BEA}" presName="node" presStyleLbl="node1" presStyleIdx="2" presStyleCnt="6">
        <dgm:presLayoutVars>
          <dgm:bulletEnabled val="1"/>
        </dgm:presLayoutVars>
      </dgm:prSet>
      <dgm:spPr/>
      <dgm:t>
        <a:bodyPr/>
        <a:lstStyle/>
        <a:p>
          <a:endParaRPr lang="en-US"/>
        </a:p>
      </dgm:t>
    </dgm:pt>
    <dgm:pt modelId="{9DC73B5F-9AD7-DB4C-926D-095824A3E567}" type="pres">
      <dgm:prSet presAssocID="{4586DD4F-8D61-9F43-9475-92257A1A256A}" presName="sibTrans" presStyleCnt="0"/>
      <dgm:spPr/>
    </dgm:pt>
    <dgm:pt modelId="{9B9E5E99-5AE5-724E-A77F-FCC711EA4601}" type="pres">
      <dgm:prSet presAssocID="{E8124A79-2EB2-8346-8789-DF8D254E1437}" presName="node" presStyleLbl="node1" presStyleIdx="3" presStyleCnt="6">
        <dgm:presLayoutVars>
          <dgm:bulletEnabled val="1"/>
        </dgm:presLayoutVars>
      </dgm:prSet>
      <dgm:spPr/>
      <dgm:t>
        <a:bodyPr/>
        <a:lstStyle/>
        <a:p>
          <a:endParaRPr lang="en-US"/>
        </a:p>
      </dgm:t>
    </dgm:pt>
    <dgm:pt modelId="{55F43FCC-DCC4-744D-A032-3564F25AC41D}" type="pres">
      <dgm:prSet presAssocID="{9FE48CF8-4E9B-D84B-B124-EF4F004DFAAF}" presName="sibTrans" presStyleCnt="0"/>
      <dgm:spPr/>
    </dgm:pt>
    <dgm:pt modelId="{07111F0A-146D-B74B-93B1-03C3088F22D2}" type="pres">
      <dgm:prSet presAssocID="{98FFAAB8-4D35-0D40-9511-077DABD5C852}" presName="node" presStyleLbl="node1" presStyleIdx="4" presStyleCnt="6">
        <dgm:presLayoutVars>
          <dgm:bulletEnabled val="1"/>
        </dgm:presLayoutVars>
      </dgm:prSet>
      <dgm:spPr/>
      <dgm:t>
        <a:bodyPr/>
        <a:lstStyle/>
        <a:p>
          <a:endParaRPr lang="en-US"/>
        </a:p>
      </dgm:t>
    </dgm:pt>
    <dgm:pt modelId="{E1804273-11B9-3C4E-847F-9C3BCD1AC050}" type="pres">
      <dgm:prSet presAssocID="{4D5871A4-6BEE-2348-8A4E-DCAD835EBD7E}" presName="sibTrans" presStyleCnt="0"/>
      <dgm:spPr/>
    </dgm:pt>
    <dgm:pt modelId="{2C13FBC5-B362-E34C-81FE-4DAA45A75724}" type="pres">
      <dgm:prSet presAssocID="{86BF62D0-CCA8-2B4A-A711-8DFB4CCE5363}" presName="node" presStyleLbl="node1" presStyleIdx="5" presStyleCnt="6">
        <dgm:presLayoutVars>
          <dgm:bulletEnabled val="1"/>
        </dgm:presLayoutVars>
      </dgm:prSet>
      <dgm:spPr/>
      <dgm:t>
        <a:bodyPr/>
        <a:lstStyle/>
        <a:p>
          <a:endParaRPr lang="en-US"/>
        </a:p>
      </dgm:t>
    </dgm:pt>
  </dgm:ptLst>
  <dgm:cxnLst>
    <dgm:cxn modelId="{F83B4C3E-B224-E84C-8336-0334A67B4454}" type="presOf" srcId="{86BF62D0-CCA8-2B4A-A711-8DFB4CCE5363}" destId="{2C13FBC5-B362-E34C-81FE-4DAA45A75724}" srcOrd="0" destOrd="0" presId="urn:microsoft.com/office/officeart/2005/8/layout/default"/>
    <dgm:cxn modelId="{95D16435-CFF6-A340-B7E0-6E166A9B2CE8}" type="presOf" srcId="{E8124A79-2EB2-8346-8789-DF8D254E1437}" destId="{9B9E5E99-5AE5-724E-A77F-FCC711EA4601}" srcOrd="0" destOrd="0" presId="urn:microsoft.com/office/officeart/2005/8/layout/default"/>
    <dgm:cxn modelId="{6E9F6A7E-4D7D-5141-94F8-0EC2FFEBC30F}" srcId="{F5D17FB3-E440-6A4F-B7D3-293DE85510F6}" destId="{F50C517B-16D1-B849-8EF0-8C98FA877BEA}" srcOrd="2" destOrd="0" parTransId="{07B03D8D-888B-D34C-BB8D-283A164FD355}" sibTransId="{4586DD4F-8D61-9F43-9475-92257A1A256A}"/>
    <dgm:cxn modelId="{1A30B05A-B014-4F43-889E-ADA64EF2C06D}" srcId="{F5D17FB3-E440-6A4F-B7D3-293DE85510F6}" destId="{E8124A79-2EB2-8346-8789-DF8D254E1437}" srcOrd="3" destOrd="0" parTransId="{94387FF2-DB90-2847-8C78-4FB43C18C44C}" sibTransId="{9FE48CF8-4E9B-D84B-B124-EF4F004DFAAF}"/>
    <dgm:cxn modelId="{CD218FB7-8135-684C-BF8A-4273A7C96E45}" srcId="{F5D17FB3-E440-6A4F-B7D3-293DE85510F6}" destId="{B297A6D1-6B6F-FB43-9466-D800DE79CC4D}" srcOrd="1" destOrd="0" parTransId="{92415BC5-8E50-4343-9DC9-9F973C7DCC25}" sibTransId="{CDAB6B77-D360-BC4F-804B-B717691E54CB}"/>
    <dgm:cxn modelId="{739F25D3-223E-5445-85A9-60FC4C82EB58}" srcId="{F5D17FB3-E440-6A4F-B7D3-293DE85510F6}" destId="{9AEE2E66-27AF-D94B-8E74-F7EC8B7B4107}" srcOrd="0" destOrd="0" parTransId="{8AB2495B-FDED-A542-8D70-3786670ABA01}" sibTransId="{ABB20859-8428-F14E-B216-7154F1AE07D4}"/>
    <dgm:cxn modelId="{48731B42-14E9-C245-B8AD-2EB34CEFDE91}" type="presOf" srcId="{9AEE2E66-27AF-D94B-8E74-F7EC8B7B4107}" destId="{C35741C0-AF00-CA44-9BD7-897AD833618C}" srcOrd="0" destOrd="0" presId="urn:microsoft.com/office/officeart/2005/8/layout/default"/>
    <dgm:cxn modelId="{ACB0D45A-FBFD-2A47-BB69-960B1D9DAD8C}" srcId="{F5D17FB3-E440-6A4F-B7D3-293DE85510F6}" destId="{86BF62D0-CCA8-2B4A-A711-8DFB4CCE5363}" srcOrd="5" destOrd="0" parTransId="{B4377790-0992-4B4D-8B4B-58342305303F}" sibTransId="{7A84B130-D757-9C4E-AF3E-D970F8D8910D}"/>
    <dgm:cxn modelId="{CE1CB6FB-1029-1C44-8B80-BEF4E1D74A26}" type="presOf" srcId="{F5D17FB3-E440-6A4F-B7D3-293DE85510F6}" destId="{76757134-4DD3-DD42-980C-793F2415FCA7}" srcOrd="0" destOrd="0" presId="urn:microsoft.com/office/officeart/2005/8/layout/default"/>
    <dgm:cxn modelId="{ECDDB5C4-8450-9A49-BB13-E47F98B26223}" srcId="{F5D17FB3-E440-6A4F-B7D3-293DE85510F6}" destId="{98FFAAB8-4D35-0D40-9511-077DABD5C852}" srcOrd="4" destOrd="0" parTransId="{100A0CDE-A711-314D-B275-1C97838FF1E4}" sibTransId="{4D5871A4-6BEE-2348-8A4E-DCAD835EBD7E}"/>
    <dgm:cxn modelId="{6F973F10-FDCB-3043-8FA0-CA1B3F75EC4C}" type="presOf" srcId="{98FFAAB8-4D35-0D40-9511-077DABD5C852}" destId="{07111F0A-146D-B74B-93B1-03C3088F22D2}" srcOrd="0" destOrd="0" presId="urn:microsoft.com/office/officeart/2005/8/layout/default"/>
    <dgm:cxn modelId="{598E6AB1-129F-E34D-B3AD-AD31EC31775C}" type="presOf" srcId="{B297A6D1-6B6F-FB43-9466-D800DE79CC4D}" destId="{72BB6A60-8F22-2D4E-BC0F-3DC0A691A29B}" srcOrd="0" destOrd="0" presId="urn:microsoft.com/office/officeart/2005/8/layout/default"/>
    <dgm:cxn modelId="{BFCFBFAE-C4E7-F14B-9086-841E6FF1B2DE}" type="presOf" srcId="{F50C517B-16D1-B849-8EF0-8C98FA877BEA}" destId="{352CB0F1-5B6C-6945-ABF3-ED695AFC0D9A}" srcOrd="0" destOrd="0" presId="urn:microsoft.com/office/officeart/2005/8/layout/default"/>
    <dgm:cxn modelId="{FA57E072-0BA8-1B40-9A0E-8185B04B0684}" type="presParOf" srcId="{76757134-4DD3-DD42-980C-793F2415FCA7}" destId="{C35741C0-AF00-CA44-9BD7-897AD833618C}" srcOrd="0" destOrd="0" presId="urn:microsoft.com/office/officeart/2005/8/layout/default"/>
    <dgm:cxn modelId="{89F33706-E8F9-AC49-A54C-227998F0AC5A}" type="presParOf" srcId="{76757134-4DD3-DD42-980C-793F2415FCA7}" destId="{6A10D592-1828-B54B-8EC0-C92E61B4C478}" srcOrd="1" destOrd="0" presId="urn:microsoft.com/office/officeart/2005/8/layout/default"/>
    <dgm:cxn modelId="{B03EC9B0-5E33-3945-87B8-0056B8157ED8}" type="presParOf" srcId="{76757134-4DD3-DD42-980C-793F2415FCA7}" destId="{72BB6A60-8F22-2D4E-BC0F-3DC0A691A29B}" srcOrd="2" destOrd="0" presId="urn:microsoft.com/office/officeart/2005/8/layout/default"/>
    <dgm:cxn modelId="{732091F9-351C-C84D-B492-30FC6AF7D26F}" type="presParOf" srcId="{76757134-4DD3-DD42-980C-793F2415FCA7}" destId="{0D0F39F2-3712-B149-92BA-64A063C01F53}" srcOrd="3" destOrd="0" presId="urn:microsoft.com/office/officeart/2005/8/layout/default"/>
    <dgm:cxn modelId="{C60D1BC4-9DDC-2943-BB12-B3424E65CB76}" type="presParOf" srcId="{76757134-4DD3-DD42-980C-793F2415FCA7}" destId="{352CB0F1-5B6C-6945-ABF3-ED695AFC0D9A}" srcOrd="4" destOrd="0" presId="urn:microsoft.com/office/officeart/2005/8/layout/default"/>
    <dgm:cxn modelId="{EDE21C9C-09A6-EA4B-8FAE-7BC199CDCBF9}" type="presParOf" srcId="{76757134-4DD3-DD42-980C-793F2415FCA7}" destId="{9DC73B5F-9AD7-DB4C-926D-095824A3E567}" srcOrd="5" destOrd="0" presId="urn:microsoft.com/office/officeart/2005/8/layout/default"/>
    <dgm:cxn modelId="{6A9FAA32-2A6C-7D47-B0C8-911DE8B82DB3}" type="presParOf" srcId="{76757134-4DD3-DD42-980C-793F2415FCA7}" destId="{9B9E5E99-5AE5-724E-A77F-FCC711EA4601}" srcOrd="6" destOrd="0" presId="urn:microsoft.com/office/officeart/2005/8/layout/default"/>
    <dgm:cxn modelId="{00106AF4-834A-A045-A012-AC3533D1E3E5}" type="presParOf" srcId="{76757134-4DD3-DD42-980C-793F2415FCA7}" destId="{55F43FCC-DCC4-744D-A032-3564F25AC41D}" srcOrd="7" destOrd="0" presId="urn:microsoft.com/office/officeart/2005/8/layout/default"/>
    <dgm:cxn modelId="{497A1725-C285-6C40-80C5-A6F0F9A51A62}" type="presParOf" srcId="{76757134-4DD3-DD42-980C-793F2415FCA7}" destId="{07111F0A-146D-B74B-93B1-03C3088F22D2}" srcOrd="8" destOrd="0" presId="urn:microsoft.com/office/officeart/2005/8/layout/default"/>
    <dgm:cxn modelId="{CD14BDD2-5FCF-1E4A-B94A-99215A7A7952}" type="presParOf" srcId="{76757134-4DD3-DD42-980C-793F2415FCA7}" destId="{E1804273-11B9-3C4E-847F-9C3BCD1AC050}" srcOrd="9" destOrd="0" presId="urn:microsoft.com/office/officeart/2005/8/layout/default"/>
    <dgm:cxn modelId="{73A742AC-FC5D-4741-977E-A10DDA75E707}" type="presParOf" srcId="{76757134-4DD3-DD42-980C-793F2415FCA7}" destId="{2C13FBC5-B362-E34C-81FE-4DAA45A75724}"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3FD2E1-6A44-304A-8ABE-D29421750942}">
      <dsp:nvSpPr>
        <dsp:cNvPr id="0" name=""/>
        <dsp:cNvSpPr/>
      </dsp:nvSpPr>
      <dsp:spPr>
        <a:xfrm>
          <a:off x="-6102426" y="-934316"/>
          <a:ext cx="7269307" cy="7269307"/>
        </a:xfrm>
        <a:prstGeom prst="blockArc">
          <a:avLst>
            <a:gd name="adj1" fmla="val 18900000"/>
            <a:gd name="adj2" fmla="val 2700000"/>
            <a:gd name="adj3" fmla="val 297"/>
          </a:avLst>
        </a:prstGeom>
        <a:noFill/>
        <a:ln w="25400"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CBD8BE2-2890-524A-8B30-4BF8372329EA}">
      <dsp:nvSpPr>
        <dsp:cNvPr id="0" name=""/>
        <dsp:cNvSpPr/>
      </dsp:nvSpPr>
      <dsp:spPr>
        <a:xfrm>
          <a:off x="378857" y="245514"/>
          <a:ext cx="6137267" cy="490813"/>
        </a:xfrm>
        <a:prstGeom prst="rect">
          <a:avLst/>
        </a:prstGeom>
        <a:gradFill rotWithShape="0">
          <a:gsLst>
            <a:gs pos="0">
              <a:schemeClr val="accent2">
                <a:hueOff val="0"/>
                <a:satOff val="0"/>
                <a:lumOff val="0"/>
                <a:alphaOff val="0"/>
                <a:shade val="40000"/>
                <a:alpha val="100000"/>
                <a:satMod val="150000"/>
                <a:lumMod val="100000"/>
              </a:schemeClr>
            </a:gs>
            <a:gs pos="100000">
              <a:schemeClr val="accent2">
                <a:hueOff val="0"/>
                <a:satOff val="0"/>
                <a:lumOff val="0"/>
                <a:alphaOff val="0"/>
                <a:tint val="70000"/>
                <a:shade val="100000"/>
                <a:alpha val="100000"/>
                <a:satMod val="200000"/>
                <a:lumMod val="100000"/>
              </a:schemeClr>
            </a:gs>
          </a:gsLst>
          <a:lin ang="5400000" scaled="1"/>
        </a:gradFill>
        <a:ln>
          <a:noFill/>
        </a:ln>
        <a:effectLst/>
        <a:scene3d>
          <a:camera prst="orthographicFront">
            <a:rot lat="0" lon="0" rev="0"/>
          </a:camera>
          <a:lightRig rig="twoPt" dir="tl">
            <a:rot lat="0" lon="0" rev="4500000"/>
          </a:lightRig>
        </a:scene3d>
        <a:sp3d>
          <a:bevelT w="63500" h="50800"/>
        </a:sp3d>
      </dsp:spPr>
      <dsp:style>
        <a:lnRef idx="0">
          <a:scrgbClr r="0" g="0" b="0"/>
        </a:lnRef>
        <a:fillRef idx="3">
          <a:scrgbClr r="0" g="0" b="0"/>
        </a:fillRef>
        <a:effectRef idx="3">
          <a:scrgbClr r="0" g="0" b="0"/>
        </a:effectRef>
        <a:fontRef idx="minor">
          <a:schemeClr val="lt1"/>
        </a:fontRef>
      </dsp:style>
      <dsp:txBody>
        <a:bodyPr spcFirstLastPara="0" vert="horz" wrap="square" lIns="389583" tIns="66040" rIns="66040" bIns="66040" numCol="1" spcCol="1270" anchor="ctr" anchorCtr="0">
          <a:noAutofit/>
        </a:bodyPr>
        <a:lstStyle/>
        <a:p>
          <a:pPr lvl="0" algn="l" defTabSz="1155700" rtl="0">
            <a:lnSpc>
              <a:spcPct val="90000"/>
            </a:lnSpc>
            <a:spcBef>
              <a:spcPct val="0"/>
            </a:spcBef>
            <a:spcAft>
              <a:spcPct val="35000"/>
            </a:spcAft>
          </a:pPr>
          <a:r>
            <a:rPr lang="en-US" sz="2600" kern="1200" smtClean="0"/>
            <a:t>Immediate</a:t>
          </a:r>
          <a:endParaRPr lang="en-US" sz="2600" kern="1200"/>
        </a:p>
      </dsp:txBody>
      <dsp:txXfrm>
        <a:off x="378857" y="245514"/>
        <a:ext cx="6137267" cy="490813"/>
      </dsp:txXfrm>
    </dsp:sp>
    <dsp:sp modelId="{3A908DAF-12B2-5D4A-8B94-244EFBE3757C}">
      <dsp:nvSpPr>
        <dsp:cNvPr id="0" name=""/>
        <dsp:cNvSpPr/>
      </dsp:nvSpPr>
      <dsp:spPr>
        <a:xfrm>
          <a:off x="72099" y="184163"/>
          <a:ext cx="613516" cy="613516"/>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1">
          <a:scrgbClr r="0" g="0" b="0"/>
        </a:fillRef>
        <a:effectRef idx="2">
          <a:scrgbClr r="0" g="0" b="0"/>
        </a:effectRef>
        <a:fontRef idx="minor"/>
      </dsp:style>
    </dsp:sp>
    <dsp:sp modelId="{5D6CDD84-B3EF-9C46-B0CB-2C51976A425F}">
      <dsp:nvSpPr>
        <dsp:cNvPr id="0" name=""/>
        <dsp:cNvSpPr/>
      </dsp:nvSpPr>
      <dsp:spPr>
        <a:xfrm>
          <a:off x="823332" y="982166"/>
          <a:ext cx="5692792" cy="490813"/>
        </a:xfrm>
        <a:prstGeom prst="rect">
          <a:avLst/>
        </a:prstGeom>
        <a:gradFill rotWithShape="0">
          <a:gsLst>
            <a:gs pos="0">
              <a:schemeClr val="accent2">
                <a:hueOff val="0"/>
                <a:satOff val="0"/>
                <a:lumOff val="0"/>
                <a:alphaOff val="0"/>
                <a:shade val="40000"/>
                <a:alpha val="100000"/>
                <a:satMod val="150000"/>
                <a:lumMod val="100000"/>
              </a:schemeClr>
            </a:gs>
            <a:gs pos="100000">
              <a:schemeClr val="accent2">
                <a:hueOff val="0"/>
                <a:satOff val="0"/>
                <a:lumOff val="0"/>
                <a:alphaOff val="0"/>
                <a:tint val="70000"/>
                <a:shade val="100000"/>
                <a:alpha val="100000"/>
                <a:satMod val="200000"/>
                <a:lumMod val="100000"/>
              </a:schemeClr>
            </a:gs>
          </a:gsLst>
          <a:lin ang="5400000" scaled="1"/>
        </a:gradFill>
        <a:ln>
          <a:noFill/>
        </a:ln>
        <a:effectLst/>
        <a:scene3d>
          <a:camera prst="orthographicFront">
            <a:rot lat="0" lon="0" rev="0"/>
          </a:camera>
          <a:lightRig rig="twoPt" dir="tl">
            <a:rot lat="0" lon="0" rev="4500000"/>
          </a:lightRig>
        </a:scene3d>
        <a:sp3d>
          <a:bevelT w="63500" h="50800"/>
        </a:sp3d>
      </dsp:spPr>
      <dsp:style>
        <a:lnRef idx="0">
          <a:scrgbClr r="0" g="0" b="0"/>
        </a:lnRef>
        <a:fillRef idx="3">
          <a:scrgbClr r="0" g="0" b="0"/>
        </a:fillRef>
        <a:effectRef idx="3">
          <a:scrgbClr r="0" g="0" b="0"/>
        </a:effectRef>
        <a:fontRef idx="minor">
          <a:schemeClr val="lt1"/>
        </a:fontRef>
      </dsp:style>
      <dsp:txBody>
        <a:bodyPr spcFirstLastPara="0" vert="horz" wrap="square" lIns="389583" tIns="66040" rIns="66040" bIns="66040" numCol="1" spcCol="1270" anchor="ctr" anchorCtr="0">
          <a:noAutofit/>
        </a:bodyPr>
        <a:lstStyle/>
        <a:p>
          <a:pPr lvl="0" algn="l" defTabSz="1155700" rtl="0">
            <a:lnSpc>
              <a:spcPct val="90000"/>
            </a:lnSpc>
            <a:spcBef>
              <a:spcPct val="0"/>
            </a:spcBef>
            <a:spcAft>
              <a:spcPct val="35000"/>
            </a:spcAft>
          </a:pPr>
          <a:r>
            <a:rPr lang="en-US" sz="2600" kern="1200" dirty="0" smtClean="0"/>
            <a:t>Direct</a:t>
          </a:r>
          <a:endParaRPr lang="en-US" sz="2600" kern="1200" dirty="0"/>
        </a:p>
      </dsp:txBody>
      <dsp:txXfrm>
        <a:off x="823332" y="982166"/>
        <a:ext cx="5692792" cy="490813"/>
      </dsp:txXfrm>
    </dsp:sp>
    <dsp:sp modelId="{C8DBD8D7-7921-8E46-8701-0CB59E7E5B84}">
      <dsp:nvSpPr>
        <dsp:cNvPr id="0" name=""/>
        <dsp:cNvSpPr/>
      </dsp:nvSpPr>
      <dsp:spPr>
        <a:xfrm>
          <a:off x="516574" y="920815"/>
          <a:ext cx="613516" cy="613516"/>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1">
          <a:scrgbClr r="0" g="0" b="0"/>
        </a:fillRef>
        <a:effectRef idx="2">
          <a:scrgbClr r="0" g="0" b="0"/>
        </a:effectRef>
        <a:fontRef idx="minor"/>
      </dsp:style>
    </dsp:sp>
    <dsp:sp modelId="{D1813CF1-15BD-1746-9C06-CB67253200BC}">
      <dsp:nvSpPr>
        <dsp:cNvPr id="0" name=""/>
        <dsp:cNvSpPr/>
      </dsp:nvSpPr>
      <dsp:spPr>
        <a:xfrm>
          <a:off x="1066903" y="1718278"/>
          <a:ext cx="5449221" cy="490813"/>
        </a:xfrm>
        <a:prstGeom prst="rect">
          <a:avLst/>
        </a:prstGeom>
        <a:gradFill rotWithShape="0">
          <a:gsLst>
            <a:gs pos="0">
              <a:schemeClr val="accent2">
                <a:hueOff val="0"/>
                <a:satOff val="0"/>
                <a:lumOff val="0"/>
                <a:alphaOff val="0"/>
                <a:shade val="40000"/>
                <a:alpha val="100000"/>
                <a:satMod val="150000"/>
                <a:lumMod val="100000"/>
              </a:schemeClr>
            </a:gs>
            <a:gs pos="100000">
              <a:schemeClr val="accent2">
                <a:hueOff val="0"/>
                <a:satOff val="0"/>
                <a:lumOff val="0"/>
                <a:alphaOff val="0"/>
                <a:tint val="70000"/>
                <a:shade val="100000"/>
                <a:alpha val="100000"/>
                <a:satMod val="200000"/>
                <a:lumMod val="100000"/>
              </a:schemeClr>
            </a:gs>
          </a:gsLst>
          <a:lin ang="5400000" scaled="1"/>
        </a:gradFill>
        <a:ln>
          <a:noFill/>
        </a:ln>
        <a:effectLst/>
        <a:scene3d>
          <a:camera prst="orthographicFront">
            <a:rot lat="0" lon="0" rev="0"/>
          </a:camera>
          <a:lightRig rig="twoPt" dir="tl">
            <a:rot lat="0" lon="0" rev="4500000"/>
          </a:lightRig>
        </a:scene3d>
        <a:sp3d>
          <a:bevelT w="63500" h="50800"/>
        </a:sp3d>
      </dsp:spPr>
      <dsp:style>
        <a:lnRef idx="0">
          <a:scrgbClr r="0" g="0" b="0"/>
        </a:lnRef>
        <a:fillRef idx="3">
          <a:scrgbClr r="0" g="0" b="0"/>
        </a:fillRef>
        <a:effectRef idx="3">
          <a:scrgbClr r="0" g="0" b="0"/>
        </a:effectRef>
        <a:fontRef idx="minor">
          <a:schemeClr val="lt1"/>
        </a:fontRef>
      </dsp:style>
      <dsp:txBody>
        <a:bodyPr spcFirstLastPara="0" vert="horz" wrap="square" lIns="389583" tIns="66040" rIns="66040" bIns="66040" numCol="1" spcCol="1270" anchor="ctr" anchorCtr="0">
          <a:noAutofit/>
        </a:bodyPr>
        <a:lstStyle/>
        <a:p>
          <a:pPr lvl="0" algn="l" defTabSz="1155700" rtl="0">
            <a:lnSpc>
              <a:spcPct val="90000"/>
            </a:lnSpc>
            <a:spcBef>
              <a:spcPct val="0"/>
            </a:spcBef>
            <a:spcAft>
              <a:spcPct val="35000"/>
            </a:spcAft>
          </a:pPr>
          <a:r>
            <a:rPr lang="en-US" sz="2600" kern="1200" dirty="0" smtClean="0"/>
            <a:t>Indirect</a:t>
          </a:r>
          <a:endParaRPr lang="en-US" sz="2600" kern="1200" dirty="0"/>
        </a:p>
      </dsp:txBody>
      <dsp:txXfrm>
        <a:off x="1066903" y="1718278"/>
        <a:ext cx="5449221" cy="490813"/>
      </dsp:txXfrm>
    </dsp:sp>
    <dsp:sp modelId="{2DEFCA7B-7A11-FF43-8F11-DDD566601285}">
      <dsp:nvSpPr>
        <dsp:cNvPr id="0" name=""/>
        <dsp:cNvSpPr/>
      </dsp:nvSpPr>
      <dsp:spPr>
        <a:xfrm>
          <a:off x="760145" y="1656927"/>
          <a:ext cx="613516" cy="613516"/>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1">
          <a:scrgbClr r="0" g="0" b="0"/>
        </a:fillRef>
        <a:effectRef idx="2">
          <a:scrgbClr r="0" g="0" b="0"/>
        </a:effectRef>
        <a:fontRef idx="minor"/>
      </dsp:style>
    </dsp:sp>
    <dsp:sp modelId="{4CE707F1-C341-234F-A380-871D988B9892}">
      <dsp:nvSpPr>
        <dsp:cNvPr id="0" name=""/>
        <dsp:cNvSpPr/>
      </dsp:nvSpPr>
      <dsp:spPr>
        <a:xfrm>
          <a:off x="1144673" y="2454930"/>
          <a:ext cx="5371451" cy="490813"/>
        </a:xfrm>
        <a:prstGeom prst="rect">
          <a:avLst/>
        </a:prstGeom>
        <a:gradFill rotWithShape="0">
          <a:gsLst>
            <a:gs pos="0">
              <a:schemeClr val="accent2">
                <a:hueOff val="0"/>
                <a:satOff val="0"/>
                <a:lumOff val="0"/>
                <a:alphaOff val="0"/>
                <a:shade val="40000"/>
                <a:alpha val="100000"/>
                <a:satMod val="150000"/>
                <a:lumMod val="100000"/>
              </a:schemeClr>
            </a:gs>
            <a:gs pos="100000">
              <a:schemeClr val="accent2">
                <a:hueOff val="0"/>
                <a:satOff val="0"/>
                <a:lumOff val="0"/>
                <a:alphaOff val="0"/>
                <a:tint val="70000"/>
                <a:shade val="100000"/>
                <a:alpha val="100000"/>
                <a:satMod val="200000"/>
                <a:lumMod val="100000"/>
              </a:schemeClr>
            </a:gs>
          </a:gsLst>
          <a:lin ang="5400000" scaled="1"/>
        </a:gradFill>
        <a:ln>
          <a:noFill/>
        </a:ln>
        <a:effectLst/>
        <a:scene3d>
          <a:camera prst="orthographicFront">
            <a:rot lat="0" lon="0" rev="0"/>
          </a:camera>
          <a:lightRig rig="twoPt" dir="tl">
            <a:rot lat="0" lon="0" rev="4500000"/>
          </a:lightRig>
        </a:scene3d>
        <a:sp3d>
          <a:bevelT w="63500" h="50800"/>
        </a:sp3d>
      </dsp:spPr>
      <dsp:style>
        <a:lnRef idx="0">
          <a:scrgbClr r="0" g="0" b="0"/>
        </a:lnRef>
        <a:fillRef idx="3">
          <a:scrgbClr r="0" g="0" b="0"/>
        </a:fillRef>
        <a:effectRef idx="3">
          <a:scrgbClr r="0" g="0" b="0"/>
        </a:effectRef>
        <a:fontRef idx="minor">
          <a:schemeClr val="lt1"/>
        </a:fontRef>
      </dsp:style>
      <dsp:txBody>
        <a:bodyPr spcFirstLastPara="0" vert="horz" wrap="square" lIns="389583" tIns="66040" rIns="66040" bIns="66040" numCol="1" spcCol="1270" anchor="ctr" anchorCtr="0">
          <a:noAutofit/>
        </a:bodyPr>
        <a:lstStyle/>
        <a:p>
          <a:pPr lvl="0" algn="l" defTabSz="1155700" rtl="0">
            <a:lnSpc>
              <a:spcPct val="90000"/>
            </a:lnSpc>
            <a:spcBef>
              <a:spcPct val="0"/>
            </a:spcBef>
            <a:spcAft>
              <a:spcPct val="35000"/>
            </a:spcAft>
          </a:pPr>
          <a:r>
            <a:rPr lang="en-US" sz="2600" kern="1200" smtClean="0"/>
            <a:t>Register</a:t>
          </a:r>
          <a:endParaRPr lang="en-US" sz="2600" kern="1200"/>
        </a:p>
      </dsp:txBody>
      <dsp:txXfrm>
        <a:off x="1144673" y="2454930"/>
        <a:ext cx="5371451" cy="490813"/>
      </dsp:txXfrm>
    </dsp:sp>
    <dsp:sp modelId="{B3B8FADB-2792-7E42-B1BB-E58F1512CC74}">
      <dsp:nvSpPr>
        <dsp:cNvPr id="0" name=""/>
        <dsp:cNvSpPr/>
      </dsp:nvSpPr>
      <dsp:spPr>
        <a:xfrm>
          <a:off x="837914" y="2393579"/>
          <a:ext cx="613516" cy="613516"/>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1">
          <a:scrgbClr r="0" g="0" b="0"/>
        </a:fillRef>
        <a:effectRef idx="2">
          <a:scrgbClr r="0" g="0" b="0"/>
        </a:effectRef>
        <a:fontRef idx="minor"/>
      </dsp:style>
    </dsp:sp>
    <dsp:sp modelId="{5B2C71B8-E792-594F-A81D-941C9F99CA12}">
      <dsp:nvSpPr>
        <dsp:cNvPr id="0" name=""/>
        <dsp:cNvSpPr/>
      </dsp:nvSpPr>
      <dsp:spPr>
        <a:xfrm>
          <a:off x="1066903" y="3191582"/>
          <a:ext cx="5449221" cy="490813"/>
        </a:xfrm>
        <a:prstGeom prst="rect">
          <a:avLst/>
        </a:prstGeom>
        <a:gradFill rotWithShape="0">
          <a:gsLst>
            <a:gs pos="0">
              <a:schemeClr val="accent2">
                <a:hueOff val="0"/>
                <a:satOff val="0"/>
                <a:lumOff val="0"/>
                <a:alphaOff val="0"/>
                <a:shade val="40000"/>
                <a:alpha val="100000"/>
                <a:satMod val="150000"/>
                <a:lumMod val="100000"/>
              </a:schemeClr>
            </a:gs>
            <a:gs pos="100000">
              <a:schemeClr val="accent2">
                <a:hueOff val="0"/>
                <a:satOff val="0"/>
                <a:lumOff val="0"/>
                <a:alphaOff val="0"/>
                <a:tint val="70000"/>
                <a:shade val="100000"/>
                <a:alpha val="100000"/>
                <a:satMod val="200000"/>
                <a:lumMod val="100000"/>
              </a:schemeClr>
            </a:gs>
          </a:gsLst>
          <a:lin ang="5400000" scaled="1"/>
        </a:gradFill>
        <a:ln>
          <a:noFill/>
        </a:ln>
        <a:effectLst/>
        <a:scene3d>
          <a:camera prst="orthographicFront">
            <a:rot lat="0" lon="0" rev="0"/>
          </a:camera>
          <a:lightRig rig="twoPt" dir="tl">
            <a:rot lat="0" lon="0" rev="4500000"/>
          </a:lightRig>
        </a:scene3d>
        <a:sp3d>
          <a:bevelT w="63500" h="50800"/>
        </a:sp3d>
      </dsp:spPr>
      <dsp:style>
        <a:lnRef idx="0">
          <a:scrgbClr r="0" g="0" b="0"/>
        </a:lnRef>
        <a:fillRef idx="3">
          <a:scrgbClr r="0" g="0" b="0"/>
        </a:fillRef>
        <a:effectRef idx="3">
          <a:scrgbClr r="0" g="0" b="0"/>
        </a:effectRef>
        <a:fontRef idx="minor">
          <a:schemeClr val="lt1"/>
        </a:fontRef>
      </dsp:style>
      <dsp:txBody>
        <a:bodyPr spcFirstLastPara="0" vert="horz" wrap="square" lIns="389583" tIns="66040" rIns="66040" bIns="66040" numCol="1" spcCol="1270" anchor="ctr" anchorCtr="0">
          <a:noAutofit/>
        </a:bodyPr>
        <a:lstStyle/>
        <a:p>
          <a:pPr lvl="0" algn="l" defTabSz="1155700" rtl="0">
            <a:lnSpc>
              <a:spcPct val="90000"/>
            </a:lnSpc>
            <a:spcBef>
              <a:spcPct val="0"/>
            </a:spcBef>
            <a:spcAft>
              <a:spcPct val="35000"/>
            </a:spcAft>
          </a:pPr>
          <a:r>
            <a:rPr lang="en-US" sz="2600" kern="1200" dirty="0" smtClean="0"/>
            <a:t>Register indirect</a:t>
          </a:r>
          <a:endParaRPr lang="en-US" sz="2600" kern="1200" dirty="0"/>
        </a:p>
      </dsp:txBody>
      <dsp:txXfrm>
        <a:off x="1066903" y="3191582"/>
        <a:ext cx="5449221" cy="490813"/>
      </dsp:txXfrm>
    </dsp:sp>
    <dsp:sp modelId="{61DA8E63-1670-9440-9A3A-B95BACF707FE}">
      <dsp:nvSpPr>
        <dsp:cNvPr id="0" name=""/>
        <dsp:cNvSpPr/>
      </dsp:nvSpPr>
      <dsp:spPr>
        <a:xfrm>
          <a:off x="760145" y="3130231"/>
          <a:ext cx="613516" cy="613516"/>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1">
          <a:scrgbClr r="0" g="0" b="0"/>
        </a:fillRef>
        <a:effectRef idx="2">
          <a:scrgbClr r="0" g="0" b="0"/>
        </a:effectRef>
        <a:fontRef idx="minor"/>
      </dsp:style>
    </dsp:sp>
    <dsp:sp modelId="{827B38F0-B7C1-DA48-9512-1FA3389CDEAE}">
      <dsp:nvSpPr>
        <dsp:cNvPr id="0" name=""/>
        <dsp:cNvSpPr/>
      </dsp:nvSpPr>
      <dsp:spPr>
        <a:xfrm>
          <a:off x="823332" y="3927694"/>
          <a:ext cx="5692792" cy="490813"/>
        </a:xfrm>
        <a:prstGeom prst="rect">
          <a:avLst/>
        </a:prstGeom>
        <a:gradFill rotWithShape="0">
          <a:gsLst>
            <a:gs pos="0">
              <a:schemeClr val="accent2">
                <a:hueOff val="0"/>
                <a:satOff val="0"/>
                <a:lumOff val="0"/>
                <a:alphaOff val="0"/>
                <a:shade val="40000"/>
                <a:alpha val="100000"/>
                <a:satMod val="150000"/>
                <a:lumMod val="100000"/>
              </a:schemeClr>
            </a:gs>
            <a:gs pos="100000">
              <a:schemeClr val="accent2">
                <a:hueOff val="0"/>
                <a:satOff val="0"/>
                <a:lumOff val="0"/>
                <a:alphaOff val="0"/>
                <a:tint val="70000"/>
                <a:shade val="100000"/>
                <a:alpha val="100000"/>
                <a:satMod val="200000"/>
                <a:lumMod val="100000"/>
              </a:schemeClr>
            </a:gs>
          </a:gsLst>
          <a:lin ang="5400000" scaled="1"/>
        </a:gradFill>
        <a:ln>
          <a:noFill/>
        </a:ln>
        <a:effectLst/>
        <a:scene3d>
          <a:camera prst="orthographicFront">
            <a:rot lat="0" lon="0" rev="0"/>
          </a:camera>
          <a:lightRig rig="twoPt" dir="tl">
            <a:rot lat="0" lon="0" rev="4500000"/>
          </a:lightRig>
        </a:scene3d>
        <a:sp3d>
          <a:bevelT w="63500" h="50800"/>
        </a:sp3d>
      </dsp:spPr>
      <dsp:style>
        <a:lnRef idx="0">
          <a:scrgbClr r="0" g="0" b="0"/>
        </a:lnRef>
        <a:fillRef idx="3">
          <a:scrgbClr r="0" g="0" b="0"/>
        </a:fillRef>
        <a:effectRef idx="3">
          <a:scrgbClr r="0" g="0" b="0"/>
        </a:effectRef>
        <a:fontRef idx="minor">
          <a:schemeClr val="lt1"/>
        </a:fontRef>
      </dsp:style>
      <dsp:txBody>
        <a:bodyPr spcFirstLastPara="0" vert="horz" wrap="square" lIns="389583" tIns="66040" rIns="66040" bIns="66040" numCol="1" spcCol="1270" anchor="ctr" anchorCtr="0">
          <a:noAutofit/>
        </a:bodyPr>
        <a:lstStyle/>
        <a:p>
          <a:pPr lvl="0" algn="l" defTabSz="1155700" rtl="0">
            <a:lnSpc>
              <a:spcPct val="90000"/>
            </a:lnSpc>
            <a:spcBef>
              <a:spcPct val="0"/>
            </a:spcBef>
            <a:spcAft>
              <a:spcPct val="35000"/>
            </a:spcAft>
          </a:pPr>
          <a:r>
            <a:rPr lang="en-US" sz="2600" kern="1200" dirty="0" smtClean="0"/>
            <a:t>Displacement</a:t>
          </a:r>
          <a:endParaRPr lang="en-US" sz="2600" kern="1200" dirty="0"/>
        </a:p>
      </dsp:txBody>
      <dsp:txXfrm>
        <a:off x="823332" y="3927694"/>
        <a:ext cx="5692792" cy="490813"/>
      </dsp:txXfrm>
    </dsp:sp>
    <dsp:sp modelId="{C2157EE5-7641-3341-B2E7-021F543816F9}">
      <dsp:nvSpPr>
        <dsp:cNvPr id="0" name=""/>
        <dsp:cNvSpPr/>
      </dsp:nvSpPr>
      <dsp:spPr>
        <a:xfrm>
          <a:off x="516574" y="3866343"/>
          <a:ext cx="613516" cy="613516"/>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1">
          <a:scrgbClr r="0" g="0" b="0"/>
        </a:fillRef>
        <a:effectRef idx="2">
          <a:scrgbClr r="0" g="0" b="0"/>
        </a:effectRef>
        <a:fontRef idx="minor"/>
      </dsp:style>
    </dsp:sp>
    <dsp:sp modelId="{9F226AE9-ADF4-EB4F-8906-BCCD10502E1B}">
      <dsp:nvSpPr>
        <dsp:cNvPr id="0" name=""/>
        <dsp:cNvSpPr/>
      </dsp:nvSpPr>
      <dsp:spPr>
        <a:xfrm>
          <a:off x="378857" y="4664346"/>
          <a:ext cx="6137267" cy="490813"/>
        </a:xfrm>
        <a:prstGeom prst="rect">
          <a:avLst/>
        </a:prstGeom>
        <a:gradFill rotWithShape="0">
          <a:gsLst>
            <a:gs pos="0">
              <a:schemeClr val="accent2">
                <a:hueOff val="0"/>
                <a:satOff val="0"/>
                <a:lumOff val="0"/>
                <a:alphaOff val="0"/>
                <a:shade val="40000"/>
                <a:alpha val="100000"/>
                <a:satMod val="150000"/>
                <a:lumMod val="100000"/>
              </a:schemeClr>
            </a:gs>
            <a:gs pos="100000">
              <a:schemeClr val="accent2">
                <a:hueOff val="0"/>
                <a:satOff val="0"/>
                <a:lumOff val="0"/>
                <a:alphaOff val="0"/>
                <a:tint val="70000"/>
                <a:shade val="100000"/>
                <a:alpha val="100000"/>
                <a:satMod val="200000"/>
                <a:lumMod val="100000"/>
              </a:schemeClr>
            </a:gs>
          </a:gsLst>
          <a:lin ang="5400000" scaled="1"/>
        </a:gradFill>
        <a:ln>
          <a:noFill/>
        </a:ln>
        <a:effectLst/>
        <a:scene3d>
          <a:camera prst="orthographicFront">
            <a:rot lat="0" lon="0" rev="0"/>
          </a:camera>
          <a:lightRig rig="twoPt" dir="tl">
            <a:rot lat="0" lon="0" rev="4500000"/>
          </a:lightRig>
        </a:scene3d>
        <a:sp3d>
          <a:bevelT w="63500" h="50800"/>
        </a:sp3d>
      </dsp:spPr>
      <dsp:style>
        <a:lnRef idx="0">
          <a:scrgbClr r="0" g="0" b="0"/>
        </a:lnRef>
        <a:fillRef idx="3">
          <a:scrgbClr r="0" g="0" b="0"/>
        </a:fillRef>
        <a:effectRef idx="3">
          <a:scrgbClr r="0" g="0" b="0"/>
        </a:effectRef>
        <a:fontRef idx="minor">
          <a:schemeClr val="lt1"/>
        </a:fontRef>
      </dsp:style>
      <dsp:txBody>
        <a:bodyPr spcFirstLastPara="0" vert="horz" wrap="square" lIns="389583" tIns="66040" rIns="66040" bIns="66040" numCol="1" spcCol="1270" anchor="ctr" anchorCtr="0">
          <a:noAutofit/>
        </a:bodyPr>
        <a:lstStyle/>
        <a:p>
          <a:pPr lvl="0" algn="l" defTabSz="1155700" rtl="0">
            <a:lnSpc>
              <a:spcPct val="90000"/>
            </a:lnSpc>
            <a:spcBef>
              <a:spcPct val="0"/>
            </a:spcBef>
            <a:spcAft>
              <a:spcPct val="35000"/>
            </a:spcAft>
          </a:pPr>
          <a:r>
            <a:rPr lang="en-US" sz="2600" kern="1200" smtClean="0"/>
            <a:t>Stack</a:t>
          </a:r>
          <a:endParaRPr lang="en-US" sz="2600" kern="1200"/>
        </a:p>
      </dsp:txBody>
      <dsp:txXfrm>
        <a:off x="378857" y="4664346"/>
        <a:ext cx="6137267" cy="490813"/>
      </dsp:txXfrm>
    </dsp:sp>
    <dsp:sp modelId="{757B9E9D-E0EF-514A-8620-B12728BAF68D}">
      <dsp:nvSpPr>
        <dsp:cNvPr id="0" name=""/>
        <dsp:cNvSpPr/>
      </dsp:nvSpPr>
      <dsp:spPr>
        <a:xfrm>
          <a:off x="72099" y="4602995"/>
          <a:ext cx="613516" cy="613516"/>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1">
          <a:scrgbClr r="0" g="0" b="0"/>
        </a:fillRef>
        <a:effectRef idx="2">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48DA74-07C8-5A45-AC22-9059F1952567}">
      <dsp:nvSpPr>
        <dsp:cNvPr id="0" name=""/>
        <dsp:cNvSpPr/>
      </dsp:nvSpPr>
      <dsp:spPr>
        <a:xfrm>
          <a:off x="78277" y="148682"/>
          <a:ext cx="1434118" cy="910665"/>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913AF7D1-B9F3-6846-94A7-D99908AC9A87}">
      <dsp:nvSpPr>
        <dsp:cNvPr id="0" name=""/>
        <dsp:cNvSpPr/>
      </dsp:nvSpPr>
      <dsp:spPr>
        <a:xfrm>
          <a:off x="237623" y="300061"/>
          <a:ext cx="1434118" cy="91066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lvl="0" algn="ctr" defTabSz="488950" rtl="0">
            <a:lnSpc>
              <a:spcPct val="90000"/>
            </a:lnSpc>
            <a:spcBef>
              <a:spcPct val="0"/>
            </a:spcBef>
            <a:spcAft>
              <a:spcPct val="35000"/>
            </a:spcAft>
          </a:pPr>
          <a:r>
            <a:rPr lang="en-US" sz="1100" kern="1200" dirty="0" smtClean="0"/>
            <a:t>Address field contains the effective address of the operand</a:t>
          </a:r>
          <a:endParaRPr lang="en-US" sz="1100" kern="1200" dirty="0"/>
        </a:p>
      </dsp:txBody>
      <dsp:txXfrm>
        <a:off x="264295" y="326733"/>
        <a:ext cx="1380774" cy="857321"/>
      </dsp:txXfrm>
    </dsp:sp>
    <dsp:sp modelId="{12211905-1138-A64D-A172-424F7AF19CF4}">
      <dsp:nvSpPr>
        <dsp:cNvPr id="0" name=""/>
        <dsp:cNvSpPr/>
      </dsp:nvSpPr>
      <dsp:spPr>
        <a:xfrm>
          <a:off x="1800399" y="931462"/>
          <a:ext cx="1434118" cy="910665"/>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6D46C026-68A7-5742-AF4E-074BC1F884E1}">
      <dsp:nvSpPr>
        <dsp:cNvPr id="0" name=""/>
        <dsp:cNvSpPr/>
      </dsp:nvSpPr>
      <dsp:spPr>
        <a:xfrm>
          <a:off x="1959745" y="1082842"/>
          <a:ext cx="1434118" cy="91066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lvl="0" algn="ctr" defTabSz="488950" rtl="0">
            <a:lnSpc>
              <a:spcPct val="90000"/>
            </a:lnSpc>
            <a:spcBef>
              <a:spcPct val="0"/>
            </a:spcBef>
            <a:spcAft>
              <a:spcPct val="35000"/>
            </a:spcAft>
          </a:pPr>
          <a:r>
            <a:rPr lang="en-US" sz="1100" kern="1200" dirty="0" smtClean="0"/>
            <a:t>Effective address (EA) = address field (A)</a:t>
          </a:r>
          <a:endParaRPr lang="en-US" sz="1100" kern="1200" dirty="0"/>
        </a:p>
      </dsp:txBody>
      <dsp:txXfrm>
        <a:off x="1986417" y="1109514"/>
        <a:ext cx="1380774" cy="857321"/>
      </dsp:txXfrm>
    </dsp:sp>
    <dsp:sp modelId="{C5144ED8-933C-1B48-8D11-257811EF2561}">
      <dsp:nvSpPr>
        <dsp:cNvPr id="0" name=""/>
        <dsp:cNvSpPr/>
      </dsp:nvSpPr>
      <dsp:spPr>
        <a:xfrm>
          <a:off x="3508567" y="2059777"/>
          <a:ext cx="1434118" cy="910665"/>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297D322A-B2A9-5C43-975C-6419BB181B8E}">
      <dsp:nvSpPr>
        <dsp:cNvPr id="0" name=""/>
        <dsp:cNvSpPr/>
      </dsp:nvSpPr>
      <dsp:spPr>
        <a:xfrm>
          <a:off x="3667913" y="2211156"/>
          <a:ext cx="1434118" cy="91066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lvl="0" algn="ctr" defTabSz="488950" rtl="0">
            <a:lnSpc>
              <a:spcPct val="90000"/>
            </a:lnSpc>
            <a:spcBef>
              <a:spcPct val="0"/>
            </a:spcBef>
            <a:spcAft>
              <a:spcPct val="35000"/>
            </a:spcAft>
          </a:pPr>
          <a:r>
            <a:rPr lang="en-US" sz="1100" kern="1200" dirty="0" smtClean="0"/>
            <a:t>Was common in earlier generations of computers </a:t>
          </a:r>
          <a:endParaRPr lang="en-US" sz="1100" kern="1200" dirty="0"/>
        </a:p>
      </dsp:txBody>
      <dsp:txXfrm>
        <a:off x="3694585" y="2237828"/>
        <a:ext cx="1380774" cy="857321"/>
      </dsp:txXfrm>
    </dsp:sp>
    <dsp:sp modelId="{C6195375-255E-164A-A511-E4D563E7E84E}">
      <dsp:nvSpPr>
        <dsp:cNvPr id="0" name=""/>
        <dsp:cNvSpPr/>
      </dsp:nvSpPr>
      <dsp:spPr>
        <a:xfrm>
          <a:off x="5244643" y="3201533"/>
          <a:ext cx="1434118" cy="910665"/>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FE5F2D3A-07E8-5B4E-88DF-D345FCC274BF}">
      <dsp:nvSpPr>
        <dsp:cNvPr id="0" name=""/>
        <dsp:cNvSpPr/>
      </dsp:nvSpPr>
      <dsp:spPr>
        <a:xfrm>
          <a:off x="5403989" y="3352912"/>
          <a:ext cx="1434118" cy="91066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lvl="0" algn="ctr" defTabSz="488950" rtl="0">
            <a:lnSpc>
              <a:spcPct val="90000"/>
            </a:lnSpc>
            <a:spcBef>
              <a:spcPct val="0"/>
            </a:spcBef>
            <a:spcAft>
              <a:spcPct val="35000"/>
            </a:spcAft>
          </a:pPr>
          <a:r>
            <a:rPr lang="en-US" sz="1100" kern="1200" dirty="0" smtClean="0"/>
            <a:t>Requires only one memory reference and no special calculation</a:t>
          </a:r>
          <a:endParaRPr lang="en-US" sz="1100" kern="1200" dirty="0"/>
        </a:p>
      </dsp:txBody>
      <dsp:txXfrm>
        <a:off x="5430661" y="3379584"/>
        <a:ext cx="1380774" cy="857321"/>
      </dsp:txXfrm>
    </dsp:sp>
    <dsp:sp modelId="{CDE3062D-FF32-8E4E-9EF4-D87D53435C1F}">
      <dsp:nvSpPr>
        <dsp:cNvPr id="0" name=""/>
        <dsp:cNvSpPr/>
      </dsp:nvSpPr>
      <dsp:spPr>
        <a:xfrm>
          <a:off x="7017134" y="4119555"/>
          <a:ext cx="1434118" cy="910665"/>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8AB8A0B0-B803-DC4A-A0A0-7E45D900705C}">
      <dsp:nvSpPr>
        <dsp:cNvPr id="0" name=""/>
        <dsp:cNvSpPr/>
      </dsp:nvSpPr>
      <dsp:spPr>
        <a:xfrm>
          <a:off x="7176481" y="4270934"/>
          <a:ext cx="1434118" cy="91066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lvl="0" algn="ctr" defTabSz="488950" rtl="0">
            <a:lnSpc>
              <a:spcPct val="90000"/>
            </a:lnSpc>
            <a:spcBef>
              <a:spcPct val="0"/>
            </a:spcBef>
            <a:spcAft>
              <a:spcPct val="35000"/>
            </a:spcAft>
          </a:pPr>
          <a:r>
            <a:rPr lang="en-US" sz="1100" kern="1200" dirty="0" smtClean="0"/>
            <a:t>Limitation is that it provides only a limited address space</a:t>
          </a:r>
          <a:endParaRPr lang="en-US" sz="1100" kern="1200" dirty="0"/>
        </a:p>
      </dsp:txBody>
      <dsp:txXfrm>
        <a:off x="7203153" y="4297606"/>
        <a:ext cx="1380774" cy="85732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0EB2B9-06E1-6345-90F8-9577C98DD49A}">
      <dsp:nvSpPr>
        <dsp:cNvPr id="0" name=""/>
        <dsp:cNvSpPr/>
      </dsp:nvSpPr>
      <dsp:spPr>
        <a:xfrm>
          <a:off x="1511850" y="0"/>
          <a:ext cx="5040560" cy="5040560"/>
        </a:xfrm>
        <a:prstGeom prst="quadArrow">
          <a:avLst>
            <a:gd name="adj1" fmla="val 2000"/>
            <a:gd name="adj2" fmla="val 4000"/>
            <a:gd name="adj3" fmla="val 5000"/>
          </a:avLst>
        </a:prstGeom>
        <a:solidFill>
          <a:schemeClr val="accent3">
            <a:tint val="40000"/>
            <a:hueOff val="0"/>
            <a:satOff val="0"/>
            <a:lumOff val="0"/>
            <a:alphaOff val="0"/>
          </a:schemeClr>
        </a:soli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1">
          <a:scrgbClr r="0" g="0" b="0"/>
        </a:fillRef>
        <a:effectRef idx="2">
          <a:scrgbClr r="0" g="0" b="0"/>
        </a:effectRef>
        <a:fontRef idx="minor"/>
      </dsp:style>
    </dsp:sp>
    <dsp:sp modelId="{0C4F3843-8CA9-7B47-94BF-4616B2186CF3}">
      <dsp:nvSpPr>
        <dsp:cNvPr id="0" name=""/>
        <dsp:cNvSpPr/>
      </dsp:nvSpPr>
      <dsp:spPr>
        <a:xfrm>
          <a:off x="1839486" y="327636"/>
          <a:ext cx="2016224" cy="2016224"/>
        </a:xfrm>
        <a:prstGeom prst="roundRect">
          <a:avLst/>
        </a:prstGeom>
        <a:gradFill rotWithShape="0">
          <a:gsLst>
            <a:gs pos="0">
              <a:schemeClr val="accent3">
                <a:alpha val="90000"/>
                <a:hueOff val="0"/>
                <a:satOff val="0"/>
                <a:lumOff val="0"/>
                <a:alphaOff val="0"/>
                <a:shade val="40000"/>
                <a:alpha val="100000"/>
                <a:satMod val="150000"/>
                <a:lumMod val="100000"/>
              </a:schemeClr>
            </a:gs>
            <a:gs pos="100000">
              <a:schemeClr val="accent3">
                <a:alpha val="90000"/>
                <a:hueOff val="0"/>
                <a:satOff val="0"/>
                <a:lumOff val="0"/>
                <a:alphaOff val="0"/>
                <a:tint val="70000"/>
                <a:shade val="100000"/>
                <a:alpha val="100000"/>
                <a:satMod val="200000"/>
                <a:lumMod val="100000"/>
              </a:schemeClr>
            </a:gs>
          </a:gsLst>
          <a:lin ang="5400000" scaled="1"/>
        </a:gradFill>
        <a:ln>
          <a:noFill/>
        </a:ln>
        <a:effectLst/>
        <a:scene3d>
          <a:camera prst="orthographicFront">
            <a:rot lat="0" lon="0" rev="0"/>
          </a:camera>
          <a:lightRig rig="twoPt" dir="tl">
            <a:rot lat="0" lon="0" rev="4500000"/>
          </a:lightRig>
        </a:scene3d>
        <a:sp3d>
          <a:bevelT w="63500" h="50800"/>
        </a:sp3d>
      </dsp:spPr>
      <dsp:style>
        <a:lnRef idx="0">
          <a:scrgbClr r="0" g="0" b="0"/>
        </a:lnRef>
        <a:fillRef idx="3">
          <a:scrgbClr r="0" g="0" b="0"/>
        </a:fillRef>
        <a:effectRef idx="3">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rtl="0">
            <a:lnSpc>
              <a:spcPct val="90000"/>
            </a:lnSpc>
            <a:spcBef>
              <a:spcPct val="0"/>
            </a:spcBef>
            <a:spcAft>
              <a:spcPct val="35000"/>
            </a:spcAft>
          </a:pPr>
          <a:r>
            <a:rPr lang="en-US" sz="1700" kern="1200" smtClean="0"/>
            <a:t>Address field refers to a register rather than a main     memory address</a:t>
          </a:r>
          <a:endParaRPr lang="en-US" sz="1700" kern="1200"/>
        </a:p>
      </dsp:txBody>
      <dsp:txXfrm>
        <a:off x="1937910" y="426060"/>
        <a:ext cx="1819376" cy="1819376"/>
      </dsp:txXfrm>
    </dsp:sp>
    <dsp:sp modelId="{4994DBF4-399F-B847-B5E1-56CF3D810B3F}">
      <dsp:nvSpPr>
        <dsp:cNvPr id="0" name=""/>
        <dsp:cNvSpPr/>
      </dsp:nvSpPr>
      <dsp:spPr>
        <a:xfrm>
          <a:off x="4208549" y="327636"/>
          <a:ext cx="2016224" cy="2016224"/>
        </a:xfrm>
        <a:prstGeom prst="roundRect">
          <a:avLst/>
        </a:prstGeom>
        <a:gradFill rotWithShape="0">
          <a:gsLst>
            <a:gs pos="0">
              <a:schemeClr val="accent3">
                <a:alpha val="90000"/>
                <a:hueOff val="0"/>
                <a:satOff val="0"/>
                <a:lumOff val="0"/>
                <a:alphaOff val="-13333"/>
                <a:shade val="40000"/>
                <a:alpha val="100000"/>
                <a:satMod val="150000"/>
                <a:lumMod val="100000"/>
              </a:schemeClr>
            </a:gs>
            <a:gs pos="100000">
              <a:schemeClr val="accent3">
                <a:alpha val="90000"/>
                <a:hueOff val="0"/>
                <a:satOff val="0"/>
                <a:lumOff val="0"/>
                <a:alphaOff val="-13333"/>
                <a:tint val="70000"/>
                <a:shade val="100000"/>
                <a:alpha val="100000"/>
                <a:satMod val="200000"/>
                <a:lumMod val="100000"/>
              </a:schemeClr>
            </a:gs>
          </a:gsLst>
          <a:lin ang="5400000" scaled="1"/>
        </a:gradFill>
        <a:ln>
          <a:noFill/>
        </a:ln>
        <a:effectLst/>
        <a:scene3d>
          <a:camera prst="orthographicFront">
            <a:rot lat="0" lon="0" rev="0"/>
          </a:camera>
          <a:lightRig rig="twoPt" dir="tl">
            <a:rot lat="0" lon="0" rev="4500000"/>
          </a:lightRig>
        </a:scene3d>
        <a:sp3d>
          <a:bevelT w="63500" h="50800"/>
        </a:sp3d>
      </dsp:spPr>
      <dsp:style>
        <a:lnRef idx="0">
          <a:scrgbClr r="0" g="0" b="0"/>
        </a:lnRef>
        <a:fillRef idx="3">
          <a:scrgbClr r="0" g="0" b="0"/>
        </a:fillRef>
        <a:effectRef idx="3">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rtl="0">
            <a:lnSpc>
              <a:spcPct val="90000"/>
            </a:lnSpc>
            <a:spcBef>
              <a:spcPct val="0"/>
            </a:spcBef>
            <a:spcAft>
              <a:spcPct val="35000"/>
            </a:spcAft>
          </a:pPr>
          <a:r>
            <a:rPr lang="en-US" sz="1700" kern="1200" smtClean="0"/>
            <a:t>EA = R</a:t>
          </a:r>
          <a:endParaRPr lang="en-US" sz="1700" kern="1200"/>
        </a:p>
      </dsp:txBody>
      <dsp:txXfrm>
        <a:off x="4306973" y="426060"/>
        <a:ext cx="1819376" cy="1819376"/>
      </dsp:txXfrm>
    </dsp:sp>
    <dsp:sp modelId="{70BCC0E4-5247-B048-ACFC-F17CBC026825}">
      <dsp:nvSpPr>
        <dsp:cNvPr id="0" name=""/>
        <dsp:cNvSpPr/>
      </dsp:nvSpPr>
      <dsp:spPr>
        <a:xfrm>
          <a:off x="1839486" y="2696699"/>
          <a:ext cx="2016224" cy="2016224"/>
        </a:xfrm>
        <a:prstGeom prst="roundRect">
          <a:avLst/>
        </a:prstGeom>
        <a:gradFill rotWithShape="0">
          <a:gsLst>
            <a:gs pos="0">
              <a:schemeClr val="accent3">
                <a:alpha val="90000"/>
                <a:hueOff val="0"/>
                <a:satOff val="0"/>
                <a:lumOff val="0"/>
                <a:alphaOff val="-26667"/>
                <a:shade val="40000"/>
                <a:alpha val="100000"/>
                <a:satMod val="150000"/>
                <a:lumMod val="100000"/>
              </a:schemeClr>
            </a:gs>
            <a:gs pos="100000">
              <a:schemeClr val="accent3">
                <a:alpha val="90000"/>
                <a:hueOff val="0"/>
                <a:satOff val="0"/>
                <a:lumOff val="0"/>
                <a:alphaOff val="-26667"/>
                <a:tint val="70000"/>
                <a:shade val="100000"/>
                <a:alpha val="100000"/>
                <a:satMod val="200000"/>
                <a:lumMod val="100000"/>
              </a:schemeClr>
            </a:gs>
          </a:gsLst>
          <a:lin ang="5400000" scaled="1"/>
        </a:gradFill>
        <a:ln>
          <a:noFill/>
        </a:ln>
        <a:effectLst/>
        <a:scene3d>
          <a:camera prst="orthographicFront">
            <a:rot lat="0" lon="0" rev="0"/>
          </a:camera>
          <a:lightRig rig="twoPt" dir="tl">
            <a:rot lat="0" lon="0" rev="4500000"/>
          </a:lightRig>
        </a:scene3d>
        <a:sp3d>
          <a:bevelT w="63500" h="50800"/>
        </a:sp3d>
      </dsp:spPr>
      <dsp:style>
        <a:lnRef idx="0">
          <a:scrgbClr r="0" g="0" b="0"/>
        </a:lnRef>
        <a:fillRef idx="3">
          <a:scrgbClr r="0" g="0" b="0"/>
        </a:fillRef>
        <a:effectRef idx="3">
          <a:scrgbClr r="0" g="0" b="0"/>
        </a:effectRef>
        <a:fontRef idx="minor">
          <a:schemeClr val="lt1"/>
        </a:fontRef>
      </dsp:style>
      <dsp:txBody>
        <a:bodyPr spcFirstLastPara="0" vert="horz" wrap="square" lIns="64770" tIns="64770" rIns="64770" bIns="64770" numCol="1" spcCol="1270" anchor="t" anchorCtr="0">
          <a:noAutofit/>
        </a:bodyPr>
        <a:lstStyle/>
        <a:p>
          <a:pPr lvl="0" algn="l" defTabSz="755650" rtl="0">
            <a:lnSpc>
              <a:spcPct val="90000"/>
            </a:lnSpc>
            <a:spcBef>
              <a:spcPct val="0"/>
            </a:spcBef>
            <a:spcAft>
              <a:spcPct val="35000"/>
            </a:spcAft>
          </a:pPr>
          <a:r>
            <a:rPr lang="en-US" sz="1700" kern="1200" smtClean="0"/>
            <a:t>Advantages:</a:t>
          </a:r>
          <a:endParaRPr lang="en-US" sz="1700" kern="1200"/>
        </a:p>
        <a:p>
          <a:pPr marL="114300" lvl="1" indent="-114300" algn="l" defTabSz="577850" rtl="0">
            <a:lnSpc>
              <a:spcPct val="90000"/>
            </a:lnSpc>
            <a:spcBef>
              <a:spcPct val="0"/>
            </a:spcBef>
            <a:spcAft>
              <a:spcPct val="15000"/>
            </a:spcAft>
            <a:buChar char="••"/>
          </a:pPr>
          <a:r>
            <a:rPr lang="en-US" sz="1300" kern="1200" smtClean="0"/>
            <a:t>Only a small address field is needed in the instruction</a:t>
          </a:r>
          <a:endParaRPr lang="en-US" sz="1300" kern="1200"/>
        </a:p>
        <a:p>
          <a:pPr marL="114300" lvl="1" indent="-114300" algn="l" defTabSz="577850" rtl="0">
            <a:lnSpc>
              <a:spcPct val="90000"/>
            </a:lnSpc>
            <a:spcBef>
              <a:spcPct val="0"/>
            </a:spcBef>
            <a:spcAft>
              <a:spcPct val="15000"/>
            </a:spcAft>
            <a:buChar char="••"/>
          </a:pPr>
          <a:r>
            <a:rPr lang="en-US" sz="1300" kern="1200" smtClean="0"/>
            <a:t>No time-consuming memory references are required</a:t>
          </a:r>
          <a:endParaRPr lang="en-US" sz="1300" kern="1200"/>
        </a:p>
      </dsp:txBody>
      <dsp:txXfrm>
        <a:off x="1937910" y="2795123"/>
        <a:ext cx="1819376" cy="1819376"/>
      </dsp:txXfrm>
    </dsp:sp>
    <dsp:sp modelId="{A3664F60-92EC-F04A-A8E6-72B11CB21727}">
      <dsp:nvSpPr>
        <dsp:cNvPr id="0" name=""/>
        <dsp:cNvSpPr/>
      </dsp:nvSpPr>
      <dsp:spPr>
        <a:xfrm>
          <a:off x="4208549" y="2696699"/>
          <a:ext cx="2016224" cy="2016224"/>
        </a:xfrm>
        <a:prstGeom prst="roundRect">
          <a:avLst/>
        </a:prstGeom>
        <a:gradFill rotWithShape="0">
          <a:gsLst>
            <a:gs pos="0">
              <a:schemeClr val="accent3">
                <a:alpha val="90000"/>
                <a:hueOff val="0"/>
                <a:satOff val="0"/>
                <a:lumOff val="0"/>
                <a:alphaOff val="-40000"/>
                <a:shade val="40000"/>
                <a:alpha val="100000"/>
                <a:satMod val="150000"/>
                <a:lumMod val="100000"/>
              </a:schemeClr>
            </a:gs>
            <a:gs pos="100000">
              <a:schemeClr val="accent3">
                <a:alpha val="90000"/>
                <a:hueOff val="0"/>
                <a:satOff val="0"/>
                <a:lumOff val="0"/>
                <a:alphaOff val="-40000"/>
                <a:tint val="70000"/>
                <a:shade val="100000"/>
                <a:alpha val="100000"/>
                <a:satMod val="200000"/>
                <a:lumMod val="100000"/>
              </a:schemeClr>
            </a:gs>
          </a:gsLst>
          <a:lin ang="5400000" scaled="1"/>
        </a:gradFill>
        <a:ln>
          <a:noFill/>
        </a:ln>
        <a:effectLst/>
        <a:scene3d>
          <a:camera prst="orthographicFront">
            <a:rot lat="0" lon="0" rev="0"/>
          </a:camera>
          <a:lightRig rig="twoPt" dir="tl">
            <a:rot lat="0" lon="0" rev="4500000"/>
          </a:lightRig>
        </a:scene3d>
        <a:sp3d>
          <a:bevelT w="63500" h="50800"/>
        </a:sp3d>
      </dsp:spPr>
      <dsp:style>
        <a:lnRef idx="0">
          <a:scrgbClr r="0" g="0" b="0"/>
        </a:lnRef>
        <a:fillRef idx="3">
          <a:scrgbClr r="0" g="0" b="0"/>
        </a:fillRef>
        <a:effectRef idx="3">
          <a:scrgbClr r="0" g="0" b="0"/>
        </a:effectRef>
        <a:fontRef idx="minor">
          <a:schemeClr val="lt1"/>
        </a:fontRef>
      </dsp:style>
      <dsp:txBody>
        <a:bodyPr spcFirstLastPara="0" vert="horz" wrap="square" lIns="64770" tIns="64770" rIns="64770" bIns="64770" numCol="1" spcCol="1270" anchor="t" anchorCtr="0">
          <a:noAutofit/>
        </a:bodyPr>
        <a:lstStyle/>
        <a:p>
          <a:pPr lvl="0" algn="l" defTabSz="755650" rtl="0">
            <a:lnSpc>
              <a:spcPct val="90000"/>
            </a:lnSpc>
            <a:spcBef>
              <a:spcPct val="0"/>
            </a:spcBef>
            <a:spcAft>
              <a:spcPct val="35000"/>
            </a:spcAft>
          </a:pPr>
          <a:r>
            <a:rPr lang="en-US" sz="1700" kern="1200" smtClean="0"/>
            <a:t>Disadvantage:</a:t>
          </a:r>
          <a:endParaRPr lang="en-US" sz="1700" kern="1200"/>
        </a:p>
        <a:p>
          <a:pPr marL="114300" lvl="1" indent="-114300" algn="l" defTabSz="577850" rtl="0">
            <a:lnSpc>
              <a:spcPct val="90000"/>
            </a:lnSpc>
            <a:spcBef>
              <a:spcPct val="0"/>
            </a:spcBef>
            <a:spcAft>
              <a:spcPct val="15000"/>
            </a:spcAft>
            <a:buChar char="••"/>
          </a:pPr>
          <a:r>
            <a:rPr lang="en-US" sz="1300" kern="1200" smtClean="0"/>
            <a:t>The address space is very limited</a:t>
          </a:r>
          <a:endParaRPr lang="en-US" sz="1300" kern="1200"/>
        </a:p>
      </dsp:txBody>
      <dsp:txXfrm>
        <a:off x="4306973" y="2795123"/>
        <a:ext cx="1819376" cy="181937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4B404A-71F5-8646-9057-29EE6A4460B4}">
      <dsp:nvSpPr>
        <dsp:cNvPr id="0" name=""/>
        <dsp:cNvSpPr/>
      </dsp:nvSpPr>
      <dsp:spPr>
        <a:xfrm>
          <a:off x="0" y="508501"/>
          <a:ext cx="8928992" cy="891393"/>
        </a:xfrm>
        <a:prstGeom prst="roundRect">
          <a:avLst/>
        </a:prstGeom>
        <a:gradFill rotWithShape="0">
          <a:gsLst>
            <a:gs pos="0">
              <a:schemeClr val="accent4">
                <a:hueOff val="0"/>
                <a:satOff val="0"/>
                <a:lumOff val="0"/>
                <a:alphaOff val="0"/>
                <a:shade val="40000"/>
                <a:alpha val="100000"/>
                <a:satMod val="150000"/>
                <a:lumMod val="100000"/>
              </a:schemeClr>
            </a:gs>
            <a:gs pos="100000">
              <a:schemeClr val="accent4">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lvl="0" algn="l" defTabSz="1022350" rtl="0">
            <a:lnSpc>
              <a:spcPct val="90000"/>
            </a:lnSpc>
            <a:spcBef>
              <a:spcPct val="0"/>
            </a:spcBef>
            <a:spcAft>
              <a:spcPct val="35000"/>
            </a:spcAft>
          </a:pPr>
          <a:r>
            <a:rPr lang="en-US" sz="2300" kern="1200" dirty="0" smtClean="0">
              <a:solidFill>
                <a:schemeClr val="accent2"/>
              </a:solidFill>
            </a:rPr>
            <a:t>The implicitly referenced register is the program counter (PC)</a:t>
          </a:r>
          <a:endParaRPr lang="en-US" sz="2300" kern="1200" dirty="0">
            <a:solidFill>
              <a:schemeClr val="accent2"/>
            </a:solidFill>
          </a:endParaRPr>
        </a:p>
      </dsp:txBody>
      <dsp:txXfrm>
        <a:off x="43514" y="552015"/>
        <a:ext cx="8841964" cy="804365"/>
      </dsp:txXfrm>
    </dsp:sp>
    <dsp:sp modelId="{74C93090-5590-084D-A2AB-DAEF051BCBCD}">
      <dsp:nvSpPr>
        <dsp:cNvPr id="0" name=""/>
        <dsp:cNvSpPr/>
      </dsp:nvSpPr>
      <dsp:spPr>
        <a:xfrm>
          <a:off x="0" y="1399895"/>
          <a:ext cx="8928992" cy="13806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3495" tIns="29210" rIns="163576" bIns="29210" numCol="1" spcCol="1270" anchor="t" anchorCtr="0">
          <a:noAutofit/>
        </a:bodyPr>
        <a:lstStyle/>
        <a:p>
          <a:pPr marL="171450" lvl="1" indent="-171450" algn="l" defTabSz="800100" rtl="0">
            <a:lnSpc>
              <a:spcPct val="90000"/>
            </a:lnSpc>
            <a:spcBef>
              <a:spcPct val="0"/>
            </a:spcBef>
            <a:spcAft>
              <a:spcPct val="20000"/>
            </a:spcAft>
            <a:buChar char="••"/>
          </a:pPr>
          <a:r>
            <a:rPr lang="en-US" sz="1800" kern="1200" dirty="0" smtClean="0">
              <a:solidFill>
                <a:schemeClr val="accent2"/>
              </a:solidFill>
            </a:rPr>
            <a:t>The next instruction address is added to the address field to produce the EA</a:t>
          </a:r>
          <a:endParaRPr lang="en-US" sz="1800" kern="1200" dirty="0">
            <a:solidFill>
              <a:schemeClr val="accent2"/>
            </a:solidFill>
          </a:endParaRPr>
        </a:p>
        <a:p>
          <a:pPr marL="171450" lvl="1" indent="-171450" algn="l" defTabSz="800100" rtl="0">
            <a:lnSpc>
              <a:spcPct val="90000"/>
            </a:lnSpc>
            <a:spcBef>
              <a:spcPct val="0"/>
            </a:spcBef>
            <a:spcAft>
              <a:spcPct val="20000"/>
            </a:spcAft>
            <a:buChar char="••"/>
          </a:pPr>
          <a:r>
            <a:rPr lang="en-US" sz="1800" kern="1200" dirty="0" smtClean="0">
              <a:solidFill>
                <a:schemeClr val="accent2"/>
              </a:solidFill>
            </a:rPr>
            <a:t>Typically the address field is treated as a twos complement number for this operation</a:t>
          </a:r>
          <a:endParaRPr lang="en-US" sz="1800" kern="1200" dirty="0">
            <a:solidFill>
              <a:schemeClr val="accent2"/>
            </a:solidFill>
          </a:endParaRPr>
        </a:p>
        <a:p>
          <a:pPr marL="171450" lvl="1" indent="-171450" algn="l" defTabSz="800100" rtl="0">
            <a:lnSpc>
              <a:spcPct val="90000"/>
            </a:lnSpc>
            <a:spcBef>
              <a:spcPct val="0"/>
            </a:spcBef>
            <a:spcAft>
              <a:spcPct val="20000"/>
            </a:spcAft>
            <a:buChar char="••"/>
          </a:pPr>
          <a:r>
            <a:rPr lang="en-US" sz="1800" kern="1200" dirty="0" smtClean="0">
              <a:solidFill>
                <a:schemeClr val="accent2"/>
              </a:solidFill>
            </a:rPr>
            <a:t>Thus the effective address is a displacement relative to the address of the instruction</a:t>
          </a:r>
          <a:endParaRPr lang="en-US" sz="1800" kern="1200" dirty="0">
            <a:solidFill>
              <a:schemeClr val="accent2"/>
            </a:solidFill>
          </a:endParaRPr>
        </a:p>
      </dsp:txBody>
      <dsp:txXfrm>
        <a:off x="0" y="1399895"/>
        <a:ext cx="8928992" cy="1380690"/>
      </dsp:txXfrm>
    </dsp:sp>
    <dsp:sp modelId="{B0BC29CD-AE8B-E844-A0F5-72CC0367FA5A}">
      <dsp:nvSpPr>
        <dsp:cNvPr id="0" name=""/>
        <dsp:cNvSpPr/>
      </dsp:nvSpPr>
      <dsp:spPr>
        <a:xfrm>
          <a:off x="0" y="2780585"/>
          <a:ext cx="8928992" cy="891393"/>
        </a:xfrm>
        <a:prstGeom prst="roundRect">
          <a:avLst/>
        </a:prstGeom>
        <a:gradFill rotWithShape="0">
          <a:gsLst>
            <a:gs pos="0">
              <a:schemeClr val="accent4">
                <a:hueOff val="0"/>
                <a:satOff val="0"/>
                <a:lumOff val="0"/>
                <a:alphaOff val="0"/>
                <a:shade val="40000"/>
                <a:alpha val="100000"/>
                <a:satMod val="150000"/>
                <a:lumMod val="100000"/>
              </a:schemeClr>
            </a:gs>
            <a:gs pos="100000">
              <a:schemeClr val="accent4">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lvl="0" algn="l" defTabSz="1022350" rtl="0">
            <a:lnSpc>
              <a:spcPct val="90000"/>
            </a:lnSpc>
            <a:spcBef>
              <a:spcPct val="0"/>
            </a:spcBef>
            <a:spcAft>
              <a:spcPct val="35000"/>
            </a:spcAft>
          </a:pPr>
          <a:r>
            <a:rPr lang="en-US" sz="2300" kern="1200" dirty="0" smtClean="0">
              <a:solidFill>
                <a:schemeClr val="accent2"/>
              </a:solidFill>
            </a:rPr>
            <a:t>Exploits the concept of locality</a:t>
          </a:r>
          <a:endParaRPr lang="en-US" sz="2300" kern="1200" dirty="0">
            <a:solidFill>
              <a:schemeClr val="accent2"/>
            </a:solidFill>
          </a:endParaRPr>
        </a:p>
      </dsp:txBody>
      <dsp:txXfrm>
        <a:off x="43514" y="2824099"/>
        <a:ext cx="8841964" cy="804365"/>
      </dsp:txXfrm>
    </dsp:sp>
    <dsp:sp modelId="{B65E83E5-C0CA-A94B-B54D-A9C7464AF21E}">
      <dsp:nvSpPr>
        <dsp:cNvPr id="0" name=""/>
        <dsp:cNvSpPr/>
      </dsp:nvSpPr>
      <dsp:spPr>
        <a:xfrm>
          <a:off x="0" y="3738218"/>
          <a:ext cx="8928992" cy="891393"/>
        </a:xfrm>
        <a:prstGeom prst="roundRect">
          <a:avLst/>
        </a:prstGeom>
        <a:gradFill rotWithShape="0">
          <a:gsLst>
            <a:gs pos="0">
              <a:schemeClr val="accent4">
                <a:hueOff val="0"/>
                <a:satOff val="0"/>
                <a:lumOff val="0"/>
                <a:alphaOff val="0"/>
                <a:shade val="40000"/>
                <a:alpha val="100000"/>
                <a:satMod val="150000"/>
                <a:lumMod val="100000"/>
              </a:schemeClr>
            </a:gs>
            <a:gs pos="100000">
              <a:schemeClr val="accent4">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lvl="0" algn="l" defTabSz="1022350" rtl="0">
            <a:lnSpc>
              <a:spcPct val="90000"/>
            </a:lnSpc>
            <a:spcBef>
              <a:spcPct val="0"/>
            </a:spcBef>
            <a:spcAft>
              <a:spcPct val="35000"/>
            </a:spcAft>
          </a:pPr>
          <a:r>
            <a:rPr lang="en-US" sz="2300" kern="1200" dirty="0" smtClean="0">
              <a:solidFill>
                <a:schemeClr val="accent2"/>
              </a:solidFill>
            </a:rPr>
            <a:t>Saves address bits in the instruction if most memory references are relatively near to the instruction being executed</a:t>
          </a:r>
          <a:endParaRPr lang="en-US" sz="2300" kern="1200" dirty="0">
            <a:solidFill>
              <a:schemeClr val="accent2"/>
            </a:solidFill>
          </a:endParaRPr>
        </a:p>
      </dsp:txBody>
      <dsp:txXfrm>
        <a:off x="43514" y="3781732"/>
        <a:ext cx="8841964" cy="80436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39FB02-6AB5-C645-8052-5011DD110ED1}">
      <dsp:nvSpPr>
        <dsp:cNvPr id="0" name=""/>
        <dsp:cNvSpPr/>
      </dsp:nvSpPr>
      <dsp:spPr>
        <a:xfrm rot="16200000">
          <a:off x="-1170713" y="1171699"/>
          <a:ext cx="4906962" cy="2563564"/>
        </a:xfrm>
        <a:prstGeom prst="flowChartManualOperation">
          <a:avLst/>
        </a:prstGeom>
        <a:gradFill rotWithShape="0">
          <a:gsLst>
            <a:gs pos="0">
              <a:schemeClr val="accent4">
                <a:hueOff val="0"/>
                <a:satOff val="0"/>
                <a:lumOff val="0"/>
                <a:alphaOff val="0"/>
                <a:shade val="40000"/>
                <a:alpha val="100000"/>
                <a:satMod val="150000"/>
                <a:lumMod val="100000"/>
              </a:schemeClr>
            </a:gs>
            <a:gs pos="100000">
              <a:schemeClr val="accent4">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5100" tIns="0" rIns="168142" bIns="0" numCol="1" spcCol="1270" anchor="ctr" anchorCtr="0">
          <a:noAutofit/>
        </a:bodyPr>
        <a:lstStyle/>
        <a:p>
          <a:pPr lvl="0" algn="ctr" defTabSz="1155700" rtl="0">
            <a:lnSpc>
              <a:spcPct val="90000"/>
            </a:lnSpc>
            <a:spcBef>
              <a:spcPct val="0"/>
            </a:spcBef>
            <a:spcAft>
              <a:spcPct val="35000"/>
            </a:spcAft>
          </a:pPr>
          <a:r>
            <a:rPr lang="en-US" sz="2600" kern="1200" dirty="0" smtClean="0">
              <a:solidFill>
                <a:schemeClr val="accent2"/>
              </a:solidFill>
            </a:rPr>
            <a:t>Define the layout of the bits of an instruction, in terms of its constituent fields</a:t>
          </a:r>
          <a:endParaRPr lang="en-US" sz="2600" kern="1200" dirty="0">
            <a:solidFill>
              <a:schemeClr val="accent2"/>
            </a:solidFill>
          </a:endParaRPr>
        </a:p>
      </dsp:txBody>
      <dsp:txXfrm rot="5400000">
        <a:off x="986" y="981392"/>
        <a:ext cx="2563564" cy="2944178"/>
      </dsp:txXfrm>
    </dsp:sp>
    <dsp:sp modelId="{9C22D813-78A6-F44B-A184-BA63B43415D4}">
      <dsp:nvSpPr>
        <dsp:cNvPr id="0" name=""/>
        <dsp:cNvSpPr/>
      </dsp:nvSpPr>
      <dsp:spPr>
        <a:xfrm rot="16200000">
          <a:off x="1585118" y="1171699"/>
          <a:ext cx="4906962" cy="2563564"/>
        </a:xfrm>
        <a:prstGeom prst="flowChartManualOperation">
          <a:avLst/>
        </a:prstGeom>
        <a:gradFill rotWithShape="0">
          <a:gsLst>
            <a:gs pos="0">
              <a:schemeClr val="accent4">
                <a:hueOff val="-854369"/>
                <a:satOff val="36567"/>
                <a:lumOff val="2156"/>
                <a:alphaOff val="0"/>
                <a:shade val="40000"/>
                <a:alpha val="100000"/>
                <a:satMod val="150000"/>
                <a:lumMod val="100000"/>
              </a:schemeClr>
            </a:gs>
            <a:gs pos="100000">
              <a:schemeClr val="accent4">
                <a:hueOff val="-854369"/>
                <a:satOff val="36567"/>
                <a:lumOff val="2156"/>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5100" tIns="0" rIns="168142" bIns="0" numCol="1" spcCol="1270" anchor="ctr" anchorCtr="0">
          <a:noAutofit/>
        </a:bodyPr>
        <a:lstStyle/>
        <a:p>
          <a:pPr lvl="0" algn="ctr" defTabSz="1155700" rtl="0">
            <a:lnSpc>
              <a:spcPct val="90000"/>
            </a:lnSpc>
            <a:spcBef>
              <a:spcPct val="0"/>
            </a:spcBef>
            <a:spcAft>
              <a:spcPct val="35000"/>
            </a:spcAft>
          </a:pPr>
          <a:r>
            <a:rPr lang="en-US" sz="2600" kern="1200" dirty="0" smtClean="0">
              <a:solidFill>
                <a:schemeClr val="accent2"/>
              </a:solidFill>
            </a:rPr>
            <a:t>Must include an opcode and, implicitly or explicitly, indicate the addressing mode for each operand</a:t>
          </a:r>
          <a:endParaRPr lang="en-US" sz="2600" kern="1200" dirty="0">
            <a:solidFill>
              <a:schemeClr val="accent2"/>
            </a:solidFill>
          </a:endParaRPr>
        </a:p>
      </dsp:txBody>
      <dsp:txXfrm rot="5400000">
        <a:off x="2756817" y="981392"/>
        <a:ext cx="2563564" cy="2944178"/>
      </dsp:txXfrm>
    </dsp:sp>
    <dsp:sp modelId="{11DA530E-381C-884C-92DD-C175D8033C96}">
      <dsp:nvSpPr>
        <dsp:cNvPr id="0" name=""/>
        <dsp:cNvSpPr/>
      </dsp:nvSpPr>
      <dsp:spPr>
        <a:xfrm rot="16200000">
          <a:off x="4340950" y="1171699"/>
          <a:ext cx="4906962" cy="2563564"/>
        </a:xfrm>
        <a:prstGeom prst="flowChartManualOperation">
          <a:avLst/>
        </a:prstGeom>
        <a:gradFill rotWithShape="0">
          <a:gsLst>
            <a:gs pos="0">
              <a:schemeClr val="accent4">
                <a:hueOff val="-1708738"/>
                <a:satOff val="73133"/>
                <a:lumOff val="4313"/>
                <a:alphaOff val="0"/>
                <a:shade val="40000"/>
                <a:alpha val="100000"/>
                <a:satMod val="150000"/>
                <a:lumMod val="100000"/>
              </a:schemeClr>
            </a:gs>
            <a:gs pos="100000">
              <a:schemeClr val="accent4">
                <a:hueOff val="-1708738"/>
                <a:satOff val="73133"/>
                <a:lumOff val="4313"/>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5100" tIns="0" rIns="168142" bIns="0" numCol="1" spcCol="1270" anchor="ctr" anchorCtr="0">
          <a:noAutofit/>
        </a:bodyPr>
        <a:lstStyle/>
        <a:p>
          <a:pPr lvl="0" algn="ctr" defTabSz="1155700" rtl="0">
            <a:lnSpc>
              <a:spcPct val="90000"/>
            </a:lnSpc>
            <a:spcBef>
              <a:spcPct val="0"/>
            </a:spcBef>
            <a:spcAft>
              <a:spcPct val="35000"/>
            </a:spcAft>
          </a:pPr>
          <a:r>
            <a:rPr lang="en-US" sz="2600" kern="1200" dirty="0" smtClean="0">
              <a:solidFill>
                <a:schemeClr val="accent2"/>
              </a:solidFill>
            </a:rPr>
            <a:t>For most instruction sets more than one instruction format is used</a:t>
          </a:r>
          <a:endParaRPr lang="en-US" sz="2600" kern="1200" dirty="0">
            <a:solidFill>
              <a:schemeClr val="accent2"/>
            </a:solidFill>
          </a:endParaRPr>
        </a:p>
      </dsp:txBody>
      <dsp:txXfrm rot="5400000">
        <a:off x="5512649" y="981392"/>
        <a:ext cx="2563564" cy="294417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5741C0-AF00-CA44-9BD7-897AD833618C}">
      <dsp:nvSpPr>
        <dsp:cNvPr id="0" name=""/>
        <dsp:cNvSpPr/>
      </dsp:nvSpPr>
      <dsp:spPr>
        <a:xfrm>
          <a:off x="0" y="738558"/>
          <a:ext cx="2716998" cy="1630198"/>
        </a:xfrm>
        <a:prstGeom prst="rect">
          <a:avLst/>
        </a:prstGeom>
        <a:gradFill rotWithShape="0">
          <a:gsLst>
            <a:gs pos="0">
              <a:schemeClr val="accent4">
                <a:hueOff val="0"/>
                <a:satOff val="0"/>
                <a:lumOff val="0"/>
                <a:alphaOff val="0"/>
                <a:shade val="40000"/>
                <a:alpha val="100000"/>
                <a:satMod val="150000"/>
                <a:lumMod val="100000"/>
              </a:schemeClr>
            </a:gs>
            <a:gs pos="100000">
              <a:schemeClr val="accent4">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lvl="0" algn="ctr" defTabSz="1511300" rtl="0">
            <a:lnSpc>
              <a:spcPct val="90000"/>
            </a:lnSpc>
            <a:spcBef>
              <a:spcPct val="0"/>
            </a:spcBef>
            <a:spcAft>
              <a:spcPct val="35000"/>
            </a:spcAft>
          </a:pPr>
          <a:r>
            <a:rPr lang="en-US" sz="3400" kern="1200" dirty="0" smtClean="0">
              <a:solidFill>
                <a:schemeClr val="accent2"/>
              </a:solidFill>
            </a:rPr>
            <a:t>Number of addressing modes	</a:t>
          </a:r>
          <a:endParaRPr lang="en-US" sz="3400" kern="1200" dirty="0">
            <a:solidFill>
              <a:schemeClr val="accent2"/>
            </a:solidFill>
          </a:endParaRPr>
        </a:p>
      </dsp:txBody>
      <dsp:txXfrm>
        <a:off x="0" y="738558"/>
        <a:ext cx="2716998" cy="1630198"/>
      </dsp:txXfrm>
    </dsp:sp>
    <dsp:sp modelId="{72BB6A60-8F22-2D4E-BC0F-3DC0A691A29B}">
      <dsp:nvSpPr>
        <dsp:cNvPr id="0" name=""/>
        <dsp:cNvSpPr/>
      </dsp:nvSpPr>
      <dsp:spPr>
        <a:xfrm>
          <a:off x="2988697" y="738558"/>
          <a:ext cx="2716998" cy="1630198"/>
        </a:xfrm>
        <a:prstGeom prst="rect">
          <a:avLst/>
        </a:prstGeom>
        <a:gradFill rotWithShape="0">
          <a:gsLst>
            <a:gs pos="0">
              <a:schemeClr val="accent4">
                <a:hueOff val="-341748"/>
                <a:satOff val="14627"/>
                <a:lumOff val="863"/>
                <a:alphaOff val="0"/>
                <a:shade val="40000"/>
                <a:alpha val="100000"/>
                <a:satMod val="150000"/>
                <a:lumMod val="100000"/>
              </a:schemeClr>
            </a:gs>
            <a:gs pos="100000">
              <a:schemeClr val="accent4">
                <a:hueOff val="-341748"/>
                <a:satOff val="14627"/>
                <a:lumOff val="863"/>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lvl="0" algn="ctr" defTabSz="1511300" rtl="0">
            <a:lnSpc>
              <a:spcPct val="90000"/>
            </a:lnSpc>
            <a:spcBef>
              <a:spcPct val="0"/>
            </a:spcBef>
            <a:spcAft>
              <a:spcPct val="35000"/>
            </a:spcAft>
          </a:pPr>
          <a:r>
            <a:rPr lang="en-US" sz="3400" kern="1200" dirty="0" smtClean="0">
              <a:solidFill>
                <a:schemeClr val="accent2"/>
              </a:solidFill>
            </a:rPr>
            <a:t>Number of operands</a:t>
          </a:r>
          <a:endParaRPr lang="en-US" sz="3400" kern="1200" dirty="0">
            <a:solidFill>
              <a:schemeClr val="accent2"/>
            </a:solidFill>
          </a:endParaRPr>
        </a:p>
      </dsp:txBody>
      <dsp:txXfrm>
        <a:off x="2988697" y="738558"/>
        <a:ext cx="2716998" cy="1630198"/>
      </dsp:txXfrm>
    </dsp:sp>
    <dsp:sp modelId="{352CB0F1-5B6C-6945-ABF3-ED695AFC0D9A}">
      <dsp:nvSpPr>
        <dsp:cNvPr id="0" name=""/>
        <dsp:cNvSpPr/>
      </dsp:nvSpPr>
      <dsp:spPr>
        <a:xfrm>
          <a:off x="5977395" y="738558"/>
          <a:ext cx="2716998" cy="1630198"/>
        </a:xfrm>
        <a:prstGeom prst="rect">
          <a:avLst/>
        </a:prstGeom>
        <a:gradFill rotWithShape="0">
          <a:gsLst>
            <a:gs pos="0">
              <a:schemeClr val="accent4">
                <a:hueOff val="-683495"/>
                <a:satOff val="29253"/>
                <a:lumOff val="1725"/>
                <a:alphaOff val="0"/>
                <a:shade val="40000"/>
                <a:alpha val="100000"/>
                <a:satMod val="150000"/>
                <a:lumMod val="100000"/>
              </a:schemeClr>
            </a:gs>
            <a:gs pos="100000">
              <a:schemeClr val="accent4">
                <a:hueOff val="-683495"/>
                <a:satOff val="29253"/>
                <a:lumOff val="1725"/>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lvl="0" algn="ctr" defTabSz="1511300" rtl="0">
            <a:lnSpc>
              <a:spcPct val="90000"/>
            </a:lnSpc>
            <a:spcBef>
              <a:spcPct val="0"/>
            </a:spcBef>
            <a:spcAft>
              <a:spcPct val="35000"/>
            </a:spcAft>
          </a:pPr>
          <a:r>
            <a:rPr lang="en-US" sz="3400" kern="1200" dirty="0" smtClean="0">
              <a:solidFill>
                <a:schemeClr val="accent2"/>
              </a:solidFill>
            </a:rPr>
            <a:t>Register versus memory</a:t>
          </a:r>
          <a:endParaRPr lang="en-US" sz="3400" kern="1200" dirty="0">
            <a:solidFill>
              <a:schemeClr val="accent2"/>
            </a:solidFill>
          </a:endParaRPr>
        </a:p>
      </dsp:txBody>
      <dsp:txXfrm>
        <a:off x="5977395" y="738558"/>
        <a:ext cx="2716998" cy="1630198"/>
      </dsp:txXfrm>
    </dsp:sp>
    <dsp:sp modelId="{9B9E5E99-5AE5-724E-A77F-FCC711EA4601}">
      <dsp:nvSpPr>
        <dsp:cNvPr id="0" name=""/>
        <dsp:cNvSpPr/>
      </dsp:nvSpPr>
      <dsp:spPr>
        <a:xfrm>
          <a:off x="0" y="2640456"/>
          <a:ext cx="2716998" cy="1630198"/>
        </a:xfrm>
        <a:prstGeom prst="rect">
          <a:avLst/>
        </a:prstGeom>
        <a:gradFill rotWithShape="0">
          <a:gsLst>
            <a:gs pos="0">
              <a:schemeClr val="accent4">
                <a:hueOff val="-1025243"/>
                <a:satOff val="43880"/>
                <a:lumOff val="2588"/>
                <a:alphaOff val="0"/>
                <a:shade val="40000"/>
                <a:alpha val="100000"/>
                <a:satMod val="150000"/>
                <a:lumMod val="100000"/>
              </a:schemeClr>
            </a:gs>
            <a:gs pos="100000">
              <a:schemeClr val="accent4">
                <a:hueOff val="-1025243"/>
                <a:satOff val="43880"/>
                <a:lumOff val="2588"/>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lvl="0" algn="ctr" defTabSz="1511300" rtl="0">
            <a:lnSpc>
              <a:spcPct val="90000"/>
            </a:lnSpc>
            <a:spcBef>
              <a:spcPct val="0"/>
            </a:spcBef>
            <a:spcAft>
              <a:spcPct val="35000"/>
            </a:spcAft>
          </a:pPr>
          <a:r>
            <a:rPr lang="en-US" sz="3400" kern="1200" dirty="0" smtClean="0">
              <a:solidFill>
                <a:schemeClr val="accent2"/>
              </a:solidFill>
            </a:rPr>
            <a:t>Number of register sets</a:t>
          </a:r>
          <a:endParaRPr lang="en-US" sz="3400" kern="1200" dirty="0">
            <a:solidFill>
              <a:schemeClr val="accent2"/>
            </a:solidFill>
          </a:endParaRPr>
        </a:p>
      </dsp:txBody>
      <dsp:txXfrm>
        <a:off x="0" y="2640456"/>
        <a:ext cx="2716998" cy="1630198"/>
      </dsp:txXfrm>
    </dsp:sp>
    <dsp:sp modelId="{07111F0A-146D-B74B-93B1-03C3088F22D2}">
      <dsp:nvSpPr>
        <dsp:cNvPr id="0" name=""/>
        <dsp:cNvSpPr/>
      </dsp:nvSpPr>
      <dsp:spPr>
        <a:xfrm>
          <a:off x="2988697" y="2640456"/>
          <a:ext cx="2716998" cy="1630198"/>
        </a:xfrm>
        <a:prstGeom prst="rect">
          <a:avLst/>
        </a:prstGeom>
        <a:gradFill rotWithShape="0">
          <a:gsLst>
            <a:gs pos="0">
              <a:schemeClr val="accent4">
                <a:hueOff val="-1366990"/>
                <a:satOff val="58506"/>
                <a:lumOff val="3450"/>
                <a:alphaOff val="0"/>
                <a:shade val="40000"/>
                <a:alpha val="100000"/>
                <a:satMod val="150000"/>
                <a:lumMod val="100000"/>
              </a:schemeClr>
            </a:gs>
            <a:gs pos="100000">
              <a:schemeClr val="accent4">
                <a:hueOff val="-1366990"/>
                <a:satOff val="58506"/>
                <a:lumOff val="345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lvl="0" algn="ctr" defTabSz="1511300" rtl="0">
            <a:lnSpc>
              <a:spcPct val="90000"/>
            </a:lnSpc>
            <a:spcBef>
              <a:spcPct val="0"/>
            </a:spcBef>
            <a:spcAft>
              <a:spcPct val="35000"/>
            </a:spcAft>
          </a:pPr>
          <a:r>
            <a:rPr lang="en-US" sz="3400" kern="1200" dirty="0" smtClean="0">
              <a:solidFill>
                <a:schemeClr val="accent2"/>
              </a:solidFill>
            </a:rPr>
            <a:t>Address range</a:t>
          </a:r>
          <a:endParaRPr lang="en-US" sz="3400" kern="1200" dirty="0">
            <a:solidFill>
              <a:schemeClr val="accent2"/>
            </a:solidFill>
          </a:endParaRPr>
        </a:p>
      </dsp:txBody>
      <dsp:txXfrm>
        <a:off x="2988697" y="2640456"/>
        <a:ext cx="2716998" cy="1630198"/>
      </dsp:txXfrm>
    </dsp:sp>
    <dsp:sp modelId="{2C13FBC5-B362-E34C-81FE-4DAA45A75724}">
      <dsp:nvSpPr>
        <dsp:cNvPr id="0" name=""/>
        <dsp:cNvSpPr/>
      </dsp:nvSpPr>
      <dsp:spPr>
        <a:xfrm>
          <a:off x="5977395" y="2640456"/>
          <a:ext cx="2716998" cy="1630198"/>
        </a:xfrm>
        <a:prstGeom prst="rect">
          <a:avLst/>
        </a:prstGeom>
        <a:gradFill rotWithShape="0">
          <a:gsLst>
            <a:gs pos="0">
              <a:schemeClr val="accent4">
                <a:hueOff val="-1708738"/>
                <a:satOff val="73133"/>
                <a:lumOff val="4313"/>
                <a:alphaOff val="0"/>
                <a:shade val="40000"/>
                <a:alpha val="100000"/>
                <a:satMod val="150000"/>
                <a:lumMod val="100000"/>
              </a:schemeClr>
            </a:gs>
            <a:gs pos="100000">
              <a:schemeClr val="accent4">
                <a:hueOff val="-1708738"/>
                <a:satOff val="73133"/>
                <a:lumOff val="4313"/>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lvl="0" algn="ctr" defTabSz="1511300" rtl="0">
            <a:lnSpc>
              <a:spcPct val="90000"/>
            </a:lnSpc>
            <a:spcBef>
              <a:spcPct val="0"/>
            </a:spcBef>
            <a:spcAft>
              <a:spcPct val="35000"/>
            </a:spcAft>
          </a:pPr>
          <a:r>
            <a:rPr lang="en-US" sz="3400" kern="1200" dirty="0" smtClean="0">
              <a:solidFill>
                <a:schemeClr val="accent2"/>
              </a:solidFill>
            </a:rPr>
            <a:t>Address granularity</a:t>
          </a:r>
          <a:endParaRPr lang="en-US" sz="3400" kern="1200" dirty="0">
            <a:solidFill>
              <a:schemeClr val="accent2"/>
            </a:solidFill>
          </a:endParaRPr>
        </a:p>
      </dsp:txBody>
      <dsp:txXfrm>
        <a:off x="5977395" y="2640456"/>
        <a:ext cx="2716998" cy="1630198"/>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85126803"/>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Rot="1" noChangeAspect="1" noChangeArrowheads="1" noTextEdit="1"/>
          </p:cNvSpPr>
          <p:nvPr>
            <p:ph type="sldImg" idx="2"/>
          </p:nvPr>
        </p:nvSpPr>
        <p:spPr bwMode="auto">
          <a:xfrm>
            <a:off x="1149350" y="692150"/>
            <a:ext cx="4559300" cy="3416300"/>
          </a:xfrm>
          <a:prstGeom prst="rect">
            <a:avLst/>
          </a:prstGeom>
          <a:noFill/>
          <a:ln w="12700">
            <a:solidFill>
              <a:srgbClr val="000000"/>
            </a:solidFill>
            <a:miter lim="800000"/>
            <a:headEnd/>
            <a:tailEnd/>
          </a:ln>
          <a:effectLst/>
        </p:spPr>
      </p:sp>
      <p:sp>
        <p:nvSpPr>
          <p:cNvPr id="2051" name="Rectangle 3"/>
          <p:cNvSpPr>
            <a:spLocks noGrp="1" noChangeArrowheads="1"/>
          </p:cNvSpPr>
          <p:nvPr>
            <p:ph type="body" sz="quarter" idx="3"/>
          </p:nvPr>
        </p:nvSpPr>
        <p:spPr bwMode="auto">
          <a:xfrm>
            <a:off x="914400" y="4343400"/>
            <a:ext cx="5029200" cy="4114800"/>
          </a:xfrm>
          <a:prstGeom prst="rect">
            <a:avLst/>
          </a:prstGeom>
          <a:noFill/>
          <a:ln w="12700">
            <a:noFill/>
            <a:miter lim="800000"/>
            <a:headEnd/>
            <a:tailEnd/>
          </a:ln>
          <a:effectLst/>
        </p:spPr>
        <p:txBody>
          <a:bodyPr vert="horz" wrap="square" lIns="90488" tIns="44450" rIns="90488" bIns="4445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0298732"/>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Times New Roman" pitchFamily="-1"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 charset="0"/>
        <a:ea typeface="ＭＳ Ｐゴシック" pitchFamily="-1"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 charset="0"/>
        <a:ea typeface="ＭＳ Ｐゴシック" pitchFamily="-1"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 charset="0"/>
        <a:ea typeface="ＭＳ Ｐゴシック" pitchFamily="-1"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 charset="0"/>
        <a:ea typeface="ＭＳ Ｐゴシック" pitchFamily="-1"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5DC1486A-64A2-174A-9561-2035EFB54CD6}" type="slidenum">
              <a:rPr lang="en-US"/>
              <a:pPr/>
              <a:t>1</a:t>
            </a:fld>
            <a:endParaRPr lang="en-US" dirty="0"/>
          </a:p>
        </p:txBody>
      </p:sp>
      <p:sp>
        <p:nvSpPr>
          <p:cNvPr id="52226" name="Rectangle 2050"/>
          <p:cNvSpPr>
            <a:spLocks noGrp="1" noRot="1" noChangeAspect="1" noChangeArrowheads="1" noTextEdit="1"/>
          </p:cNvSpPr>
          <p:nvPr>
            <p:ph type="sldImg"/>
          </p:nvPr>
        </p:nvSpPr>
        <p:spPr>
          <a:xfrm>
            <a:off x="1150938" y="692150"/>
            <a:ext cx="4556125" cy="3416300"/>
          </a:xfrm>
          <a:ln/>
        </p:spPr>
      </p:sp>
      <p:sp>
        <p:nvSpPr>
          <p:cNvPr id="52227" name="Rectangle 2051"/>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smtClean="0">
                <a:latin typeface="Times New Roman" pitchFamily="-110" charset="0"/>
              </a:rPr>
              <a:t>Lecture slides prepared for “Computer Organization</a:t>
            </a:r>
            <a:r>
              <a:rPr lang="en-US" baseline="0" dirty="0" smtClean="0">
                <a:latin typeface="Times New Roman" pitchFamily="-110" charset="0"/>
              </a:rPr>
              <a:t> and Architecture</a:t>
            </a:r>
            <a:r>
              <a:rPr lang="en-US" dirty="0" smtClean="0">
                <a:latin typeface="Times New Roman" pitchFamily="-110" charset="0"/>
              </a:rPr>
              <a:t>”, 10/e, by William Stallings, Chapter 13 “Instruction</a:t>
            </a:r>
            <a:r>
              <a:rPr lang="en-US" baseline="0" dirty="0" smtClean="0">
                <a:latin typeface="Times New Roman" pitchFamily="-110" charset="0"/>
              </a:rPr>
              <a:t> Sets:  Addressing Modes and Formats</a:t>
            </a:r>
            <a:r>
              <a:rPr lang="en-US" dirty="0" smtClean="0">
                <a:latin typeface="Times New Roman" pitchFamily="-110" charset="0"/>
              </a:rPr>
              <a:t>”.</a:t>
            </a:r>
            <a:endParaRPr lang="en-AU" dirty="0" smtClean="0">
              <a:latin typeface="Times New Roman" pitchFamily="-110" charset="0"/>
            </a:endParaRPr>
          </a:p>
          <a:p>
            <a:endParaRPr lang="en-GB"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In Chapter 12, we focused on </a:t>
            </a:r>
            <a:r>
              <a:rPr lang="en-US" sz="1200" i="1" kern="1200" dirty="0" smtClean="0">
                <a:solidFill>
                  <a:schemeClr val="tx1"/>
                </a:solidFill>
                <a:latin typeface="Times New Roman" pitchFamily="-1" charset="0"/>
                <a:ea typeface="+mn-ea"/>
                <a:cs typeface="+mn-cs"/>
              </a:rPr>
              <a:t>what </a:t>
            </a:r>
            <a:r>
              <a:rPr lang="en-US" sz="1200" kern="1200" dirty="0" smtClean="0">
                <a:solidFill>
                  <a:schemeClr val="tx1"/>
                </a:solidFill>
                <a:latin typeface="Times New Roman" pitchFamily="-1" charset="0"/>
                <a:ea typeface="+mn-ea"/>
                <a:cs typeface="+mn-cs"/>
              </a:rPr>
              <a:t>an instruction set does. Specifically, we examined the types of operands and operations that may be specified by machine instructions. This chapter turns to the question of </a:t>
            </a:r>
            <a:r>
              <a:rPr lang="en-US" sz="1200" i="1" kern="1200" dirty="0" smtClean="0">
                <a:solidFill>
                  <a:schemeClr val="tx1"/>
                </a:solidFill>
                <a:latin typeface="Times New Roman" pitchFamily="-1" charset="0"/>
                <a:ea typeface="+mn-ea"/>
                <a:cs typeface="+mn-cs"/>
              </a:rPr>
              <a:t>how </a:t>
            </a:r>
            <a:r>
              <a:rPr lang="en-US" sz="1200" kern="1200" dirty="0" smtClean="0">
                <a:solidFill>
                  <a:schemeClr val="tx1"/>
                </a:solidFill>
                <a:latin typeface="Times New Roman" pitchFamily="-1" charset="0"/>
                <a:ea typeface="+mn-ea"/>
                <a:cs typeface="+mn-cs"/>
              </a:rPr>
              <a:t>to specify the operands and operations of instructions. Two issues arise. First, how is the address of an operand specified, and second, how are the bits of an instruction organized to define the operand addresses and operation of that instruction? </a:t>
            </a:r>
            <a:endParaRPr lang="en-US" dirty="0" smtClean="0"/>
          </a:p>
          <a:p>
            <a:endParaRPr lang="en-US" dirty="0"/>
          </a:p>
        </p:txBody>
      </p:sp>
      <p:sp>
        <p:nvSpPr>
          <p:cNvPr id="4" name="Slide Number Placeholder 3"/>
          <p:cNvSpPr>
            <a:spLocks noGrp="1"/>
          </p:cNvSpPr>
          <p:nvPr>
            <p:ph type="sldNum" sz="quarter" idx="10"/>
          </p:nvPr>
        </p:nvSpPr>
        <p:spPr>
          <a:xfrm>
            <a:off x="3886200" y="8686800"/>
            <a:ext cx="2971800" cy="457200"/>
          </a:xfrm>
          <a:prstGeom prst="rect">
            <a:avLst/>
          </a:prstGeom>
        </p:spPr>
        <p:txBody>
          <a:bodyPr/>
          <a:lstStyle/>
          <a:p>
            <a:fld id="{426AC9EA-110C-D44B-81A3-E5165EEE361B}"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Times New Roman" pitchFamily="-1" charset="0"/>
                <a:ea typeface="+mn-ea"/>
                <a:cs typeface="+mn-cs"/>
              </a:rPr>
              <a:t>The address field or fields in a typical instruction format are relatively small. We would like to be able to reference a large range of locations in main memory or, for some systems, virtual memory. To achieve this objective, a variety of addressing techniques has been employed. They all involve some trade-off between address range and/or addressing flexibility, on the one hand, and the number of memory references in the instruction and/or the complexity of address calculation, on the other. In this section, we examine the most common addressing techniques, or modes: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 Immediate </a:t>
            </a:r>
          </a:p>
          <a:p>
            <a:r>
              <a:rPr lang="en-US" sz="1200" kern="1200" dirty="0" smtClean="0">
                <a:solidFill>
                  <a:schemeClr val="tx1"/>
                </a:solidFill>
                <a:latin typeface="Times New Roman" pitchFamily="-1" charset="0"/>
                <a:ea typeface="+mn-ea"/>
                <a:cs typeface="+mn-cs"/>
              </a:rPr>
              <a:t>• Direct</a:t>
            </a:r>
            <a:br>
              <a:rPr lang="en-US" sz="1200" kern="1200" dirty="0" smtClean="0">
                <a:solidFill>
                  <a:schemeClr val="tx1"/>
                </a:solidFill>
                <a:latin typeface="Times New Roman" pitchFamily="-1" charset="0"/>
                <a:ea typeface="+mn-ea"/>
                <a:cs typeface="+mn-cs"/>
              </a:rPr>
            </a:br>
            <a:r>
              <a:rPr lang="en-US" sz="1200" kern="1200" dirty="0" smtClean="0">
                <a:solidFill>
                  <a:schemeClr val="tx1"/>
                </a:solidFill>
                <a:latin typeface="Times New Roman" pitchFamily="-1" charset="0"/>
                <a:ea typeface="+mn-ea"/>
                <a:cs typeface="+mn-cs"/>
              </a:rPr>
              <a:t>• Indirect</a:t>
            </a:r>
            <a:br>
              <a:rPr lang="en-US" sz="1200" kern="1200" dirty="0" smtClean="0">
                <a:solidFill>
                  <a:schemeClr val="tx1"/>
                </a:solidFill>
                <a:latin typeface="Times New Roman" pitchFamily="-1" charset="0"/>
                <a:ea typeface="+mn-ea"/>
                <a:cs typeface="+mn-cs"/>
              </a:rPr>
            </a:br>
            <a:r>
              <a:rPr lang="en-US" sz="1200" kern="1200" dirty="0" smtClean="0">
                <a:solidFill>
                  <a:schemeClr val="tx1"/>
                </a:solidFill>
                <a:latin typeface="Times New Roman" pitchFamily="-1" charset="0"/>
                <a:ea typeface="+mn-ea"/>
                <a:cs typeface="+mn-cs"/>
              </a:rPr>
              <a:t>• Register </a:t>
            </a:r>
            <a:endParaRPr lang="en-US" dirty="0" smtClean="0"/>
          </a:p>
          <a:p>
            <a:r>
              <a:rPr lang="en-US" sz="1200" kern="1200" dirty="0" smtClean="0">
                <a:solidFill>
                  <a:schemeClr val="tx1"/>
                </a:solidFill>
                <a:latin typeface="Times New Roman" pitchFamily="-1" charset="0"/>
                <a:ea typeface="+mn-ea"/>
                <a:cs typeface="+mn-cs"/>
              </a:rPr>
              <a:t>• Register indirect </a:t>
            </a:r>
          </a:p>
          <a:p>
            <a:r>
              <a:rPr lang="en-US" sz="1200" kern="1200" dirty="0" smtClean="0">
                <a:solidFill>
                  <a:schemeClr val="tx1"/>
                </a:solidFill>
                <a:latin typeface="Times New Roman" pitchFamily="-1" charset="0"/>
                <a:ea typeface="+mn-ea"/>
                <a:cs typeface="+mn-cs"/>
              </a:rPr>
              <a:t>• Displacement</a:t>
            </a:r>
            <a:br>
              <a:rPr lang="en-US" sz="1200" kern="1200" dirty="0" smtClean="0">
                <a:solidFill>
                  <a:schemeClr val="tx1"/>
                </a:solidFill>
                <a:latin typeface="Times New Roman" pitchFamily="-1" charset="0"/>
                <a:ea typeface="+mn-ea"/>
                <a:cs typeface="+mn-cs"/>
              </a:rPr>
            </a:br>
            <a:r>
              <a:rPr lang="en-US" sz="1200" kern="1200" dirty="0" smtClean="0">
                <a:solidFill>
                  <a:schemeClr val="tx1"/>
                </a:solidFill>
                <a:latin typeface="Times New Roman" pitchFamily="-1" charset="0"/>
                <a:ea typeface="+mn-ea"/>
                <a:cs typeface="+mn-cs"/>
              </a:rPr>
              <a:t>• Stack </a:t>
            </a:r>
            <a:endParaRPr lang="en-US" dirty="0" smtClean="0"/>
          </a:p>
          <a:p>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These modes are illustrated in Figure 13.1. In this section, we use the following notation: </a:t>
            </a:r>
            <a:endParaRPr lang="en-US" dirty="0" smtClean="0"/>
          </a:p>
          <a:p>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A = contents of an address field in the instruction</a:t>
            </a:r>
            <a:br>
              <a:rPr lang="en-US" sz="1200" kern="1200" dirty="0" smtClean="0">
                <a:solidFill>
                  <a:schemeClr val="tx1"/>
                </a:solidFill>
                <a:latin typeface="Times New Roman" pitchFamily="-1" charset="0"/>
                <a:ea typeface="+mn-ea"/>
                <a:cs typeface="+mn-cs"/>
              </a:rPr>
            </a:br>
            <a:r>
              <a:rPr lang="en-US" sz="1200" kern="1200" dirty="0" smtClean="0">
                <a:solidFill>
                  <a:schemeClr val="tx1"/>
                </a:solidFill>
                <a:latin typeface="Times New Roman" pitchFamily="-1" charset="0"/>
                <a:ea typeface="+mn-ea"/>
                <a:cs typeface="+mn-cs"/>
              </a:rPr>
              <a:t>R = contents of an address field in the instruction that refers to a register </a:t>
            </a:r>
            <a:endParaRPr lang="en-US" dirty="0" smtClean="0"/>
          </a:p>
          <a:p>
            <a:r>
              <a:rPr lang="en-US" sz="1200" kern="1200" dirty="0" smtClean="0">
                <a:solidFill>
                  <a:schemeClr val="tx1"/>
                </a:solidFill>
                <a:latin typeface="Times New Roman" pitchFamily="-1" charset="0"/>
                <a:ea typeface="+mn-ea"/>
                <a:cs typeface="+mn-cs"/>
              </a:rPr>
              <a:t>EA = actual (effective) address of the location containing the referenced operand </a:t>
            </a:r>
            <a:endParaRPr lang="en-US" dirty="0" smtClean="0"/>
          </a:p>
          <a:p>
            <a:r>
              <a:rPr lang="en-US" sz="1200" kern="1200" dirty="0" smtClean="0">
                <a:solidFill>
                  <a:schemeClr val="tx1"/>
                </a:solidFill>
                <a:latin typeface="Times New Roman" pitchFamily="-1" charset="0"/>
                <a:ea typeface="+mn-ea"/>
                <a:cs typeface="+mn-cs"/>
              </a:rPr>
              <a:t>(X) = contents of memory location X or register X</a:t>
            </a:r>
            <a:br>
              <a:rPr lang="en-US" sz="1200" kern="1200" dirty="0" smtClean="0">
                <a:solidFill>
                  <a:schemeClr val="tx1"/>
                </a:solidFill>
                <a:latin typeface="Times New Roman" pitchFamily="-1" charset="0"/>
                <a:ea typeface="+mn-ea"/>
                <a:cs typeface="+mn-cs"/>
              </a:rPr>
            </a:br>
            <a:endParaRPr lang="en-US" dirty="0" smtClean="0"/>
          </a:p>
          <a:p>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Times New Roman" pitchFamily="-1" charset="0"/>
                <a:ea typeface="+mn-ea"/>
                <a:cs typeface="+mn-cs"/>
              </a:rPr>
              <a:t>Table 13.1 indicates the address calculation performed for each addressing </a:t>
            </a:r>
            <a:endParaRPr lang="en-US" dirty="0" smtClean="0"/>
          </a:p>
          <a:p>
            <a:r>
              <a:rPr lang="en-US" sz="1200" kern="1200" dirty="0" smtClean="0">
                <a:solidFill>
                  <a:schemeClr val="tx1"/>
                </a:solidFill>
                <a:latin typeface="Times New Roman" pitchFamily="-1" charset="0"/>
                <a:ea typeface="+mn-ea"/>
                <a:cs typeface="+mn-cs"/>
              </a:rPr>
              <a:t>mode. </a:t>
            </a:r>
            <a:endParaRPr lang="en-US" dirty="0" smtClean="0"/>
          </a:p>
          <a:p>
            <a:endParaRPr lang="en-US" dirty="0" smtClean="0"/>
          </a:p>
          <a:p>
            <a:r>
              <a:rPr lang="en-US" sz="1200" kern="1200" dirty="0" smtClean="0">
                <a:solidFill>
                  <a:schemeClr val="tx1"/>
                </a:solidFill>
                <a:latin typeface="Times New Roman" pitchFamily="-1" charset="0"/>
                <a:ea typeface="+mn-ea"/>
                <a:cs typeface="+mn-cs"/>
              </a:rPr>
              <a:t>Before beginning this discussion, two comments need to be made. First, virtually all computer architectures provide more than one of these addressing modes. The question arises as to how the processor can determine which address mode is being used in a particular instruction. Several approaches are taken. Often, different opcodes will use different addressing modes. Also, one or more bits in the instruction format can be used as a </a:t>
            </a:r>
            <a:r>
              <a:rPr lang="en-US" sz="1200" i="1" kern="1200" dirty="0" smtClean="0">
                <a:solidFill>
                  <a:schemeClr val="tx1"/>
                </a:solidFill>
                <a:latin typeface="Times New Roman" pitchFamily="-1" charset="0"/>
                <a:ea typeface="+mn-ea"/>
                <a:cs typeface="+mn-cs"/>
              </a:rPr>
              <a:t>mode field. </a:t>
            </a:r>
            <a:r>
              <a:rPr lang="en-US" sz="1200" kern="1200" dirty="0" smtClean="0">
                <a:solidFill>
                  <a:schemeClr val="tx1"/>
                </a:solidFill>
                <a:latin typeface="Times New Roman" pitchFamily="-1" charset="0"/>
                <a:ea typeface="+mn-ea"/>
                <a:cs typeface="+mn-cs"/>
              </a:rPr>
              <a:t>The value of the mode field deter- mines which addressing mode is to be used.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The second comment concerns the interpretation of the effective address (EA). In a system without virtual memory, the </a:t>
            </a:r>
            <a:r>
              <a:rPr lang="en-US" sz="1200" b="1" kern="1200" dirty="0" smtClean="0">
                <a:solidFill>
                  <a:schemeClr val="tx1"/>
                </a:solidFill>
                <a:latin typeface="Times New Roman" pitchFamily="-1" charset="0"/>
                <a:ea typeface="+mn-ea"/>
                <a:cs typeface="+mn-cs"/>
              </a:rPr>
              <a:t>effective address </a:t>
            </a:r>
            <a:r>
              <a:rPr lang="en-US" sz="1200" kern="1200" dirty="0" smtClean="0">
                <a:solidFill>
                  <a:schemeClr val="tx1"/>
                </a:solidFill>
                <a:latin typeface="Times New Roman" pitchFamily="-1" charset="0"/>
                <a:ea typeface="+mn-ea"/>
                <a:cs typeface="+mn-cs"/>
              </a:rPr>
              <a:t>will be either a main memory address or a register. In a virtual memory system, the effective address is a virtual address or a register. The actual mapping to a physical address is a function of the memory management unit (MMU) and is invisible to the programmer. </a:t>
            </a:r>
            <a:endParaRPr lang="en-US" dirty="0" smtClean="0"/>
          </a:p>
          <a:p>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9219"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3</a:t>
            </a:r>
          </a:p>
        </p:txBody>
      </p:sp>
      <p:sp>
        <p:nvSpPr>
          <p:cNvPr id="9220"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9221"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9222" name="Rectangle 6"/>
          <p:cNvSpPr>
            <a:spLocks noGrp="1" noRot="1" noChangeAspect="1" noChangeArrowheads="1" noTextEdit="1"/>
          </p:cNvSpPr>
          <p:nvPr>
            <p:ph type="sldImg"/>
          </p:nvPr>
        </p:nvSpPr>
        <p:spPr>
          <a:xfrm>
            <a:off x="1150938" y="692150"/>
            <a:ext cx="4556125" cy="3416300"/>
          </a:xfrm>
          <a:ln cap="flat"/>
        </p:spPr>
      </p:sp>
      <p:sp>
        <p:nvSpPr>
          <p:cNvPr id="9223" name="Rectangle 7"/>
          <p:cNvSpPr>
            <a:spLocks noGrp="1" noChangeArrowheads="1"/>
          </p:cNvSpPr>
          <p:nvPr>
            <p:ph type="body" idx="1"/>
          </p:nvPr>
        </p:nvSpPr>
        <p:spPr>
          <a:ln/>
        </p:spPr>
        <p:txBody>
          <a:bodyPr/>
          <a:lstStyle/>
          <a:p>
            <a:r>
              <a:rPr lang="en-US" sz="1200" kern="1200" dirty="0" smtClean="0">
                <a:solidFill>
                  <a:schemeClr val="tx1"/>
                </a:solidFill>
                <a:latin typeface="Times New Roman" pitchFamily="-1" charset="0"/>
                <a:ea typeface="+mn-ea"/>
                <a:cs typeface="+mn-cs"/>
              </a:rPr>
              <a:t>The simplest form of addressing is </a:t>
            </a:r>
            <a:r>
              <a:rPr lang="en-US" sz="1200" b="1" kern="1200" dirty="0" smtClean="0">
                <a:solidFill>
                  <a:schemeClr val="tx1"/>
                </a:solidFill>
                <a:latin typeface="Times New Roman" pitchFamily="-1" charset="0"/>
                <a:ea typeface="+mn-ea"/>
                <a:cs typeface="+mn-cs"/>
              </a:rPr>
              <a:t>immediate addressing, </a:t>
            </a:r>
            <a:r>
              <a:rPr lang="en-US" sz="1200" kern="1200" dirty="0" smtClean="0">
                <a:solidFill>
                  <a:schemeClr val="tx1"/>
                </a:solidFill>
                <a:latin typeface="Times New Roman" pitchFamily="-1" charset="0"/>
                <a:ea typeface="+mn-ea"/>
                <a:cs typeface="+mn-cs"/>
              </a:rPr>
              <a:t>in which the operand value is present in the instruction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Operand = A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This mode can be used to define and use constants or set initial values of variables. Typically, the number will be stored in twos complement form; the leftmost bit of the operand field is used as a sign bit. When the operand is loaded into a data register, the sign bit is extended to the left to the full data </a:t>
            </a:r>
            <a:r>
              <a:rPr lang="en-US" sz="1200" b="1" kern="1200" dirty="0" smtClean="0">
                <a:solidFill>
                  <a:schemeClr val="tx1"/>
                </a:solidFill>
                <a:latin typeface="Times New Roman" pitchFamily="-1" charset="0"/>
                <a:ea typeface="+mn-ea"/>
                <a:cs typeface="+mn-cs"/>
              </a:rPr>
              <a:t>word </a:t>
            </a:r>
            <a:r>
              <a:rPr lang="en-US" sz="1200" kern="1200" dirty="0" smtClean="0">
                <a:solidFill>
                  <a:schemeClr val="tx1"/>
                </a:solidFill>
                <a:latin typeface="Times New Roman" pitchFamily="-1" charset="0"/>
                <a:ea typeface="+mn-ea"/>
                <a:cs typeface="+mn-cs"/>
              </a:rPr>
              <a:t>size. In some cases, the immediate binary value is interpreted as an unsigned nonnegative integer.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The advantage of immediate addressing is that no memory reference other than the instruction fetch is required to obtain the operand, thus saving one memory or cache cycle in the instruction cycle. The disadvantage is that the size of the number is restricted to the size of the address field, which, in most instruction sets, is small compared with the word length. </a:t>
            </a:r>
            <a:endParaRPr lang="en-US" dirty="0" smtClean="0"/>
          </a:p>
          <a:p>
            <a:endParaRPr lang="en-GB"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3315"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5</a:t>
            </a:r>
          </a:p>
        </p:txBody>
      </p:sp>
      <p:sp>
        <p:nvSpPr>
          <p:cNvPr id="13316"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3317"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3318" name="Rectangle 6"/>
          <p:cNvSpPr>
            <a:spLocks noGrp="1" noRot="1" noChangeAspect="1" noChangeArrowheads="1" noTextEdit="1"/>
          </p:cNvSpPr>
          <p:nvPr>
            <p:ph type="sldImg"/>
          </p:nvPr>
        </p:nvSpPr>
        <p:spPr>
          <a:xfrm>
            <a:off x="1150938" y="692150"/>
            <a:ext cx="4556125" cy="3416300"/>
          </a:xfrm>
          <a:ln cap="flat"/>
        </p:spPr>
      </p:sp>
      <p:sp>
        <p:nvSpPr>
          <p:cNvPr id="13319" name="Rectangle 7"/>
          <p:cNvSpPr>
            <a:spLocks noGrp="1" noChangeArrowheads="1"/>
          </p:cNvSpPr>
          <p:nvPr>
            <p:ph type="body" idx="1"/>
          </p:nvPr>
        </p:nvSpPr>
        <p:spPr>
          <a:ln/>
        </p:spPr>
        <p:txBody>
          <a:bodyPr/>
          <a:lstStyle/>
          <a:p>
            <a:r>
              <a:rPr lang="en-US" sz="1200" kern="1200" dirty="0" smtClean="0">
                <a:solidFill>
                  <a:schemeClr val="tx1"/>
                </a:solidFill>
                <a:latin typeface="Times New Roman" pitchFamily="-1" charset="0"/>
                <a:ea typeface="+mn-ea"/>
                <a:cs typeface="+mn-cs"/>
              </a:rPr>
              <a:t>A very simple form of addressing is direct addressing, in which the address field contains the effective address of the operand: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EA = A </a:t>
            </a:r>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smtClean="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The technique was common in earlier generations of computers but is not common on contemporary architectures. It requires only one memory reference and no special calculation. The obvious limitation is that it provides only a limited address space. </a:t>
            </a:r>
            <a:endParaRPr lang="en-US" dirty="0" smtClean="0"/>
          </a:p>
          <a:p>
            <a:endParaRPr lang="en-GB"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7411"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7</a:t>
            </a:r>
          </a:p>
        </p:txBody>
      </p:sp>
      <p:sp>
        <p:nvSpPr>
          <p:cNvPr id="17412"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7413"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7414" name="Rectangle 6"/>
          <p:cNvSpPr>
            <a:spLocks noGrp="1" noRot="1" noChangeAspect="1" noChangeArrowheads="1" noTextEdit="1"/>
          </p:cNvSpPr>
          <p:nvPr>
            <p:ph type="sldImg"/>
          </p:nvPr>
        </p:nvSpPr>
        <p:spPr>
          <a:xfrm>
            <a:off x="1150938" y="692150"/>
            <a:ext cx="4556125" cy="3416300"/>
          </a:xfrm>
          <a:ln cap="flat"/>
        </p:spPr>
      </p:sp>
      <p:sp>
        <p:nvSpPr>
          <p:cNvPr id="17415" name="Rectangle 7"/>
          <p:cNvSpPr>
            <a:spLocks noGrp="1" noChangeArrowheads="1"/>
          </p:cNvSpPr>
          <p:nvPr>
            <p:ph type="body" idx="1"/>
          </p:nvPr>
        </p:nvSpPr>
        <p:spPr>
          <a:ln/>
        </p:spPr>
        <p:txBody>
          <a:bodyPr/>
          <a:lstStyle/>
          <a:p>
            <a:r>
              <a:rPr lang="en-US" sz="1200" kern="1200" dirty="0" smtClean="0">
                <a:solidFill>
                  <a:schemeClr val="tx1"/>
                </a:solidFill>
                <a:latin typeface="Times New Roman" pitchFamily="-1" charset="0"/>
                <a:ea typeface="+mn-ea"/>
                <a:cs typeface="+mn-cs"/>
              </a:rPr>
              <a:t>With direct addressing, the length of the address field is usually less than the word length, thus limiting the address range. One solution is to have the address field refer to the address of a word in memory, which in turn contains a full-length address of the operand. This is known as </a:t>
            </a:r>
            <a:r>
              <a:rPr lang="en-US" sz="1200" b="1" kern="1200" dirty="0" smtClean="0">
                <a:solidFill>
                  <a:schemeClr val="tx1"/>
                </a:solidFill>
                <a:latin typeface="Times New Roman" pitchFamily="-1" charset="0"/>
                <a:ea typeface="+mn-ea"/>
                <a:cs typeface="+mn-cs"/>
              </a:rPr>
              <a:t>indirect addressing: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EA = (A)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As defined earlier, the parentheses are to be interpreted as meaning </a:t>
            </a:r>
            <a:r>
              <a:rPr lang="en-US" sz="1200" i="1" kern="1200" dirty="0" smtClean="0">
                <a:solidFill>
                  <a:schemeClr val="tx1"/>
                </a:solidFill>
                <a:latin typeface="Times New Roman" pitchFamily="-1" charset="0"/>
                <a:ea typeface="+mn-ea"/>
                <a:cs typeface="+mn-cs"/>
              </a:rPr>
              <a:t>contents of. </a:t>
            </a:r>
            <a:r>
              <a:rPr lang="en-US" sz="1200" kern="1200" dirty="0" smtClean="0">
                <a:solidFill>
                  <a:schemeClr val="tx1"/>
                </a:solidFill>
                <a:latin typeface="Times New Roman" pitchFamily="-1" charset="0"/>
                <a:ea typeface="+mn-ea"/>
                <a:cs typeface="+mn-cs"/>
              </a:rPr>
              <a:t>The obvious advantage of this approach is that for a word length of </a:t>
            </a:r>
            <a:r>
              <a:rPr lang="en-US" sz="1200" i="1" kern="1200" dirty="0" smtClean="0">
                <a:solidFill>
                  <a:schemeClr val="tx1"/>
                </a:solidFill>
                <a:latin typeface="Times New Roman" pitchFamily="-1" charset="0"/>
                <a:ea typeface="+mn-ea"/>
                <a:cs typeface="+mn-cs"/>
              </a:rPr>
              <a:t>N, </a:t>
            </a:r>
            <a:r>
              <a:rPr lang="en-US" sz="1200" kern="1200" dirty="0" smtClean="0">
                <a:solidFill>
                  <a:schemeClr val="tx1"/>
                </a:solidFill>
                <a:latin typeface="Times New Roman" pitchFamily="-1" charset="0"/>
                <a:ea typeface="+mn-ea"/>
                <a:cs typeface="+mn-cs"/>
              </a:rPr>
              <a:t>an address space of 2</a:t>
            </a:r>
            <a:r>
              <a:rPr lang="en-US" sz="1200" kern="1200" baseline="30000" dirty="0" smtClean="0">
                <a:solidFill>
                  <a:schemeClr val="tx1"/>
                </a:solidFill>
                <a:latin typeface="Times New Roman" pitchFamily="-1" charset="0"/>
                <a:ea typeface="+mn-ea"/>
                <a:cs typeface="+mn-cs"/>
              </a:rPr>
              <a:t>N</a:t>
            </a:r>
            <a:r>
              <a:rPr lang="en-US" sz="1200" kern="1200" dirty="0" smtClean="0">
                <a:solidFill>
                  <a:schemeClr val="tx1"/>
                </a:solidFill>
                <a:latin typeface="Times New Roman" pitchFamily="-1" charset="0"/>
                <a:ea typeface="+mn-ea"/>
                <a:cs typeface="+mn-cs"/>
              </a:rPr>
              <a:t> is now available. The disadvantage is that instruction execution requires two memory references to fetch the operand: one to get its address and a second to get its value.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Although the number of words that can be addressed is now equal to 2</a:t>
            </a:r>
            <a:r>
              <a:rPr lang="en-US" sz="1200" kern="1200" baseline="30000" dirty="0" smtClean="0">
                <a:solidFill>
                  <a:schemeClr val="tx1"/>
                </a:solidFill>
                <a:latin typeface="Times New Roman" pitchFamily="-1" charset="0"/>
                <a:ea typeface="+mn-ea"/>
                <a:cs typeface="+mn-cs"/>
              </a:rPr>
              <a:t>N</a:t>
            </a:r>
            <a:r>
              <a:rPr lang="en-US" sz="1200" kern="1200" dirty="0" smtClean="0">
                <a:solidFill>
                  <a:schemeClr val="tx1"/>
                </a:solidFill>
                <a:latin typeface="Times New Roman" pitchFamily="-1" charset="0"/>
                <a:ea typeface="+mn-ea"/>
                <a:cs typeface="+mn-cs"/>
              </a:rPr>
              <a:t>, the number of different effective addresses that may be referenced at any one time is limited to 2</a:t>
            </a:r>
            <a:r>
              <a:rPr lang="en-US" sz="1200" kern="1200" baseline="30000" dirty="0" smtClean="0">
                <a:solidFill>
                  <a:schemeClr val="tx1"/>
                </a:solidFill>
                <a:latin typeface="Times New Roman" pitchFamily="-1" charset="0"/>
                <a:ea typeface="+mn-ea"/>
                <a:cs typeface="+mn-cs"/>
              </a:rPr>
              <a:t>K</a:t>
            </a:r>
            <a:r>
              <a:rPr lang="en-US" sz="1200" kern="1200" dirty="0" smtClean="0">
                <a:solidFill>
                  <a:schemeClr val="tx1"/>
                </a:solidFill>
                <a:latin typeface="Times New Roman" pitchFamily="-1" charset="0"/>
                <a:ea typeface="+mn-ea"/>
                <a:cs typeface="+mn-cs"/>
              </a:rPr>
              <a:t>, where </a:t>
            </a:r>
            <a:r>
              <a:rPr lang="en-US" sz="1200" i="1" kern="1200" dirty="0" smtClean="0">
                <a:solidFill>
                  <a:schemeClr val="tx1"/>
                </a:solidFill>
                <a:latin typeface="Times New Roman" pitchFamily="-1" charset="0"/>
                <a:ea typeface="+mn-ea"/>
                <a:cs typeface="+mn-cs"/>
              </a:rPr>
              <a:t>K </a:t>
            </a:r>
            <a:r>
              <a:rPr lang="en-US" sz="1200" kern="1200" dirty="0" smtClean="0">
                <a:solidFill>
                  <a:schemeClr val="tx1"/>
                </a:solidFill>
                <a:latin typeface="Times New Roman" pitchFamily="-1" charset="0"/>
                <a:ea typeface="+mn-ea"/>
                <a:cs typeface="+mn-cs"/>
              </a:rPr>
              <a:t>is the length of the address field. Typically, this is not a burdensome restriction, and it can be an asset. In a virtual memory environment, all the effective address locations can be confined to page 0 of any process. Because the address field of an instruction is small, it will naturally produce low-numbered direct addresses, which would appear in page 0. (The only restriction is that the page size must be greater than or equal to 2</a:t>
            </a:r>
            <a:r>
              <a:rPr lang="en-US" sz="1200" kern="1200" baseline="30000" dirty="0" smtClean="0">
                <a:solidFill>
                  <a:schemeClr val="tx1"/>
                </a:solidFill>
                <a:latin typeface="Times New Roman" pitchFamily="-1" charset="0"/>
                <a:ea typeface="+mn-ea"/>
                <a:cs typeface="+mn-cs"/>
              </a:rPr>
              <a:t>K</a:t>
            </a:r>
            <a:r>
              <a:rPr lang="en-US" sz="1200" kern="1200" dirty="0" smtClean="0">
                <a:solidFill>
                  <a:schemeClr val="tx1"/>
                </a:solidFill>
                <a:latin typeface="Times New Roman" pitchFamily="-1" charset="0"/>
                <a:ea typeface="+mn-ea"/>
                <a:cs typeface="+mn-cs"/>
              </a:rPr>
              <a:t>.) When a process is active, there will be repeated references to page 0, causing it to remain in real memory. Thus, an indirect memory reference will involve, at most, one page fault rather than two.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A rarely used variant of indirect addressing is multilevel or cascaded indirect addressing: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EA = (</a:t>
            </a:r>
            <a:r>
              <a:rPr lang="en-US" sz="1200" kern="1200" baseline="0" dirty="0" smtClean="0">
                <a:solidFill>
                  <a:schemeClr val="tx1"/>
                </a:solidFill>
                <a:latin typeface="Times New Roman" pitchFamily="-1" charset="0"/>
                <a:ea typeface="+mn-ea"/>
                <a:cs typeface="+mn-cs"/>
              </a:rPr>
              <a:t> . . . </a:t>
            </a:r>
            <a:r>
              <a:rPr lang="en-US" sz="1200" kern="1200" dirty="0" smtClean="0">
                <a:solidFill>
                  <a:schemeClr val="tx1"/>
                </a:solidFill>
                <a:latin typeface="Times New Roman" pitchFamily="-1" charset="0"/>
                <a:ea typeface="+mn-ea"/>
                <a:cs typeface="+mn-cs"/>
              </a:rPr>
              <a:t>(A)</a:t>
            </a:r>
            <a:r>
              <a:rPr lang="en-US" sz="1200" kern="1200" baseline="0" dirty="0" smtClean="0">
                <a:solidFill>
                  <a:schemeClr val="tx1"/>
                </a:solidFill>
                <a:latin typeface="Times New Roman" pitchFamily="-1" charset="0"/>
                <a:ea typeface="+mn-ea"/>
                <a:cs typeface="+mn-cs"/>
              </a:rPr>
              <a:t> . . . </a:t>
            </a:r>
            <a:r>
              <a:rPr lang="en-US" sz="1200" kern="1200" dirty="0" smtClean="0">
                <a:solidFill>
                  <a:schemeClr val="tx1"/>
                </a:solidFill>
                <a:latin typeface="Times New Roman" pitchFamily="-1" charset="0"/>
                <a:ea typeface="+mn-ea"/>
                <a:cs typeface="+mn-cs"/>
              </a:rPr>
              <a:t>)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In this case, one bit of a full-word address is an indirect flag (I). If the I bit is 0, then the word contains the EA. If the I bit is 1, then another level of indirection is invoked. There does not appear to be any particular advantage to this approach, and its disadvantage is that three or more memory references could be required to fetch an operand. </a:t>
            </a:r>
            <a:endParaRPr lang="en-US" dirty="0" smtClean="0"/>
          </a:p>
          <a:p>
            <a:endParaRPr lang="en-GB"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23555"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10</a:t>
            </a:r>
          </a:p>
        </p:txBody>
      </p:sp>
      <p:sp>
        <p:nvSpPr>
          <p:cNvPr id="23556"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23557"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23558" name="Rectangle 6"/>
          <p:cNvSpPr>
            <a:spLocks noGrp="1" noRot="1" noChangeAspect="1" noChangeArrowheads="1" noTextEdit="1"/>
          </p:cNvSpPr>
          <p:nvPr>
            <p:ph type="sldImg"/>
          </p:nvPr>
        </p:nvSpPr>
        <p:spPr>
          <a:xfrm>
            <a:off x="1150938" y="692150"/>
            <a:ext cx="4556125" cy="3416300"/>
          </a:xfrm>
          <a:ln cap="flat"/>
        </p:spPr>
      </p:sp>
      <p:sp>
        <p:nvSpPr>
          <p:cNvPr id="23559" name="Rectangle 7"/>
          <p:cNvSpPr>
            <a:spLocks noGrp="1" noChangeArrowheads="1"/>
          </p:cNvSpPr>
          <p:nvPr>
            <p:ph type="body" idx="1"/>
          </p:nvPr>
        </p:nvSpPr>
        <p:spPr>
          <a:ln/>
        </p:spPr>
        <p:txBody>
          <a:bodyPr/>
          <a:lstStyle/>
          <a:p>
            <a:r>
              <a:rPr lang="en-US" sz="1200" b="1" kern="1200" dirty="0" smtClean="0">
                <a:solidFill>
                  <a:schemeClr val="tx1"/>
                </a:solidFill>
                <a:latin typeface="Times New Roman" pitchFamily="-1" charset="0"/>
                <a:ea typeface="+mn-ea"/>
                <a:cs typeface="+mn-cs"/>
              </a:rPr>
              <a:t>Register addressing </a:t>
            </a:r>
            <a:r>
              <a:rPr lang="en-US" sz="1200" kern="1200" dirty="0" smtClean="0">
                <a:solidFill>
                  <a:schemeClr val="tx1"/>
                </a:solidFill>
                <a:latin typeface="Times New Roman" pitchFamily="-1" charset="0"/>
                <a:ea typeface="+mn-ea"/>
                <a:cs typeface="+mn-cs"/>
              </a:rPr>
              <a:t>is similar to direct addressing. The only difference is that the address field refers to a register rather than a main memory address: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EA = R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To clarify, if the contents of a register address field in an instruction is 5, then register R5 is the intended address, and the operand value is contained in R5. Typically, an address field that references registers will have from 3 to 5 bits, so that a total of from 8 to 32 general-purpose registers can be referenced. </a:t>
            </a:r>
            <a:endParaRPr lang="en-US" dirty="0" smtClean="0"/>
          </a:p>
          <a:p>
            <a:endParaRPr lang="en-GB" dirty="0" smtClean="0"/>
          </a:p>
          <a:p>
            <a:r>
              <a:rPr lang="en-US" sz="1200" kern="1200" dirty="0" smtClean="0">
                <a:solidFill>
                  <a:schemeClr val="tx1"/>
                </a:solidFill>
                <a:latin typeface="Times New Roman" pitchFamily="-1" charset="0"/>
                <a:ea typeface="+mn-ea"/>
                <a:cs typeface="+mn-cs"/>
              </a:rPr>
              <a:t>The advantages of register addressing are that (1) only a small address field is needed in the instruction, and (2) no time-consuming memory references are required. As was discussed in Chapter 4, the memory access time for a register internal to the processor is much less than that for a main memory address. The disadvantage of register addressing is that the address space is very limited.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If register addressing is heavily used in an instruction set, this implies that the processor registers will be heavily used. Because of the severely limited number of registers (compared with main memory locations), their use in this fashion makes sense only if they are employed efficiently. If every operand is brought into a register from main memory, operated on once, and then returned to main memory, then a wasteful intermediate step has been added. If, instead, the operand in a register remains in use for multiple operations, then a real savings is achieved. An example is the intermediate result in a calculation. In particular, suppose that the algorithm for twos complement multiplication were to be implemented in software. The location labeled A in the flowchart (Figure 10.12) is referenced many times and should be implemented in a register rather than a main memory location.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It is up to the programmer or compiler to decide which values should remain in registers and which should be stored in main memory. Most modern processors employ multiple general-purpose registers, placing a burden for efficient execution on the assembly-language programmer (e.g., compiler writer). </a:t>
            </a:r>
            <a:endParaRPr lang="en-US" dirty="0" smtClean="0"/>
          </a:p>
          <a:p>
            <a:endParaRPr lang="en-GB"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29699"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13</a:t>
            </a:r>
          </a:p>
        </p:txBody>
      </p:sp>
      <p:sp>
        <p:nvSpPr>
          <p:cNvPr id="29700"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29701"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29702" name="Rectangle 6"/>
          <p:cNvSpPr>
            <a:spLocks noGrp="1" noRot="1" noChangeAspect="1" noChangeArrowheads="1" noTextEdit="1"/>
          </p:cNvSpPr>
          <p:nvPr>
            <p:ph type="sldImg"/>
          </p:nvPr>
        </p:nvSpPr>
        <p:spPr>
          <a:xfrm>
            <a:off x="1150938" y="692150"/>
            <a:ext cx="4556125" cy="3416300"/>
          </a:xfrm>
          <a:ln cap="flat"/>
        </p:spPr>
      </p:sp>
      <p:sp>
        <p:nvSpPr>
          <p:cNvPr id="29703" name="Rectangle 7"/>
          <p:cNvSpPr>
            <a:spLocks noGrp="1" noChangeArrowheads="1"/>
          </p:cNvSpPr>
          <p:nvPr>
            <p:ph type="body" idx="1"/>
          </p:nvPr>
        </p:nvSpPr>
        <p:spPr>
          <a:ln/>
        </p:spPr>
        <p:txBody>
          <a:bodyPr/>
          <a:lstStyle/>
          <a:p>
            <a:r>
              <a:rPr lang="en-US" sz="1200" kern="1200" dirty="0" smtClean="0">
                <a:solidFill>
                  <a:schemeClr val="tx1"/>
                </a:solidFill>
                <a:latin typeface="Times New Roman" pitchFamily="-1" charset="0"/>
                <a:ea typeface="+mn-ea"/>
                <a:cs typeface="+mn-cs"/>
              </a:rPr>
              <a:t>Just as register addressing is analogous to direct addressing, </a:t>
            </a:r>
            <a:r>
              <a:rPr lang="en-US" sz="1200" b="1" kern="1200" dirty="0" smtClean="0">
                <a:solidFill>
                  <a:schemeClr val="tx1"/>
                </a:solidFill>
                <a:latin typeface="Times New Roman" pitchFamily="-1" charset="0"/>
                <a:ea typeface="+mn-ea"/>
                <a:cs typeface="+mn-cs"/>
              </a:rPr>
              <a:t>register indirect addressing </a:t>
            </a:r>
            <a:r>
              <a:rPr lang="en-US" sz="1200" kern="1200" dirty="0" smtClean="0">
                <a:solidFill>
                  <a:schemeClr val="tx1"/>
                </a:solidFill>
                <a:latin typeface="Times New Roman" pitchFamily="-1" charset="0"/>
                <a:ea typeface="+mn-ea"/>
                <a:cs typeface="+mn-cs"/>
              </a:rPr>
              <a:t>is analogous to indirect addressing. In both cases, the only difference is whether the address field refers to a memory location or a register. Thus, for register indirect address,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EA = (R)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The advantages and limitations of register indirect addressing are basically the same as for indirect addressing. In both cases, the address space limitation (limited range of addresses) of the address field is overcome by having that field refer to a word- length location containing an address. In addition, register indirect addressing uses one less memory reference than indirect addressing. </a:t>
            </a:r>
            <a:endParaRPr lang="en-US" dirty="0" smtClean="0"/>
          </a:p>
          <a:p>
            <a:endParaRPr lang="en-GB"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3795"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15</a:t>
            </a:r>
          </a:p>
        </p:txBody>
      </p:sp>
      <p:sp>
        <p:nvSpPr>
          <p:cNvPr id="33796"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3797"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3798" name="Rectangle 6"/>
          <p:cNvSpPr>
            <a:spLocks noGrp="1" noRot="1" noChangeAspect="1" noChangeArrowheads="1" noTextEdit="1"/>
          </p:cNvSpPr>
          <p:nvPr>
            <p:ph type="sldImg"/>
          </p:nvPr>
        </p:nvSpPr>
        <p:spPr>
          <a:xfrm>
            <a:off x="1150938" y="692150"/>
            <a:ext cx="4556125" cy="3416300"/>
          </a:xfrm>
          <a:ln cap="flat"/>
        </p:spPr>
      </p:sp>
      <p:sp>
        <p:nvSpPr>
          <p:cNvPr id="33799" name="Rectangle 7"/>
          <p:cNvSpPr>
            <a:spLocks noGrp="1" noChangeArrowheads="1"/>
          </p:cNvSpPr>
          <p:nvPr>
            <p:ph type="body" idx="1"/>
          </p:nvPr>
        </p:nvSpPr>
        <p:spPr>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A very powerful mode of addressing combines the capabilities of direct addressing and register indirect addressing. It is known by a variety of names depending on the context of its use, but the basic mechanism is the same. We will refer to this as </a:t>
            </a:r>
            <a:r>
              <a:rPr lang="en-US" sz="1200" b="1" kern="1200" dirty="0" smtClean="0">
                <a:solidFill>
                  <a:schemeClr val="tx1"/>
                </a:solidFill>
                <a:latin typeface="Times New Roman" pitchFamily="-1" charset="0"/>
                <a:ea typeface="+mn-ea"/>
                <a:cs typeface="+mn-cs"/>
              </a:rPr>
              <a:t>displacement addressing: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b="1" kern="1200" dirty="0" smtClean="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b="1" kern="1200" dirty="0" smtClean="0">
                <a:solidFill>
                  <a:schemeClr val="tx1"/>
                </a:solidFill>
                <a:latin typeface="Times New Roman" pitchFamily="-1" charset="0"/>
                <a:ea typeface="+mn-ea"/>
                <a:cs typeface="+mn-cs"/>
              </a:rPr>
              <a:t>EA = A + (</a:t>
            </a:r>
            <a:r>
              <a:rPr lang="en-US" sz="1200" b="1" kern="1200" baseline="0" dirty="0" smtClean="0">
                <a:solidFill>
                  <a:schemeClr val="tx1"/>
                </a:solidFill>
                <a:latin typeface="Times New Roman" pitchFamily="-1" charset="0"/>
                <a:ea typeface="+mn-ea"/>
                <a:cs typeface="+mn-cs"/>
              </a:rPr>
              <a:t> R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b="1" kern="1200" baseline="0" dirty="0" smtClean="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Displacement addressing requires that the instruction have two address fields, at least one of which is explicit. The value contained in one address field (value = A) is used directly. The other address field, or an implicit reference based on opcode, refers to a register whose contents are added to A to produce the effective address. </a:t>
            </a:r>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smtClean="0"/>
          </a:p>
          <a:p>
            <a:r>
              <a:rPr lang="en-US" sz="1200" kern="1200" dirty="0" smtClean="0">
                <a:solidFill>
                  <a:schemeClr val="tx1"/>
                </a:solidFill>
                <a:latin typeface="Times New Roman" pitchFamily="-1" charset="0"/>
                <a:ea typeface="+mn-ea"/>
                <a:cs typeface="+mn-cs"/>
              </a:rPr>
              <a:t>We will describe three of the most common uses of displacement addressing: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 Relative addressing</a:t>
            </a:r>
            <a:br>
              <a:rPr lang="en-US" sz="1200" kern="1200" dirty="0" smtClean="0">
                <a:solidFill>
                  <a:schemeClr val="tx1"/>
                </a:solidFill>
                <a:latin typeface="Times New Roman" pitchFamily="-1" charset="0"/>
                <a:ea typeface="+mn-ea"/>
                <a:cs typeface="+mn-cs"/>
              </a:rPr>
            </a:br>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 Base-register addressing </a:t>
            </a:r>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 Indexing </a:t>
            </a:r>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smtClean="0"/>
          </a:p>
          <a:p>
            <a:endParaRPr lang="en-GB"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7891"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17</a:t>
            </a:r>
          </a:p>
        </p:txBody>
      </p:sp>
      <p:sp>
        <p:nvSpPr>
          <p:cNvPr id="37892"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7893"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7894" name="Rectangle 6"/>
          <p:cNvSpPr>
            <a:spLocks noGrp="1" noRot="1" noChangeAspect="1" noChangeArrowheads="1" noTextEdit="1"/>
          </p:cNvSpPr>
          <p:nvPr>
            <p:ph type="sldImg"/>
          </p:nvPr>
        </p:nvSpPr>
        <p:spPr>
          <a:xfrm>
            <a:off x="1150938" y="692150"/>
            <a:ext cx="4556125" cy="3416300"/>
          </a:xfrm>
          <a:ln cap="flat"/>
        </p:spPr>
      </p:sp>
      <p:sp>
        <p:nvSpPr>
          <p:cNvPr id="37895" name="Rectangle 7"/>
          <p:cNvSpPr>
            <a:spLocks noGrp="1" noChangeArrowheads="1"/>
          </p:cNvSpPr>
          <p:nvPr>
            <p:ph type="body" idx="1"/>
          </p:nvPr>
        </p:nvSpPr>
        <p:spPr>
          <a:ln/>
        </p:spPr>
        <p:txBody>
          <a:bodyPr/>
          <a:lstStyle/>
          <a:p>
            <a:r>
              <a:rPr lang="en-US" sz="1200" kern="1200" dirty="0" smtClean="0">
                <a:solidFill>
                  <a:schemeClr val="tx1"/>
                </a:solidFill>
                <a:latin typeface="Times New Roman" pitchFamily="-1" charset="0"/>
                <a:ea typeface="+mn-ea"/>
                <a:cs typeface="+mn-cs"/>
              </a:rPr>
              <a:t>For relative addressing, also called PC-relative addressing, the implicitly referenced register is the program counter (PC). That is, the next instruction address is added to the address field to produce the EA. Typically, the address field is treated as a twos complement number for this operation. Thus, the effective address is a displacement relative to the address of the instruction.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Relative addressing exploits the concept of locality that was discussed in Chapters 4 and 8. If most memory references are relatively near to the instruction being executed, then the use of relative addressing saves address bits in the instruction. </a:t>
            </a:r>
            <a:endParaRPr lang="en-US" dirty="0" smtClean="0"/>
          </a:p>
          <a:p>
            <a:endParaRPr lang="en-GB"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9939"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18</a:t>
            </a:r>
          </a:p>
        </p:txBody>
      </p:sp>
      <p:sp>
        <p:nvSpPr>
          <p:cNvPr id="39940"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9941"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9942" name="Rectangle 6"/>
          <p:cNvSpPr>
            <a:spLocks noGrp="1" noRot="1" noChangeAspect="1" noChangeArrowheads="1" noTextEdit="1"/>
          </p:cNvSpPr>
          <p:nvPr>
            <p:ph type="sldImg"/>
          </p:nvPr>
        </p:nvSpPr>
        <p:spPr>
          <a:xfrm>
            <a:off x="1150938" y="692150"/>
            <a:ext cx="4556125" cy="3416300"/>
          </a:xfrm>
          <a:ln cap="flat"/>
        </p:spPr>
      </p:sp>
      <p:sp>
        <p:nvSpPr>
          <p:cNvPr id="39943" name="Rectangle 7"/>
          <p:cNvSpPr>
            <a:spLocks noGrp="1" noChangeArrowheads="1"/>
          </p:cNvSpPr>
          <p:nvPr>
            <p:ph type="body" idx="1"/>
          </p:nvPr>
        </p:nvSpPr>
        <p:spPr>
          <a:ln/>
        </p:spPr>
        <p:txBody>
          <a:bodyPr/>
          <a:lstStyle/>
          <a:p>
            <a:r>
              <a:rPr lang="en-US" sz="1200" kern="1200" dirty="0" smtClean="0">
                <a:solidFill>
                  <a:schemeClr val="tx1"/>
                </a:solidFill>
                <a:latin typeface="Times New Roman" pitchFamily="-1" charset="0"/>
                <a:ea typeface="+mn-ea"/>
                <a:cs typeface="+mn-cs"/>
              </a:rPr>
              <a:t>For </a:t>
            </a:r>
            <a:r>
              <a:rPr lang="en-US" sz="1200" b="1" kern="1200" dirty="0" smtClean="0">
                <a:solidFill>
                  <a:schemeClr val="tx1"/>
                </a:solidFill>
                <a:latin typeface="Times New Roman" pitchFamily="-1" charset="0"/>
                <a:ea typeface="+mn-ea"/>
                <a:cs typeface="+mn-cs"/>
              </a:rPr>
              <a:t>base-register addressing, </a:t>
            </a:r>
            <a:r>
              <a:rPr lang="en-US" sz="1200" kern="1200" dirty="0" smtClean="0">
                <a:solidFill>
                  <a:schemeClr val="tx1"/>
                </a:solidFill>
                <a:latin typeface="Times New Roman" pitchFamily="-1" charset="0"/>
                <a:ea typeface="+mn-ea"/>
                <a:cs typeface="+mn-cs"/>
              </a:rPr>
              <a:t>the interpretation is the following: The referenced register contains a main memory address, and the address field contains a displacement (usually an unsigned integer representation) from that address. The register reference may be explicit or implicit.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Base-register addressing also exploits the locality of memory references. It is a convenient means of implementing segmentation, which was discussed in Chapter 8. In some implementations, a single segment-base register is employed and is used implicitly. In others, the programmer may choose a register to hold the base address of a segment, and the instruction must reference it explicitly. In this latter case, if the length of the address field is </a:t>
            </a:r>
            <a:r>
              <a:rPr lang="en-US" sz="1200" i="1" kern="1200" dirty="0" smtClean="0">
                <a:solidFill>
                  <a:schemeClr val="tx1"/>
                </a:solidFill>
                <a:latin typeface="Times New Roman" pitchFamily="-1" charset="0"/>
                <a:ea typeface="+mn-ea"/>
                <a:cs typeface="+mn-cs"/>
              </a:rPr>
              <a:t>K </a:t>
            </a:r>
            <a:r>
              <a:rPr lang="en-US" sz="1200" kern="1200" dirty="0" smtClean="0">
                <a:solidFill>
                  <a:schemeClr val="tx1"/>
                </a:solidFill>
                <a:latin typeface="Times New Roman" pitchFamily="-1" charset="0"/>
                <a:ea typeface="+mn-ea"/>
                <a:cs typeface="+mn-cs"/>
              </a:rPr>
              <a:t>and the number of possible registers is </a:t>
            </a:r>
            <a:r>
              <a:rPr lang="en-US" sz="1200" i="1" kern="1200" dirty="0" smtClean="0">
                <a:solidFill>
                  <a:schemeClr val="tx1"/>
                </a:solidFill>
                <a:latin typeface="Times New Roman" pitchFamily="-1" charset="0"/>
                <a:ea typeface="+mn-ea"/>
                <a:cs typeface="+mn-cs"/>
              </a:rPr>
              <a:t>N, </a:t>
            </a:r>
            <a:r>
              <a:rPr lang="en-US" sz="1200" kern="1200" dirty="0" smtClean="0">
                <a:solidFill>
                  <a:schemeClr val="tx1"/>
                </a:solidFill>
                <a:latin typeface="Times New Roman" pitchFamily="-1" charset="0"/>
                <a:ea typeface="+mn-ea"/>
                <a:cs typeface="+mn-cs"/>
              </a:rPr>
              <a:t>then one instruction can reference any one of </a:t>
            </a:r>
            <a:r>
              <a:rPr lang="en-US" sz="1200" i="1" kern="1200" dirty="0" smtClean="0">
                <a:solidFill>
                  <a:schemeClr val="tx1"/>
                </a:solidFill>
                <a:latin typeface="Times New Roman" pitchFamily="-1" charset="0"/>
                <a:ea typeface="+mn-ea"/>
                <a:cs typeface="+mn-cs"/>
              </a:rPr>
              <a:t>N </a:t>
            </a:r>
            <a:r>
              <a:rPr lang="en-US" sz="1200" kern="1200" dirty="0" smtClean="0">
                <a:solidFill>
                  <a:schemeClr val="tx1"/>
                </a:solidFill>
                <a:latin typeface="Times New Roman" pitchFamily="-1" charset="0"/>
                <a:ea typeface="+mn-ea"/>
                <a:cs typeface="+mn-cs"/>
              </a:rPr>
              <a:t>areas of 2</a:t>
            </a:r>
            <a:r>
              <a:rPr lang="en-US" sz="1200" kern="1200" baseline="30000" dirty="0" smtClean="0">
                <a:solidFill>
                  <a:schemeClr val="tx1"/>
                </a:solidFill>
                <a:latin typeface="Times New Roman" pitchFamily="-1" charset="0"/>
                <a:ea typeface="+mn-ea"/>
                <a:cs typeface="+mn-cs"/>
              </a:rPr>
              <a:t>K</a:t>
            </a:r>
            <a:r>
              <a:rPr lang="en-US" sz="1200" kern="1200" dirty="0" smtClean="0">
                <a:solidFill>
                  <a:schemeClr val="tx1"/>
                </a:solidFill>
                <a:latin typeface="Times New Roman" pitchFamily="-1" charset="0"/>
                <a:ea typeface="+mn-ea"/>
                <a:cs typeface="+mn-cs"/>
              </a:rPr>
              <a:t> words. </a:t>
            </a:r>
            <a:endParaRPr lang="en-US" dirty="0" smtClean="0"/>
          </a:p>
          <a:p>
            <a:endParaRPr lang="en-GB"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1987"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19</a:t>
            </a:r>
          </a:p>
        </p:txBody>
      </p:sp>
      <p:sp>
        <p:nvSpPr>
          <p:cNvPr id="41988"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1989"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1990" name="Rectangle 6"/>
          <p:cNvSpPr>
            <a:spLocks noGrp="1" noRot="1" noChangeAspect="1" noChangeArrowheads="1" noTextEdit="1"/>
          </p:cNvSpPr>
          <p:nvPr>
            <p:ph type="sldImg"/>
          </p:nvPr>
        </p:nvSpPr>
        <p:spPr>
          <a:xfrm>
            <a:off x="1150938" y="692150"/>
            <a:ext cx="4556125" cy="3416300"/>
          </a:xfrm>
          <a:ln cap="flat"/>
        </p:spPr>
      </p:sp>
      <p:sp>
        <p:nvSpPr>
          <p:cNvPr id="41991" name="Rectangle 7"/>
          <p:cNvSpPr>
            <a:spLocks noGrp="1" noChangeArrowheads="1"/>
          </p:cNvSpPr>
          <p:nvPr>
            <p:ph type="body" idx="1"/>
          </p:nvPr>
        </p:nvSpPr>
        <p:spPr>
          <a:ln/>
        </p:spPr>
        <p:txBody>
          <a:bodyPr/>
          <a:lstStyle/>
          <a:p>
            <a:r>
              <a:rPr lang="en-US" sz="1200" kern="1200" dirty="0" smtClean="0">
                <a:solidFill>
                  <a:schemeClr val="tx1"/>
                </a:solidFill>
                <a:latin typeface="Times New Roman" pitchFamily="-1" charset="0"/>
                <a:ea typeface="+mn-ea"/>
                <a:cs typeface="+mn-cs"/>
              </a:rPr>
              <a:t>For indexing, the interpretation is typically the following: The address field references a main memory address, and the referenced register contains a positive displacement from that address. Note that this usage is just the opposite of the interpretation for base-register addressing. Of course, it is more than just a matter of user interpretation. Because the address field is considered to be a memory address in indexing, it generally contains more bits than an address field in a comparable base-register instruction. Also, we shall see that there are some refinements to indexing that would not be as useful in the base-register context. Nevertheless, the method of calculating the EA is the same for both base-register addressing and indexing, and in both cases the register reference is sometimes explicit and sometimes implicit (for different processor types).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An important use of indexing is to provide an efficient mechanism for per- forming iterative operations. Consider, for example, a list of numbers stored starting at location A. Suppose that we would like to add 1 to each element on the list. We need to fetch each value, add 1 to it, and store it back. The sequence of effective addresses that we need is A, A + 1, A + 2,..., up to the last location on the list. With indexing, this is easily done. The value A is stored in the instruction’s address field, and the chosen register, called an </a:t>
            </a:r>
            <a:r>
              <a:rPr lang="en-US" sz="1200" i="1" kern="1200" dirty="0" smtClean="0">
                <a:solidFill>
                  <a:schemeClr val="tx1"/>
                </a:solidFill>
                <a:latin typeface="Times New Roman" pitchFamily="-1" charset="0"/>
                <a:ea typeface="+mn-ea"/>
                <a:cs typeface="+mn-cs"/>
              </a:rPr>
              <a:t>index register, </a:t>
            </a:r>
            <a:r>
              <a:rPr lang="en-US" sz="1200" kern="1200" dirty="0" smtClean="0">
                <a:solidFill>
                  <a:schemeClr val="tx1"/>
                </a:solidFill>
                <a:latin typeface="Times New Roman" pitchFamily="-1" charset="0"/>
                <a:ea typeface="+mn-ea"/>
                <a:cs typeface="+mn-cs"/>
              </a:rPr>
              <a:t>is initialized to 0. After each operation, the index register is incremented by 1.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Because index registers are commonly used for such iterative tasks, it is typical that there is a need to increment or decrement the index register after </a:t>
            </a:r>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each reference to it. Because this is such a common operation, some systems will automatically do this as part of the same instruction cycle. This is known as </a:t>
            </a:r>
            <a:r>
              <a:rPr lang="en-US" sz="1200" b="1" kern="1200" dirty="0" smtClean="0">
                <a:solidFill>
                  <a:schemeClr val="tx1"/>
                </a:solidFill>
                <a:latin typeface="Times New Roman" pitchFamily="-1" charset="0"/>
                <a:ea typeface="+mn-ea"/>
                <a:cs typeface="+mn-cs"/>
              </a:rPr>
              <a:t>autoindexing. </a:t>
            </a:r>
            <a:r>
              <a:rPr lang="en-US" sz="1200" kern="1200" dirty="0" smtClean="0">
                <a:solidFill>
                  <a:schemeClr val="tx1"/>
                </a:solidFill>
                <a:latin typeface="Times New Roman" pitchFamily="-1" charset="0"/>
                <a:ea typeface="+mn-ea"/>
                <a:cs typeface="+mn-cs"/>
              </a:rPr>
              <a:t>If certain registers are devoted exclusively to indexing, then autoindexing can be invoked implicitly and automatically. If general-purpose registers are used, the autoindex operation may need to be signaled by a bit in the instruction.</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In some machines, both indirect addressing and indexing are provided, and it is possible to employ both in the same instruction. There are two possibilities: the indexing is performed either before or after the indirection.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If indexing is performed after the indirection, it is termed </a:t>
            </a:r>
            <a:r>
              <a:rPr lang="en-US" sz="1200" b="1" kern="1200" dirty="0" smtClean="0">
                <a:solidFill>
                  <a:schemeClr val="tx1"/>
                </a:solidFill>
                <a:latin typeface="Times New Roman" pitchFamily="-1" charset="0"/>
                <a:ea typeface="+mn-ea"/>
                <a:cs typeface="+mn-cs"/>
              </a:rPr>
              <a:t>postindexing.</a:t>
            </a:r>
          </a:p>
          <a:p>
            <a:endParaRPr lang="en-US" sz="1200" b="1"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First, the contents of the address field are used to access a memory location containing a direct address. This address is then indexed by the register value. This technique is useful for accessing one of a number of blocks of data of a fixed format. For example, it was described in Chapter 8 that the operating system needs to employ a process control block for each process. The operations performed are the same regardless of which block is being manipulated. Thus, the addresses in the instructions that reference the block could point to a location (value = A) containing a variable pointer to the start of a process control block. The index register contains the displacement within the block.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With </a:t>
            </a:r>
            <a:r>
              <a:rPr lang="en-US" sz="1200" b="1" kern="1200" dirty="0" smtClean="0">
                <a:solidFill>
                  <a:schemeClr val="tx1"/>
                </a:solidFill>
                <a:latin typeface="Times New Roman" pitchFamily="-1" charset="0"/>
                <a:ea typeface="+mn-ea"/>
                <a:cs typeface="+mn-cs"/>
              </a:rPr>
              <a:t>preindexing, </a:t>
            </a:r>
            <a:r>
              <a:rPr lang="en-US" sz="1200" kern="1200" dirty="0" smtClean="0">
                <a:solidFill>
                  <a:schemeClr val="tx1"/>
                </a:solidFill>
                <a:latin typeface="Times New Roman" pitchFamily="-1" charset="0"/>
                <a:ea typeface="+mn-ea"/>
                <a:cs typeface="+mn-cs"/>
              </a:rPr>
              <a:t>the indexing is performed before the indirection. </a:t>
            </a:r>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An address is calculated as with simple indexing. In this case, however, the calculated address contains not the operand, but the address of the operand. An example of the use of this technique is to construct a multiway branch table. At a particular point in a program, there may be a branch to one of a number of locations depending on conditions. A table of addresses can be set up starting at location A. By indexing into this table, the required location can be found.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Typically, an instruction set will not include both preindexing and postindexing. </a:t>
            </a:r>
            <a:endParaRPr lang="en-US" dirty="0" smtClean="0"/>
          </a:p>
          <a:p>
            <a:endParaRPr lang="en-US" dirty="0" smtClean="0"/>
          </a:p>
          <a:p>
            <a:r>
              <a:rPr lang="en-US" sz="1200" b="1" kern="1200" dirty="0" smtClean="0">
                <a:solidFill>
                  <a:schemeClr val="tx1"/>
                </a:solidFill>
                <a:latin typeface="Times New Roman" pitchFamily="-1" charset="0"/>
                <a:ea typeface="+mn-ea"/>
                <a:cs typeface="+mn-cs"/>
              </a:rPr>
              <a:t> </a:t>
            </a:r>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 </a:t>
            </a:r>
            <a:endParaRPr lang="en-US" dirty="0" smtClean="0"/>
          </a:p>
          <a:p>
            <a:endParaRPr lang="en-GB"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6083"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21</a:t>
            </a:r>
          </a:p>
        </p:txBody>
      </p:sp>
      <p:sp>
        <p:nvSpPr>
          <p:cNvPr id="46084"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6085"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6086" name="Rectangle 6"/>
          <p:cNvSpPr>
            <a:spLocks noGrp="1" noRot="1" noChangeAspect="1" noChangeArrowheads="1" noTextEdit="1"/>
          </p:cNvSpPr>
          <p:nvPr>
            <p:ph type="sldImg"/>
          </p:nvPr>
        </p:nvSpPr>
        <p:spPr>
          <a:xfrm>
            <a:off x="1150938" y="692150"/>
            <a:ext cx="4556125" cy="3416300"/>
          </a:xfrm>
          <a:ln cap="flat"/>
        </p:spPr>
      </p:sp>
      <p:sp>
        <p:nvSpPr>
          <p:cNvPr id="46087" name="Rectangle 7"/>
          <p:cNvSpPr>
            <a:spLocks noGrp="1" noChangeArrowheads="1"/>
          </p:cNvSpPr>
          <p:nvPr>
            <p:ph type="body" idx="1"/>
          </p:nvPr>
        </p:nvSpPr>
        <p:spPr>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The final addressing mode that we consider is stack addressing. As defined in Appendix I, a stack is a linear array of locations. It is sometimes referred to as a </a:t>
            </a:r>
            <a:r>
              <a:rPr lang="en-US" sz="1200" i="1" kern="1200" dirty="0" smtClean="0">
                <a:solidFill>
                  <a:schemeClr val="tx1"/>
                </a:solidFill>
                <a:latin typeface="Times New Roman" pitchFamily="-1" charset="0"/>
                <a:ea typeface="+mn-ea"/>
                <a:cs typeface="+mn-cs"/>
              </a:rPr>
              <a:t>pushdown list </a:t>
            </a:r>
            <a:r>
              <a:rPr lang="en-US" sz="1200" kern="1200" dirty="0" smtClean="0">
                <a:solidFill>
                  <a:schemeClr val="tx1"/>
                </a:solidFill>
                <a:latin typeface="Times New Roman" pitchFamily="-1" charset="0"/>
                <a:ea typeface="+mn-ea"/>
                <a:cs typeface="+mn-cs"/>
              </a:rPr>
              <a:t>or </a:t>
            </a:r>
            <a:r>
              <a:rPr lang="en-US" sz="1200" i="1" kern="1200" dirty="0" smtClean="0">
                <a:solidFill>
                  <a:schemeClr val="tx1"/>
                </a:solidFill>
                <a:latin typeface="Times New Roman" pitchFamily="-1" charset="0"/>
                <a:ea typeface="+mn-ea"/>
                <a:cs typeface="+mn-cs"/>
              </a:rPr>
              <a:t>last-in-first-out queue. </a:t>
            </a:r>
            <a:r>
              <a:rPr lang="en-US" sz="1200" kern="1200" dirty="0" smtClean="0">
                <a:solidFill>
                  <a:schemeClr val="tx1"/>
                </a:solidFill>
                <a:latin typeface="Times New Roman" pitchFamily="-1" charset="0"/>
                <a:ea typeface="+mn-ea"/>
                <a:cs typeface="+mn-cs"/>
              </a:rPr>
              <a:t>The stack is a reserved block of locations. Items are appended to the top of the stack so that, at any given time, the block is partially filled. Associated with the stack is a pointer whose value is the address of the top of the stack. Alternatively, the top two elements of the stack may be in processor registers, in which case the stack pointer references the third element of the stack. The stack pointer is maintained in a register. Thus, references to stack locations in memory are in fact register indirect addresses.</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smtClean="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The stack mode of addressing is a form of implied addressing. The machine instructions need not include a memory reference but implicitly operate on the top of the stack. </a:t>
            </a:r>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 </a:t>
            </a:r>
            <a:endParaRPr lang="en-US" dirty="0" smtClean="0"/>
          </a:p>
          <a:p>
            <a:endParaRPr lang="en-GB"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Times New Roman" pitchFamily="-1" charset="0"/>
                <a:ea typeface="+mn-ea"/>
                <a:cs typeface="+mn-cs"/>
              </a:rPr>
              <a:t>Recall from Figure 8.21 that the x86 address translation mechanism produces an address, called a virtual or effective address, that is an offset into a segment. The sum of the starting address of the segment and the effective address produces a linear address. If paging is being used, this linear address must pass through a page- translation mechanism to produce a physical address. In what follows, we ignore this last step because it is transparent to the instruction set and to the programmer. </a:t>
            </a:r>
            <a:endParaRPr lang="en-US" dirty="0" smtClean="0"/>
          </a:p>
          <a:p>
            <a:endParaRPr lang="en-US" sz="1200" kern="1200" dirty="0" smtClean="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The x86 is equipped with a variety of addressing modes intended to allow the efficient execution of high-level languages. Figure 13.2 indicates the logic involved. The segment register determines the segment that is the subject of the reference. There are six segment registers; the one being used for a particular reference depends on the context of execution and the instruction. Each segment register holds an index into the segment descriptor table (Figure 8.20), which holds the starting address of the corresponding segments. Associated with each user-visible segment register is a segment descriptor register (not programmer visible), which records the access rights for the segment as well as the starting address and limit (length) of the segment. In addition, there are two registers that may be used in constructing an address: the base register and the index register. </a:t>
            </a:r>
            <a:endParaRPr lang="en-US" dirty="0" smtClean="0"/>
          </a:p>
          <a:p>
            <a:r>
              <a:rPr lang="en-US" sz="1200" kern="1200" dirty="0" smtClean="0">
                <a:solidFill>
                  <a:schemeClr val="tx1"/>
                </a:solidFill>
                <a:latin typeface="Times New Roman" pitchFamily="-1" charset="0"/>
                <a:ea typeface="+mn-ea"/>
                <a:cs typeface="+mn-cs"/>
              </a:rPr>
              <a:t> </a:t>
            </a:r>
            <a:endParaRPr lang="en-US" dirty="0" smtClean="0"/>
          </a:p>
          <a:p>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40000" lnSpcReduction="20000"/>
          </a:bodyPr>
          <a:lstStyle/>
          <a:p>
            <a:r>
              <a:rPr lang="en-US" sz="1200" kern="1200" dirty="0" smtClean="0">
                <a:solidFill>
                  <a:schemeClr val="tx1"/>
                </a:solidFill>
                <a:latin typeface="Times New Roman" pitchFamily="-1" charset="0"/>
                <a:ea typeface="+mn-ea"/>
                <a:cs typeface="+mn-cs"/>
              </a:rPr>
              <a:t>Table 13.2 lists the x86 addressing modes. Let us consider each of these in turn.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For the </a:t>
            </a:r>
            <a:r>
              <a:rPr lang="en-US" sz="1200" b="1" kern="1200" dirty="0" smtClean="0">
                <a:solidFill>
                  <a:schemeClr val="tx1"/>
                </a:solidFill>
                <a:latin typeface="Times New Roman" pitchFamily="-1" charset="0"/>
                <a:ea typeface="+mn-ea"/>
                <a:cs typeface="+mn-cs"/>
              </a:rPr>
              <a:t>immediate mode, </a:t>
            </a:r>
            <a:r>
              <a:rPr lang="en-US" sz="1200" kern="1200" dirty="0" smtClean="0">
                <a:solidFill>
                  <a:schemeClr val="tx1"/>
                </a:solidFill>
                <a:latin typeface="Times New Roman" pitchFamily="-1" charset="0"/>
                <a:ea typeface="+mn-ea"/>
                <a:cs typeface="+mn-cs"/>
              </a:rPr>
              <a:t>the operand is included in the instruction. The operand can be a byte, word, or doubleword of data.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For </a:t>
            </a:r>
            <a:r>
              <a:rPr lang="en-US" sz="1200" b="1" kern="1200" dirty="0" smtClean="0">
                <a:solidFill>
                  <a:schemeClr val="tx1"/>
                </a:solidFill>
                <a:latin typeface="Times New Roman" pitchFamily="-1" charset="0"/>
                <a:ea typeface="+mn-ea"/>
                <a:cs typeface="+mn-cs"/>
              </a:rPr>
              <a:t>register operand mode, </a:t>
            </a:r>
            <a:r>
              <a:rPr lang="en-US" sz="1200" kern="1200" dirty="0" smtClean="0">
                <a:solidFill>
                  <a:schemeClr val="tx1"/>
                </a:solidFill>
                <a:latin typeface="Times New Roman" pitchFamily="-1" charset="0"/>
                <a:ea typeface="+mn-ea"/>
                <a:cs typeface="+mn-cs"/>
              </a:rPr>
              <a:t>the operand is located in a register. For general instructions, such as data transfer, arithmetic, and logical instructions, the operand can be one of the 32-bit general registers (EAX, EBX, ECX, EDX, ESI, EDI, ESP, EBP), one of the 16-bit general registers (AX, BX, CX, DX, SI, DI, SP, BP), or one of the 8-bit general registers (AH, BH, CH, DH, AL, BL, CL, DL). There are also some instructions that reference the segment selector registers (CS, DS, ES, SS, FS, GS).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The remaining addressing modes reference locations in memory. The memory location must be specified in terms of the segment containing the location and the off- set from the beginning of the segment. In some cases, a segment is specified explicitly; in others, the segment is specified by simple rules that assign a segment by default.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In the </a:t>
            </a:r>
            <a:r>
              <a:rPr lang="en-US" sz="1200" b="1" kern="1200" dirty="0" smtClean="0">
                <a:solidFill>
                  <a:schemeClr val="tx1"/>
                </a:solidFill>
                <a:latin typeface="Times New Roman" pitchFamily="-1" charset="0"/>
                <a:ea typeface="+mn-ea"/>
                <a:cs typeface="+mn-cs"/>
              </a:rPr>
              <a:t>displacement mode, </a:t>
            </a:r>
            <a:r>
              <a:rPr lang="en-US" sz="1200" kern="1200" dirty="0" smtClean="0">
                <a:solidFill>
                  <a:schemeClr val="tx1"/>
                </a:solidFill>
                <a:latin typeface="Times New Roman" pitchFamily="-1" charset="0"/>
                <a:ea typeface="+mn-ea"/>
                <a:cs typeface="+mn-cs"/>
              </a:rPr>
              <a:t>the operand’s offset (the effective address of Figure13.2) is contained as part of the instruction as an 8-, 16-, or 32-bit displacement. With segmentation, all addresses in instructions refer merely to an offset in a segment. The displacement addressing mode is found on few machines because, as mentioned earlier, it leads to long instructions. In the case of the x86, the displacement value can be as long as 32 bits, making for a 6-byte instruction. Displacement addressing can be useful for referencing global variables.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The remaining addressing modes are indirect, in the sense that the address portion of the instruction tells the processor where to look to find the address. The </a:t>
            </a:r>
            <a:r>
              <a:rPr lang="en-US" sz="1200" b="1" kern="1200" dirty="0" smtClean="0">
                <a:solidFill>
                  <a:schemeClr val="tx1"/>
                </a:solidFill>
                <a:latin typeface="Times New Roman" pitchFamily="-1" charset="0"/>
                <a:ea typeface="+mn-ea"/>
                <a:cs typeface="+mn-cs"/>
              </a:rPr>
              <a:t>base mode </a:t>
            </a:r>
            <a:r>
              <a:rPr lang="en-US" sz="1200" kern="1200" dirty="0" smtClean="0">
                <a:solidFill>
                  <a:schemeClr val="tx1"/>
                </a:solidFill>
                <a:latin typeface="Times New Roman" pitchFamily="-1" charset="0"/>
                <a:ea typeface="+mn-ea"/>
                <a:cs typeface="+mn-cs"/>
              </a:rPr>
              <a:t>specifies that one of the 8-, 16-, or 32-bit registers contains the effective address. This is equivalent to what we have referred to as register indirect addressing.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In the </a:t>
            </a:r>
            <a:r>
              <a:rPr lang="en-US" sz="1200" b="1" kern="1200" dirty="0" smtClean="0">
                <a:solidFill>
                  <a:schemeClr val="tx1"/>
                </a:solidFill>
                <a:latin typeface="Times New Roman" pitchFamily="-1" charset="0"/>
                <a:ea typeface="+mn-ea"/>
                <a:cs typeface="+mn-cs"/>
              </a:rPr>
              <a:t>base with displacement mode, </a:t>
            </a:r>
            <a:r>
              <a:rPr lang="en-US" sz="1200" kern="1200" dirty="0" smtClean="0">
                <a:solidFill>
                  <a:schemeClr val="tx1"/>
                </a:solidFill>
                <a:latin typeface="Times New Roman" pitchFamily="-1" charset="0"/>
                <a:ea typeface="+mn-ea"/>
                <a:cs typeface="+mn-cs"/>
              </a:rPr>
              <a:t>the instruction includes a displacement to be added to a base register, which may be any of the general-purpose registers. Examples of uses of this mode are as follows: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Used by a compiler to point to the start of a local variable area. For example, the base register could point to the beginning of a stack frame, which contains the local variables for the corresponding procedure. </a:t>
            </a:r>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Used to index into an array when the element size is not 1, 2, 4, or 8 bytes and which therefore cannot be indexed using an index register. In this case, the displacement points to the beginning of the array, and the base register holds the results of a calculation to determine the offset to a specific element within the array. </a:t>
            </a:r>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Used to access a field of a record. The base register points to the beginning of the record, while the displacement is an offset to the field. </a:t>
            </a:r>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In the </a:t>
            </a:r>
            <a:r>
              <a:rPr lang="en-US" sz="1200" b="1" kern="1200" dirty="0" smtClean="0">
                <a:solidFill>
                  <a:schemeClr val="tx1"/>
                </a:solidFill>
                <a:latin typeface="Times New Roman" pitchFamily="-1" charset="0"/>
                <a:ea typeface="+mn-ea"/>
                <a:cs typeface="+mn-cs"/>
              </a:rPr>
              <a:t>scaled index with displacement mode, </a:t>
            </a:r>
            <a:r>
              <a:rPr lang="en-US" sz="1200" kern="1200" dirty="0" smtClean="0">
                <a:solidFill>
                  <a:schemeClr val="tx1"/>
                </a:solidFill>
                <a:latin typeface="Times New Roman" pitchFamily="-1" charset="0"/>
                <a:ea typeface="+mn-ea"/>
                <a:cs typeface="+mn-cs"/>
              </a:rPr>
              <a:t>the instruction includes a displacement to be added to a register, in this case called an index register. The index register may be any of the general-purpose registers except the one called ESP, which is generally used for stack processing. In calculating the effective address, the contents of the index register are multiplied by a scaling factor of 1, 2, 4, or 8, and then added to a displacement. This mode is very convenient for indexing arrays. A scaling factor of 2 can be used for an array of 16-bit integers. A scaling factor of 4 can be used for 32-bit integers or floating-point numbers. Finally, a scaling factor of 8 can be used for an array of double-precision floating-point numbers. </a:t>
            </a:r>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The </a:t>
            </a:r>
            <a:r>
              <a:rPr lang="en-US" sz="1200" b="1" kern="1200" dirty="0" smtClean="0">
                <a:solidFill>
                  <a:schemeClr val="tx1"/>
                </a:solidFill>
                <a:latin typeface="Times New Roman" pitchFamily="-1" charset="0"/>
                <a:ea typeface="+mn-ea"/>
                <a:cs typeface="+mn-cs"/>
              </a:rPr>
              <a:t>base with index and displacement mode </a:t>
            </a:r>
            <a:r>
              <a:rPr lang="en-US" sz="1200" kern="1200" dirty="0" smtClean="0">
                <a:solidFill>
                  <a:schemeClr val="tx1"/>
                </a:solidFill>
                <a:latin typeface="Times New Roman" pitchFamily="-1" charset="0"/>
                <a:ea typeface="+mn-ea"/>
                <a:cs typeface="+mn-cs"/>
              </a:rPr>
              <a:t>sums the contents of the base register, the index register, and a displacement to form the effective address. Again, the base register can be any general-purpose register and the index register can be any general-purpose register except ESP. As an example, this addressing mode could be used for accessing a local array on a stack frame. This mode can also be used to support a two-dimensional array; in this case, the displacement points to the beginning of the array, and each register handles one dimension of the array. </a:t>
            </a:r>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The </a:t>
            </a:r>
            <a:r>
              <a:rPr lang="en-US" sz="1200" b="1" kern="1200" dirty="0" smtClean="0">
                <a:solidFill>
                  <a:schemeClr val="tx1"/>
                </a:solidFill>
                <a:latin typeface="Times New Roman" pitchFamily="-1" charset="0"/>
                <a:ea typeface="+mn-ea"/>
                <a:cs typeface="+mn-cs"/>
              </a:rPr>
              <a:t>based scaled index with displacement mode </a:t>
            </a:r>
            <a:r>
              <a:rPr lang="en-US" sz="1200" kern="1200" dirty="0" smtClean="0">
                <a:solidFill>
                  <a:schemeClr val="tx1"/>
                </a:solidFill>
                <a:latin typeface="Times New Roman" pitchFamily="-1" charset="0"/>
                <a:ea typeface="+mn-ea"/>
                <a:cs typeface="+mn-cs"/>
              </a:rPr>
              <a:t>sums the contents of the index register multiplied by a scaling factor, the contents of the base register, and the displacement. This is useful if an array is stored in a stack frame; in this case, the array elements would be 2, 4, or 8 bytes each in length. This mode also provides efficient indexing of a two-dimensional array when the array elements are 2, 4, or 8 bytes in length. </a:t>
            </a:r>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Finally, </a:t>
            </a:r>
            <a:r>
              <a:rPr lang="en-US" sz="1200" b="1" kern="1200" dirty="0" smtClean="0">
                <a:solidFill>
                  <a:schemeClr val="tx1"/>
                </a:solidFill>
                <a:latin typeface="Times New Roman" pitchFamily="-1" charset="0"/>
                <a:ea typeface="+mn-ea"/>
                <a:cs typeface="+mn-cs"/>
              </a:rPr>
              <a:t>relative addressing </a:t>
            </a:r>
            <a:r>
              <a:rPr lang="en-US" sz="1200" kern="1200" dirty="0" smtClean="0">
                <a:solidFill>
                  <a:schemeClr val="tx1"/>
                </a:solidFill>
                <a:latin typeface="Times New Roman" pitchFamily="-1" charset="0"/>
                <a:ea typeface="+mn-ea"/>
                <a:cs typeface="+mn-cs"/>
              </a:rPr>
              <a:t>can be used in transfer-of-control instructions. A displacement is added to the value of the program counter, which points to the next instruction. In this case, the displacement is treated as a signed byte, word, or doubleword value, and that value either increases or decreases the address in the program counter. </a:t>
            </a:r>
          </a:p>
          <a:p>
            <a:endParaRPr lang="en-US" dirty="0" smtClean="0"/>
          </a:p>
          <a:p>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1026"/>
          <p:cNvSpPr>
            <a:spLocks noGrp="1" noRot="1" noChangeAspect="1" noChangeArrowheads="1" noTextEdit="1"/>
          </p:cNvSpPr>
          <p:nvPr>
            <p:ph type="sldImg"/>
          </p:nvPr>
        </p:nvSpPr>
        <p:spPr>
          <a:xfrm>
            <a:off x="1150938" y="692150"/>
            <a:ext cx="4556125" cy="3416300"/>
          </a:xfrm>
          <a:ln/>
        </p:spPr>
      </p:sp>
      <p:sp>
        <p:nvSpPr>
          <p:cNvPr id="110595" name="Rectangle 1027"/>
          <p:cNvSpPr>
            <a:spLocks noGrp="1" noChangeArrowheads="1"/>
          </p:cNvSpPr>
          <p:nvPr>
            <p:ph type="body" idx="1"/>
          </p:nvPr>
        </p:nvSpPr>
        <p:spPr/>
        <p:txBody>
          <a:bodyPr/>
          <a:lstStyle/>
          <a:p>
            <a:r>
              <a:rPr lang="en-US" sz="1200" kern="1200" dirty="0" smtClean="0">
                <a:solidFill>
                  <a:schemeClr val="tx1"/>
                </a:solidFill>
                <a:latin typeface="Times New Roman" pitchFamily="-1" charset="0"/>
                <a:ea typeface="+mn-ea"/>
                <a:cs typeface="+mn-cs"/>
              </a:rPr>
              <a:t>An instruction format defines the layout of the bits of an instruction, in terms of its constituent fields. An instruction format must include an opcode and, implicitly or explicitly, zero or more operands. Each explicit operand is referenced using one of the addressing modes described in Section 13.1. The format must, implicitly or explicitly, indicate the addressing mode for each operand. For most instruction sets, more than one instruction format is used.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The design of an instruction format is a complex art, and an amazing variety of designs have been implemented. We examine the key design issues, looking briefly at some designs to illustrate points, and then we examine the x86 and ARM solutions in detail. </a:t>
            </a:r>
            <a:endParaRPr lang="en-US" dirty="0" smtClean="0"/>
          </a:p>
          <a:p>
            <a:endParaRPr lang="en-GB"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Rot="1" noChangeAspect="1" noChangeArrowheads="1" noTextEdit="1"/>
          </p:cNvSpPr>
          <p:nvPr>
            <p:ph type="sldImg"/>
          </p:nvPr>
        </p:nvSpPr>
        <p:spPr>
          <a:xfrm>
            <a:off x="1150938" y="692150"/>
            <a:ext cx="4556125" cy="3416300"/>
          </a:xfrm>
          <a:ln/>
        </p:spPr>
      </p:sp>
      <p:sp>
        <p:nvSpPr>
          <p:cNvPr id="111619" name="Rectangle 3"/>
          <p:cNvSpPr>
            <a:spLocks noGrp="1" noChangeArrowheads="1"/>
          </p:cNvSpPr>
          <p:nvPr>
            <p:ph type="body" idx="1"/>
          </p:nvPr>
        </p:nvSpPr>
        <p:spPr/>
        <p:txBody>
          <a:bodyPr/>
          <a:lstStyle/>
          <a:p>
            <a:r>
              <a:rPr lang="en-US" sz="1200" kern="1200" dirty="0" smtClean="0">
                <a:solidFill>
                  <a:schemeClr val="tx1"/>
                </a:solidFill>
                <a:latin typeface="Times New Roman" pitchFamily="-1" charset="0"/>
                <a:ea typeface="+mn-ea"/>
                <a:cs typeface="+mn-cs"/>
              </a:rPr>
              <a:t>The most basic design issue to be faced is the instruction format length. This decision affects, and is affected by, memory size, memory organization, bus structure, processor complexity, and processor speed. This decision determines the richness and flexibility of the machine as seen by the assembly-language programmer.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The most obvious trade-off here is between the desire for a powerful instruction repertoire and a need to save space. Programmers want more opcodes, more operands, more addressing modes, and greater address range. More opcodes and more operands make life easier for the programmer, because shorter programs can be written to accomplish given tasks. Similarly, more addressing modes give the programmer greater flexibility in implementing certain functions, such as table manipulations and multiple-way branching. And, of course, with the increase in main memory size and the increasing use of virtual memory, programmers want to be able to address larger memory ranges. All of these things (opcodes, operands, addressing modes, address range) require bits and push in the direction of longer instruction lengths. But longer instruction length may be wasteful. A 64-bit instruction occupies twice the space of a 32-bit instruction but is probably less than twice as useful.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Beyond this basic trade-off, there are other considerations. Either the instruction length should be equal to the memory-transfer length (in a bus system, data- bus length) or one should be a multiple of the other. Otherwise, we will not get an integral number of instructions during a fetch cycle. A related consideration is the memory transfer rate. This rate has not kept up with increases in processor speed. Accordingly, memory can become a bottleneck if the processor can execute instructions faster than it can fetch them. One solution to this problem is to use cache memory (see Section 4.3); another is to use shorter instructions. Thus, 16-bit instructions can be fetched at twice the rate of 32-bit instructions but probably can be executed less than twice as rapidly.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A seemingly mundane but nevertheless important feature is that the instruction length should be a multiple of the character length, which is usually 8 bits, and of the length of fixed-point numbers. To see this, we need to make use of that unfortunately ill-defined word, </a:t>
            </a:r>
            <a:r>
              <a:rPr lang="en-US" sz="1200" i="1" kern="1200" dirty="0" smtClean="0">
                <a:solidFill>
                  <a:schemeClr val="tx1"/>
                </a:solidFill>
                <a:latin typeface="Times New Roman" pitchFamily="-1" charset="0"/>
                <a:ea typeface="+mn-ea"/>
                <a:cs typeface="+mn-cs"/>
              </a:rPr>
              <a:t>word </a:t>
            </a:r>
            <a:r>
              <a:rPr lang="en-US" sz="1200" kern="1200" dirty="0" smtClean="0">
                <a:solidFill>
                  <a:schemeClr val="tx1"/>
                </a:solidFill>
                <a:latin typeface="Times New Roman" pitchFamily="-1" charset="0"/>
                <a:ea typeface="+mn-ea"/>
                <a:cs typeface="+mn-cs"/>
              </a:rPr>
              <a:t>[FRAI83]. The word length of memory is, in some sense, the “natural” unit of organization. The size of a word usually determines the size of fixed-point numbers (usually the two are equal). Word size is also typically equal to, or at least integrally related to, the memory transfer size. Because a common form of data is character data, we would like a word to store an integral number of characters. Otherwise, there are wasted bits in each word when storing multiple characters, or a character will have to straddle a word boundary. The importance of this point is such that IBM, when it introduced the System/360 and wanted to employ 8-bit characters, made the wrenching decision to move from the 36-bit architecture of the scientific members of the 700/7000 series to a 32-bit architecture. </a:t>
            </a:r>
            <a:endParaRPr lang="en-US" dirty="0" smtClean="0"/>
          </a:p>
          <a:p>
            <a:endParaRPr lang="en-US" dirty="0" smtClean="0"/>
          </a:p>
          <a:p>
            <a:endParaRPr lang="en-GB"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a:xfrm>
            <a:off x="1150938" y="692150"/>
            <a:ext cx="4556125" cy="3416300"/>
          </a:xfrm>
          <a:ln/>
        </p:spPr>
      </p:sp>
      <p:sp>
        <p:nvSpPr>
          <p:cNvPr id="112643" name="Rectangle 3"/>
          <p:cNvSpPr>
            <a:spLocks noGrp="1" noChangeArrowheads="1"/>
          </p:cNvSpPr>
          <p:nvPr>
            <p:ph type="body" idx="1"/>
          </p:nvPr>
        </p:nvSpPr>
        <p:spPr/>
        <p:txBody>
          <a:bodyPr/>
          <a:lstStyle/>
          <a:p>
            <a:r>
              <a:rPr lang="en-US" sz="1200" kern="1200" dirty="0" smtClean="0">
                <a:solidFill>
                  <a:schemeClr val="tx1"/>
                </a:solidFill>
                <a:latin typeface="Times New Roman" pitchFamily="-1" charset="0"/>
                <a:ea typeface="+mn-ea"/>
                <a:cs typeface="+mn-cs"/>
              </a:rPr>
              <a:t>We’ve looked at some of the factors that go into deciding the length of the instruction format. An equally difficult issue is how to allocate the bits in that format. The trade-offs here are complex.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For a given instruction length, there is clearly a trade-off between the number of opcodes and the power of the addressing capability. More opcodes obviously mean more bits in the opcode field. For an instruction format of a given length, this reduces the number of bits available for addressing. There is one interesting refinement to this trade-off, and that is the use of variable-length opcodes. In this approach, there is a minimum opcode length but, for some opcodes, additional operations may be specified by using additional bits in the instruction. For a fixed- length instruction, this leaves fewer bits for addressing. Thus, this feature is used for those instructions that require fewer operands and/or less powerful addressing.</a:t>
            </a:r>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The following interrelated factors go into determining the use of the addressing bits. </a:t>
            </a:r>
            <a:endParaRPr lang="en-US" dirty="0" smtClean="0"/>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Number of addressing modes: </a:t>
            </a:r>
            <a:r>
              <a:rPr lang="en-US" sz="1200" kern="1200" dirty="0" smtClean="0">
                <a:solidFill>
                  <a:schemeClr val="tx1"/>
                </a:solidFill>
                <a:latin typeface="Times New Roman" pitchFamily="-1" charset="0"/>
                <a:ea typeface="+mn-ea"/>
                <a:cs typeface="+mn-cs"/>
              </a:rPr>
              <a:t>Sometimes an addressing mode can be indicated implicitly. For example, certain opcodes might always call for indexing. In other cases, the addressing modes must be explicit, and one or more mode bits will be needed. </a:t>
            </a:r>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Number of operands: </a:t>
            </a:r>
            <a:r>
              <a:rPr lang="en-US" sz="1200" b="0" kern="1200" dirty="0" smtClean="0">
                <a:solidFill>
                  <a:schemeClr val="tx1"/>
                </a:solidFill>
                <a:latin typeface="Times New Roman" pitchFamily="-1" charset="0"/>
                <a:ea typeface="+mn-ea"/>
                <a:cs typeface="+mn-cs"/>
              </a:rPr>
              <a:t>We have seen that fewer addresses can make for longer, </a:t>
            </a:r>
            <a:r>
              <a:rPr lang="en-US" sz="1200" kern="1200" dirty="0" smtClean="0">
                <a:solidFill>
                  <a:schemeClr val="tx1"/>
                </a:solidFill>
                <a:latin typeface="Times New Roman" pitchFamily="-1" charset="0"/>
                <a:ea typeface="+mn-ea"/>
                <a:cs typeface="+mn-cs"/>
              </a:rPr>
              <a:t>more awkward programs (e.g., Figure 10.3). Typical instruction formats on today’s machines include two operands. Each operand address in the instruction might require its own mode indicator, or the use of a mode indicator could be limited to just one of the address fields. </a:t>
            </a:r>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Register versus memory: </a:t>
            </a:r>
            <a:r>
              <a:rPr lang="en-US" sz="1200" kern="1200" dirty="0" smtClean="0">
                <a:solidFill>
                  <a:schemeClr val="tx1"/>
                </a:solidFill>
                <a:latin typeface="Times New Roman" pitchFamily="-1" charset="0"/>
                <a:ea typeface="+mn-ea"/>
                <a:cs typeface="+mn-cs"/>
              </a:rPr>
              <a:t>A machine must have registers so that data can be brought into the processor for processing. With a single user-visible register (usually called the accumulator), one operand address is implicit and consumes no instruction bits. However, single-register programming is awkward and requires many instructions. Even with multiple registers, only a few bits are needed to specify the register. The more that registers can be used for operand references, the fewer bits are needed. A number of studies indicate that a total of 8 to 32 user-visible registers is desirable [LUND77, HUCK83]. Most contemporary architectures have at least 32 registers. </a:t>
            </a:r>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Number of register sets: </a:t>
            </a:r>
            <a:r>
              <a:rPr lang="en-US" sz="1200" b="0" kern="1200" dirty="0" smtClean="0">
                <a:solidFill>
                  <a:schemeClr val="tx1"/>
                </a:solidFill>
                <a:latin typeface="Times New Roman" pitchFamily="-1" charset="0"/>
                <a:ea typeface="+mn-ea"/>
                <a:cs typeface="+mn-cs"/>
              </a:rPr>
              <a:t>Most contemporary machines have one set of general- </a:t>
            </a:r>
            <a:r>
              <a:rPr lang="en-US" sz="1200" kern="1200" dirty="0" smtClean="0">
                <a:solidFill>
                  <a:schemeClr val="tx1"/>
                </a:solidFill>
                <a:latin typeface="Times New Roman" pitchFamily="-1" charset="0"/>
                <a:ea typeface="+mn-ea"/>
                <a:cs typeface="+mn-cs"/>
              </a:rPr>
              <a:t>purpose registers, with typically 32 or more registers in the set. These registers can be used to store data and can be used to store addresses for displacement addressing. Some architectures, including that of the x86, have a collection of two or more specialized sets (such as data and displacement). One advantage of this latter approach is that, for a fixed number of registers, a functional split requires fewer bits to be used in the instruction. For example, with two sets of eight registers, only 3 bits are required to identify a register; the opcode or mode register will determine which set of registers is being referenced. </a:t>
            </a:r>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Address range: </a:t>
            </a:r>
            <a:r>
              <a:rPr lang="en-US" sz="1200" kern="1200" dirty="0" smtClean="0">
                <a:solidFill>
                  <a:schemeClr val="tx1"/>
                </a:solidFill>
                <a:latin typeface="Times New Roman" pitchFamily="-1" charset="0"/>
                <a:ea typeface="+mn-ea"/>
                <a:cs typeface="+mn-cs"/>
              </a:rPr>
              <a:t>For addresses that reference memory, the range of addresses that can be referenced is related to the number of address bits. Because this imposes a severe limitation, direct addressing is rarely used. With displacement addressing, the range is opened up to the length of the address register. Even so, it is still convenient to allow rather large displacements from the register address, which requires a relatively large number of address bits in the instruction. </a:t>
            </a:r>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Address granularity: </a:t>
            </a:r>
            <a:r>
              <a:rPr lang="en-US" sz="1200" kern="1200" dirty="0" smtClean="0">
                <a:solidFill>
                  <a:schemeClr val="tx1"/>
                </a:solidFill>
                <a:latin typeface="Times New Roman" pitchFamily="-1" charset="0"/>
                <a:ea typeface="+mn-ea"/>
                <a:cs typeface="+mn-cs"/>
              </a:rPr>
              <a:t>For addresses that reference memory rather than registers, another factor is the granularity of addressing. In a system with 16- or 32-bit words, an address can reference a word or a byte at the designer’s choice. Byte addressing is convenient for character manipulation but requires, for a fixed-size memory, more address bits. </a:t>
            </a:r>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Thus, the designer is faced with a host of factors to consider and balance. </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How critical the various choices are is not clear. As an example, we cite one study [CRAG79] that compared various instruction format approaches, including the use of a stack, general-purpose registers, an accumulator, and only memory-to-register approaches. Using a consistent set of assumptions, no significant difference in code space or execution time was observed. </a:t>
            </a:r>
            <a:endParaRPr lang="en-US" dirty="0" smtClean="0"/>
          </a:p>
          <a:p>
            <a:endParaRPr lang="en-US" dirty="0" smtClean="0"/>
          </a:p>
          <a:p>
            <a:r>
              <a:rPr lang="en-US" sz="1200" kern="1200" dirty="0" smtClean="0">
                <a:solidFill>
                  <a:schemeClr val="tx1"/>
                </a:solidFill>
                <a:latin typeface="Times New Roman" pitchFamily="-1" charset="0"/>
                <a:ea typeface="+mn-ea"/>
                <a:cs typeface="+mn-cs"/>
              </a:rPr>
              <a:t> </a:t>
            </a:r>
            <a:endParaRPr lang="en-US" dirty="0" smtClean="0"/>
          </a:p>
          <a:p>
            <a:endParaRPr lang="en-GB"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85000" lnSpcReduction="20000"/>
          </a:bodyPr>
          <a:lstStyle/>
          <a:p>
            <a:r>
              <a:rPr lang="en-US" sz="1200" kern="1200" dirty="0" smtClean="0">
                <a:solidFill>
                  <a:schemeClr val="tx1"/>
                </a:solidFill>
                <a:latin typeface="Times New Roman" pitchFamily="-1" charset="0"/>
                <a:ea typeface="+mn-ea"/>
                <a:cs typeface="+mn-cs"/>
              </a:rPr>
              <a:t>One of the simplest instruction designs for a general-purpose computer was for the PDP-8 [BELL78b]. The PDP-8 uses 12-bit instructions and operates on 12-bit words. There is a single general-purpose register, the accumulator.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Despite the limitations of this design, the addressing is quite flexible. Each memory reference consists of 7 bits plus two 1-bit modifiers. The memory is divided into fixed-length pages of 2</a:t>
            </a:r>
            <a:r>
              <a:rPr lang="en-US" sz="1200" kern="1200" baseline="30000" dirty="0" smtClean="0">
                <a:solidFill>
                  <a:schemeClr val="tx1"/>
                </a:solidFill>
                <a:latin typeface="Times New Roman" pitchFamily="-1" charset="0"/>
                <a:ea typeface="+mn-ea"/>
                <a:cs typeface="+mn-cs"/>
              </a:rPr>
              <a:t>7</a:t>
            </a:r>
            <a:r>
              <a:rPr lang="en-US" sz="1200" kern="1200" dirty="0" smtClean="0">
                <a:solidFill>
                  <a:schemeClr val="tx1"/>
                </a:solidFill>
                <a:latin typeface="Times New Roman" pitchFamily="-1" charset="0"/>
                <a:ea typeface="+mn-ea"/>
                <a:cs typeface="+mn-cs"/>
              </a:rPr>
              <a:t> = 128 words each. Address calculation is based on references to page 0 or the current page (page containing this instruction) as determined by the page bit. The second modifier bit indicates whether direct or indirect addressing is to be used. These two modes can be used in combination, so that an indirect address is a 12-bit address contained in a word of page 0 or the current page. In addition, 8 dedicated words on page 0 are autoindex “registers.” When an indirect reference is made to one of these locations, preindexing occurs.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Figure 13.5 shows the PDP-8 instruction format. There are a 3-bit opcode and three types of instructions. For opcodes 0 through 5, the format is a single-address memory reference instruction including a page bit and an indirect bit. Thus, there are only six basic operations. To enlarge the group of operations, opcode 7 defines a register reference or </a:t>
            </a:r>
            <a:r>
              <a:rPr lang="en-US" sz="1200" i="1" kern="1200" dirty="0" smtClean="0">
                <a:solidFill>
                  <a:schemeClr val="tx1"/>
                </a:solidFill>
                <a:latin typeface="Times New Roman" pitchFamily="-1" charset="0"/>
                <a:ea typeface="+mn-ea"/>
                <a:cs typeface="+mn-cs"/>
              </a:rPr>
              <a:t>microinstruction. </a:t>
            </a:r>
            <a:r>
              <a:rPr lang="en-US" sz="1200" kern="1200" dirty="0" smtClean="0">
                <a:solidFill>
                  <a:schemeClr val="tx1"/>
                </a:solidFill>
                <a:latin typeface="Times New Roman" pitchFamily="-1" charset="0"/>
                <a:ea typeface="+mn-ea"/>
                <a:cs typeface="+mn-cs"/>
              </a:rPr>
              <a:t>In this format, the remaining bits are used to encode additional operations. In general, each bit defines a specific operation (e.g., clear accumulator), and these bits can be combined in a single instruction. The microinstruction strategy was used as far back as the PDP-1 by DEC and is, in a sense, a forerunner of today’s microprogrammed machines, to be discussed in Part Four. Opcode 6 is the I/O operation; 6 bits are used to select one of 64 devices, and 3 bits specify a particular I/O command.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The PDP-8 instruction format is remarkably efficient. It supports indirect addressing, displacement addressing, and indexing. With the use of the opcode extension, it supports a total of approximately 35 instructions. Given the constraints of a 12-bit instruction length, the designers could hardly have done better. </a:t>
            </a:r>
            <a:endParaRPr lang="en-US" dirty="0" smtClean="0"/>
          </a:p>
          <a:p>
            <a:r>
              <a:rPr lang="en-US" sz="1200" kern="1200" dirty="0" smtClean="0">
                <a:solidFill>
                  <a:schemeClr val="tx1"/>
                </a:solidFill>
                <a:latin typeface="Times New Roman" pitchFamily="-1" charset="0"/>
                <a:ea typeface="+mn-ea"/>
                <a:cs typeface="+mn-cs"/>
              </a:rPr>
              <a:t> </a:t>
            </a:r>
            <a:endParaRPr lang="en-US" dirty="0" smtClean="0"/>
          </a:p>
          <a:p>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55000" lnSpcReduction="20000"/>
          </a:bodyPr>
          <a:lstStyle/>
          <a:p>
            <a:r>
              <a:rPr lang="en-US" sz="1200" kern="1200" dirty="0" smtClean="0">
                <a:solidFill>
                  <a:schemeClr val="tx1"/>
                </a:solidFill>
                <a:latin typeface="Times New Roman" pitchFamily="-1" charset="0"/>
                <a:ea typeface="+mn-ea"/>
                <a:cs typeface="+mn-cs"/>
              </a:rPr>
              <a:t>A sharp contrast to the instruction set of the PDP-8 is that of the PDP-10. The PDP-10 was designed to be a large-scale time-shared system, with an emphasis on making the system easy to program, even if additional hardware expense was involved.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Among the design principles employed in designing the instruction set were the following [BELL78c]: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 </a:t>
            </a:r>
            <a:r>
              <a:rPr lang="en-US" sz="1200" b="1" kern="1200" dirty="0" smtClean="0">
                <a:solidFill>
                  <a:schemeClr val="tx1"/>
                </a:solidFill>
                <a:latin typeface="Times New Roman" pitchFamily="-1" charset="0"/>
                <a:ea typeface="+mn-ea"/>
                <a:cs typeface="+mn-cs"/>
              </a:rPr>
              <a:t>Orthogonality: </a:t>
            </a:r>
            <a:r>
              <a:rPr lang="en-US" sz="1200" kern="1200" dirty="0" smtClean="0">
                <a:solidFill>
                  <a:schemeClr val="tx1"/>
                </a:solidFill>
                <a:latin typeface="Times New Roman" pitchFamily="-1" charset="0"/>
                <a:ea typeface="+mn-ea"/>
                <a:cs typeface="+mn-cs"/>
              </a:rPr>
              <a:t>Orthogonality is a principle by which two variables are independent of each other. In the context of an instruction set, the term indicates that other elements of an instruction are independent of (not determined by) the opcode. The PDP-10 designers use the term to describe the fact that an address is always computed in the same way, independent of the opcode. This is in contrast to many machines, where the address mode sometimes depends implicitly on the operator being used.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 </a:t>
            </a:r>
            <a:r>
              <a:rPr lang="en-US" sz="1200" b="1" kern="1200" dirty="0" smtClean="0">
                <a:solidFill>
                  <a:schemeClr val="tx1"/>
                </a:solidFill>
                <a:latin typeface="Times New Roman" pitchFamily="-1" charset="0"/>
                <a:ea typeface="+mn-ea"/>
                <a:cs typeface="+mn-cs"/>
              </a:rPr>
              <a:t>Completeness: </a:t>
            </a:r>
            <a:r>
              <a:rPr lang="en-US" sz="1200" kern="1200" dirty="0" smtClean="0">
                <a:solidFill>
                  <a:schemeClr val="tx1"/>
                </a:solidFill>
                <a:latin typeface="Times New Roman" pitchFamily="-1" charset="0"/>
                <a:ea typeface="+mn-ea"/>
                <a:cs typeface="+mn-cs"/>
              </a:rPr>
              <a:t>Each arithmetic data type (integer, fixed-point, floating-point) should have a complete and identical set of operations.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 </a:t>
            </a:r>
            <a:r>
              <a:rPr lang="en-US" sz="1200" b="1" kern="1200" dirty="0" smtClean="0">
                <a:solidFill>
                  <a:schemeClr val="tx1"/>
                </a:solidFill>
                <a:latin typeface="Times New Roman" pitchFamily="-1" charset="0"/>
                <a:ea typeface="+mn-ea"/>
                <a:cs typeface="+mn-cs"/>
              </a:rPr>
              <a:t>Direct addressing: </a:t>
            </a:r>
            <a:r>
              <a:rPr lang="en-US" sz="1200" kern="1200" dirty="0" smtClean="0">
                <a:solidFill>
                  <a:schemeClr val="tx1"/>
                </a:solidFill>
                <a:latin typeface="Times New Roman" pitchFamily="-1" charset="0"/>
                <a:ea typeface="+mn-ea"/>
                <a:cs typeface="+mn-cs"/>
              </a:rPr>
              <a:t>Base plus displacement addressing, which places a memory organization burden on the programmer, was avoided in favor of direct addressing.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Each of these principles advances the main goal of ease of programming.</a:t>
            </a:r>
            <a:br>
              <a:rPr lang="en-US" sz="1200" kern="1200" dirty="0" smtClean="0">
                <a:solidFill>
                  <a:schemeClr val="tx1"/>
                </a:solidFill>
                <a:latin typeface="Times New Roman" pitchFamily="-1" charset="0"/>
                <a:ea typeface="+mn-ea"/>
                <a:cs typeface="+mn-cs"/>
              </a:rPr>
            </a:br>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The PDP-10 has a 36-bit word length and a 36-bit instruction length. The fixed instruction format is shown in Figure 13.6. The opcode occupies 9 bits, allowing up to 512 operations. In fact, a total of 365 different instructions are defined. Most instructions have two addresses, one of which is one of 16 general-purpose registers. Thus, this operand reference occupies 4 bits. The other operand reference starts with an 18-bit memory address field. This can be used as an immediate operand or a memory address. In the latter usage, both indexing and indirect addressing are </a:t>
            </a:r>
            <a:endParaRPr lang="en-US" dirty="0" smtClean="0"/>
          </a:p>
          <a:p>
            <a:r>
              <a:rPr lang="en-US" sz="1200" kern="1200" dirty="0" smtClean="0">
                <a:solidFill>
                  <a:schemeClr val="tx1"/>
                </a:solidFill>
                <a:latin typeface="Times New Roman" pitchFamily="-1" charset="0"/>
                <a:ea typeface="+mn-ea"/>
                <a:cs typeface="+mn-cs"/>
              </a:rPr>
              <a:t>allowed. The same general-purpose registers are also used as index registers. </a:t>
            </a:r>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A 36-bit instruction length is true luxury. There is no need to do clever things to get more opcodes; a 9-bit opcode field is more than adequate. Addressing is also straightforward. An 18-bit address field makes direct addressing desirable. For memory sizes greater than 218, indirection is provided. For the ease of the programmer, indexing is provided for table manipulation and iterative programs. Also, with an 18-bit operand field, immediate addressing becomes attractive.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The PDP-10 instruction set design does accomplish the objectives listed earlier [LUND77]. It eases the task of the programmer or compiler at the expense of an inefficient utilization of space. This was a conscious choice made by the designers and therefore cannot be faulted as poor design. </a:t>
            </a:r>
            <a:endParaRPr lang="en-US" dirty="0" smtClean="0"/>
          </a:p>
          <a:p>
            <a:endParaRPr lang="en-US" dirty="0" smtClean="0"/>
          </a:p>
          <a:p>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92500"/>
          </a:bodyPr>
          <a:lstStyle/>
          <a:p>
            <a:r>
              <a:rPr lang="en-US" sz="1200" kern="1200" dirty="0" smtClean="0">
                <a:solidFill>
                  <a:schemeClr val="tx1"/>
                </a:solidFill>
                <a:latin typeface="Times New Roman" pitchFamily="-1" charset="0"/>
                <a:ea typeface="+mn-ea"/>
                <a:cs typeface="+mn-cs"/>
              </a:rPr>
              <a:t>The examples we have looked at so far have used a single fixed instruction length, and we have implicitly discussed trade-offs in that context. But the designer may choose instead to provide a variety of instruction formats of different lengths. This tactic makes it easy to provide a large repertoire of opcodes, with different opcode lengths. Addressing can be more flexible, with various combinations of register and memory references plus addressing modes. With variable-length instructions, these many variations can be provided efficiently and compactly.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The principal price to pay for variable-length instructions is an increase in the complexity of the processor. Falling hardware prices, the use of microprogramming (discussed in Part Four), and a general increase in understanding the principles of processor design have all contributed to making this a small price to pay. However, we will see that RISC and superscalar machines can exploit the use of fixed-length instructions to provide improved performance.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The use of variable-length instructions does not remove the desirability of making all of the instruction lengths integrally related to the word length. Because the processor does not know the length of the next instruction to be fetched, a typical strategy is to fetch a number of bytes or words equal to at least the longest possible instruction. This means that sometimes multiple instructions are fetched. However, as we shall see in Chapter 14, this is a good strategy to follow in any case. </a:t>
            </a:r>
            <a:endParaRPr lang="en-US" dirty="0" smtClean="0"/>
          </a:p>
          <a:p>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92500" lnSpcReduction="10000"/>
          </a:bodyPr>
          <a:lstStyle/>
          <a:p>
            <a:r>
              <a:rPr lang="en-US" sz="1200" kern="1200" dirty="0" smtClean="0">
                <a:solidFill>
                  <a:schemeClr val="tx1"/>
                </a:solidFill>
                <a:latin typeface="Times New Roman" pitchFamily="-1" charset="0"/>
                <a:ea typeface="+mn-ea"/>
                <a:cs typeface="+mn-cs"/>
              </a:rPr>
              <a:t>The PDP-11 was designed to provide a powerful and flexible instruction set within the constraints of a 16-bit minicomputer [BELL70].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The PDP-11 employs a set of eight 16-bit general-purpose registers. Two of these registers have additional significance: one is used as a stack pointer for special-purpose stack operations, and one is used as the program counter, which contains the address of the next instruction.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Figure 13.7 shows the PDP-11 instruction formats. Thirteen different formats are used, encompassing zero-, one-, and two-address instruction types. The opcode can vary from 4 to 16 bits in length. Register references are 6 bits in length. Three bits identify the register, and the remaining 3 bits identify the addressing mode. The PDP-11 is endowed with a rich set of addressing modes. One advantage of linking the addressing mode to the operand rather than the opcode, as is sometimes done, is that any addressing mode can be used with any opcode. As was mentioned, this independence is referred to as </a:t>
            </a:r>
            <a:r>
              <a:rPr lang="en-US" sz="1200" i="1" kern="1200" dirty="0" smtClean="0">
                <a:solidFill>
                  <a:schemeClr val="tx1"/>
                </a:solidFill>
                <a:latin typeface="Times New Roman" pitchFamily="-1" charset="0"/>
                <a:ea typeface="+mn-ea"/>
                <a:cs typeface="+mn-cs"/>
              </a:rPr>
              <a:t>orthogonality. </a:t>
            </a:r>
          </a:p>
          <a:p>
            <a:endParaRPr lang="en-US" sz="1200" i="1"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PDP-11 instructions are usually one word (16 bits) long. For some instructions, one or two memory addresses are appended, so that 32-bit and 48-bit instructions are part of the repertoire. This provides for further flexibility in addressing.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The PDP-11 instruction set and addressing capability are complex. This increases both hardware cost and programming complexity. The advantage is that more efficient or compact programs can be developed. </a:t>
            </a:r>
            <a:endParaRPr lang="en-US" dirty="0" smtClean="0"/>
          </a:p>
          <a:p>
            <a:endParaRPr lang="en-US" dirty="0" smtClean="0"/>
          </a:p>
          <a:p>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9F2598D2-2ED8-8547-B4B7-C382E9B8AC9E}" type="slidenum">
              <a:rPr lang="en-US"/>
              <a:pPr/>
              <a:t>27</a:t>
            </a:fld>
            <a:endParaRPr lang="en-US" dirty="0"/>
          </a:p>
        </p:txBody>
      </p:sp>
      <p:sp>
        <p:nvSpPr>
          <p:cNvPr id="65538" name="Rectangle 2"/>
          <p:cNvSpPr>
            <a:spLocks noGrp="1" noRot="1" noChangeAspect="1" noChangeArrowheads="1" noTextEdit="1"/>
          </p:cNvSpPr>
          <p:nvPr>
            <p:ph type="sldImg"/>
          </p:nvPr>
        </p:nvSpPr>
        <p:spPr>
          <a:xfrm>
            <a:off x="1150938" y="692150"/>
            <a:ext cx="4556125" cy="3416300"/>
          </a:xfrm>
          <a:ln/>
        </p:spPr>
      </p:sp>
      <p:sp>
        <p:nvSpPr>
          <p:cNvPr id="65539" name="Rectangle 3"/>
          <p:cNvSpPr>
            <a:spLocks noGrp="1" noChangeArrowheads="1"/>
          </p:cNvSpPr>
          <p:nvPr>
            <p:ph type="body" idx="1"/>
          </p:nvPr>
        </p:nvSpPr>
        <p:spPr/>
        <p:txBody>
          <a:bodyPr/>
          <a:lstStyle/>
          <a:p>
            <a:r>
              <a:rPr lang="en-GB" dirty="0" smtClean="0"/>
              <a:t>Chapter 13 summary.</a:t>
            </a:r>
            <a:endParaRPr lang="en-GB"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smtClean="0"/>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endParaRPr lang="en-GB" dirty="0"/>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r>
              <a:rPr lang="en-GB" dirty="0" smtClean="0"/>
              <a:t>© 2016 Pearson Education, Inc., Hoboken, NJ. All rights reserved.</a:t>
            </a:r>
            <a:endParaRPr lang="en-GB" dirty="0"/>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1" name="Rectangle 10"/>
          <p:cNvSpPr/>
          <p:nvPr/>
        </p:nvSpPr>
        <p:spPr>
          <a:xfrm>
            <a:off x="4624388" y="228600"/>
            <a:ext cx="2057400" cy="203911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6802438" y="2377440"/>
            <a:ext cx="2057400" cy="2039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r>
              <a:rPr lang="en-US" dirty="0" smtClean="0"/>
              <a:t>© 2016 Pearson Education, Inc., Hoboken, NJ. All rights reserved.</a:t>
            </a:r>
            <a:endParaRPr dirty="0"/>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Al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134471"/>
            <a:ext cx="7556313" cy="995082"/>
          </a:xfrm>
        </p:spPr>
        <p:txBody>
          <a:bodyPr anchor="b" anchorCtr="0"/>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r>
              <a:rPr lang="en-US" dirty="0" smtClean="0"/>
              <a:t>© 2016 Pearson Education, Inc., Hoboken, NJ. All rights reserved.</a:t>
            </a:r>
            <a:endParaRPr dirty="0"/>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Text Placeholder 3"/>
          <p:cNvSpPr>
            <a:spLocks noGrp="1"/>
          </p:cNvSpPr>
          <p:nvPr>
            <p:ph type="body" sz="half" idx="2"/>
          </p:nvPr>
        </p:nvSpPr>
        <p:spPr>
          <a:xfrm>
            <a:off x="498518" y="1129553"/>
            <a:ext cx="7558960" cy="774700"/>
          </a:xfrm>
        </p:spPr>
        <p:txBody>
          <a:bodyPr vert="horz" lIns="91440" tIns="45720" rIns="91440" bIns="45720" rtlCol="0" anchor="t" anchorCtr="0">
            <a:noAutofit/>
          </a:bodyPr>
          <a:lstStyle>
            <a:lvl1pPr marL="0" indent="0">
              <a:buNone/>
              <a:defRPr kumimoji="0" sz="2400" b="0" i="0" u="none" strike="noStrike" kern="1200" cap="none" spc="0" normalizeH="0" baseline="0">
                <a:ln>
                  <a:noFill/>
                </a:ln>
                <a:solidFill>
                  <a:schemeClr val="accent3"/>
                </a:solidFill>
                <a:effectLst/>
                <a:uLnTx/>
                <a:uFillTx/>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with 2 Pictures">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smtClean="0"/>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endParaRPr/>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r>
              <a:rPr lang="en-US" dirty="0" smtClean="0"/>
              <a:t>© 2016 Pearson Education, Inc., Hoboken, NJ. All rights reserved.</a:t>
            </a:r>
            <a:endParaRPr dirty="0"/>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Picture Placeholder 12"/>
          <p:cNvSpPr>
            <a:spLocks noGrp="1"/>
          </p:cNvSpPr>
          <p:nvPr>
            <p:ph type="pic" sz="quarter" idx="12"/>
          </p:nvPr>
        </p:nvSpPr>
        <p:spPr>
          <a:xfrm>
            <a:off x="4624388" y="228600"/>
            <a:ext cx="2057400" cy="2039112"/>
          </a:xfrm>
        </p:spPr>
        <p:txBody>
          <a:bodyPr/>
          <a:lstStyle>
            <a:lvl1pPr>
              <a:buNone/>
              <a:defRPr/>
            </a:lvl1pPr>
          </a:lstStyle>
          <a:p>
            <a:r>
              <a:rPr lang="en-US" dirty="0" smtClean="0"/>
              <a:t>Click icon to add picture</a:t>
            </a:r>
            <a:endParaRPr dirty="0"/>
          </a:p>
        </p:txBody>
      </p:sp>
      <p:sp>
        <p:nvSpPr>
          <p:cNvPr id="14" name="Picture Placeholder 12"/>
          <p:cNvSpPr>
            <a:spLocks noGrp="1"/>
          </p:cNvSpPr>
          <p:nvPr>
            <p:ph type="pic" sz="quarter" idx="13"/>
          </p:nvPr>
        </p:nvSpPr>
        <p:spPr>
          <a:xfrm>
            <a:off x="6802438" y="2377440"/>
            <a:ext cx="2057400" cy="2039112"/>
          </a:xfrm>
        </p:spPr>
        <p:txBody>
          <a:bodyPr/>
          <a:lstStyle>
            <a:lvl1pPr>
              <a:buNone/>
              <a:defRPr/>
            </a:lvl1pPr>
          </a:lstStyle>
          <a:p>
            <a:r>
              <a:rPr lang="en-US" dirty="0" smtClean="0"/>
              <a:t>Click icon to add picture</a:t>
            </a:r>
            <a:endParaRPr dirty="0"/>
          </a:p>
        </p:txBody>
      </p:sp>
      <p:sp>
        <p:nvSpPr>
          <p:cNvPr id="16" name="Text Placeholder 3"/>
          <p:cNvSpPr>
            <a:spLocks noGrp="1"/>
          </p:cNvSpPr>
          <p:nvPr>
            <p:ph type="body" sz="half" idx="2"/>
          </p:nvPr>
        </p:nvSpPr>
        <p:spPr>
          <a:xfrm>
            <a:off x="857250" y="1779494"/>
            <a:ext cx="3086100" cy="2040905"/>
          </a:xfrm>
        </p:spPr>
        <p:txBody>
          <a:bodyPr lIns="45720" tIns="45720" rIns="45720" anchor="t">
            <a:noAutofit/>
          </a:bodyPr>
          <a:lstStyle>
            <a:lvl1pPr marL="0" indent="0" algn="ctr">
              <a:buNone/>
              <a:defRPr sz="4600">
                <a:solidFill>
                  <a:schemeClr val="bg1"/>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658907" y="228600"/>
            <a:ext cx="820093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2286000" y="3124200"/>
            <a:ext cx="5638800" cy="1362075"/>
          </a:xfrm>
        </p:spPr>
        <p:txBody>
          <a:bodyPr anchor="b" anchorCtr="0">
            <a:normAutofit/>
          </a:bodyPr>
          <a:lstStyle>
            <a:lvl1pPr algn="l">
              <a:defRPr sz="3200" b="0" cap="none" baseline="0">
                <a:solidFill>
                  <a:schemeClr val="bg1"/>
                </a:solidFill>
              </a:defRPr>
            </a:lvl1pPr>
          </a:lstStyle>
          <a:p>
            <a:r>
              <a:rPr lang="en-US" smtClean="0"/>
              <a:t>Click to edit Master title style</a:t>
            </a:r>
            <a:endParaRPr/>
          </a:p>
        </p:txBody>
      </p:sp>
      <p:sp>
        <p:nvSpPr>
          <p:cNvPr id="3" name="Text Placeholder 2"/>
          <p:cNvSpPr>
            <a:spLocks noGrp="1"/>
          </p:cNvSpPr>
          <p:nvPr>
            <p:ph type="body" idx="1"/>
          </p:nvPr>
        </p:nvSpPr>
        <p:spPr>
          <a:xfrm>
            <a:off x="2286000" y="4495800"/>
            <a:ext cx="5638800" cy="1500187"/>
          </a:xfrm>
        </p:spPr>
        <p:txBody>
          <a:bodyPr anchor="t" anchorCtr="0">
            <a:normAutofit/>
          </a:bodyPr>
          <a:lstStyle>
            <a:lvl1pPr marL="0" indent="0">
              <a:spcBef>
                <a:spcPts val="300"/>
              </a:spcBef>
              <a:buNone/>
              <a:defRPr sz="1400" cap="none" baseline="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658906" y="6248774"/>
            <a:ext cx="1474694" cy="365125"/>
          </a:xfrm>
        </p:spPr>
        <p:txBody>
          <a:bodyPr/>
          <a:lstStyle>
            <a:lvl1pPr algn="l">
              <a:defRPr>
                <a:solidFill>
                  <a:schemeClr val="bg1"/>
                </a:solidFill>
              </a:defRPr>
            </a:lvl1pPr>
          </a:lstStyle>
          <a:p>
            <a:endParaRPr/>
          </a:p>
        </p:txBody>
      </p:sp>
      <p:sp>
        <p:nvSpPr>
          <p:cNvPr id="5" name="Footer Placeholder 4"/>
          <p:cNvSpPr>
            <a:spLocks noGrp="1"/>
          </p:cNvSpPr>
          <p:nvPr>
            <p:ph type="ftr" sz="quarter" idx="11"/>
          </p:nvPr>
        </p:nvSpPr>
        <p:spPr>
          <a:xfrm>
            <a:off x="2286000" y="6248774"/>
            <a:ext cx="5638800" cy="365125"/>
          </a:xfrm>
        </p:spPr>
        <p:txBody>
          <a:bodyPr/>
          <a:lstStyle>
            <a:lvl1pPr>
              <a:defRPr>
                <a:solidFill>
                  <a:schemeClr val="bg1"/>
                </a:solidFill>
              </a:defRPr>
            </a:lvl1pPr>
          </a:lstStyle>
          <a:p>
            <a:r>
              <a:rPr lang="en-US" dirty="0" smtClean="0"/>
              <a:t>© 2016 Pearson Education, Inc., Hoboken, NJ. All rights reserved.</a:t>
            </a:r>
            <a:endParaRPr dirty="0"/>
          </a:p>
        </p:txBody>
      </p:sp>
      <p:sp>
        <p:nvSpPr>
          <p:cNvPr id="6" name="Slide Number Placeholder 5"/>
          <p:cNvSpPr>
            <a:spLocks noGrp="1"/>
          </p:cNvSpPr>
          <p:nvPr>
            <p:ph type="sldNum" sz="quarter" idx="12"/>
          </p:nvPr>
        </p:nvSpPr>
        <p:spPr>
          <a:xfrm>
            <a:off x="8305800" y="6248774"/>
            <a:ext cx="554038" cy="365125"/>
          </a:xfrm>
        </p:spPr>
        <p:txBody>
          <a:bodyPr/>
          <a:lstStyle/>
          <a:p>
            <a:fld id="{8AF02B71-8991-4516-A01E-F1A9ACD28BDC}" type="slidenum">
              <a:rPr/>
              <a:pPr/>
              <a:t>‹#›</a:t>
            </a:fld>
            <a:endParaRPr/>
          </a:p>
        </p:txBody>
      </p:sp>
      <p:sp>
        <p:nvSpPr>
          <p:cNvPr id="8" name="TextBox 7"/>
          <p:cNvSpPr txBox="1"/>
          <p:nvPr/>
        </p:nvSpPr>
        <p:spPr>
          <a:xfrm>
            <a:off x="2003612" y="3110754"/>
            <a:ext cx="260909" cy="615553"/>
          </a:xfrm>
          <a:prstGeom prst="rect">
            <a:avLst/>
          </a:prstGeom>
          <a:noFill/>
        </p:spPr>
        <p:txBody>
          <a:bodyPr wrap="square" lIns="0" tIns="0" rIns="0" bIns="0" rtlCol="0">
            <a:spAutoFit/>
          </a:bodyPr>
          <a:lstStyle/>
          <a:p>
            <a:r>
              <a:rPr sz="4000" b="1">
                <a:solidFill>
                  <a:schemeClr val="accent1">
                    <a:lumMod val="60000"/>
                    <a:lumOff val="40000"/>
                  </a:schemeClr>
                </a:solidFill>
              </a:rPr>
              <a:t>+</a:t>
            </a:r>
          </a:p>
        </p:txBody>
      </p:sp>
      <p:sp>
        <p:nvSpPr>
          <p:cNvPr id="9" name="Rectangle 8"/>
          <p:cNvSpPr/>
          <p:nvPr/>
        </p:nvSpPr>
        <p:spPr>
          <a:xfrm>
            <a:off x="285750" y="228600"/>
            <a:ext cx="212725" cy="634523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1" name="Rectangle 10"/>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439987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r>
              <a:rPr lang="en-US" dirty="0" smtClean="0"/>
              <a:t>© 2016 Pearson Education, Inc., Hoboken, NJ. All rights reserved.</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0" name="Rectangle 9"/>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lvl1pPr>
              <a:defRPr/>
            </a:lvl1pPr>
          </a:lstStyle>
          <a:p>
            <a:r>
              <a:rPr lang="en-US" smtClean="0"/>
              <a:t>Click to edit Master title style</a:t>
            </a:r>
            <a:endParaRPr/>
          </a:p>
        </p:txBody>
      </p:sp>
      <p:sp>
        <p:nvSpPr>
          <p:cNvPr id="4" name="Content Placeholder 3"/>
          <p:cNvSpPr>
            <a:spLocks noGrp="1"/>
          </p:cNvSpPr>
          <p:nvPr>
            <p:ph sz="half" idx="2"/>
          </p:nvPr>
        </p:nvSpPr>
        <p:spPr>
          <a:xfrm>
            <a:off x="497541"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Content Placeholder 5"/>
          <p:cNvSpPr>
            <a:spLocks noGrp="1"/>
          </p:cNvSpPr>
          <p:nvPr>
            <p:ph sz="quarter" idx="4"/>
          </p:nvPr>
        </p:nvSpPr>
        <p:spPr>
          <a:xfrm>
            <a:off x="4399878"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6"/>
          <p:cNvSpPr>
            <a:spLocks noGrp="1"/>
          </p:cNvSpPr>
          <p:nvPr>
            <p:ph type="dt" sz="half" idx="10"/>
          </p:nvPr>
        </p:nvSpPr>
        <p:spPr/>
        <p:txBody>
          <a:bodyPr/>
          <a:lstStyle/>
          <a:p>
            <a:endParaRPr/>
          </a:p>
        </p:txBody>
      </p:sp>
      <p:sp>
        <p:nvSpPr>
          <p:cNvPr id="8" name="Footer Placeholder 7"/>
          <p:cNvSpPr>
            <a:spLocks noGrp="1"/>
          </p:cNvSpPr>
          <p:nvPr>
            <p:ph type="ftr" sz="quarter" idx="11"/>
          </p:nvPr>
        </p:nvSpPr>
        <p:spPr/>
        <p:txBody>
          <a:bodyPr/>
          <a:lstStyle/>
          <a:p>
            <a:r>
              <a:rPr lang="en-US" dirty="0" smtClean="0"/>
              <a:t>© 2016 Pearson Education, Inc., Hoboken, NJ. All rights reserved.</a:t>
            </a:r>
            <a:endParaRPr dirty="0"/>
          </a:p>
        </p:txBody>
      </p:sp>
      <p:sp>
        <p:nvSpPr>
          <p:cNvPr id="9" name="Slide Number Placeholder 8"/>
          <p:cNvSpPr>
            <a:spLocks noGrp="1"/>
          </p:cNvSpPr>
          <p:nvPr>
            <p:ph type="sldNum" sz="quarter" idx="12"/>
          </p:nvPr>
        </p:nvSpPr>
        <p:spPr/>
        <p:txBody>
          <a:bodyPr/>
          <a:lstStyle/>
          <a:p>
            <a:fld id="{8AF02B71-8991-4516-A01E-F1A9ACD28BDC}" type="slidenum">
              <a:rPr/>
              <a:pPr/>
              <a:t>‹#›</a:t>
            </a:fld>
            <a:endParaRPr/>
          </a:p>
        </p:txBody>
      </p:sp>
      <p:sp>
        <p:nvSpPr>
          <p:cNvPr id="3" name="Text Placeholder 2"/>
          <p:cNvSpPr>
            <a:spLocks noGrp="1"/>
          </p:cNvSpPr>
          <p:nvPr>
            <p:ph type="body" idx="1"/>
          </p:nvPr>
        </p:nvSpPr>
        <p:spPr>
          <a:xfrm>
            <a:off x="497541" y="2070847"/>
            <a:ext cx="3657600"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399878" y="2070847"/>
            <a:ext cx="3657600" cy="322729"/>
          </a:xfrm>
          <a:prstGeom prst="rect">
            <a:avLst/>
          </a:prstGeom>
          <a:solidFill>
            <a:schemeClr val="accent3">
              <a:lumMod val="60000"/>
              <a:lumOff val="40000"/>
            </a:schemeClr>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98517" y="1985963"/>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r>
              <a:rPr lang="en-US" dirty="0" smtClean="0"/>
              <a:t>© 2016 Pearson Education, Inc., Hoboken, NJ. All rights reserved.</a:t>
            </a:r>
            <a:endParaRPr dirty="0"/>
          </a:p>
        </p:txBody>
      </p:sp>
      <p:sp>
        <p:nvSpPr>
          <p:cNvPr id="13" name="Content Placeholder 2"/>
          <p:cNvSpPr>
            <a:spLocks noGrp="1"/>
          </p:cNvSpPr>
          <p:nvPr>
            <p:ph sz="half" idx="14"/>
          </p:nvPr>
        </p:nvSpPr>
        <p:spPr>
          <a:xfrm>
            <a:off x="498517" y="4164965"/>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4" name="Rectangle 13"/>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Slide Number Placeholder 6"/>
          <p:cNvSpPr>
            <a:spLocks noGrp="1"/>
          </p:cNvSpPr>
          <p:nvPr>
            <p:ph type="sldNum" sz="quarter" idx="12"/>
          </p:nvPr>
        </p:nvSpPr>
        <p:spPr>
          <a:xfrm>
            <a:off x="8305800" y="242234"/>
            <a:ext cx="554038" cy="365125"/>
          </a:xfrm>
        </p:spPr>
        <p:txBody>
          <a:bodyPr/>
          <a:lstStyle/>
          <a:p>
            <a:fld id="{8AF02B71-8991-4516-A01E-F1A9ACD28BDC}" type="slidenum">
              <a:rPr/>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r>
              <a:rPr lang="en-US" dirty="0" smtClean="0"/>
              <a:t>© 2016 Pearson Education, Inc., Hoboken, NJ. All rights reserved.</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1" name="Content Placeholder 2"/>
          <p:cNvSpPr>
            <a:spLocks noGrp="1"/>
          </p:cNvSpPr>
          <p:nvPr>
            <p:ph sz="half" idx="15"/>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3"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r>
              <a:rPr lang="en-US" dirty="0" smtClean="0"/>
              <a:t>© 2016 Pearson Education, Inc., Hoboken, NJ. All rights reserved.</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2" name="Content Placeholder 2"/>
          <p:cNvSpPr>
            <a:spLocks noGrp="1"/>
          </p:cNvSpPr>
          <p:nvPr>
            <p:ph sz="half" idx="17"/>
          </p:nvPr>
        </p:nvSpPr>
        <p:spPr>
          <a:xfrm>
            <a:off x="502920" y="1985963"/>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4" name="Content Placeholder 2"/>
          <p:cNvSpPr>
            <a:spLocks noGrp="1"/>
          </p:cNvSpPr>
          <p:nvPr>
            <p:ph sz="half" idx="18"/>
          </p:nvPr>
        </p:nvSpPr>
        <p:spPr>
          <a:xfrm>
            <a:off x="502920" y="4164965"/>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5"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6"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ectangle 5"/>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endParaRPr/>
          </a:p>
        </p:txBody>
      </p:sp>
      <p:sp>
        <p:nvSpPr>
          <p:cNvPr id="4" name="Footer Placeholder 3"/>
          <p:cNvSpPr>
            <a:spLocks noGrp="1"/>
          </p:cNvSpPr>
          <p:nvPr>
            <p:ph type="ftr" sz="quarter" idx="11"/>
          </p:nvPr>
        </p:nvSpPr>
        <p:spPr/>
        <p:txBody>
          <a:bodyPr/>
          <a:lstStyle/>
          <a:p>
            <a:r>
              <a:rPr lang="en-US" dirty="0" smtClean="0"/>
              <a:t>© 2016 Pearson Education, Inc., Hoboken, NJ. All rights reserved.</a:t>
            </a:r>
            <a:endParaRPr dirty="0"/>
          </a:p>
        </p:txBody>
      </p:sp>
      <p:sp>
        <p:nvSpPr>
          <p:cNvPr id="5" name="Slide Number Placeholder 4"/>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Rectangle 4"/>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endParaRPr/>
          </a:p>
        </p:txBody>
      </p:sp>
      <p:sp>
        <p:nvSpPr>
          <p:cNvPr id="3" name="Footer Placeholder 2"/>
          <p:cNvSpPr>
            <a:spLocks noGrp="1"/>
          </p:cNvSpPr>
          <p:nvPr>
            <p:ph type="ftr" sz="quarter" idx="11"/>
          </p:nvPr>
        </p:nvSpPr>
        <p:spPr/>
        <p:txBody>
          <a:bodyPr/>
          <a:lstStyle/>
          <a:p>
            <a:r>
              <a:rPr lang="en-US" dirty="0" smtClean="0"/>
              <a:t>© 2016 Pearson Education, Inc., Hoboken, NJ. All rights reserved.</a:t>
            </a:r>
            <a:endParaRPr dirty="0"/>
          </a:p>
        </p:txBody>
      </p:sp>
      <p:sp>
        <p:nvSpPr>
          <p:cNvPr id="4" name="Slide Number Placeholder 3"/>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282575" y="228600"/>
            <a:ext cx="3451225"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5" y="2571750"/>
            <a:ext cx="3255264" cy="1162050"/>
          </a:xfrm>
        </p:spPr>
        <p:txBody>
          <a:bodyPr anchor="b">
            <a:normAutofit/>
          </a:bodyPr>
          <a:lstStyle>
            <a:lvl1pPr algn="l">
              <a:defRPr sz="2600" b="0">
                <a:solidFill>
                  <a:schemeClr val="bg1"/>
                </a:solidFill>
              </a:defRPr>
            </a:lvl1pPr>
          </a:lstStyle>
          <a:p>
            <a:r>
              <a:rPr lang="en-US" smtClean="0"/>
              <a:t>Click to edit Master title style</a:t>
            </a:r>
            <a:endParaRPr/>
          </a:p>
        </p:txBody>
      </p:sp>
      <p:sp>
        <p:nvSpPr>
          <p:cNvPr id="3" name="Content Placeholder 2"/>
          <p:cNvSpPr>
            <a:spLocks noGrp="1"/>
          </p:cNvSpPr>
          <p:nvPr>
            <p:ph idx="1"/>
          </p:nvPr>
        </p:nvSpPr>
        <p:spPr>
          <a:xfrm>
            <a:off x="4168775" y="273050"/>
            <a:ext cx="4597399" cy="585311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381093" y="3733800"/>
            <a:ext cx="325526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endParaRPr/>
          </a:p>
        </p:txBody>
      </p:sp>
      <p:sp>
        <p:nvSpPr>
          <p:cNvPr id="6" name="Footer Placeholder 5"/>
          <p:cNvSpPr>
            <a:spLocks noGrp="1"/>
          </p:cNvSpPr>
          <p:nvPr>
            <p:ph type="ftr" sz="quarter" idx="11"/>
          </p:nvPr>
        </p:nvSpPr>
        <p:spPr>
          <a:xfrm>
            <a:off x="3859305" y="6423585"/>
            <a:ext cx="3316941" cy="365125"/>
          </a:xfrm>
        </p:spPr>
        <p:txBody>
          <a:bodyPr/>
          <a:lstStyle/>
          <a:p>
            <a:r>
              <a:rPr lang="en-US" dirty="0" smtClean="0"/>
              <a:t>© 2016 Pearson Education, Inc., Hoboken, NJ. All rights reserved.</a:t>
            </a:r>
            <a:endParaRPr dirty="0"/>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169404" y="3124200"/>
            <a:ext cx="3898272" cy="871538"/>
          </a:xfrm>
        </p:spPr>
        <p:txBody>
          <a:bodyPr anchor="b">
            <a:normAutofit/>
          </a:bodyPr>
          <a:lstStyle>
            <a:lvl1pPr algn="l">
              <a:defRPr sz="2600" b="0"/>
            </a:lvl1pPr>
          </a:lstStyle>
          <a:p>
            <a:r>
              <a:rPr lang="en-US" smtClean="0"/>
              <a:t>Click to edit Master title style</a:t>
            </a:r>
            <a:endParaRPr/>
          </a:p>
        </p:txBody>
      </p:sp>
      <p:sp>
        <p:nvSpPr>
          <p:cNvPr id="3" name="Picture Placeholder 2"/>
          <p:cNvSpPr>
            <a:spLocks noGrp="1"/>
          </p:cNvSpPr>
          <p:nvPr>
            <p:ph type="pic" idx="1"/>
          </p:nvPr>
        </p:nvSpPr>
        <p:spPr>
          <a:xfrm>
            <a:off x="277906" y="228600"/>
            <a:ext cx="3460658" cy="63452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4169404" y="3995737"/>
            <a:ext cx="3898272"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endParaRPr/>
          </a:p>
        </p:txBody>
      </p:sp>
      <p:sp>
        <p:nvSpPr>
          <p:cNvPr id="6" name="Footer Placeholder 5"/>
          <p:cNvSpPr>
            <a:spLocks noGrp="1"/>
          </p:cNvSpPr>
          <p:nvPr>
            <p:ph type="ftr" sz="quarter" idx="11"/>
          </p:nvPr>
        </p:nvSpPr>
        <p:spPr>
          <a:xfrm>
            <a:off x="4191000" y="6423585"/>
            <a:ext cx="3005138" cy="365125"/>
          </a:xfrm>
        </p:spPr>
        <p:txBody>
          <a:bodyPr/>
          <a:lstStyle/>
          <a:p>
            <a:r>
              <a:rPr lang="en-US" dirty="0" smtClean="0"/>
              <a:t>© 2016 Pearson Education, Inc., Hoboken, NJ. All rights reserved.</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3990110"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506505" y="4424082"/>
            <a:ext cx="6191157" cy="833718"/>
          </a:xfrm>
        </p:spPr>
        <p:txBody>
          <a:bodyPr anchor="b">
            <a:normAutofit/>
          </a:bodyPr>
          <a:lstStyle>
            <a:lvl1pPr algn="l">
              <a:defRPr sz="2600" b="0"/>
            </a:lvl1pPr>
          </a:lstStyle>
          <a:p>
            <a:r>
              <a:rPr lang="en-US" smtClean="0"/>
              <a:t>Click to edit Master title style</a:t>
            </a:r>
            <a:endParaRPr/>
          </a:p>
        </p:txBody>
      </p:sp>
      <p:sp>
        <p:nvSpPr>
          <p:cNvPr id="3" name="Picture Placeholder 2"/>
          <p:cNvSpPr>
            <a:spLocks noGrp="1"/>
          </p:cNvSpPr>
          <p:nvPr>
            <p:ph type="pic" idx="1"/>
          </p:nvPr>
        </p:nvSpPr>
        <p:spPr>
          <a:xfrm>
            <a:off x="277905" y="228600"/>
            <a:ext cx="637838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506505" y="5257799"/>
            <a:ext cx="6191157" cy="885825"/>
          </a:xfrm>
        </p:spPr>
        <p:txBody>
          <a:bodyPr/>
          <a:lstStyle>
            <a:lvl1pPr marL="0" indent="0">
              <a:spcBef>
                <a:spcPts val="3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r>
              <a:rPr lang="en-US" dirty="0" smtClean="0"/>
              <a:t>© 2016 Pearson Education, Inc., Hoboken, NJ. All rights reserved.</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8" name="Rectangle 7"/>
          <p:cNvSpPr/>
          <p:nvPr/>
        </p:nvSpPr>
        <p:spPr>
          <a:xfrm>
            <a:off x="6802438" y="22860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6802438" y="2377440"/>
            <a:ext cx="2057400" cy="20391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327212" y="4632792"/>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Pictures with Caption">
    <p:spTree>
      <p:nvGrpSpPr>
        <p:cNvPr id="1" name=""/>
        <p:cNvGrpSpPr/>
        <p:nvPr/>
      </p:nvGrpSpPr>
      <p:grpSpPr>
        <a:xfrm>
          <a:off x="0" y="0"/>
          <a:ext cx="0" cy="0"/>
          <a:chOff x="0" y="0"/>
          <a:chExt cx="0" cy="0"/>
        </a:xfrm>
      </p:grpSpPr>
      <p:sp>
        <p:nvSpPr>
          <p:cNvPr id="8" name="Rectangle 7"/>
          <p:cNvSpPr/>
          <p:nvPr/>
        </p:nvSpPr>
        <p:spPr>
          <a:xfrm>
            <a:off x="282574" y="228600"/>
            <a:ext cx="6387167"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6181611" cy="1162050"/>
          </a:xfrm>
        </p:spPr>
        <p:txBody>
          <a:bodyPr anchor="b">
            <a:normAutofit/>
          </a:bodyPr>
          <a:lstStyle>
            <a:lvl1pPr algn="l">
              <a:defRPr sz="2600" b="0">
                <a:solidFill>
                  <a:schemeClr val="bg1"/>
                </a:solidFill>
              </a:defRPr>
            </a:lvl1pPr>
          </a:lstStyle>
          <a:p>
            <a:r>
              <a:rPr lang="en-US" smtClean="0"/>
              <a:t>Click to edit Master title style</a:t>
            </a:r>
            <a:endParaRPr/>
          </a:p>
        </p:txBody>
      </p:sp>
      <p:sp>
        <p:nvSpPr>
          <p:cNvPr id="4" name="Text Placeholder 3"/>
          <p:cNvSpPr>
            <a:spLocks noGrp="1"/>
          </p:cNvSpPr>
          <p:nvPr>
            <p:ph type="body" sz="half" idx="2"/>
          </p:nvPr>
        </p:nvSpPr>
        <p:spPr>
          <a:xfrm>
            <a:off x="381094" y="3733800"/>
            <a:ext cx="6179566"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5212262" y="6235607"/>
            <a:ext cx="1348398" cy="365125"/>
          </a:xfrm>
        </p:spPr>
        <p:txBody>
          <a:bodyPr/>
          <a:lstStyle>
            <a:lvl1pPr>
              <a:defRPr>
                <a:solidFill>
                  <a:schemeClr val="bg1"/>
                </a:solidFill>
              </a:defRPr>
            </a:lvl1pPr>
          </a:lstStyle>
          <a:p>
            <a:endParaRPr/>
          </a:p>
        </p:txBody>
      </p:sp>
      <p:sp>
        <p:nvSpPr>
          <p:cNvPr id="6" name="Footer Placeholder 5"/>
          <p:cNvSpPr>
            <a:spLocks noGrp="1"/>
          </p:cNvSpPr>
          <p:nvPr>
            <p:ph type="ftr" sz="quarter" idx="11"/>
          </p:nvPr>
        </p:nvSpPr>
        <p:spPr>
          <a:xfrm>
            <a:off x="381095" y="6235607"/>
            <a:ext cx="4648105" cy="365125"/>
          </a:xfrm>
        </p:spPr>
        <p:txBody>
          <a:bodyPr/>
          <a:lstStyle>
            <a:lvl1pPr>
              <a:defRPr>
                <a:solidFill>
                  <a:schemeClr val="bg1"/>
                </a:solidFill>
              </a:defRPr>
            </a:lvl1pPr>
          </a:lstStyle>
          <a:p>
            <a:r>
              <a:rPr lang="en-US" dirty="0" smtClean="0"/>
              <a:t>© 2016 Pearson Education, Inc., Hoboken, NJ. All rights reserved.</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6802438" y="2374940"/>
            <a:ext cx="2057400" cy="2039112"/>
          </a:xfrm>
        </p:spPr>
        <p:txBody>
          <a:bodyPr/>
          <a:lstStyle>
            <a:lvl1pPr>
              <a:buNone/>
              <a:defRPr/>
            </a:lvl1pPr>
          </a:lstStyle>
          <a:p>
            <a:r>
              <a:rPr lang="en-US" dirty="0" smtClean="0"/>
              <a:t>Click icon to add picture</a:t>
            </a:r>
            <a:endParaRPr dirty="0"/>
          </a:p>
        </p:txBody>
      </p:sp>
      <p:sp>
        <p:nvSpPr>
          <p:cNvPr id="13" name="Picture Placeholder 12"/>
          <p:cNvSpPr>
            <a:spLocks noGrp="1"/>
          </p:cNvSpPr>
          <p:nvPr>
            <p:ph type="pic" sz="quarter" idx="14"/>
          </p:nvPr>
        </p:nvSpPr>
        <p:spPr>
          <a:xfrm>
            <a:off x="6802438" y="4535424"/>
            <a:ext cx="2057400" cy="2039112"/>
          </a:xfrm>
        </p:spPr>
        <p:txBody>
          <a:bodyPr/>
          <a:lstStyle>
            <a:lvl1pPr>
              <a:buNone/>
              <a:defRPr/>
            </a:lvl1pPr>
          </a:lstStyle>
          <a:p>
            <a:r>
              <a:rPr lang="en-US" dirty="0" smtClean="0"/>
              <a:t>Click icon to add picture</a:t>
            </a:r>
            <a:endParaRPr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Pictures with Caption">
    <p:spTree>
      <p:nvGrpSpPr>
        <p:cNvPr id="1" name=""/>
        <p:cNvGrpSpPr/>
        <p:nvPr/>
      </p:nvGrpSpPr>
      <p:grpSpPr>
        <a:xfrm>
          <a:off x="0" y="0"/>
          <a:ext cx="0" cy="0"/>
          <a:chOff x="0" y="0"/>
          <a:chExt cx="0" cy="0"/>
        </a:xfrm>
      </p:grpSpPr>
      <p:sp>
        <p:nvSpPr>
          <p:cNvPr id="8" name="Rectangle 7"/>
          <p:cNvSpPr/>
          <p:nvPr/>
        </p:nvSpPr>
        <p:spPr>
          <a:xfrm>
            <a:off x="282575" y="228600"/>
            <a:ext cx="423545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4016633" cy="1162050"/>
          </a:xfrm>
        </p:spPr>
        <p:txBody>
          <a:bodyPr anchor="b">
            <a:normAutofit/>
          </a:bodyPr>
          <a:lstStyle>
            <a:lvl1pPr algn="l">
              <a:defRPr sz="2600" b="0">
                <a:solidFill>
                  <a:schemeClr val="bg1"/>
                </a:solidFill>
              </a:defRPr>
            </a:lvl1pPr>
          </a:lstStyle>
          <a:p>
            <a:r>
              <a:rPr lang="en-US" smtClean="0"/>
              <a:t>Click to edit Master title style</a:t>
            </a:r>
            <a:endParaRPr/>
          </a:p>
        </p:txBody>
      </p:sp>
      <p:sp>
        <p:nvSpPr>
          <p:cNvPr id="4" name="Text Placeholder 3"/>
          <p:cNvSpPr>
            <a:spLocks noGrp="1"/>
          </p:cNvSpPr>
          <p:nvPr>
            <p:ph type="body" sz="half" idx="2"/>
          </p:nvPr>
        </p:nvSpPr>
        <p:spPr>
          <a:xfrm>
            <a:off x="381094" y="3733800"/>
            <a:ext cx="401530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3048000" y="6235607"/>
            <a:ext cx="1348398" cy="365125"/>
          </a:xfrm>
        </p:spPr>
        <p:txBody>
          <a:bodyPr/>
          <a:lstStyle>
            <a:lvl1pPr>
              <a:defRPr>
                <a:solidFill>
                  <a:schemeClr val="bg1"/>
                </a:solidFill>
              </a:defRPr>
            </a:lvl1pPr>
          </a:lstStyle>
          <a:p>
            <a:endParaRPr/>
          </a:p>
        </p:txBody>
      </p:sp>
      <p:sp>
        <p:nvSpPr>
          <p:cNvPr id="6" name="Footer Placeholder 5"/>
          <p:cNvSpPr>
            <a:spLocks noGrp="1"/>
          </p:cNvSpPr>
          <p:nvPr>
            <p:ph type="ftr" sz="quarter" idx="11"/>
          </p:nvPr>
        </p:nvSpPr>
        <p:spPr>
          <a:xfrm>
            <a:off x="381095" y="6235607"/>
            <a:ext cx="2590705" cy="365125"/>
          </a:xfrm>
        </p:spPr>
        <p:txBody>
          <a:bodyPr/>
          <a:lstStyle>
            <a:lvl1pPr>
              <a:defRPr>
                <a:solidFill>
                  <a:schemeClr val="bg1"/>
                </a:solidFill>
              </a:defRPr>
            </a:lvl1pPr>
          </a:lstStyle>
          <a:p>
            <a:r>
              <a:rPr lang="en-US" dirty="0" smtClean="0"/>
              <a:t>© 2016 Pearson Education, Inc., Hoboken, NJ. All rights reserved.</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4388" y="4534726"/>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4624388" y="228600"/>
            <a:ext cx="2057400" cy="2039112"/>
          </a:xfrm>
        </p:spPr>
        <p:txBody>
          <a:bodyPr/>
          <a:lstStyle>
            <a:lvl1pPr>
              <a:buNone/>
              <a:defRPr/>
            </a:lvl1pPr>
          </a:lstStyle>
          <a:p>
            <a:r>
              <a:rPr lang="en-US" dirty="0" smtClean="0"/>
              <a:t>Click icon to add picture</a:t>
            </a:r>
            <a:endParaRPr dirty="0"/>
          </a:p>
        </p:txBody>
      </p:sp>
      <p:sp>
        <p:nvSpPr>
          <p:cNvPr id="13" name="Picture Placeholder 12"/>
          <p:cNvSpPr>
            <a:spLocks noGrp="1"/>
          </p:cNvSpPr>
          <p:nvPr>
            <p:ph type="pic" sz="quarter" idx="14"/>
          </p:nvPr>
        </p:nvSpPr>
        <p:spPr>
          <a:xfrm>
            <a:off x="4624388" y="2381663"/>
            <a:ext cx="2057400" cy="2039112"/>
          </a:xfrm>
        </p:spPr>
        <p:txBody>
          <a:bodyPr/>
          <a:lstStyle>
            <a:lvl1pPr>
              <a:buNone/>
              <a:defRPr/>
            </a:lvl1pPr>
          </a:lstStyle>
          <a:p>
            <a:r>
              <a:rPr lang="en-US" dirty="0" smtClean="0"/>
              <a:t>Click icon to add picture</a:t>
            </a:r>
            <a:endParaRPr dirty="0"/>
          </a:p>
        </p:txBody>
      </p:sp>
      <p:sp>
        <p:nvSpPr>
          <p:cNvPr id="14" name="Picture Placeholder 12"/>
          <p:cNvSpPr>
            <a:spLocks noGrp="1"/>
          </p:cNvSpPr>
          <p:nvPr>
            <p:ph type="pic" sz="quarter" idx="15"/>
          </p:nvPr>
        </p:nvSpPr>
        <p:spPr>
          <a:xfrm>
            <a:off x="6803136" y="2381662"/>
            <a:ext cx="2057400" cy="4187952"/>
          </a:xfrm>
        </p:spPr>
        <p:txBody>
          <a:bodyPr/>
          <a:lstStyle>
            <a:lvl1pPr>
              <a:buNone/>
              <a:defRPr/>
            </a:lvl1pPr>
          </a:lstStyle>
          <a:p>
            <a:r>
              <a:rPr lang="en-US" dirty="0" smtClean="0"/>
              <a:t>Click icon to add picture</a:t>
            </a:r>
            <a:endParaRPr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Pictures with Caption, Alt.">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53000" y="3124200"/>
            <a:ext cx="3108960" cy="871538"/>
          </a:xfrm>
        </p:spPr>
        <p:txBody>
          <a:bodyPr anchor="b">
            <a:normAutofit/>
          </a:bodyPr>
          <a:lstStyle>
            <a:lvl1pPr algn="l">
              <a:defRPr sz="2600" b="0"/>
            </a:lvl1pPr>
          </a:lstStyle>
          <a:p>
            <a:r>
              <a:rPr lang="en-US" smtClean="0"/>
              <a:t>Click to edit Master title style</a:t>
            </a:r>
            <a:endParaRPr/>
          </a:p>
        </p:txBody>
      </p:sp>
      <p:sp>
        <p:nvSpPr>
          <p:cNvPr id="3" name="Picture Placeholder 2"/>
          <p:cNvSpPr>
            <a:spLocks noGrp="1"/>
          </p:cNvSpPr>
          <p:nvPr>
            <p:ph type="pic" idx="1"/>
          </p:nvPr>
        </p:nvSpPr>
        <p:spPr>
          <a:xfrm>
            <a:off x="277905" y="2365248"/>
            <a:ext cx="424011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4953000" y="3995737"/>
            <a:ext cx="3108960"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endParaRPr/>
          </a:p>
        </p:txBody>
      </p:sp>
      <p:sp>
        <p:nvSpPr>
          <p:cNvPr id="6" name="Footer Placeholder 5"/>
          <p:cNvSpPr>
            <a:spLocks noGrp="1"/>
          </p:cNvSpPr>
          <p:nvPr>
            <p:ph type="ftr" sz="quarter" idx="11"/>
          </p:nvPr>
        </p:nvSpPr>
        <p:spPr>
          <a:xfrm>
            <a:off x="4191000" y="6423585"/>
            <a:ext cx="3005138" cy="365125"/>
          </a:xfrm>
        </p:spPr>
        <p:txBody>
          <a:bodyPr/>
          <a:lstStyle/>
          <a:p>
            <a:r>
              <a:rPr lang="en-US" dirty="0" smtClean="0"/>
              <a:t>© 2016 Pearson Education, Inc., Hoboken, NJ. All rights reserved.</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4750361"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
        <p:nvSpPr>
          <p:cNvPr id="14" name="Picture Placeholder 12"/>
          <p:cNvSpPr>
            <a:spLocks noGrp="1"/>
          </p:cNvSpPr>
          <p:nvPr>
            <p:ph type="pic" sz="quarter" idx="13"/>
          </p:nvPr>
        </p:nvSpPr>
        <p:spPr>
          <a:xfrm>
            <a:off x="277905" y="228600"/>
            <a:ext cx="2057400" cy="2039112"/>
          </a:xfrm>
        </p:spPr>
        <p:txBody>
          <a:bodyPr/>
          <a:lstStyle>
            <a:lvl1pPr>
              <a:buNone/>
              <a:defRPr/>
            </a:lvl1pPr>
          </a:lstStyle>
          <a:p>
            <a:r>
              <a:rPr lang="en-US" dirty="0" smtClean="0"/>
              <a:t>Click icon to add picture</a:t>
            </a:r>
            <a:endParaRPr dirty="0"/>
          </a:p>
        </p:txBody>
      </p:sp>
      <p:sp>
        <p:nvSpPr>
          <p:cNvPr id="15" name="Picture Placeholder 12"/>
          <p:cNvSpPr>
            <a:spLocks noGrp="1"/>
          </p:cNvSpPr>
          <p:nvPr>
            <p:ph type="pic" sz="quarter" idx="14"/>
          </p:nvPr>
        </p:nvSpPr>
        <p:spPr>
          <a:xfrm>
            <a:off x="2460625" y="228600"/>
            <a:ext cx="2057400" cy="2039112"/>
          </a:xfrm>
        </p:spPr>
        <p:txBody>
          <a:bodyPr/>
          <a:lstStyle>
            <a:lvl1pPr>
              <a:buNone/>
              <a:defRPr/>
            </a:lvl1pPr>
          </a:lstStyle>
          <a:p>
            <a:r>
              <a:rPr lang="en-US" dirty="0" smtClean="0"/>
              <a:t>Click icon to add picture</a:t>
            </a:r>
            <a:endParaRPr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r>
              <a:rPr lang="en-US" dirty="0" smtClean="0"/>
              <a:t>© 2016 Pearson Education, Inc., Hoboken, NJ. All rights reserved.</a:t>
            </a:r>
            <a:endParaRPr dirty="0"/>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sp>
        <p:nvSpPr>
          <p:cNvPr id="10" name="Rectangle 9"/>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995772" y="954742"/>
            <a:ext cx="681318" cy="5171422"/>
          </a:xfrm>
        </p:spPr>
        <p:txBody>
          <a:bodyPr vert="eaVert" anchor="t" anchorCtr="0"/>
          <a:lstStyle/>
          <a:p>
            <a:r>
              <a:rPr lang="en-US" smtClean="0"/>
              <a:t>Click to edit Master title style</a:t>
            </a:r>
            <a:endParaRPr/>
          </a:p>
        </p:txBody>
      </p:sp>
      <p:sp>
        <p:nvSpPr>
          <p:cNvPr id="3" name="Vertical Text Placeholder 2"/>
          <p:cNvSpPr>
            <a:spLocks noGrp="1"/>
          </p:cNvSpPr>
          <p:nvPr>
            <p:ph type="body" orient="vert" idx="1"/>
          </p:nvPr>
        </p:nvSpPr>
        <p:spPr>
          <a:xfrm>
            <a:off x="457200" y="958756"/>
            <a:ext cx="6858000" cy="518486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r>
              <a:rPr lang="en-US" dirty="0" smtClean="0"/>
              <a:t>© 2016 Pearson Education, Inc., Hoboken, NJ. All rights reserved.</a:t>
            </a:r>
            <a:endParaRPr dirty="0"/>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rot="16200000">
            <a:off x="8593111" y="561668"/>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2"/>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8474" y="484094"/>
            <a:ext cx="7556313" cy="1116106"/>
          </a:xfrm>
          <a:prstGeom prst="rect">
            <a:avLst/>
          </a:prstGeom>
        </p:spPr>
        <p:txBody>
          <a:bodyPr vert="horz" lIns="91440" tIns="45720" rIns="91440" bIns="45720" rtlCol="0" anchor="t" anchorCtr="0">
            <a:noAutofit/>
          </a:bodyPr>
          <a:lstStyle/>
          <a:p>
            <a:r>
              <a:rPr lang="en-US" smtClean="0"/>
              <a:t>Click to edit Master title style</a:t>
            </a:r>
            <a:endParaRPr/>
          </a:p>
        </p:txBody>
      </p:sp>
      <p:sp>
        <p:nvSpPr>
          <p:cNvPr id="3" name="Text Placeholder 2"/>
          <p:cNvSpPr>
            <a:spLocks noGrp="1"/>
          </p:cNvSpPr>
          <p:nvPr>
            <p:ph type="body" idx="1"/>
          </p:nvPr>
        </p:nvSpPr>
        <p:spPr>
          <a:xfrm>
            <a:off x="498474" y="1981200"/>
            <a:ext cx="7556313" cy="4144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2"/>
          </p:nvPr>
        </p:nvSpPr>
        <p:spPr>
          <a:xfrm>
            <a:off x="6795247" y="6423585"/>
            <a:ext cx="2133600" cy="365125"/>
          </a:xfrm>
          <a:prstGeom prst="rect">
            <a:avLst/>
          </a:prstGeom>
        </p:spPr>
        <p:txBody>
          <a:bodyPr vert="horz" lIns="91440" tIns="45720" rIns="91440" bIns="45720" rtlCol="0" anchor="ctr"/>
          <a:lstStyle>
            <a:lvl1pPr algn="r">
              <a:defRPr sz="1100">
                <a:solidFill>
                  <a:schemeClr val="tx1">
                    <a:lumMod val="65000"/>
                    <a:lumOff val="35000"/>
                  </a:schemeClr>
                </a:solidFill>
              </a:defRPr>
            </a:lvl1pPr>
          </a:lstStyle>
          <a:p>
            <a:endParaRPr/>
          </a:p>
        </p:txBody>
      </p:sp>
      <p:sp>
        <p:nvSpPr>
          <p:cNvPr id="5" name="Footer Placeholder 4"/>
          <p:cNvSpPr>
            <a:spLocks noGrp="1"/>
          </p:cNvSpPr>
          <p:nvPr>
            <p:ph type="ftr" sz="quarter" idx="3"/>
          </p:nvPr>
        </p:nvSpPr>
        <p:spPr>
          <a:xfrm>
            <a:off x="201706" y="6423585"/>
            <a:ext cx="6122894"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r>
              <a:rPr lang="en-US" dirty="0" smtClean="0"/>
              <a:t>© 2016 Pearson Education, Inc., Hoboken, NJ. All rights reserved.</a:t>
            </a:r>
            <a:endParaRPr dirty="0"/>
          </a:p>
        </p:txBody>
      </p:sp>
      <p:sp>
        <p:nvSpPr>
          <p:cNvPr id="6" name="Slide Number Placeholder 5"/>
          <p:cNvSpPr>
            <a:spLocks noGrp="1"/>
          </p:cNvSpPr>
          <p:nvPr>
            <p:ph type="sldNum" sz="quarter" idx="4"/>
          </p:nvPr>
        </p:nvSpPr>
        <p:spPr>
          <a:xfrm>
            <a:off x="8305800" y="242234"/>
            <a:ext cx="554038" cy="365125"/>
          </a:xfrm>
          <a:prstGeom prst="rect">
            <a:avLst/>
          </a:prstGeom>
        </p:spPr>
        <p:txBody>
          <a:bodyPr vert="horz" lIns="91440" tIns="45720" rIns="91440" bIns="45720" rtlCol="0" anchor="ctr"/>
          <a:lstStyle>
            <a:lvl1pPr algn="r">
              <a:defRPr sz="1400">
                <a:solidFill>
                  <a:schemeClr val="bg1"/>
                </a:solidFill>
              </a:defRPr>
            </a:lvl1pPr>
          </a:lstStyle>
          <a:p>
            <a:fld id="{8AF02B71-8991-4516-A01E-F1A9ACD28BDC}" type="slidenum">
              <a:rPr/>
              <a:pPr/>
              <a:t>‹#›</a:t>
            </a:fld>
            <a:endParaRPr/>
          </a:p>
        </p:txBody>
      </p:sp>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 id="2147483687" r:id="rId19"/>
    <p:sldLayoutId id="2147483688" r:id="rId20"/>
  </p:sldLayoutIdLst>
  <p:hf sldNum="0" hdr="0" dt="0"/>
  <p:txStyles>
    <p:titleStyle>
      <a:lvl1pPr algn="l" defTabSz="914400" rtl="0" eaLnBrk="1" latinLnBrk="0" hangingPunct="1">
        <a:spcBef>
          <a:spcPct val="0"/>
        </a:spcBef>
        <a:buNone/>
        <a:defRPr sz="3600" b="0" kern="1200">
          <a:solidFill>
            <a:schemeClr val="accent1"/>
          </a:solidFill>
          <a:latin typeface="+mj-lt"/>
          <a:ea typeface="+mj-ea"/>
          <a:cs typeface="+mj-cs"/>
        </a:defRPr>
      </a:lvl1pPr>
    </p:titleStyle>
    <p:body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10.emf"/></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4"/>
          <p:cNvSpPr>
            <a:spLocks noGrp="1" noChangeArrowheads="1"/>
          </p:cNvSpPr>
          <p:nvPr>
            <p:ph type="ctrTitle"/>
          </p:nvPr>
        </p:nvSpPr>
        <p:spPr/>
        <p:txBody>
          <a:bodyPr>
            <a:normAutofit fontScale="90000"/>
          </a:bodyPr>
          <a:lstStyle/>
          <a:p>
            <a:r>
              <a:rPr lang="en-GB" dirty="0" smtClean="0"/>
              <a:t>William Stallings </a:t>
            </a:r>
            <a:br>
              <a:rPr lang="en-GB" dirty="0" smtClean="0"/>
            </a:br>
            <a:r>
              <a:rPr lang="en-GB" dirty="0"/>
              <a:t>Computer Organization </a:t>
            </a:r>
            <a:br>
              <a:rPr lang="en-GB" dirty="0"/>
            </a:br>
            <a:r>
              <a:rPr lang="en-GB" dirty="0"/>
              <a:t>and Architecture</a:t>
            </a:r>
            <a:r>
              <a:rPr lang="en-GB" dirty="0" smtClean="0"/>
              <a:t/>
            </a:r>
            <a:br>
              <a:rPr lang="en-GB" dirty="0" smtClean="0"/>
            </a:br>
            <a:r>
              <a:rPr lang="en-GB" dirty="0" smtClean="0"/>
              <a:t>10</a:t>
            </a:r>
            <a:r>
              <a:rPr lang="en-GB" baseline="30000" dirty="0" smtClean="0"/>
              <a:t>th</a:t>
            </a:r>
            <a:r>
              <a:rPr lang="en-GB" dirty="0" smtClean="0"/>
              <a:t> Edition</a:t>
            </a:r>
            <a:endParaRPr lang="en-GB" dirty="0"/>
          </a:p>
        </p:txBody>
      </p:sp>
      <p:pic>
        <p:nvPicPr>
          <p:cNvPr id="3" name="Picture 2" descr="Snapshot 2012-06-08 00-57-47.jpg"/>
          <p:cNvPicPr>
            <a:picLocks noChangeAspect="1"/>
          </p:cNvPicPr>
          <p:nvPr/>
        </p:nvPicPr>
        <p:blipFill>
          <a:blip r:embed="rId3"/>
          <a:stretch>
            <a:fillRect/>
          </a:stretch>
        </p:blipFill>
        <p:spPr>
          <a:xfrm>
            <a:off x="609600" y="990600"/>
            <a:ext cx="3649579" cy="2667000"/>
          </a:xfrm>
          <a:prstGeom prst="rect">
            <a:avLst/>
          </a:prstGeom>
          <a:effectLst>
            <a:outerShdw blurRad="50800" dist="38100" dir="2700000" algn="tl" rotWithShape="0">
              <a:schemeClr val="tx1">
                <a:alpha val="43000"/>
              </a:schemeClr>
            </a:outerShdw>
            <a:reflection stA="50000" endPos="75000" dist="12700" dir="5400000" sy="-100000" algn="bl" rotWithShape="0"/>
            <a:softEdge rad="88900"/>
          </a:effectLst>
        </p:spPr>
      </p:pic>
      <p:sp>
        <p:nvSpPr>
          <p:cNvPr id="2" name="Footer Placeholder 1"/>
          <p:cNvSpPr>
            <a:spLocks noGrp="1"/>
          </p:cNvSpPr>
          <p:nvPr>
            <p:ph type="ftr" sz="quarter" idx="11"/>
          </p:nvPr>
        </p:nvSpPr>
        <p:spPr/>
        <p:txBody>
          <a:bodyPr/>
          <a:lstStyle/>
          <a:p>
            <a:r>
              <a:rPr lang="en-GB" dirty="0" smtClean="0"/>
              <a:t>© 2016 Pearson Education, Inc., Hoboken, NJ. All rights reserved.</a:t>
            </a:r>
            <a:endParaRPr lang="en-GB"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683568" y="4221088"/>
            <a:ext cx="6191157" cy="833718"/>
          </a:xfrm>
        </p:spPr>
        <p:txBody>
          <a:bodyPr>
            <a:noAutofit/>
          </a:bodyPr>
          <a:lstStyle/>
          <a:p>
            <a:r>
              <a:rPr lang="en-US" sz="5400" dirty="0" smtClean="0">
                <a:effectLst>
                  <a:outerShdw blurRad="38100" dist="38100" dir="2700000" algn="tl">
                    <a:srgbClr val="000000">
                      <a:alpha val="43137"/>
                    </a:srgbClr>
                  </a:outerShdw>
                </a:effectLst>
              </a:rPr>
              <a:t>Chapter 13</a:t>
            </a:r>
            <a:endParaRPr lang="en-US" sz="5400" dirty="0">
              <a:effectLst>
                <a:outerShdw blurRad="38100" dist="38100" dir="2700000" algn="tl">
                  <a:srgbClr val="000000">
                    <a:alpha val="43137"/>
                  </a:srgbClr>
                </a:outerShdw>
              </a:effectLst>
            </a:endParaRPr>
          </a:p>
        </p:txBody>
      </p:sp>
      <p:sp>
        <p:nvSpPr>
          <p:cNvPr id="11" name="Text Placeholder 10"/>
          <p:cNvSpPr>
            <a:spLocks noGrp="1"/>
          </p:cNvSpPr>
          <p:nvPr>
            <p:ph type="body" sz="half" idx="2"/>
          </p:nvPr>
        </p:nvSpPr>
        <p:spPr>
          <a:xfrm>
            <a:off x="683568" y="5157192"/>
            <a:ext cx="6191157" cy="885825"/>
          </a:xfrm>
        </p:spPr>
        <p:txBody>
          <a:bodyPr>
            <a:normAutofit fontScale="70000" lnSpcReduction="20000"/>
          </a:bodyPr>
          <a:lstStyle/>
          <a:p>
            <a:r>
              <a:rPr lang="en-US" sz="4400" dirty="0" smtClean="0"/>
              <a:t>Instruction Sets:  Addressing Modes and Formats</a:t>
            </a:r>
            <a:endParaRPr lang="en-US" sz="4400" dirty="0"/>
          </a:p>
        </p:txBody>
      </p:sp>
      <p:sp>
        <p:nvSpPr>
          <p:cNvPr id="5" name="TextBox 4"/>
          <p:cNvSpPr txBox="1"/>
          <p:nvPr/>
        </p:nvSpPr>
        <p:spPr>
          <a:xfrm>
            <a:off x="5486400" y="1371600"/>
            <a:ext cx="2286000" cy="1938992"/>
          </a:xfrm>
          <a:prstGeom prst="rect">
            <a:avLst/>
          </a:prstGeom>
          <a:solidFill>
            <a:schemeClr val="accent3"/>
          </a:solidFill>
        </p:spPr>
        <p:txBody>
          <a:bodyPr wrap="square" rtlCol="0">
            <a:spAutoFit/>
          </a:bodyPr>
          <a:lstStyle/>
          <a:p>
            <a:endParaRPr lang="en-US" dirty="0" smtClean="0"/>
          </a:p>
          <a:p>
            <a:endParaRPr lang="en-US" dirty="0" smtClean="0"/>
          </a:p>
          <a:p>
            <a:endParaRPr lang="en-US" dirty="0" smtClean="0"/>
          </a:p>
          <a:p>
            <a:endParaRPr lang="en-US" dirty="0" smtClean="0"/>
          </a:p>
          <a:p>
            <a:endParaRPr lang="en-US" dirty="0" smtClean="0"/>
          </a:p>
        </p:txBody>
      </p:sp>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201706" y="6453336"/>
            <a:ext cx="1273950" cy="335374"/>
          </a:xfrm>
        </p:spPr>
        <p:txBody>
          <a:bodyPr/>
          <a:lstStyle/>
          <a:p>
            <a:r>
              <a:rPr lang="en-US" sz="1800" dirty="0">
                <a:latin typeface="+mn-lt"/>
              </a:rPr>
              <a:t>Memory</a:t>
            </a:r>
          </a:p>
        </p:txBody>
      </p:sp>
      <p:graphicFrame>
        <p:nvGraphicFramePr>
          <p:cNvPr id="5" name="Table 4"/>
          <p:cNvGraphicFramePr>
            <a:graphicFrameLocks noGrp="1"/>
          </p:cNvGraphicFramePr>
          <p:nvPr>
            <p:extLst>
              <p:ext uri="{D42A27DB-BD31-4B8C-83A1-F6EECF244321}">
                <p14:modId xmlns:p14="http://schemas.microsoft.com/office/powerpoint/2010/main" val="455339740"/>
              </p:ext>
            </p:extLst>
          </p:nvPr>
        </p:nvGraphicFramePr>
        <p:xfrm>
          <a:off x="1115616" y="548680"/>
          <a:ext cx="6096000" cy="370840"/>
        </p:xfrm>
        <a:graphic>
          <a:graphicData uri="http://schemas.openxmlformats.org/drawingml/2006/table">
            <a:tbl>
              <a:tblPr firstRow="1" bandRow="1">
                <a:tableStyleId>{8799B23B-EC83-4686-B30A-512413B5E67A}</a:tableStyleId>
              </a:tblPr>
              <a:tblGrid>
                <a:gridCol w="1524000">
                  <a:extLst>
                    <a:ext uri="{9D8B030D-6E8A-4147-A177-3AD203B41FA5}">
                      <a16:colId xmlns:a16="http://schemas.microsoft.com/office/drawing/2014/main" val="1159864998"/>
                    </a:ext>
                  </a:extLst>
                </a:gridCol>
                <a:gridCol w="1524000">
                  <a:extLst>
                    <a:ext uri="{9D8B030D-6E8A-4147-A177-3AD203B41FA5}">
                      <a16:colId xmlns:a16="http://schemas.microsoft.com/office/drawing/2014/main" val="3022190231"/>
                    </a:ext>
                  </a:extLst>
                </a:gridCol>
                <a:gridCol w="1524000">
                  <a:extLst>
                    <a:ext uri="{9D8B030D-6E8A-4147-A177-3AD203B41FA5}">
                      <a16:colId xmlns:a16="http://schemas.microsoft.com/office/drawing/2014/main" val="2241673221"/>
                    </a:ext>
                  </a:extLst>
                </a:gridCol>
                <a:gridCol w="1524000">
                  <a:extLst>
                    <a:ext uri="{9D8B030D-6E8A-4147-A177-3AD203B41FA5}">
                      <a16:colId xmlns:a16="http://schemas.microsoft.com/office/drawing/2014/main" val="319156373"/>
                    </a:ext>
                  </a:extLst>
                </a:gridCol>
              </a:tblGrid>
              <a:tr h="370840">
                <a:tc>
                  <a:txBody>
                    <a:bodyPr/>
                    <a:lstStyle/>
                    <a:p>
                      <a:pPr algn="ctr"/>
                      <a:r>
                        <a:rPr lang="en-US" dirty="0" smtClean="0"/>
                        <a:t>Opcode</a:t>
                      </a:r>
                      <a:endParaRPr lang="en-US" dirty="0"/>
                    </a:p>
                  </a:txBody>
                  <a:tcPr/>
                </a:tc>
                <a:tc>
                  <a:txBody>
                    <a:bodyPr/>
                    <a:lstStyle/>
                    <a:p>
                      <a:pPr algn="ctr"/>
                      <a:r>
                        <a:rPr lang="en-US" dirty="0" smtClean="0"/>
                        <a:t>Mode</a:t>
                      </a:r>
                      <a:endParaRPr lang="en-US" dirty="0"/>
                    </a:p>
                  </a:txBody>
                  <a:tcPr/>
                </a:tc>
                <a:tc>
                  <a:txBody>
                    <a:bodyPr/>
                    <a:lstStyle/>
                    <a:p>
                      <a:pPr algn="ctr"/>
                      <a:r>
                        <a:rPr lang="en-US" dirty="0" smtClean="0"/>
                        <a:t>Operand 1</a:t>
                      </a:r>
                      <a:endParaRPr lang="en-US" dirty="0"/>
                    </a:p>
                  </a:txBody>
                  <a:tcPr/>
                </a:tc>
                <a:tc>
                  <a:txBody>
                    <a:bodyPr/>
                    <a:lstStyle/>
                    <a:p>
                      <a:pPr algn="ctr"/>
                      <a:r>
                        <a:rPr lang="en-US" dirty="0" smtClean="0"/>
                        <a:t>Operand 2</a:t>
                      </a:r>
                      <a:endParaRPr lang="en-US" dirty="0"/>
                    </a:p>
                  </a:txBody>
                  <a:tcPr/>
                </a:tc>
                <a:extLst>
                  <a:ext uri="{0D108BD9-81ED-4DB2-BD59-A6C34878D82A}">
                    <a16:rowId xmlns:a16="http://schemas.microsoft.com/office/drawing/2014/main" val="518979006"/>
                  </a:ext>
                </a:extLst>
              </a:tr>
            </a:tbl>
          </a:graphicData>
        </a:graphic>
      </p:graphicFrame>
      <p:cxnSp>
        <p:nvCxnSpPr>
          <p:cNvPr id="7" name="Straight Arrow Connector 6"/>
          <p:cNvCxnSpPr/>
          <p:nvPr/>
        </p:nvCxnSpPr>
        <p:spPr>
          <a:xfrm>
            <a:off x="1835696" y="1052736"/>
            <a:ext cx="0" cy="360040"/>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p:cNvCxnSpPr/>
          <p:nvPr/>
        </p:nvCxnSpPr>
        <p:spPr>
          <a:xfrm>
            <a:off x="5724128" y="1025116"/>
            <a:ext cx="0" cy="360040"/>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a:off x="3347864" y="1025116"/>
            <a:ext cx="0" cy="360040"/>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1" name="Text Placeholder 10"/>
          <p:cNvSpPr txBox="1">
            <a:spLocks/>
          </p:cNvSpPr>
          <p:nvPr/>
        </p:nvSpPr>
        <p:spPr>
          <a:xfrm>
            <a:off x="899592" y="1353899"/>
            <a:ext cx="6912768" cy="885825"/>
          </a:xfrm>
          <a:prstGeom prst="rect">
            <a:avLst/>
          </a:prstGeom>
        </p:spPr>
        <p:txBody>
          <a:bodyPr>
            <a:normAutofit fontScale="85000" lnSpcReduction="10000"/>
          </a:bodyPr>
          <a:lst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fontAlgn="auto">
              <a:spcBef>
                <a:spcPts val="0"/>
              </a:spcBef>
              <a:spcAft>
                <a:spcPts val="0"/>
              </a:spcAft>
              <a:buNone/>
            </a:pPr>
            <a:r>
              <a:rPr lang="en-US" sz="2400" dirty="0" smtClean="0"/>
              <a:t>Operation      Addressing        Reg. / Mem. / Instruction </a:t>
            </a:r>
          </a:p>
          <a:p>
            <a:pPr marL="0" indent="0" fontAlgn="auto">
              <a:spcBef>
                <a:spcPts val="0"/>
              </a:spcBef>
              <a:spcAft>
                <a:spcPts val="0"/>
              </a:spcAft>
              <a:buNone/>
            </a:pPr>
            <a:r>
              <a:rPr lang="en-US" sz="2400" dirty="0"/>
              <a:t> </a:t>
            </a:r>
            <a:r>
              <a:rPr lang="en-US" sz="2400" dirty="0" smtClean="0"/>
              <a:t>                             Mode</a:t>
            </a:r>
            <a:endParaRPr lang="en-US" sz="2400" dirty="0"/>
          </a:p>
        </p:txBody>
      </p:sp>
      <p:graphicFrame>
        <p:nvGraphicFramePr>
          <p:cNvPr id="14" name="Table 13"/>
          <p:cNvGraphicFramePr>
            <a:graphicFrameLocks noGrp="1"/>
          </p:cNvGraphicFramePr>
          <p:nvPr>
            <p:extLst>
              <p:ext uri="{D42A27DB-BD31-4B8C-83A1-F6EECF244321}">
                <p14:modId xmlns:p14="http://schemas.microsoft.com/office/powerpoint/2010/main" val="948613981"/>
              </p:ext>
            </p:extLst>
          </p:nvPr>
        </p:nvGraphicFramePr>
        <p:xfrm>
          <a:off x="474532" y="2420888"/>
          <a:ext cx="4025459" cy="3600400"/>
        </p:xfrm>
        <a:graphic>
          <a:graphicData uri="http://schemas.openxmlformats.org/drawingml/2006/table">
            <a:tbl>
              <a:tblPr firstRow="1" bandRow="1">
                <a:tableStyleId>{69CF1AB2-1976-4502-BF36-3FF5EA218861}</a:tableStyleId>
              </a:tblPr>
              <a:tblGrid>
                <a:gridCol w="4025459">
                  <a:extLst>
                    <a:ext uri="{9D8B030D-6E8A-4147-A177-3AD203B41FA5}">
                      <a16:colId xmlns:a16="http://schemas.microsoft.com/office/drawing/2014/main" val="2584848657"/>
                    </a:ext>
                  </a:extLst>
                </a:gridCol>
              </a:tblGrid>
              <a:tr h="3600400">
                <a:tc>
                  <a:txBody>
                    <a:bodyPr/>
                    <a:lstStyle/>
                    <a:p>
                      <a:endParaRPr lang="en-US" dirty="0"/>
                    </a:p>
                  </a:txBody>
                  <a:tcPr/>
                </a:tc>
                <a:extLst>
                  <a:ext uri="{0D108BD9-81ED-4DB2-BD59-A6C34878D82A}">
                    <a16:rowId xmlns:a16="http://schemas.microsoft.com/office/drawing/2014/main" val="4070356609"/>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1823715738"/>
              </p:ext>
            </p:extLst>
          </p:nvPr>
        </p:nvGraphicFramePr>
        <p:xfrm>
          <a:off x="755576" y="2660638"/>
          <a:ext cx="3312368" cy="1483360"/>
        </p:xfrm>
        <a:graphic>
          <a:graphicData uri="http://schemas.openxmlformats.org/drawingml/2006/table">
            <a:tbl>
              <a:tblPr firstRow="1" bandRow="1">
                <a:tableStyleId>{5C22544A-7EE6-4342-B048-85BDC9FD1C3A}</a:tableStyleId>
              </a:tblPr>
              <a:tblGrid>
                <a:gridCol w="1656184">
                  <a:extLst>
                    <a:ext uri="{9D8B030D-6E8A-4147-A177-3AD203B41FA5}">
                      <a16:colId xmlns:a16="http://schemas.microsoft.com/office/drawing/2014/main" val="1407143582"/>
                    </a:ext>
                  </a:extLst>
                </a:gridCol>
                <a:gridCol w="1656184">
                  <a:extLst>
                    <a:ext uri="{9D8B030D-6E8A-4147-A177-3AD203B41FA5}">
                      <a16:colId xmlns:a16="http://schemas.microsoft.com/office/drawing/2014/main" val="2803700814"/>
                    </a:ext>
                  </a:extLst>
                </a:gridCol>
              </a:tblGrid>
              <a:tr h="370840">
                <a:tc>
                  <a:txBody>
                    <a:bodyPr/>
                    <a:lstStyle/>
                    <a:p>
                      <a:pPr algn="ctr"/>
                      <a:r>
                        <a:rPr lang="en-US" dirty="0" smtClean="0"/>
                        <a:t>R1</a:t>
                      </a:r>
                      <a:endParaRPr lang="en-US" dirty="0"/>
                    </a:p>
                  </a:txBody>
                  <a:tcPr/>
                </a:tc>
                <a:tc>
                  <a:txBody>
                    <a:bodyPr/>
                    <a:lstStyle/>
                    <a:p>
                      <a:pPr algn="ctr"/>
                      <a:r>
                        <a:rPr lang="en-US" dirty="0" smtClean="0"/>
                        <a:t>R2</a:t>
                      </a:r>
                      <a:endParaRPr lang="en-US" dirty="0"/>
                    </a:p>
                  </a:txBody>
                  <a:tcPr/>
                </a:tc>
                <a:extLst>
                  <a:ext uri="{0D108BD9-81ED-4DB2-BD59-A6C34878D82A}">
                    <a16:rowId xmlns:a16="http://schemas.microsoft.com/office/drawing/2014/main" val="2579233917"/>
                  </a:ext>
                </a:extLst>
              </a:tr>
              <a:tr h="370840">
                <a:tc>
                  <a:txBody>
                    <a:bodyPr/>
                    <a:lstStyle/>
                    <a:p>
                      <a:pPr algn="ctr"/>
                      <a:r>
                        <a:rPr lang="en-US" dirty="0" smtClean="0"/>
                        <a:t>R3</a:t>
                      </a:r>
                      <a:endParaRPr lang="en-US" dirty="0"/>
                    </a:p>
                  </a:txBody>
                  <a:tcPr/>
                </a:tc>
                <a:tc>
                  <a:txBody>
                    <a:bodyPr/>
                    <a:lstStyle/>
                    <a:p>
                      <a:pPr algn="ctr"/>
                      <a:r>
                        <a:rPr lang="en-US" dirty="0" smtClean="0"/>
                        <a:t>R4</a:t>
                      </a:r>
                      <a:endParaRPr lang="en-US" dirty="0"/>
                    </a:p>
                  </a:txBody>
                  <a:tcPr/>
                </a:tc>
                <a:extLst>
                  <a:ext uri="{0D108BD9-81ED-4DB2-BD59-A6C34878D82A}">
                    <a16:rowId xmlns:a16="http://schemas.microsoft.com/office/drawing/2014/main" val="169041067"/>
                  </a:ext>
                </a:extLst>
              </a:tr>
              <a:tr h="370840">
                <a:tc>
                  <a:txBody>
                    <a:bodyPr/>
                    <a:lstStyle/>
                    <a:p>
                      <a:pPr algn="ctr"/>
                      <a:r>
                        <a:rPr lang="en-US" dirty="0" smtClean="0"/>
                        <a:t>PC</a:t>
                      </a:r>
                      <a:endParaRPr lang="en-US" dirty="0"/>
                    </a:p>
                  </a:txBody>
                  <a:tcPr/>
                </a:tc>
                <a:tc>
                  <a:txBody>
                    <a:bodyPr/>
                    <a:lstStyle/>
                    <a:p>
                      <a:pPr algn="ctr"/>
                      <a:r>
                        <a:rPr lang="en-US" dirty="0" smtClean="0"/>
                        <a:t>SP</a:t>
                      </a:r>
                      <a:endParaRPr lang="en-US" dirty="0"/>
                    </a:p>
                  </a:txBody>
                  <a:tcPr/>
                </a:tc>
                <a:extLst>
                  <a:ext uri="{0D108BD9-81ED-4DB2-BD59-A6C34878D82A}">
                    <a16:rowId xmlns:a16="http://schemas.microsoft.com/office/drawing/2014/main" val="3887445419"/>
                  </a:ext>
                </a:extLst>
              </a:tr>
              <a:tr h="370840">
                <a:tc>
                  <a:txBody>
                    <a:bodyPr/>
                    <a:lstStyle/>
                    <a:p>
                      <a:pPr algn="ctr"/>
                      <a:r>
                        <a:rPr lang="en-US" dirty="0" smtClean="0"/>
                        <a:t>S1</a:t>
                      </a:r>
                      <a:endParaRPr lang="en-US" dirty="0"/>
                    </a:p>
                  </a:txBody>
                  <a:tcPr/>
                </a:tc>
                <a:tc>
                  <a:txBody>
                    <a:bodyPr/>
                    <a:lstStyle/>
                    <a:p>
                      <a:pPr algn="ctr"/>
                      <a:r>
                        <a:rPr lang="en-US" dirty="0" smtClean="0"/>
                        <a:t>D1</a:t>
                      </a:r>
                      <a:endParaRPr lang="en-US" dirty="0"/>
                    </a:p>
                  </a:txBody>
                  <a:tcPr/>
                </a:tc>
                <a:extLst>
                  <a:ext uri="{0D108BD9-81ED-4DB2-BD59-A6C34878D82A}">
                    <a16:rowId xmlns:a16="http://schemas.microsoft.com/office/drawing/2014/main" val="3612781859"/>
                  </a:ext>
                </a:extLst>
              </a:tr>
            </a:tbl>
          </a:graphicData>
        </a:graphic>
      </p:graphicFrame>
      <p:sp>
        <p:nvSpPr>
          <p:cNvPr id="18" name="Text Placeholder 10"/>
          <p:cNvSpPr txBox="1">
            <a:spLocks/>
          </p:cNvSpPr>
          <p:nvPr/>
        </p:nvSpPr>
        <p:spPr>
          <a:xfrm>
            <a:off x="1819079" y="4143998"/>
            <a:ext cx="2888148" cy="885825"/>
          </a:xfrm>
          <a:prstGeom prst="rect">
            <a:avLst/>
          </a:prstGeom>
        </p:spPr>
        <p:txBody>
          <a:bodyPr>
            <a:normAutofit/>
          </a:bodyPr>
          <a:lst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fontAlgn="auto">
              <a:spcBef>
                <a:spcPts val="0"/>
              </a:spcBef>
              <a:spcAft>
                <a:spcPts val="0"/>
              </a:spcAft>
              <a:buNone/>
            </a:pPr>
            <a:r>
              <a:rPr lang="en-US" sz="1800" dirty="0" smtClean="0"/>
              <a:t>Registers</a:t>
            </a:r>
            <a:endParaRPr lang="en-US" sz="1800" dirty="0"/>
          </a:p>
        </p:txBody>
      </p:sp>
      <p:sp>
        <p:nvSpPr>
          <p:cNvPr id="19" name="Text Placeholder 10"/>
          <p:cNvSpPr txBox="1">
            <a:spLocks/>
          </p:cNvSpPr>
          <p:nvPr/>
        </p:nvSpPr>
        <p:spPr>
          <a:xfrm>
            <a:off x="2071714" y="5986491"/>
            <a:ext cx="2888148" cy="885825"/>
          </a:xfrm>
          <a:prstGeom prst="rect">
            <a:avLst/>
          </a:prstGeom>
        </p:spPr>
        <p:txBody>
          <a:bodyPr>
            <a:normAutofit/>
          </a:bodyPr>
          <a:lst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fontAlgn="auto">
              <a:spcBef>
                <a:spcPts val="0"/>
              </a:spcBef>
              <a:spcAft>
                <a:spcPts val="0"/>
              </a:spcAft>
              <a:buNone/>
            </a:pPr>
            <a:r>
              <a:rPr lang="en-US" sz="1800" dirty="0" smtClean="0"/>
              <a:t>CPU</a:t>
            </a:r>
            <a:endParaRPr lang="en-US" sz="1800" dirty="0"/>
          </a:p>
        </p:txBody>
      </p:sp>
      <p:graphicFrame>
        <p:nvGraphicFramePr>
          <p:cNvPr id="20" name="Table 19"/>
          <p:cNvGraphicFramePr>
            <a:graphicFrameLocks noGrp="1"/>
          </p:cNvGraphicFramePr>
          <p:nvPr>
            <p:extLst>
              <p:ext uri="{D42A27DB-BD31-4B8C-83A1-F6EECF244321}">
                <p14:modId xmlns:p14="http://schemas.microsoft.com/office/powerpoint/2010/main" val="2756970419"/>
              </p:ext>
            </p:extLst>
          </p:nvPr>
        </p:nvGraphicFramePr>
        <p:xfrm>
          <a:off x="4959862" y="2420888"/>
          <a:ext cx="3679446" cy="3657600"/>
        </p:xfrm>
        <a:graphic>
          <a:graphicData uri="http://schemas.openxmlformats.org/drawingml/2006/table">
            <a:tbl>
              <a:tblPr firstRow="1" bandRow="1">
                <a:tableStyleId>{8A107856-5554-42FB-B03E-39F5DBC370BA}</a:tableStyleId>
              </a:tblPr>
              <a:tblGrid>
                <a:gridCol w="1839723">
                  <a:extLst>
                    <a:ext uri="{9D8B030D-6E8A-4147-A177-3AD203B41FA5}">
                      <a16:colId xmlns:a16="http://schemas.microsoft.com/office/drawing/2014/main" val="2644349612"/>
                    </a:ext>
                  </a:extLst>
                </a:gridCol>
                <a:gridCol w="1839723">
                  <a:extLst>
                    <a:ext uri="{9D8B030D-6E8A-4147-A177-3AD203B41FA5}">
                      <a16:colId xmlns:a16="http://schemas.microsoft.com/office/drawing/2014/main" val="2093085964"/>
                    </a:ext>
                  </a:extLst>
                </a:gridCol>
              </a:tblGrid>
              <a:tr h="370840">
                <a:tc>
                  <a:txBody>
                    <a:bodyPr/>
                    <a:lstStyle/>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txBody>
                  <a:tcPr/>
                </a:tc>
                <a:tc>
                  <a:txBody>
                    <a:bodyPr/>
                    <a:lstStyle/>
                    <a:p>
                      <a:r>
                        <a:rPr lang="en-US" dirty="0" smtClean="0"/>
                        <a:t>Data</a:t>
                      </a:r>
                    </a:p>
                    <a:p>
                      <a:endParaRPr lang="en-US" dirty="0" smtClean="0"/>
                    </a:p>
                    <a:p>
                      <a:endParaRPr lang="en-US" dirty="0" smtClean="0"/>
                    </a:p>
                    <a:p>
                      <a:endParaRPr lang="en-US" dirty="0" smtClean="0"/>
                    </a:p>
                    <a:p>
                      <a:endParaRPr lang="en-US" dirty="0" smtClean="0"/>
                    </a:p>
                    <a:p>
                      <a:endParaRPr lang="en-US" dirty="0" smtClean="0"/>
                    </a:p>
                    <a:p>
                      <a:endParaRPr lang="en-US" dirty="0"/>
                    </a:p>
                  </a:txBody>
                  <a:tcPr/>
                </a:tc>
                <a:extLst>
                  <a:ext uri="{0D108BD9-81ED-4DB2-BD59-A6C34878D82A}">
                    <a16:rowId xmlns:a16="http://schemas.microsoft.com/office/drawing/2014/main" val="3956303547"/>
                  </a:ext>
                </a:extLst>
              </a:tr>
            </a:tbl>
          </a:graphicData>
        </a:graphic>
      </p:graphicFrame>
      <p:graphicFrame>
        <p:nvGraphicFramePr>
          <p:cNvPr id="22" name="Table 21"/>
          <p:cNvGraphicFramePr>
            <a:graphicFrameLocks noGrp="1"/>
          </p:cNvGraphicFramePr>
          <p:nvPr>
            <p:extLst>
              <p:ext uri="{D42A27DB-BD31-4B8C-83A1-F6EECF244321}">
                <p14:modId xmlns:p14="http://schemas.microsoft.com/office/powerpoint/2010/main" val="1654110400"/>
              </p:ext>
            </p:extLst>
          </p:nvPr>
        </p:nvGraphicFramePr>
        <p:xfrm>
          <a:off x="4972692" y="2445249"/>
          <a:ext cx="3657600" cy="883578"/>
        </p:xfrm>
        <a:graphic>
          <a:graphicData uri="http://schemas.openxmlformats.org/drawingml/2006/table">
            <a:tbl>
              <a:tblPr/>
              <a:tblGrid>
                <a:gridCol w="3657600">
                  <a:extLst>
                    <a:ext uri="{9D8B030D-6E8A-4147-A177-3AD203B41FA5}">
                      <a16:colId xmlns:a16="http://schemas.microsoft.com/office/drawing/2014/main" val="3739594554"/>
                    </a:ext>
                  </a:extLst>
                </a:gridCol>
              </a:tblGrid>
              <a:tr h="441789">
                <a:tc>
                  <a:txBody>
                    <a:bodyPr/>
                    <a:lstStyle/>
                    <a:p>
                      <a:r>
                        <a:rPr lang="en-US" b="1" dirty="0" smtClean="0"/>
                        <a:t>Addresses </a:t>
                      </a:r>
                      <a:r>
                        <a:rPr lang="en-US" dirty="0" smtClean="0"/>
                        <a:t>                                         </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5130642"/>
                  </a:ext>
                </a:extLst>
              </a:tr>
              <a:tr h="441789">
                <a:tc>
                  <a:txBody>
                    <a:bodyPr/>
                    <a:lstStyle/>
                    <a:p>
                      <a:endParaRPr lang="en-US" dirty="0" smtClean="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482567138"/>
                  </a:ext>
                </a:extLst>
              </a:tr>
            </a:tbl>
          </a:graphicData>
        </a:graphic>
      </p:graphicFrame>
      <p:graphicFrame>
        <p:nvGraphicFramePr>
          <p:cNvPr id="23" name="Table 22"/>
          <p:cNvGraphicFramePr>
            <a:graphicFrameLocks noGrp="1"/>
          </p:cNvGraphicFramePr>
          <p:nvPr>
            <p:extLst>
              <p:ext uri="{D42A27DB-BD31-4B8C-83A1-F6EECF244321}">
                <p14:modId xmlns:p14="http://schemas.microsoft.com/office/powerpoint/2010/main" val="4222118696"/>
              </p:ext>
            </p:extLst>
          </p:nvPr>
        </p:nvGraphicFramePr>
        <p:xfrm>
          <a:off x="5003515" y="5702157"/>
          <a:ext cx="3616503" cy="369870"/>
        </p:xfrm>
        <a:graphic>
          <a:graphicData uri="http://schemas.openxmlformats.org/drawingml/2006/table">
            <a:tbl>
              <a:tblPr/>
              <a:tblGrid>
                <a:gridCol w="3616503">
                  <a:extLst>
                    <a:ext uri="{9D8B030D-6E8A-4147-A177-3AD203B41FA5}">
                      <a16:colId xmlns:a16="http://schemas.microsoft.com/office/drawing/2014/main" val="1693274755"/>
                    </a:ext>
                  </a:extLst>
                </a:gridCol>
              </a:tblGrid>
              <a:tr h="369870">
                <a:tc>
                  <a:txBody>
                    <a:bodyPr/>
                    <a:lstStyle/>
                    <a:p>
                      <a:endParaRPr lang="en-US"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783159130"/>
                  </a:ext>
                </a:extLst>
              </a:tr>
            </a:tbl>
          </a:graphicData>
        </a:graphic>
      </p:graphicFrame>
      <p:sp>
        <p:nvSpPr>
          <p:cNvPr id="24" name="Footer Placeholder 2"/>
          <p:cNvSpPr txBox="1">
            <a:spLocks/>
          </p:cNvSpPr>
          <p:nvPr/>
        </p:nvSpPr>
        <p:spPr>
          <a:xfrm>
            <a:off x="6174791" y="6140028"/>
            <a:ext cx="1273950" cy="335374"/>
          </a:xfrm>
          <a:prstGeom prst="rect">
            <a:avLst/>
          </a:prstGeom>
        </p:spPr>
        <p:txBody>
          <a:bodyPr vert="horz" lIns="91440" tIns="45720" rIns="91440" bIns="45720" rtlCol="0" anchor="ctr"/>
          <a:lstStyle>
            <a:defPPr>
              <a:defRPr lang="en-US"/>
            </a:defPPr>
            <a:lvl1pPr algn="l" rtl="0" eaLnBrk="0" fontAlgn="base" hangingPunct="0">
              <a:spcBef>
                <a:spcPct val="0"/>
              </a:spcBef>
              <a:spcAft>
                <a:spcPct val="0"/>
              </a:spcAft>
              <a:defRPr sz="1100" kern="1200">
                <a:solidFill>
                  <a:schemeClr val="tx1">
                    <a:lumMod val="65000"/>
                    <a:lumOff val="35000"/>
                  </a:schemeClr>
                </a:solidFill>
                <a:latin typeface="Times New Roman" pitchFamily="-1"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 charset="0"/>
                <a:ea typeface="+mn-ea"/>
                <a:cs typeface="+mn-cs"/>
              </a:defRPr>
            </a:lvl5pPr>
            <a:lvl6pPr marL="2286000" algn="l" defTabSz="457200" rtl="0" eaLnBrk="1" latinLnBrk="0" hangingPunct="1">
              <a:defRPr sz="2400" kern="1200">
                <a:solidFill>
                  <a:schemeClr val="tx1"/>
                </a:solidFill>
                <a:latin typeface="Times New Roman" pitchFamily="-1" charset="0"/>
                <a:ea typeface="+mn-ea"/>
                <a:cs typeface="+mn-cs"/>
              </a:defRPr>
            </a:lvl6pPr>
            <a:lvl7pPr marL="2743200" algn="l" defTabSz="457200" rtl="0" eaLnBrk="1" latinLnBrk="0" hangingPunct="1">
              <a:defRPr sz="2400" kern="1200">
                <a:solidFill>
                  <a:schemeClr val="tx1"/>
                </a:solidFill>
                <a:latin typeface="Times New Roman" pitchFamily="-1" charset="0"/>
                <a:ea typeface="+mn-ea"/>
                <a:cs typeface="+mn-cs"/>
              </a:defRPr>
            </a:lvl7pPr>
            <a:lvl8pPr marL="3200400" algn="l" defTabSz="457200" rtl="0" eaLnBrk="1" latinLnBrk="0" hangingPunct="1">
              <a:defRPr sz="2400" kern="1200">
                <a:solidFill>
                  <a:schemeClr val="tx1"/>
                </a:solidFill>
                <a:latin typeface="Times New Roman" pitchFamily="-1" charset="0"/>
                <a:ea typeface="+mn-ea"/>
                <a:cs typeface="+mn-cs"/>
              </a:defRPr>
            </a:lvl8pPr>
            <a:lvl9pPr marL="3657600" algn="l" defTabSz="457200" rtl="0" eaLnBrk="1" latinLnBrk="0" hangingPunct="1">
              <a:defRPr sz="2400" kern="1200">
                <a:solidFill>
                  <a:schemeClr val="tx1"/>
                </a:solidFill>
                <a:latin typeface="Times New Roman" pitchFamily="-1" charset="0"/>
                <a:ea typeface="+mn-ea"/>
                <a:cs typeface="+mn-cs"/>
              </a:defRPr>
            </a:lvl9pPr>
          </a:lstStyle>
          <a:p>
            <a:r>
              <a:rPr lang="en-US" sz="1800" smtClean="0">
                <a:latin typeface="+mn-lt"/>
              </a:rPr>
              <a:t>Memory</a:t>
            </a:r>
            <a:endParaRPr lang="en-US" sz="1800" dirty="0">
              <a:latin typeface="+mn-lt"/>
            </a:endParaRPr>
          </a:p>
        </p:txBody>
      </p:sp>
    </p:spTree>
    <p:extLst>
      <p:ext uri="{BB962C8B-B14F-4D97-AF65-F5344CB8AC3E}">
        <p14:creationId xmlns:p14="http://schemas.microsoft.com/office/powerpoint/2010/main" val="16202196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smtClean="0"/>
              <a:t>© 2016 Pearson Education, Inc., Hoboken, NJ. All rights reserved.</a:t>
            </a:r>
            <a:endParaRPr lang="en-US" dirty="0"/>
          </a:p>
        </p:txBody>
      </p:sp>
      <p:sp>
        <p:nvSpPr>
          <p:cNvPr id="2" name="Title 1"/>
          <p:cNvSpPr>
            <a:spLocks noGrp="1"/>
          </p:cNvSpPr>
          <p:nvPr>
            <p:ph type="title" idx="4294967295"/>
          </p:nvPr>
        </p:nvSpPr>
        <p:spPr>
          <a:xfrm>
            <a:off x="467544" y="188640"/>
            <a:ext cx="7556500" cy="1116012"/>
          </a:xfrm>
        </p:spPr>
        <p:txBody>
          <a:bodyPr/>
          <a:lstStyle/>
          <a:p>
            <a:r>
              <a:rPr lang="en-US" dirty="0" smtClean="0">
                <a:effectLst>
                  <a:outerShdw blurRad="38100" dist="38100" dir="2700000" algn="tl">
                    <a:srgbClr val="000000">
                      <a:alpha val="43137"/>
                    </a:srgbClr>
                  </a:outerShdw>
                </a:effectLst>
              </a:rPr>
              <a:t>Addressing Modes</a:t>
            </a:r>
            <a:endParaRPr lang="en-US" dirty="0">
              <a:effectLst>
                <a:outerShdw blurRad="38100" dist="38100" dir="2700000" algn="tl">
                  <a:srgbClr val="000000">
                    <a:alpha val="43137"/>
                  </a:srgbClr>
                </a:outerShdw>
              </a:effectLst>
            </a:endParaRPr>
          </a:p>
        </p:txBody>
      </p:sp>
      <p:graphicFrame>
        <p:nvGraphicFramePr>
          <p:cNvPr id="5" name="Content Placeholder 4"/>
          <p:cNvGraphicFramePr>
            <a:graphicFrameLocks noGrp="1"/>
          </p:cNvGraphicFramePr>
          <p:nvPr>
            <p:ph idx="4294967295"/>
            <p:extLst>
              <p:ext uri="{D42A27DB-BD31-4B8C-83A1-F6EECF244321}">
                <p14:modId xmlns:p14="http://schemas.microsoft.com/office/powerpoint/2010/main" val="57391826"/>
              </p:ext>
            </p:extLst>
          </p:nvPr>
        </p:nvGraphicFramePr>
        <p:xfrm>
          <a:off x="467544" y="980728"/>
          <a:ext cx="6588224" cy="54006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1.pdf"/>
          <p:cNvPicPr>
            <a:picLocks noChangeAspect="1"/>
          </p:cNvPicPr>
          <p:nvPr/>
        </p:nvPicPr>
        <p:blipFill rotWithShape="1">
          <a:blip r:embed="rId3">
            <a:extLst>
              <a:ext uri="{28A0092B-C50C-407E-A947-70E740481C1C}">
                <a14:useLocalDpi xmlns:a14="http://schemas.microsoft.com/office/drawing/2010/main" val="0"/>
              </a:ext>
            </a:extLst>
          </a:blip>
          <a:srcRect l="7569" t="8154" r="6239" b="23041"/>
          <a:stretch/>
        </p:blipFill>
        <p:spPr>
          <a:xfrm>
            <a:off x="1403648" y="-99392"/>
            <a:ext cx="6624736" cy="6843708"/>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pic>
        <p:nvPicPr>
          <p:cNvPr id="3" name="Picture 2"/>
          <p:cNvPicPr>
            <a:picLocks noChangeAspect="1"/>
          </p:cNvPicPr>
          <p:nvPr/>
        </p:nvPicPr>
        <p:blipFill>
          <a:blip r:embed="rId3"/>
          <a:stretch>
            <a:fillRect/>
          </a:stretch>
        </p:blipFill>
        <p:spPr>
          <a:xfrm>
            <a:off x="6434" y="2420888"/>
            <a:ext cx="9137566" cy="3312368"/>
          </a:xfrm>
          <a:prstGeom prst="rect">
            <a:avLst/>
          </a:prstGeom>
        </p:spPr>
      </p:pic>
      <p:sp>
        <p:nvSpPr>
          <p:cNvPr id="4" name="TextBox 3"/>
          <p:cNvSpPr txBox="1"/>
          <p:nvPr/>
        </p:nvSpPr>
        <p:spPr>
          <a:xfrm>
            <a:off x="0" y="815562"/>
            <a:ext cx="9144000" cy="1200329"/>
          </a:xfrm>
          <a:prstGeom prst="rect">
            <a:avLst/>
          </a:prstGeom>
          <a:noFill/>
        </p:spPr>
        <p:txBody>
          <a:bodyPr wrap="square" rtlCol="0">
            <a:spAutoFit/>
          </a:bodyPr>
          <a:lstStyle/>
          <a:p>
            <a:pPr algn="ctr"/>
            <a:r>
              <a:rPr lang="en-US" sz="3600" dirty="0">
                <a:latin typeface="+mn-lt"/>
              </a:rPr>
              <a:t>Table 13.1  </a:t>
            </a:r>
            <a:endParaRPr lang="en-US" sz="3600" dirty="0" smtClean="0">
              <a:latin typeface="+mn-lt"/>
            </a:endParaRPr>
          </a:p>
          <a:p>
            <a:pPr algn="ctr"/>
            <a:r>
              <a:rPr lang="en-US" sz="3600" dirty="0" smtClean="0">
                <a:latin typeface="+mn-lt"/>
              </a:rPr>
              <a:t>Basic </a:t>
            </a:r>
            <a:r>
              <a:rPr lang="en-US" sz="3600" dirty="0">
                <a:latin typeface="+mn-lt"/>
              </a:rPr>
              <a:t>Addressing Modes </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8195"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8198" name="Rectangle 6"/>
          <p:cNvSpPr>
            <a:spLocks noGrp="1" noChangeArrowheads="1"/>
          </p:cNvSpPr>
          <p:nvPr>
            <p:ph type="title"/>
          </p:nvPr>
        </p:nvSpPr>
        <p:spPr>
          <a:xfrm>
            <a:off x="683568" y="404664"/>
            <a:ext cx="7556313" cy="1116106"/>
          </a:xfrm>
        </p:spPr>
        <p:txBody>
          <a:bodyPr/>
          <a:lstStyle/>
          <a:p>
            <a:r>
              <a:rPr lang="en-US" dirty="0">
                <a:effectLst>
                  <a:outerShdw blurRad="38100" dist="38100" dir="2700000" algn="tl">
                    <a:srgbClr val="000000">
                      <a:alpha val="43137"/>
                    </a:srgbClr>
                  </a:outerShdw>
                </a:effectLst>
              </a:rPr>
              <a:t>Immediate </a:t>
            </a:r>
            <a:r>
              <a:rPr lang="en-US" dirty="0" smtClean="0">
                <a:effectLst>
                  <a:outerShdw blurRad="38100" dist="38100" dir="2700000" algn="tl">
                    <a:srgbClr val="000000">
                      <a:alpha val="43137"/>
                    </a:srgbClr>
                  </a:outerShdw>
                </a:effectLst>
              </a:rPr>
              <a:t>Addressing {#}</a:t>
            </a:r>
            <a:endParaRPr lang="en-US" dirty="0">
              <a:effectLst>
                <a:outerShdw blurRad="38100" dist="38100" dir="2700000" algn="tl">
                  <a:srgbClr val="000000">
                    <a:alpha val="43137"/>
                  </a:srgbClr>
                </a:outerShdw>
              </a:effectLst>
            </a:endParaRPr>
          </a:p>
        </p:txBody>
      </p:sp>
      <p:sp>
        <p:nvSpPr>
          <p:cNvPr id="8199" name="Rectangle 7"/>
          <p:cNvSpPr>
            <a:spLocks noGrp="1" noChangeArrowheads="1"/>
          </p:cNvSpPr>
          <p:nvPr>
            <p:ph idx="1"/>
          </p:nvPr>
        </p:nvSpPr>
        <p:spPr>
          <a:xfrm>
            <a:off x="539552" y="1556792"/>
            <a:ext cx="7556313" cy="4680520"/>
          </a:xfrm>
        </p:spPr>
        <p:txBody>
          <a:bodyPr>
            <a:normAutofit fontScale="92500" lnSpcReduction="10000"/>
          </a:bodyPr>
          <a:lstStyle/>
          <a:p>
            <a:r>
              <a:rPr lang="en-US" dirty="0" smtClean="0"/>
              <a:t>Simplest form of addressing</a:t>
            </a:r>
          </a:p>
          <a:p>
            <a:r>
              <a:rPr lang="en-US" dirty="0" smtClean="0"/>
              <a:t>Operand = A</a:t>
            </a:r>
          </a:p>
          <a:p>
            <a:r>
              <a:rPr lang="en-US" dirty="0" smtClean="0"/>
              <a:t>This mode can be used to define and use constants or set initial values of variables</a:t>
            </a:r>
          </a:p>
          <a:p>
            <a:pPr lvl="1"/>
            <a:r>
              <a:rPr lang="en-US" dirty="0" smtClean="0"/>
              <a:t>Typically the number will be stored in twos complement form</a:t>
            </a:r>
          </a:p>
          <a:p>
            <a:pPr lvl="1"/>
            <a:r>
              <a:rPr lang="en-US" dirty="0" smtClean="0"/>
              <a:t>The leftmost bit of the operand field is used as a sign bit</a:t>
            </a:r>
          </a:p>
          <a:p>
            <a:r>
              <a:rPr lang="en-US" dirty="0" smtClean="0"/>
              <a:t>Advantage:</a:t>
            </a:r>
          </a:p>
          <a:p>
            <a:pPr lvl="1"/>
            <a:r>
              <a:rPr lang="en-US" dirty="0"/>
              <a:t>N</a:t>
            </a:r>
            <a:r>
              <a:rPr lang="en-US" dirty="0" smtClean="0"/>
              <a:t>o memory reference other than the instruction fetch is required to obtain the operand, thus saving one memory or cache cycle in the instruction cycle</a:t>
            </a:r>
          </a:p>
          <a:p>
            <a:pPr marL="228600" lvl="1">
              <a:spcBef>
                <a:spcPts val="2000"/>
              </a:spcBef>
              <a:buClr>
                <a:schemeClr val="accent1"/>
              </a:buClr>
            </a:pPr>
            <a:r>
              <a:rPr lang="en-US" sz="2000" dirty="0" smtClean="0"/>
              <a:t>Disadvantage:</a:t>
            </a:r>
          </a:p>
          <a:p>
            <a:pPr lvl="1"/>
            <a:r>
              <a:rPr lang="en-US" sz="1765" dirty="0" smtClean="0"/>
              <a:t>The size of the number is restricted to the size of the address field, which, in most instruction sets, is small compared with the word length</a:t>
            </a:r>
          </a:p>
        </p:txBody>
      </p:sp>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2371239668"/>
              </p:ext>
            </p:extLst>
          </p:nvPr>
        </p:nvGraphicFramePr>
        <p:xfrm>
          <a:off x="4116523" y="1556792"/>
          <a:ext cx="4416153" cy="370840"/>
        </p:xfrm>
        <a:graphic>
          <a:graphicData uri="http://schemas.openxmlformats.org/drawingml/2006/table">
            <a:tbl>
              <a:tblPr firstRow="1" bandRow="1">
                <a:tableStyleId>{5C22544A-7EE6-4342-B048-85BDC9FD1C3A}</a:tableStyleId>
              </a:tblPr>
              <a:tblGrid>
                <a:gridCol w="1472051">
                  <a:extLst>
                    <a:ext uri="{9D8B030D-6E8A-4147-A177-3AD203B41FA5}">
                      <a16:colId xmlns:a16="http://schemas.microsoft.com/office/drawing/2014/main" val="2315502270"/>
                    </a:ext>
                  </a:extLst>
                </a:gridCol>
                <a:gridCol w="1472051">
                  <a:extLst>
                    <a:ext uri="{9D8B030D-6E8A-4147-A177-3AD203B41FA5}">
                      <a16:colId xmlns:a16="http://schemas.microsoft.com/office/drawing/2014/main" val="595479758"/>
                    </a:ext>
                  </a:extLst>
                </a:gridCol>
                <a:gridCol w="1472051">
                  <a:extLst>
                    <a:ext uri="{9D8B030D-6E8A-4147-A177-3AD203B41FA5}">
                      <a16:colId xmlns:a16="http://schemas.microsoft.com/office/drawing/2014/main" val="3003153622"/>
                    </a:ext>
                  </a:extLst>
                </a:gridCol>
              </a:tblGrid>
              <a:tr h="370840">
                <a:tc>
                  <a:txBody>
                    <a:bodyPr/>
                    <a:lstStyle/>
                    <a:p>
                      <a:pPr algn="ctr"/>
                      <a:r>
                        <a:rPr lang="en-US" dirty="0" smtClean="0"/>
                        <a:t>MOV</a:t>
                      </a:r>
                      <a:endParaRPr lang="en-US" dirty="0"/>
                    </a:p>
                  </a:txBody>
                  <a:tcPr/>
                </a:tc>
                <a:tc>
                  <a:txBody>
                    <a:bodyPr/>
                    <a:lstStyle/>
                    <a:p>
                      <a:pPr algn="ctr"/>
                      <a:r>
                        <a:rPr lang="en-US" dirty="0" smtClean="0"/>
                        <a:t>R1</a:t>
                      </a:r>
                      <a:endParaRPr lang="en-US" dirty="0"/>
                    </a:p>
                  </a:txBody>
                  <a:tcPr/>
                </a:tc>
                <a:tc>
                  <a:txBody>
                    <a:bodyPr/>
                    <a:lstStyle/>
                    <a:p>
                      <a:pPr algn="ctr"/>
                      <a:r>
                        <a:rPr lang="en-US" dirty="0" smtClean="0"/>
                        <a:t>#80H</a:t>
                      </a:r>
                      <a:endParaRPr lang="en-US" dirty="0"/>
                    </a:p>
                  </a:txBody>
                  <a:tcPr/>
                </a:tc>
                <a:extLst>
                  <a:ext uri="{0D108BD9-81ED-4DB2-BD59-A6C34878D82A}">
                    <a16:rowId xmlns:a16="http://schemas.microsoft.com/office/drawing/2014/main" val="715141133"/>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1982183403"/>
              </p:ext>
            </p:extLst>
          </p:nvPr>
        </p:nvGraphicFramePr>
        <p:xfrm>
          <a:off x="4116523" y="2100262"/>
          <a:ext cx="4416153" cy="370840"/>
        </p:xfrm>
        <a:graphic>
          <a:graphicData uri="http://schemas.openxmlformats.org/drawingml/2006/table">
            <a:tbl>
              <a:tblPr firstRow="1" bandRow="1">
                <a:tableStyleId>{5C22544A-7EE6-4342-B048-85BDC9FD1C3A}</a:tableStyleId>
              </a:tblPr>
              <a:tblGrid>
                <a:gridCol w="1472051">
                  <a:extLst>
                    <a:ext uri="{9D8B030D-6E8A-4147-A177-3AD203B41FA5}">
                      <a16:colId xmlns:a16="http://schemas.microsoft.com/office/drawing/2014/main" val="2315502270"/>
                    </a:ext>
                  </a:extLst>
                </a:gridCol>
                <a:gridCol w="1472051">
                  <a:extLst>
                    <a:ext uri="{9D8B030D-6E8A-4147-A177-3AD203B41FA5}">
                      <a16:colId xmlns:a16="http://schemas.microsoft.com/office/drawing/2014/main" val="595479758"/>
                    </a:ext>
                  </a:extLst>
                </a:gridCol>
                <a:gridCol w="1472051">
                  <a:extLst>
                    <a:ext uri="{9D8B030D-6E8A-4147-A177-3AD203B41FA5}">
                      <a16:colId xmlns:a16="http://schemas.microsoft.com/office/drawing/2014/main" val="3003153622"/>
                    </a:ext>
                  </a:extLst>
                </a:gridCol>
              </a:tblGrid>
              <a:tr h="370840">
                <a:tc>
                  <a:txBody>
                    <a:bodyPr/>
                    <a:lstStyle/>
                    <a:p>
                      <a:pPr algn="ctr"/>
                      <a:r>
                        <a:rPr lang="en-US" dirty="0" smtClean="0"/>
                        <a:t>ADD</a:t>
                      </a:r>
                      <a:endParaRPr lang="en-US" dirty="0"/>
                    </a:p>
                  </a:txBody>
                  <a:tcPr/>
                </a:tc>
                <a:tc>
                  <a:txBody>
                    <a:bodyPr/>
                    <a:lstStyle/>
                    <a:p>
                      <a:pPr algn="ctr"/>
                      <a:r>
                        <a:rPr lang="en-US" dirty="0" smtClean="0"/>
                        <a:t>R6</a:t>
                      </a:r>
                      <a:endParaRPr lang="en-US" dirty="0"/>
                    </a:p>
                  </a:txBody>
                  <a:tcPr/>
                </a:tc>
                <a:tc>
                  <a:txBody>
                    <a:bodyPr/>
                    <a:lstStyle/>
                    <a:p>
                      <a:pPr algn="ctr"/>
                      <a:r>
                        <a:rPr lang="en-US" dirty="0" smtClean="0"/>
                        <a:t>#70H</a:t>
                      </a:r>
                      <a:endParaRPr lang="en-US" dirty="0"/>
                    </a:p>
                  </a:txBody>
                  <a:tcPr/>
                </a:tc>
                <a:extLst>
                  <a:ext uri="{0D108BD9-81ED-4DB2-BD59-A6C34878D82A}">
                    <a16:rowId xmlns:a16="http://schemas.microsoft.com/office/drawing/2014/main" val="715141133"/>
                  </a:ext>
                </a:extLst>
              </a:tr>
            </a:tbl>
          </a:graphicData>
        </a:graphic>
      </p:graphicFrame>
    </p:spTree>
  </p:cSld>
  <p:clrMapOvr>
    <a:masterClrMapping/>
  </p:clrMapOvr>
  <p:transition spd="slow"/>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2291"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2294" name="Rectangle 6"/>
          <p:cNvSpPr>
            <a:spLocks noGrp="1" noChangeArrowheads="1"/>
          </p:cNvSpPr>
          <p:nvPr>
            <p:ph type="title" idx="4294967295"/>
          </p:nvPr>
        </p:nvSpPr>
        <p:spPr>
          <a:xfrm>
            <a:off x="457200" y="228600"/>
            <a:ext cx="7556500" cy="1116013"/>
          </a:xfrm>
        </p:spPr>
        <p:txBody>
          <a:bodyPr/>
          <a:lstStyle/>
          <a:p>
            <a:r>
              <a:rPr lang="en-US" dirty="0">
                <a:effectLst>
                  <a:outerShdw blurRad="38100" dist="38100" dir="2700000" algn="tl">
                    <a:srgbClr val="000000">
                      <a:alpha val="43137"/>
                    </a:srgbClr>
                  </a:outerShdw>
                </a:effectLst>
              </a:rPr>
              <a:t>Direct </a:t>
            </a:r>
            <a:r>
              <a:rPr lang="en-US" dirty="0" smtClean="0">
                <a:effectLst>
                  <a:outerShdw blurRad="38100" dist="38100" dir="2700000" algn="tl">
                    <a:srgbClr val="000000">
                      <a:alpha val="43137"/>
                    </a:srgbClr>
                  </a:outerShdw>
                </a:effectLst>
              </a:rPr>
              <a:t>Addressing [  ]</a:t>
            </a:r>
            <a:endParaRPr lang="en-US" dirty="0">
              <a:effectLst>
                <a:outerShdw blurRad="38100" dist="38100" dir="2700000" algn="tl">
                  <a:srgbClr val="000000">
                    <a:alpha val="43137"/>
                  </a:srgbClr>
                </a:outerShdw>
              </a:effectLst>
            </a:endParaRPr>
          </a:p>
        </p:txBody>
      </p:sp>
      <p:graphicFrame>
        <p:nvGraphicFramePr>
          <p:cNvPr id="7" name="Content Placeholder 6"/>
          <p:cNvGraphicFramePr>
            <a:graphicFrameLocks noGrp="1"/>
          </p:cNvGraphicFramePr>
          <p:nvPr>
            <p:ph idx="4294967295"/>
            <p:extLst>
              <p:ext uri="{D42A27DB-BD31-4B8C-83A1-F6EECF244321}">
                <p14:modId xmlns:p14="http://schemas.microsoft.com/office/powerpoint/2010/main" val="3382432027"/>
              </p:ext>
            </p:extLst>
          </p:nvPr>
        </p:nvGraphicFramePr>
        <p:xfrm>
          <a:off x="304800" y="1066800"/>
          <a:ext cx="8610600" cy="5181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pic>
        <p:nvPicPr>
          <p:cNvPr id="3" name="Picture 2"/>
          <p:cNvPicPr>
            <a:picLocks noChangeAspect="1"/>
          </p:cNvPicPr>
          <p:nvPr/>
        </p:nvPicPr>
        <p:blipFill>
          <a:blip r:embed="rId8">
            <a:duotone>
              <a:schemeClr val="accent2">
                <a:shade val="45000"/>
                <a:satMod val="135000"/>
              </a:schemeClr>
              <a:prstClr val="white"/>
            </a:duotone>
          </a:blip>
          <a:stretch>
            <a:fillRect/>
          </a:stretch>
        </p:blipFill>
        <p:spPr>
          <a:xfrm>
            <a:off x="1043608" y="4077071"/>
            <a:ext cx="1728192" cy="1990877"/>
          </a:xfrm>
          <a:prstGeom prst="rect">
            <a:avLst/>
          </a:prstGeom>
          <a:scene3d>
            <a:camera prst="orthographicFront">
              <a:rot lat="0" lon="10799978" rev="0"/>
            </a:camera>
            <a:lightRig rig="threePt" dir="t"/>
          </a:scene3d>
        </p:spPr>
      </p:pic>
      <p:pic>
        <p:nvPicPr>
          <p:cNvPr id="4" name="Picture 3"/>
          <p:cNvPicPr>
            <a:picLocks noChangeAspect="1"/>
          </p:cNvPicPr>
          <p:nvPr/>
        </p:nvPicPr>
        <p:blipFill>
          <a:blip r:embed="rId8">
            <a:duotone>
              <a:schemeClr val="accent2">
                <a:shade val="45000"/>
                <a:satMod val="135000"/>
              </a:schemeClr>
              <a:prstClr val="white"/>
            </a:duotone>
          </a:blip>
          <a:stretch>
            <a:fillRect/>
          </a:stretch>
        </p:blipFill>
        <p:spPr>
          <a:xfrm>
            <a:off x="3552037" y="4507193"/>
            <a:ext cx="1587500" cy="1828800"/>
          </a:xfrm>
          <a:prstGeom prst="rect">
            <a:avLst/>
          </a:prstGeom>
        </p:spPr>
      </p:pic>
      <p:graphicFrame>
        <p:nvGraphicFramePr>
          <p:cNvPr id="9" name="Table 8"/>
          <p:cNvGraphicFramePr>
            <a:graphicFrameLocks noGrp="1"/>
          </p:cNvGraphicFramePr>
          <p:nvPr>
            <p:extLst>
              <p:ext uri="{D42A27DB-BD31-4B8C-83A1-F6EECF244321}">
                <p14:modId xmlns:p14="http://schemas.microsoft.com/office/powerpoint/2010/main" val="1866213553"/>
              </p:ext>
            </p:extLst>
          </p:nvPr>
        </p:nvGraphicFramePr>
        <p:xfrm>
          <a:off x="4345787" y="1262543"/>
          <a:ext cx="4416153" cy="370840"/>
        </p:xfrm>
        <a:graphic>
          <a:graphicData uri="http://schemas.openxmlformats.org/drawingml/2006/table">
            <a:tbl>
              <a:tblPr firstRow="1" bandRow="1">
                <a:tableStyleId>{5C22544A-7EE6-4342-B048-85BDC9FD1C3A}</a:tableStyleId>
              </a:tblPr>
              <a:tblGrid>
                <a:gridCol w="1472051">
                  <a:extLst>
                    <a:ext uri="{9D8B030D-6E8A-4147-A177-3AD203B41FA5}">
                      <a16:colId xmlns:a16="http://schemas.microsoft.com/office/drawing/2014/main" val="2315502270"/>
                    </a:ext>
                  </a:extLst>
                </a:gridCol>
                <a:gridCol w="1472051">
                  <a:extLst>
                    <a:ext uri="{9D8B030D-6E8A-4147-A177-3AD203B41FA5}">
                      <a16:colId xmlns:a16="http://schemas.microsoft.com/office/drawing/2014/main" val="595479758"/>
                    </a:ext>
                  </a:extLst>
                </a:gridCol>
                <a:gridCol w="1472051">
                  <a:extLst>
                    <a:ext uri="{9D8B030D-6E8A-4147-A177-3AD203B41FA5}">
                      <a16:colId xmlns:a16="http://schemas.microsoft.com/office/drawing/2014/main" val="3003153622"/>
                    </a:ext>
                  </a:extLst>
                </a:gridCol>
              </a:tblGrid>
              <a:tr h="370840">
                <a:tc>
                  <a:txBody>
                    <a:bodyPr/>
                    <a:lstStyle/>
                    <a:p>
                      <a:pPr algn="ctr"/>
                      <a:r>
                        <a:rPr lang="en-US" dirty="0" smtClean="0"/>
                        <a:t>MOV</a:t>
                      </a:r>
                      <a:endParaRPr lang="en-US" dirty="0"/>
                    </a:p>
                  </a:txBody>
                  <a:tcPr/>
                </a:tc>
                <a:tc>
                  <a:txBody>
                    <a:bodyPr/>
                    <a:lstStyle/>
                    <a:p>
                      <a:pPr algn="ctr"/>
                      <a:r>
                        <a:rPr lang="en-US" dirty="0" smtClean="0"/>
                        <a:t>R1</a:t>
                      </a:r>
                      <a:endParaRPr lang="en-US" dirty="0"/>
                    </a:p>
                  </a:txBody>
                  <a:tcPr/>
                </a:tc>
                <a:tc>
                  <a:txBody>
                    <a:bodyPr/>
                    <a:lstStyle/>
                    <a:p>
                      <a:pPr algn="ctr"/>
                      <a:r>
                        <a:rPr lang="en-US" dirty="0" smtClean="0"/>
                        <a:t>[1000H]</a:t>
                      </a:r>
                      <a:endParaRPr lang="en-US" dirty="0"/>
                    </a:p>
                  </a:txBody>
                  <a:tcPr/>
                </a:tc>
                <a:extLst>
                  <a:ext uri="{0D108BD9-81ED-4DB2-BD59-A6C34878D82A}">
                    <a16:rowId xmlns:a16="http://schemas.microsoft.com/office/drawing/2014/main" val="715141133"/>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255582052"/>
              </p:ext>
            </p:extLst>
          </p:nvPr>
        </p:nvGraphicFramePr>
        <p:xfrm>
          <a:off x="4345787" y="1720975"/>
          <a:ext cx="4416153" cy="370840"/>
        </p:xfrm>
        <a:graphic>
          <a:graphicData uri="http://schemas.openxmlformats.org/drawingml/2006/table">
            <a:tbl>
              <a:tblPr firstRow="1" bandRow="1">
                <a:tableStyleId>{5C22544A-7EE6-4342-B048-85BDC9FD1C3A}</a:tableStyleId>
              </a:tblPr>
              <a:tblGrid>
                <a:gridCol w="1472051">
                  <a:extLst>
                    <a:ext uri="{9D8B030D-6E8A-4147-A177-3AD203B41FA5}">
                      <a16:colId xmlns:a16="http://schemas.microsoft.com/office/drawing/2014/main" val="2315502270"/>
                    </a:ext>
                  </a:extLst>
                </a:gridCol>
                <a:gridCol w="1472051">
                  <a:extLst>
                    <a:ext uri="{9D8B030D-6E8A-4147-A177-3AD203B41FA5}">
                      <a16:colId xmlns:a16="http://schemas.microsoft.com/office/drawing/2014/main" val="595479758"/>
                    </a:ext>
                  </a:extLst>
                </a:gridCol>
                <a:gridCol w="1472051">
                  <a:extLst>
                    <a:ext uri="{9D8B030D-6E8A-4147-A177-3AD203B41FA5}">
                      <a16:colId xmlns:a16="http://schemas.microsoft.com/office/drawing/2014/main" val="3003153622"/>
                    </a:ext>
                  </a:extLst>
                </a:gridCol>
              </a:tblGrid>
              <a:tr h="370840">
                <a:tc>
                  <a:txBody>
                    <a:bodyPr/>
                    <a:lstStyle/>
                    <a:p>
                      <a:pPr algn="ctr"/>
                      <a:r>
                        <a:rPr lang="en-US" dirty="0" smtClean="0"/>
                        <a:t>SUB</a:t>
                      </a:r>
                      <a:endParaRPr lang="en-US" dirty="0"/>
                    </a:p>
                  </a:txBody>
                  <a:tcPr/>
                </a:tc>
                <a:tc>
                  <a:txBody>
                    <a:bodyPr/>
                    <a:lstStyle/>
                    <a:p>
                      <a:pPr algn="ctr"/>
                      <a:r>
                        <a:rPr lang="en-US" dirty="0" smtClean="0"/>
                        <a:t>R5</a:t>
                      </a:r>
                      <a:endParaRPr lang="en-US" dirty="0"/>
                    </a:p>
                  </a:txBody>
                  <a:tcPr/>
                </a:tc>
                <a:tc>
                  <a:txBody>
                    <a:bodyPr/>
                    <a:lstStyle/>
                    <a:p>
                      <a:pPr algn="ctr"/>
                      <a:r>
                        <a:rPr lang="en-US" dirty="0" smtClean="0"/>
                        <a:t>[4000H]</a:t>
                      </a:r>
                      <a:endParaRPr lang="en-US" dirty="0"/>
                    </a:p>
                  </a:txBody>
                  <a:tcPr/>
                </a:tc>
                <a:extLst>
                  <a:ext uri="{0D108BD9-81ED-4DB2-BD59-A6C34878D82A}">
                    <a16:rowId xmlns:a16="http://schemas.microsoft.com/office/drawing/2014/main" val="715141133"/>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924624091"/>
              </p:ext>
            </p:extLst>
          </p:nvPr>
        </p:nvGraphicFramePr>
        <p:xfrm>
          <a:off x="6324600" y="2373755"/>
          <a:ext cx="2601930" cy="1112520"/>
        </p:xfrm>
        <a:graphic>
          <a:graphicData uri="http://schemas.openxmlformats.org/drawingml/2006/table">
            <a:tbl>
              <a:tblPr firstRow="1" bandRow="1">
                <a:tableStyleId>{5C22544A-7EE6-4342-B048-85BDC9FD1C3A}</a:tableStyleId>
              </a:tblPr>
              <a:tblGrid>
                <a:gridCol w="1300965">
                  <a:extLst>
                    <a:ext uri="{9D8B030D-6E8A-4147-A177-3AD203B41FA5}">
                      <a16:colId xmlns:a16="http://schemas.microsoft.com/office/drawing/2014/main" val="3653588570"/>
                    </a:ext>
                  </a:extLst>
                </a:gridCol>
                <a:gridCol w="1300965">
                  <a:extLst>
                    <a:ext uri="{9D8B030D-6E8A-4147-A177-3AD203B41FA5}">
                      <a16:colId xmlns:a16="http://schemas.microsoft.com/office/drawing/2014/main" val="1495838620"/>
                    </a:ext>
                  </a:extLst>
                </a:gridCol>
              </a:tblGrid>
              <a:tr h="370840">
                <a:tc>
                  <a:txBody>
                    <a:bodyPr/>
                    <a:lstStyle/>
                    <a:p>
                      <a:pPr algn="ctr"/>
                      <a:r>
                        <a:rPr lang="en-US" dirty="0" smtClean="0"/>
                        <a:t>ADDRESS</a:t>
                      </a:r>
                      <a:endParaRPr lang="en-US" dirty="0"/>
                    </a:p>
                  </a:txBody>
                  <a:tcPr/>
                </a:tc>
                <a:tc>
                  <a:txBody>
                    <a:bodyPr/>
                    <a:lstStyle/>
                    <a:p>
                      <a:pPr algn="ctr"/>
                      <a:r>
                        <a:rPr lang="en-US" dirty="0" smtClean="0"/>
                        <a:t>DATA</a:t>
                      </a:r>
                      <a:endParaRPr lang="en-US" dirty="0"/>
                    </a:p>
                  </a:txBody>
                  <a:tcPr/>
                </a:tc>
                <a:extLst>
                  <a:ext uri="{0D108BD9-81ED-4DB2-BD59-A6C34878D82A}">
                    <a16:rowId xmlns:a16="http://schemas.microsoft.com/office/drawing/2014/main" val="1399440225"/>
                  </a:ext>
                </a:extLst>
              </a:tr>
              <a:tr h="370840">
                <a:tc>
                  <a:txBody>
                    <a:bodyPr/>
                    <a:lstStyle/>
                    <a:p>
                      <a:pPr algn="ctr"/>
                      <a:r>
                        <a:rPr lang="en-US" dirty="0" smtClean="0"/>
                        <a:t>2000H</a:t>
                      </a:r>
                      <a:endParaRPr lang="en-US" dirty="0"/>
                    </a:p>
                  </a:txBody>
                  <a:tcPr/>
                </a:tc>
                <a:tc>
                  <a:txBody>
                    <a:bodyPr/>
                    <a:lstStyle/>
                    <a:p>
                      <a:pPr algn="ctr"/>
                      <a:endParaRPr lang="en-US" dirty="0"/>
                    </a:p>
                  </a:txBody>
                  <a:tcPr/>
                </a:tc>
                <a:extLst>
                  <a:ext uri="{0D108BD9-81ED-4DB2-BD59-A6C34878D82A}">
                    <a16:rowId xmlns:a16="http://schemas.microsoft.com/office/drawing/2014/main" val="1632234547"/>
                  </a:ext>
                </a:extLst>
              </a:tr>
              <a:tr h="370840">
                <a:tc>
                  <a:txBody>
                    <a:bodyPr/>
                    <a:lstStyle/>
                    <a:p>
                      <a:pPr algn="ctr"/>
                      <a:r>
                        <a:rPr lang="en-US" dirty="0" smtClean="0"/>
                        <a:t>4000H</a:t>
                      </a:r>
                      <a:endParaRPr lang="en-US" dirty="0"/>
                    </a:p>
                  </a:txBody>
                  <a:tcPr/>
                </a:tc>
                <a:tc>
                  <a:txBody>
                    <a:bodyPr/>
                    <a:lstStyle/>
                    <a:p>
                      <a:pPr algn="ctr"/>
                      <a:r>
                        <a:rPr lang="en-US" dirty="0" smtClean="0"/>
                        <a:t>20H</a:t>
                      </a:r>
                      <a:endParaRPr lang="en-US" dirty="0"/>
                    </a:p>
                  </a:txBody>
                  <a:tcPr/>
                </a:tc>
                <a:extLst>
                  <a:ext uri="{0D108BD9-81ED-4DB2-BD59-A6C34878D82A}">
                    <a16:rowId xmlns:a16="http://schemas.microsoft.com/office/drawing/2014/main" val="1645416554"/>
                  </a:ext>
                </a:extLst>
              </a:tr>
            </a:tbl>
          </a:graphicData>
        </a:graphic>
      </p:graphicFrame>
      <p:sp>
        <p:nvSpPr>
          <p:cNvPr id="8" name="Curved Right Arrow 7"/>
          <p:cNvSpPr/>
          <p:nvPr/>
        </p:nvSpPr>
        <p:spPr>
          <a:xfrm>
            <a:off x="5580112" y="2204864"/>
            <a:ext cx="648072" cy="1224136"/>
          </a:xfrm>
          <a:prstGeom prst="curved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Tree>
  </p:cSld>
  <p:clrMapOvr>
    <a:masterClrMapping/>
  </p:clrMapOvr>
  <p:transition spd="slow"/>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6387"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6388" name="Rectangle 4"/>
          <p:cNvSpPr>
            <a:spLocks noGrp="1" noChangeArrowheads="1"/>
          </p:cNvSpPr>
          <p:nvPr>
            <p:ph type="title"/>
          </p:nvPr>
        </p:nvSpPr>
        <p:spPr>
          <a:noFill/>
          <a:ln/>
        </p:spPr>
        <p:txBody>
          <a:bodyPr lIns="90488" tIns="44450" rIns="90488" bIns="44450"/>
          <a:lstStyle/>
          <a:p>
            <a:r>
              <a:rPr lang="en-US" dirty="0">
                <a:effectLst>
                  <a:outerShdw blurRad="38100" dist="38100" dir="2700000" algn="tl">
                    <a:srgbClr val="000000">
                      <a:alpha val="43137"/>
                    </a:srgbClr>
                  </a:outerShdw>
                </a:effectLst>
              </a:rPr>
              <a:t>Indirect </a:t>
            </a:r>
            <a:r>
              <a:rPr lang="en-US" dirty="0" smtClean="0">
                <a:effectLst>
                  <a:outerShdw blurRad="38100" dist="38100" dir="2700000" algn="tl">
                    <a:srgbClr val="000000">
                      <a:alpha val="43137"/>
                    </a:srgbClr>
                  </a:outerShdw>
                </a:effectLst>
              </a:rPr>
              <a:t>Addressing @, (), []</a:t>
            </a:r>
            <a:endParaRPr lang="en-US" dirty="0">
              <a:effectLst>
                <a:outerShdw blurRad="38100" dist="38100" dir="2700000" algn="tl">
                  <a:srgbClr val="000000">
                    <a:alpha val="43137"/>
                  </a:srgbClr>
                </a:outerShdw>
              </a:effectLst>
            </a:endParaRPr>
          </a:p>
        </p:txBody>
      </p:sp>
      <p:sp>
        <p:nvSpPr>
          <p:cNvPr id="16389" name="Rectangle 5"/>
          <p:cNvSpPr>
            <a:spLocks noGrp="1" noChangeArrowheads="1"/>
          </p:cNvSpPr>
          <p:nvPr>
            <p:ph idx="1"/>
          </p:nvPr>
        </p:nvSpPr>
        <p:spPr>
          <a:xfrm>
            <a:off x="467544" y="1700808"/>
            <a:ext cx="7556313" cy="4648200"/>
          </a:xfrm>
          <a:noFill/>
          <a:ln/>
        </p:spPr>
        <p:txBody>
          <a:bodyPr lIns="90488" tIns="44450" rIns="90488" bIns="44450">
            <a:normAutofit fontScale="85000" lnSpcReduction="20000"/>
          </a:bodyPr>
          <a:lstStyle/>
          <a:p>
            <a:r>
              <a:rPr lang="en-US" dirty="0" smtClean="0"/>
              <a:t>Reference to the address of a word in memory which contains a          full-length address of the operand</a:t>
            </a:r>
          </a:p>
          <a:p>
            <a:r>
              <a:rPr lang="en-US" dirty="0" smtClean="0"/>
              <a:t>EA = (A)</a:t>
            </a:r>
          </a:p>
          <a:p>
            <a:pPr lvl="1"/>
            <a:r>
              <a:rPr lang="en-US" dirty="0" smtClean="0"/>
              <a:t>Parentheses are to be interpreted as meaning </a:t>
            </a:r>
            <a:r>
              <a:rPr lang="en-US" i="1" dirty="0" smtClean="0"/>
              <a:t>contents of</a:t>
            </a:r>
          </a:p>
          <a:p>
            <a:r>
              <a:rPr lang="en-US" dirty="0" smtClean="0"/>
              <a:t>Advantage:</a:t>
            </a:r>
          </a:p>
          <a:p>
            <a:pPr lvl="1"/>
            <a:r>
              <a:rPr lang="en-US" dirty="0" smtClean="0"/>
              <a:t>For a word length of </a:t>
            </a:r>
            <a:r>
              <a:rPr lang="en-US" i="1" dirty="0" smtClean="0"/>
              <a:t>N</a:t>
            </a:r>
            <a:r>
              <a:rPr lang="en-US" dirty="0" smtClean="0"/>
              <a:t> an address space of 2</a:t>
            </a:r>
            <a:r>
              <a:rPr lang="en-US" baseline="30000" dirty="0" smtClean="0"/>
              <a:t>N </a:t>
            </a:r>
            <a:r>
              <a:rPr lang="en-US" dirty="0" smtClean="0"/>
              <a:t>is now available</a:t>
            </a:r>
          </a:p>
          <a:p>
            <a:r>
              <a:rPr lang="en-US" dirty="0" smtClean="0"/>
              <a:t>Disadvantage:</a:t>
            </a:r>
          </a:p>
          <a:p>
            <a:pPr lvl="1"/>
            <a:r>
              <a:rPr lang="en-US" dirty="0" smtClean="0"/>
              <a:t>Instruction execution requires two memory references to fetch the operand</a:t>
            </a:r>
          </a:p>
          <a:p>
            <a:pPr lvl="2"/>
            <a:r>
              <a:rPr lang="en-US" dirty="0" smtClean="0"/>
              <a:t>One to get its address and a second to get its value</a:t>
            </a:r>
          </a:p>
          <a:p>
            <a:pPr marL="228600" lvl="2">
              <a:spcBef>
                <a:spcPts val="2000"/>
              </a:spcBef>
            </a:pPr>
            <a:r>
              <a:rPr lang="en-US" sz="2054" dirty="0" smtClean="0"/>
              <a:t>A rarely used variant of indirect addressing is multilevel or cascaded indirect addressing</a:t>
            </a:r>
          </a:p>
          <a:p>
            <a:pPr lvl="1"/>
            <a:r>
              <a:rPr lang="en-US" sz="1838" dirty="0" smtClean="0"/>
              <a:t>EA = ( . . . (A) . . . )</a:t>
            </a:r>
          </a:p>
          <a:p>
            <a:pPr lvl="1"/>
            <a:r>
              <a:rPr lang="en-US" sz="1838" dirty="0" smtClean="0"/>
              <a:t>Disadvantage is that three or more memory references could be required to fetch an operand</a:t>
            </a:r>
          </a:p>
          <a:p>
            <a:endParaRPr lang="en-US" dirty="0"/>
          </a:p>
        </p:txBody>
      </p:sp>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3468605264"/>
              </p:ext>
            </p:extLst>
          </p:nvPr>
        </p:nvGraphicFramePr>
        <p:xfrm>
          <a:off x="4245700" y="2132856"/>
          <a:ext cx="4416153" cy="370840"/>
        </p:xfrm>
        <a:graphic>
          <a:graphicData uri="http://schemas.openxmlformats.org/drawingml/2006/table">
            <a:tbl>
              <a:tblPr firstRow="1" bandRow="1">
                <a:tableStyleId>{5C22544A-7EE6-4342-B048-85BDC9FD1C3A}</a:tableStyleId>
              </a:tblPr>
              <a:tblGrid>
                <a:gridCol w="1472051">
                  <a:extLst>
                    <a:ext uri="{9D8B030D-6E8A-4147-A177-3AD203B41FA5}">
                      <a16:colId xmlns:a16="http://schemas.microsoft.com/office/drawing/2014/main" val="2315502270"/>
                    </a:ext>
                  </a:extLst>
                </a:gridCol>
                <a:gridCol w="1472051">
                  <a:extLst>
                    <a:ext uri="{9D8B030D-6E8A-4147-A177-3AD203B41FA5}">
                      <a16:colId xmlns:a16="http://schemas.microsoft.com/office/drawing/2014/main" val="595479758"/>
                    </a:ext>
                  </a:extLst>
                </a:gridCol>
                <a:gridCol w="1472051">
                  <a:extLst>
                    <a:ext uri="{9D8B030D-6E8A-4147-A177-3AD203B41FA5}">
                      <a16:colId xmlns:a16="http://schemas.microsoft.com/office/drawing/2014/main" val="3003153622"/>
                    </a:ext>
                  </a:extLst>
                </a:gridCol>
              </a:tblGrid>
              <a:tr h="370840">
                <a:tc>
                  <a:txBody>
                    <a:bodyPr/>
                    <a:lstStyle/>
                    <a:p>
                      <a:pPr algn="ctr"/>
                      <a:r>
                        <a:rPr lang="en-US" dirty="0" smtClean="0"/>
                        <a:t>LOAD</a:t>
                      </a:r>
                      <a:endParaRPr lang="en-US" dirty="0"/>
                    </a:p>
                  </a:txBody>
                  <a:tcPr/>
                </a:tc>
                <a:tc>
                  <a:txBody>
                    <a:bodyPr/>
                    <a:lstStyle/>
                    <a:p>
                      <a:pPr algn="ctr"/>
                      <a:r>
                        <a:rPr lang="en-US" dirty="0" smtClean="0"/>
                        <a:t>R1</a:t>
                      </a:r>
                      <a:endParaRPr lang="en-US" dirty="0"/>
                    </a:p>
                  </a:txBody>
                  <a:tcPr/>
                </a:tc>
                <a:tc>
                  <a:txBody>
                    <a:bodyPr/>
                    <a:lstStyle/>
                    <a:p>
                      <a:pPr algn="ctr"/>
                      <a:r>
                        <a:rPr lang="en-US" dirty="0" smtClean="0"/>
                        <a:t>@1000H</a:t>
                      </a:r>
                      <a:endParaRPr lang="en-US" dirty="0"/>
                    </a:p>
                  </a:txBody>
                  <a:tcPr/>
                </a:tc>
                <a:extLst>
                  <a:ext uri="{0D108BD9-81ED-4DB2-BD59-A6C34878D82A}">
                    <a16:rowId xmlns:a16="http://schemas.microsoft.com/office/drawing/2014/main" val="715141133"/>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3435993821"/>
              </p:ext>
            </p:extLst>
          </p:nvPr>
        </p:nvGraphicFramePr>
        <p:xfrm>
          <a:off x="6453776" y="2774307"/>
          <a:ext cx="2601930" cy="1112520"/>
        </p:xfrm>
        <a:graphic>
          <a:graphicData uri="http://schemas.openxmlformats.org/drawingml/2006/table">
            <a:tbl>
              <a:tblPr firstRow="1" bandRow="1">
                <a:tableStyleId>{5C22544A-7EE6-4342-B048-85BDC9FD1C3A}</a:tableStyleId>
              </a:tblPr>
              <a:tblGrid>
                <a:gridCol w="1300965">
                  <a:extLst>
                    <a:ext uri="{9D8B030D-6E8A-4147-A177-3AD203B41FA5}">
                      <a16:colId xmlns:a16="http://schemas.microsoft.com/office/drawing/2014/main" val="3653588570"/>
                    </a:ext>
                  </a:extLst>
                </a:gridCol>
                <a:gridCol w="1300965">
                  <a:extLst>
                    <a:ext uri="{9D8B030D-6E8A-4147-A177-3AD203B41FA5}">
                      <a16:colId xmlns:a16="http://schemas.microsoft.com/office/drawing/2014/main" val="1495838620"/>
                    </a:ext>
                  </a:extLst>
                </a:gridCol>
              </a:tblGrid>
              <a:tr h="370840">
                <a:tc>
                  <a:txBody>
                    <a:bodyPr/>
                    <a:lstStyle/>
                    <a:p>
                      <a:pPr algn="ctr"/>
                      <a:r>
                        <a:rPr lang="en-US" dirty="0" smtClean="0"/>
                        <a:t>ADDRESS</a:t>
                      </a:r>
                      <a:endParaRPr lang="en-US" dirty="0"/>
                    </a:p>
                  </a:txBody>
                  <a:tcPr/>
                </a:tc>
                <a:tc>
                  <a:txBody>
                    <a:bodyPr/>
                    <a:lstStyle/>
                    <a:p>
                      <a:pPr algn="ctr"/>
                      <a:r>
                        <a:rPr lang="en-US" dirty="0" smtClean="0"/>
                        <a:t>DATA</a:t>
                      </a:r>
                      <a:endParaRPr lang="en-US" dirty="0"/>
                    </a:p>
                  </a:txBody>
                  <a:tcPr/>
                </a:tc>
                <a:extLst>
                  <a:ext uri="{0D108BD9-81ED-4DB2-BD59-A6C34878D82A}">
                    <a16:rowId xmlns:a16="http://schemas.microsoft.com/office/drawing/2014/main" val="1399440225"/>
                  </a:ext>
                </a:extLst>
              </a:tr>
              <a:tr h="370840">
                <a:tc>
                  <a:txBody>
                    <a:bodyPr/>
                    <a:lstStyle/>
                    <a:p>
                      <a:pPr algn="ctr"/>
                      <a:r>
                        <a:rPr lang="en-US" dirty="0" smtClean="0"/>
                        <a:t>1000H</a:t>
                      </a:r>
                      <a:endParaRPr lang="en-US" dirty="0"/>
                    </a:p>
                  </a:txBody>
                  <a:tcPr/>
                </a:tc>
                <a:tc>
                  <a:txBody>
                    <a:bodyPr/>
                    <a:lstStyle/>
                    <a:p>
                      <a:pPr algn="ctr"/>
                      <a:r>
                        <a:rPr lang="en-US" dirty="0" smtClean="0"/>
                        <a:t>4000H</a:t>
                      </a:r>
                      <a:endParaRPr lang="en-US" dirty="0"/>
                    </a:p>
                  </a:txBody>
                  <a:tcPr/>
                </a:tc>
                <a:extLst>
                  <a:ext uri="{0D108BD9-81ED-4DB2-BD59-A6C34878D82A}">
                    <a16:rowId xmlns:a16="http://schemas.microsoft.com/office/drawing/2014/main" val="1632234547"/>
                  </a:ext>
                </a:extLst>
              </a:tr>
              <a:tr h="370840">
                <a:tc>
                  <a:txBody>
                    <a:bodyPr/>
                    <a:lstStyle/>
                    <a:p>
                      <a:pPr algn="ctr"/>
                      <a:r>
                        <a:rPr lang="en-US" dirty="0" smtClean="0"/>
                        <a:t>4000H</a:t>
                      </a:r>
                      <a:endParaRPr lang="en-US" dirty="0"/>
                    </a:p>
                  </a:txBody>
                  <a:tcPr/>
                </a:tc>
                <a:tc>
                  <a:txBody>
                    <a:bodyPr/>
                    <a:lstStyle/>
                    <a:p>
                      <a:pPr algn="ctr"/>
                      <a:r>
                        <a:rPr lang="en-US" dirty="0" smtClean="0"/>
                        <a:t>40H</a:t>
                      </a:r>
                      <a:endParaRPr lang="en-US" dirty="0"/>
                    </a:p>
                  </a:txBody>
                  <a:tcPr/>
                </a:tc>
                <a:extLst>
                  <a:ext uri="{0D108BD9-81ED-4DB2-BD59-A6C34878D82A}">
                    <a16:rowId xmlns:a16="http://schemas.microsoft.com/office/drawing/2014/main" val="1645416554"/>
                  </a:ext>
                </a:extLst>
              </a:tr>
            </a:tbl>
          </a:graphicData>
        </a:graphic>
      </p:graphicFrame>
      <p:sp>
        <p:nvSpPr>
          <p:cNvPr id="4" name="Curved Right Arrow 3"/>
          <p:cNvSpPr/>
          <p:nvPr/>
        </p:nvSpPr>
        <p:spPr>
          <a:xfrm>
            <a:off x="6019800" y="2564904"/>
            <a:ext cx="568424" cy="720080"/>
          </a:xfrm>
          <a:prstGeom prst="curved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Tree>
  </p:cSld>
  <p:clrMapOvr>
    <a:masterClrMapping/>
  </p:clrMapOvr>
  <p:transition spd="slow"/>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22531"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sp>
        <p:nvSpPr>
          <p:cNvPr id="22532" name="Rectangle 4"/>
          <p:cNvSpPr>
            <a:spLocks noGrp="1" noChangeArrowheads="1"/>
          </p:cNvSpPr>
          <p:nvPr>
            <p:ph type="title" idx="4294967295"/>
          </p:nvPr>
        </p:nvSpPr>
        <p:spPr>
          <a:xfrm>
            <a:off x="395536" y="332656"/>
            <a:ext cx="7554913" cy="1116013"/>
          </a:xfrm>
          <a:noFill/>
          <a:ln/>
        </p:spPr>
        <p:txBody>
          <a:bodyPr lIns="90488" tIns="44450" rIns="90488" bIns="44450"/>
          <a:lstStyle/>
          <a:p>
            <a:r>
              <a:rPr lang="en-US" dirty="0">
                <a:effectLst>
                  <a:outerShdw blurRad="38100" dist="38100" dir="2700000" algn="tl">
                    <a:srgbClr val="000000">
                      <a:alpha val="43137"/>
                    </a:srgbClr>
                  </a:outerShdw>
                </a:effectLst>
              </a:rPr>
              <a:t>Register </a:t>
            </a:r>
            <a:r>
              <a:rPr lang="en-US" dirty="0" smtClean="0">
                <a:effectLst>
                  <a:outerShdw blurRad="38100" dist="38100" dir="2700000" algn="tl">
                    <a:srgbClr val="000000">
                      <a:alpha val="43137"/>
                    </a:srgbClr>
                  </a:outerShdw>
                </a:effectLst>
              </a:rPr>
              <a:t>Addressing</a:t>
            </a:r>
            <a:endParaRPr lang="en-US" dirty="0"/>
          </a:p>
        </p:txBody>
      </p:sp>
      <p:graphicFrame>
        <p:nvGraphicFramePr>
          <p:cNvPr id="6" name="Content Placeholder 5"/>
          <p:cNvGraphicFramePr>
            <a:graphicFrameLocks noGrp="1"/>
          </p:cNvGraphicFramePr>
          <p:nvPr>
            <p:ph idx="4294967295"/>
            <p:extLst>
              <p:ext uri="{D42A27DB-BD31-4B8C-83A1-F6EECF244321}">
                <p14:modId xmlns:p14="http://schemas.microsoft.com/office/powerpoint/2010/main" val="855945755"/>
              </p:ext>
            </p:extLst>
          </p:nvPr>
        </p:nvGraphicFramePr>
        <p:xfrm>
          <a:off x="396172" y="1268760"/>
          <a:ext cx="8064260" cy="50405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7" name="Table 6"/>
          <p:cNvGraphicFramePr>
            <a:graphicFrameLocks noGrp="1"/>
          </p:cNvGraphicFramePr>
          <p:nvPr>
            <p:extLst>
              <p:ext uri="{D42A27DB-BD31-4B8C-83A1-F6EECF244321}">
                <p14:modId xmlns:p14="http://schemas.microsoft.com/office/powerpoint/2010/main" val="2525936332"/>
              </p:ext>
            </p:extLst>
          </p:nvPr>
        </p:nvGraphicFramePr>
        <p:xfrm>
          <a:off x="4572000" y="971387"/>
          <a:ext cx="4416153" cy="370840"/>
        </p:xfrm>
        <a:graphic>
          <a:graphicData uri="http://schemas.openxmlformats.org/drawingml/2006/table">
            <a:tbl>
              <a:tblPr firstRow="1" bandRow="1">
                <a:tableStyleId>{5C22544A-7EE6-4342-B048-85BDC9FD1C3A}</a:tableStyleId>
              </a:tblPr>
              <a:tblGrid>
                <a:gridCol w="1472051">
                  <a:extLst>
                    <a:ext uri="{9D8B030D-6E8A-4147-A177-3AD203B41FA5}">
                      <a16:colId xmlns:a16="http://schemas.microsoft.com/office/drawing/2014/main" val="2315502270"/>
                    </a:ext>
                  </a:extLst>
                </a:gridCol>
                <a:gridCol w="1472051">
                  <a:extLst>
                    <a:ext uri="{9D8B030D-6E8A-4147-A177-3AD203B41FA5}">
                      <a16:colId xmlns:a16="http://schemas.microsoft.com/office/drawing/2014/main" val="595479758"/>
                    </a:ext>
                  </a:extLst>
                </a:gridCol>
                <a:gridCol w="1472051">
                  <a:extLst>
                    <a:ext uri="{9D8B030D-6E8A-4147-A177-3AD203B41FA5}">
                      <a16:colId xmlns:a16="http://schemas.microsoft.com/office/drawing/2014/main" val="3003153622"/>
                    </a:ext>
                  </a:extLst>
                </a:gridCol>
              </a:tblGrid>
              <a:tr h="370840">
                <a:tc>
                  <a:txBody>
                    <a:bodyPr/>
                    <a:lstStyle/>
                    <a:p>
                      <a:pPr algn="ctr"/>
                      <a:r>
                        <a:rPr lang="en-US" dirty="0" smtClean="0"/>
                        <a:t>MOV</a:t>
                      </a:r>
                      <a:endParaRPr lang="en-US" dirty="0"/>
                    </a:p>
                  </a:txBody>
                  <a:tcPr/>
                </a:tc>
                <a:tc>
                  <a:txBody>
                    <a:bodyPr/>
                    <a:lstStyle/>
                    <a:p>
                      <a:pPr algn="ctr"/>
                      <a:r>
                        <a:rPr lang="en-US" dirty="0" smtClean="0"/>
                        <a:t>R1</a:t>
                      </a:r>
                      <a:endParaRPr lang="en-US" dirty="0"/>
                    </a:p>
                  </a:txBody>
                  <a:tcPr/>
                </a:tc>
                <a:tc>
                  <a:txBody>
                    <a:bodyPr/>
                    <a:lstStyle/>
                    <a:p>
                      <a:pPr algn="ctr"/>
                      <a:r>
                        <a:rPr lang="en-US" dirty="0" smtClean="0"/>
                        <a:t>R2</a:t>
                      </a:r>
                      <a:endParaRPr lang="en-US" dirty="0"/>
                    </a:p>
                  </a:txBody>
                  <a:tcPr/>
                </a:tc>
                <a:extLst>
                  <a:ext uri="{0D108BD9-81ED-4DB2-BD59-A6C34878D82A}">
                    <a16:rowId xmlns:a16="http://schemas.microsoft.com/office/drawing/2014/main" val="715141133"/>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1045093227"/>
              </p:ext>
            </p:extLst>
          </p:nvPr>
        </p:nvGraphicFramePr>
        <p:xfrm>
          <a:off x="4606556" y="6151340"/>
          <a:ext cx="4416153" cy="370840"/>
        </p:xfrm>
        <a:graphic>
          <a:graphicData uri="http://schemas.openxmlformats.org/drawingml/2006/table">
            <a:tbl>
              <a:tblPr firstRow="1" bandRow="1">
                <a:tableStyleId>{5C22544A-7EE6-4342-B048-85BDC9FD1C3A}</a:tableStyleId>
              </a:tblPr>
              <a:tblGrid>
                <a:gridCol w="1472051">
                  <a:extLst>
                    <a:ext uri="{9D8B030D-6E8A-4147-A177-3AD203B41FA5}">
                      <a16:colId xmlns:a16="http://schemas.microsoft.com/office/drawing/2014/main" val="2315502270"/>
                    </a:ext>
                  </a:extLst>
                </a:gridCol>
                <a:gridCol w="1472051">
                  <a:extLst>
                    <a:ext uri="{9D8B030D-6E8A-4147-A177-3AD203B41FA5}">
                      <a16:colId xmlns:a16="http://schemas.microsoft.com/office/drawing/2014/main" val="595479758"/>
                    </a:ext>
                  </a:extLst>
                </a:gridCol>
                <a:gridCol w="1472051">
                  <a:extLst>
                    <a:ext uri="{9D8B030D-6E8A-4147-A177-3AD203B41FA5}">
                      <a16:colId xmlns:a16="http://schemas.microsoft.com/office/drawing/2014/main" val="3003153622"/>
                    </a:ext>
                  </a:extLst>
                </a:gridCol>
              </a:tblGrid>
              <a:tr h="370840">
                <a:tc>
                  <a:txBody>
                    <a:bodyPr/>
                    <a:lstStyle/>
                    <a:p>
                      <a:pPr algn="ctr"/>
                      <a:r>
                        <a:rPr lang="en-US" dirty="0" smtClean="0"/>
                        <a:t>ADD</a:t>
                      </a:r>
                      <a:endParaRPr lang="en-US" dirty="0"/>
                    </a:p>
                  </a:txBody>
                  <a:tcPr/>
                </a:tc>
                <a:tc>
                  <a:txBody>
                    <a:bodyPr/>
                    <a:lstStyle/>
                    <a:p>
                      <a:pPr algn="ctr"/>
                      <a:r>
                        <a:rPr lang="en-US" dirty="0" smtClean="0"/>
                        <a:t>R6</a:t>
                      </a:r>
                      <a:endParaRPr lang="en-US" dirty="0"/>
                    </a:p>
                  </a:txBody>
                  <a:tcPr/>
                </a:tc>
                <a:tc>
                  <a:txBody>
                    <a:bodyPr/>
                    <a:lstStyle/>
                    <a:p>
                      <a:pPr algn="ctr"/>
                      <a:r>
                        <a:rPr lang="en-US" dirty="0" smtClean="0"/>
                        <a:t>R7</a:t>
                      </a:r>
                      <a:endParaRPr lang="en-US" dirty="0"/>
                    </a:p>
                  </a:txBody>
                  <a:tcPr/>
                </a:tc>
                <a:extLst>
                  <a:ext uri="{0D108BD9-81ED-4DB2-BD59-A6C34878D82A}">
                    <a16:rowId xmlns:a16="http://schemas.microsoft.com/office/drawing/2014/main" val="715141133"/>
                  </a:ext>
                </a:extLst>
              </a:tr>
            </a:tbl>
          </a:graphicData>
        </a:graphic>
      </p:graphicFrame>
    </p:spTree>
  </p:cSld>
  <p:clrMapOvr>
    <a:masterClrMapping/>
  </p:clrMapOvr>
  <p:transition spd="slow"/>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28675"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28676" name="Rectangle 4"/>
          <p:cNvSpPr>
            <a:spLocks noGrp="1" noChangeArrowheads="1"/>
          </p:cNvSpPr>
          <p:nvPr>
            <p:ph type="title"/>
          </p:nvPr>
        </p:nvSpPr>
        <p:spPr>
          <a:noFill/>
          <a:ln/>
        </p:spPr>
        <p:txBody>
          <a:bodyPr lIns="90488" tIns="44450" rIns="90488" bIns="44450"/>
          <a:lstStyle/>
          <a:p>
            <a:r>
              <a:rPr lang="en-US" dirty="0">
                <a:effectLst>
                  <a:outerShdw blurRad="38100" dist="38100" dir="2700000" algn="tl">
                    <a:srgbClr val="000000">
                      <a:alpha val="43137"/>
                    </a:srgbClr>
                  </a:outerShdw>
                </a:effectLst>
              </a:rPr>
              <a:t>Register Indirect </a:t>
            </a:r>
            <a:r>
              <a:rPr lang="en-US" dirty="0" smtClean="0">
                <a:effectLst>
                  <a:outerShdw blurRad="38100" dist="38100" dir="2700000" algn="tl">
                    <a:srgbClr val="000000">
                      <a:alpha val="43137"/>
                    </a:srgbClr>
                  </a:outerShdw>
                </a:effectLst>
              </a:rPr>
              <a:t>Addressing [ ]</a:t>
            </a:r>
            <a:endParaRPr lang="en-US" dirty="0">
              <a:effectLst>
                <a:outerShdw blurRad="38100" dist="38100" dir="2700000" algn="tl">
                  <a:srgbClr val="000000">
                    <a:alpha val="43137"/>
                  </a:srgbClr>
                </a:outerShdw>
              </a:effectLst>
            </a:endParaRPr>
          </a:p>
        </p:txBody>
      </p:sp>
      <p:sp>
        <p:nvSpPr>
          <p:cNvPr id="28677" name="Rectangle 5"/>
          <p:cNvSpPr>
            <a:spLocks noGrp="1" noChangeArrowheads="1"/>
          </p:cNvSpPr>
          <p:nvPr>
            <p:ph idx="1"/>
          </p:nvPr>
        </p:nvSpPr>
        <p:spPr>
          <a:noFill/>
          <a:ln/>
        </p:spPr>
        <p:txBody>
          <a:bodyPr lIns="90488" tIns="44450" rIns="90488" bIns="44450"/>
          <a:lstStyle/>
          <a:p>
            <a:r>
              <a:rPr lang="en-US" dirty="0" smtClean="0"/>
              <a:t>Analogous to indirect addressing</a:t>
            </a:r>
          </a:p>
          <a:p>
            <a:pPr lvl="1"/>
            <a:r>
              <a:rPr lang="en-US" dirty="0" smtClean="0"/>
              <a:t>The only difference is whether the address field refers to a memory location or a register</a:t>
            </a:r>
          </a:p>
          <a:p>
            <a:r>
              <a:rPr lang="en-US" dirty="0" smtClean="0"/>
              <a:t>EA = (R)</a:t>
            </a:r>
          </a:p>
          <a:p>
            <a:r>
              <a:rPr lang="en-US" dirty="0" smtClean="0"/>
              <a:t>Address space limitation of the address field is overcome by having that field refer to a word-length location containing an address</a:t>
            </a:r>
          </a:p>
          <a:p>
            <a:r>
              <a:rPr lang="en-US" dirty="0" smtClean="0"/>
              <a:t>Uses one less memory reference than indirect addressing</a:t>
            </a:r>
          </a:p>
          <a:p>
            <a:endParaRPr lang="en-US" dirty="0"/>
          </a:p>
        </p:txBody>
      </p:sp>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graphicFrame>
        <p:nvGraphicFramePr>
          <p:cNvPr id="9" name="Table 8"/>
          <p:cNvGraphicFramePr>
            <a:graphicFrameLocks noGrp="1"/>
          </p:cNvGraphicFramePr>
          <p:nvPr>
            <p:extLst>
              <p:ext uri="{D42A27DB-BD31-4B8C-83A1-F6EECF244321}">
                <p14:modId xmlns:p14="http://schemas.microsoft.com/office/powerpoint/2010/main" val="2949925975"/>
              </p:ext>
            </p:extLst>
          </p:nvPr>
        </p:nvGraphicFramePr>
        <p:xfrm>
          <a:off x="4571999" y="2780928"/>
          <a:ext cx="4416153" cy="370840"/>
        </p:xfrm>
        <a:graphic>
          <a:graphicData uri="http://schemas.openxmlformats.org/drawingml/2006/table">
            <a:tbl>
              <a:tblPr firstRow="1" bandRow="1">
                <a:tableStyleId>{5C22544A-7EE6-4342-B048-85BDC9FD1C3A}</a:tableStyleId>
              </a:tblPr>
              <a:tblGrid>
                <a:gridCol w="1472051">
                  <a:extLst>
                    <a:ext uri="{9D8B030D-6E8A-4147-A177-3AD203B41FA5}">
                      <a16:colId xmlns:a16="http://schemas.microsoft.com/office/drawing/2014/main" val="2315502270"/>
                    </a:ext>
                  </a:extLst>
                </a:gridCol>
                <a:gridCol w="1472051">
                  <a:extLst>
                    <a:ext uri="{9D8B030D-6E8A-4147-A177-3AD203B41FA5}">
                      <a16:colId xmlns:a16="http://schemas.microsoft.com/office/drawing/2014/main" val="595479758"/>
                    </a:ext>
                  </a:extLst>
                </a:gridCol>
                <a:gridCol w="1472051">
                  <a:extLst>
                    <a:ext uri="{9D8B030D-6E8A-4147-A177-3AD203B41FA5}">
                      <a16:colId xmlns:a16="http://schemas.microsoft.com/office/drawing/2014/main" val="3003153622"/>
                    </a:ext>
                  </a:extLst>
                </a:gridCol>
              </a:tblGrid>
              <a:tr h="370840">
                <a:tc>
                  <a:txBody>
                    <a:bodyPr/>
                    <a:lstStyle/>
                    <a:p>
                      <a:pPr algn="ctr"/>
                      <a:r>
                        <a:rPr lang="en-US" dirty="0" smtClean="0"/>
                        <a:t>MOV</a:t>
                      </a:r>
                      <a:endParaRPr lang="en-US" dirty="0"/>
                    </a:p>
                  </a:txBody>
                  <a:tcPr/>
                </a:tc>
                <a:tc>
                  <a:txBody>
                    <a:bodyPr/>
                    <a:lstStyle/>
                    <a:p>
                      <a:pPr algn="ctr"/>
                      <a:r>
                        <a:rPr lang="en-US" dirty="0" smtClean="0"/>
                        <a:t>R1</a:t>
                      </a:r>
                      <a:endParaRPr lang="en-US" dirty="0"/>
                    </a:p>
                  </a:txBody>
                  <a:tcPr/>
                </a:tc>
                <a:tc>
                  <a:txBody>
                    <a:bodyPr/>
                    <a:lstStyle/>
                    <a:p>
                      <a:pPr algn="ctr"/>
                      <a:r>
                        <a:rPr lang="en-US" dirty="0" smtClean="0"/>
                        <a:t>[R2]</a:t>
                      </a:r>
                      <a:endParaRPr lang="en-US" dirty="0"/>
                    </a:p>
                  </a:txBody>
                  <a:tcPr/>
                </a:tc>
                <a:extLst>
                  <a:ext uri="{0D108BD9-81ED-4DB2-BD59-A6C34878D82A}">
                    <a16:rowId xmlns:a16="http://schemas.microsoft.com/office/drawing/2014/main" val="715141133"/>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2801120514"/>
              </p:ext>
            </p:extLst>
          </p:nvPr>
        </p:nvGraphicFramePr>
        <p:xfrm>
          <a:off x="6324600" y="5363943"/>
          <a:ext cx="2601930" cy="1112520"/>
        </p:xfrm>
        <a:graphic>
          <a:graphicData uri="http://schemas.openxmlformats.org/drawingml/2006/table">
            <a:tbl>
              <a:tblPr firstRow="1" bandRow="1">
                <a:tableStyleId>{5C22544A-7EE6-4342-B048-85BDC9FD1C3A}</a:tableStyleId>
              </a:tblPr>
              <a:tblGrid>
                <a:gridCol w="1300965">
                  <a:extLst>
                    <a:ext uri="{9D8B030D-6E8A-4147-A177-3AD203B41FA5}">
                      <a16:colId xmlns:a16="http://schemas.microsoft.com/office/drawing/2014/main" val="3653588570"/>
                    </a:ext>
                  </a:extLst>
                </a:gridCol>
                <a:gridCol w="1300965">
                  <a:extLst>
                    <a:ext uri="{9D8B030D-6E8A-4147-A177-3AD203B41FA5}">
                      <a16:colId xmlns:a16="http://schemas.microsoft.com/office/drawing/2014/main" val="1495838620"/>
                    </a:ext>
                  </a:extLst>
                </a:gridCol>
              </a:tblGrid>
              <a:tr h="370840">
                <a:tc>
                  <a:txBody>
                    <a:bodyPr/>
                    <a:lstStyle/>
                    <a:p>
                      <a:pPr algn="ctr"/>
                      <a:r>
                        <a:rPr lang="en-US" dirty="0" smtClean="0"/>
                        <a:t>ADDRESS</a:t>
                      </a:r>
                      <a:endParaRPr lang="en-US" dirty="0"/>
                    </a:p>
                  </a:txBody>
                  <a:tcPr/>
                </a:tc>
                <a:tc>
                  <a:txBody>
                    <a:bodyPr/>
                    <a:lstStyle/>
                    <a:p>
                      <a:pPr algn="ctr"/>
                      <a:r>
                        <a:rPr lang="en-US" dirty="0" smtClean="0"/>
                        <a:t>DATA</a:t>
                      </a:r>
                      <a:endParaRPr lang="en-US" dirty="0"/>
                    </a:p>
                  </a:txBody>
                  <a:tcPr/>
                </a:tc>
                <a:extLst>
                  <a:ext uri="{0D108BD9-81ED-4DB2-BD59-A6C34878D82A}">
                    <a16:rowId xmlns:a16="http://schemas.microsoft.com/office/drawing/2014/main" val="1399440225"/>
                  </a:ext>
                </a:extLst>
              </a:tr>
              <a:tr h="370840">
                <a:tc>
                  <a:txBody>
                    <a:bodyPr/>
                    <a:lstStyle/>
                    <a:p>
                      <a:pPr algn="ctr"/>
                      <a:r>
                        <a:rPr lang="en-US" smtClean="0"/>
                        <a:t>1000H</a:t>
                      </a:r>
                      <a:endParaRPr lang="en-US" dirty="0"/>
                    </a:p>
                  </a:txBody>
                  <a:tcPr/>
                </a:tc>
                <a:tc>
                  <a:txBody>
                    <a:bodyPr/>
                    <a:lstStyle/>
                    <a:p>
                      <a:pPr algn="ctr"/>
                      <a:r>
                        <a:rPr lang="en-US" dirty="0" smtClean="0"/>
                        <a:t>4000H</a:t>
                      </a:r>
                      <a:endParaRPr lang="en-US" dirty="0"/>
                    </a:p>
                  </a:txBody>
                  <a:tcPr/>
                </a:tc>
                <a:extLst>
                  <a:ext uri="{0D108BD9-81ED-4DB2-BD59-A6C34878D82A}">
                    <a16:rowId xmlns:a16="http://schemas.microsoft.com/office/drawing/2014/main" val="1632234547"/>
                  </a:ext>
                </a:extLst>
              </a:tr>
              <a:tr h="370840">
                <a:tc>
                  <a:txBody>
                    <a:bodyPr/>
                    <a:lstStyle/>
                    <a:p>
                      <a:pPr algn="ctr"/>
                      <a:r>
                        <a:rPr lang="en-US" dirty="0" smtClean="0"/>
                        <a:t>4000H</a:t>
                      </a:r>
                      <a:endParaRPr lang="en-US" dirty="0"/>
                    </a:p>
                  </a:txBody>
                  <a:tcPr/>
                </a:tc>
                <a:tc>
                  <a:txBody>
                    <a:bodyPr/>
                    <a:lstStyle/>
                    <a:p>
                      <a:pPr algn="ctr"/>
                      <a:r>
                        <a:rPr lang="en-US" dirty="0" smtClean="0"/>
                        <a:t>40H</a:t>
                      </a:r>
                      <a:endParaRPr lang="en-US" dirty="0"/>
                    </a:p>
                  </a:txBody>
                  <a:tcPr/>
                </a:tc>
                <a:extLst>
                  <a:ext uri="{0D108BD9-81ED-4DB2-BD59-A6C34878D82A}">
                    <a16:rowId xmlns:a16="http://schemas.microsoft.com/office/drawing/2014/main" val="1645416554"/>
                  </a:ext>
                </a:extLst>
              </a:tr>
            </a:tbl>
          </a:graphicData>
        </a:graphic>
      </p:graphicFrame>
      <p:cxnSp>
        <p:nvCxnSpPr>
          <p:cNvPr id="4" name="Straight Arrow Connector 3"/>
          <p:cNvCxnSpPr/>
          <p:nvPr/>
        </p:nvCxnSpPr>
        <p:spPr>
          <a:xfrm>
            <a:off x="8532440" y="3346003"/>
            <a:ext cx="0" cy="1739181"/>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3" name="Rectangle 2"/>
          <p:cNvSpPr/>
          <p:nvPr/>
        </p:nvSpPr>
        <p:spPr>
          <a:xfrm>
            <a:off x="5473850" y="5633970"/>
            <a:ext cx="748923" cy="461665"/>
          </a:xfrm>
          <a:prstGeom prst="rect">
            <a:avLst/>
          </a:prstGeom>
        </p:spPr>
        <p:txBody>
          <a:bodyPr wrap="none">
            <a:spAutoFit/>
          </a:bodyPr>
          <a:lstStyle/>
          <a:p>
            <a:pPr algn="ctr"/>
            <a:r>
              <a:rPr lang="en-US" dirty="0"/>
              <a:t>[R2]</a:t>
            </a:r>
            <a:endParaRPr lang="en-US" dirty="0"/>
          </a:p>
        </p:txBody>
      </p:sp>
    </p:spTree>
  </p:cSld>
  <p:clrMapOvr>
    <a:masterClrMapping/>
  </p:clrMapOvr>
  <p:transition spd="slow"/>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2771"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2772" name="Rectangle 4"/>
          <p:cNvSpPr>
            <a:spLocks noGrp="1" noChangeArrowheads="1"/>
          </p:cNvSpPr>
          <p:nvPr>
            <p:ph type="title"/>
          </p:nvPr>
        </p:nvSpPr>
        <p:spPr>
          <a:noFill/>
          <a:ln/>
        </p:spPr>
        <p:txBody>
          <a:bodyPr lIns="90488" tIns="44450" rIns="90488" bIns="44450"/>
          <a:lstStyle/>
          <a:p>
            <a:r>
              <a:rPr lang="en-US" dirty="0">
                <a:effectLst>
                  <a:outerShdw blurRad="38100" dist="38100" dir="2700000" algn="tl">
                    <a:srgbClr val="000000">
                      <a:alpha val="43137"/>
                    </a:srgbClr>
                  </a:outerShdw>
                </a:effectLst>
              </a:rPr>
              <a:t>Displacement Addressing</a:t>
            </a:r>
          </a:p>
        </p:txBody>
      </p:sp>
      <p:sp>
        <p:nvSpPr>
          <p:cNvPr id="32773" name="Rectangle 5"/>
          <p:cNvSpPr>
            <a:spLocks noGrp="1" noChangeArrowheads="1"/>
          </p:cNvSpPr>
          <p:nvPr>
            <p:ph idx="1"/>
          </p:nvPr>
        </p:nvSpPr>
        <p:spPr>
          <a:noFill/>
          <a:ln/>
        </p:spPr>
        <p:txBody>
          <a:bodyPr lIns="90488" tIns="44450" rIns="90488" bIns="44450">
            <a:normAutofit fontScale="92500" lnSpcReduction="20000"/>
          </a:bodyPr>
          <a:lstStyle/>
          <a:p>
            <a:r>
              <a:rPr lang="en-US" dirty="0" smtClean="0"/>
              <a:t>Combines the capabilities of direct addressing and register indirect addressing</a:t>
            </a:r>
          </a:p>
          <a:p>
            <a:r>
              <a:rPr lang="en-US" dirty="0" smtClean="0"/>
              <a:t>EA </a:t>
            </a:r>
            <a:r>
              <a:rPr lang="en-US" dirty="0"/>
              <a:t>= A + (R)</a:t>
            </a:r>
            <a:endParaRPr lang="en-US" dirty="0" smtClean="0"/>
          </a:p>
          <a:p>
            <a:r>
              <a:rPr lang="en-US" dirty="0" smtClean="0"/>
              <a:t>Requires that the instruction have two address fields, at least one of which is explicit</a:t>
            </a:r>
            <a:endParaRPr lang="en-US" sz="2400" dirty="0" smtClean="0"/>
          </a:p>
          <a:p>
            <a:pPr lvl="1"/>
            <a:r>
              <a:rPr lang="en-US" dirty="0" smtClean="0"/>
              <a:t>The value contained in one address field (value = A) is used directly</a:t>
            </a:r>
          </a:p>
          <a:p>
            <a:pPr lvl="1"/>
            <a:r>
              <a:rPr lang="en-US" dirty="0" smtClean="0"/>
              <a:t>The other address field refers to a register whose contents are added to A to produce the effective address</a:t>
            </a:r>
          </a:p>
          <a:p>
            <a:pPr marL="228600" lvl="1">
              <a:spcBef>
                <a:spcPts val="2000"/>
              </a:spcBef>
              <a:buClr>
                <a:schemeClr val="accent1"/>
              </a:buClr>
            </a:pPr>
            <a:r>
              <a:rPr lang="en-US" sz="2054" dirty="0" smtClean="0"/>
              <a:t>Most common uses:</a:t>
            </a:r>
          </a:p>
          <a:p>
            <a:pPr lvl="1"/>
            <a:r>
              <a:rPr lang="en-US" sz="1838" b="1" dirty="0"/>
              <a:t>Relative </a:t>
            </a:r>
            <a:r>
              <a:rPr lang="en-US" sz="1838" b="1" dirty="0" smtClean="0"/>
              <a:t>addressing                              R2 = 1000 </a:t>
            </a:r>
          </a:p>
          <a:p>
            <a:pPr lvl="1"/>
            <a:r>
              <a:rPr lang="en-US" sz="1838" b="1" dirty="0" smtClean="0"/>
              <a:t>Base-register addressing                    EA = 1000 + 20</a:t>
            </a:r>
          </a:p>
          <a:p>
            <a:pPr lvl="1"/>
            <a:r>
              <a:rPr lang="en-US" sz="1838" b="1" dirty="0" smtClean="0"/>
              <a:t>Indexing </a:t>
            </a:r>
          </a:p>
        </p:txBody>
      </p:sp>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1303654060"/>
              </p:ext>
            </p:extLst>
          </p:nvPr>
        </p:nvGraphicFramePr>
        <p:xfrm>
          <a:off x="4727847" y="4437112"/>
          <a:ext cx="4416153" cy="370840"/>
        </p:xfrm>
        <a:graphic>
          <a:graphicData uri="http://schemas.openxmlformats.org/drawingml/2006/table">
            <a:tbl>
              <a:tblPr firstRow="1" bandRow="1">
                <a:tableStyleId>{5C22544A-7EE6-4342-B048-85BDC9FD1C3A}</a:tableStyleId>
              </a:tblPr>
              <a:tblGrid>
                <a:gridCol w="1472051">
                  <a:extLst>
                    <a:ext uri="{9D8B030D-6E8A-4147-A177-3AD203B41FA5}">
                      <a16:colId xmlns:a16="http://schemas.microsoft.com/office/drawing/2014/main" val="2315502270"/>
                    </a:ext>
                  </a:extLst>
                </a:gridCol>
                <a:gridCol w="1472051">
                  <a:extLst>
                    <a:ext uri="{9D8B030D-6E8A-4147-A177-3AD203B41FA5}">
                      <a16:colId xmlns:a16="http://schemas.microsoft.com/office/drawing/2014/main" val="595479758"/>
                    </a:ext>
                  </a:extLst>
                </a:gridCol>
                <a:gridCol w="1472051">
                  <a:extLst>
                    <a:ext uri="{9D8B030D-6E8A-4147-A177-3AD203B41FA5}">
                      <a16:colId xmlns:a16="http://schemas.microsoft.com/office/drawing/2014/main" val="3003153622"/>
                    </a:ext>
                  </a:extLst>
                </a:gridCol>
              </a:tblGrid>
              <a:tr h="370840">
                <a:tc>
                  <a:txBody>
                    <a:bodyPr/>
                    <a:lstStyle/>
                    <a:p>
                      <a:pPr algn="ctr"/>
                      <a:r>
                        <a:rPr lang="en-US" dirty="0" smtClean="0"/>
                        <a:t>LOAD</a:t>
                      </a:r>
                      <a:endParaRPr lang="en-US" dirty="0"/>
                    </a:p>
                  </a:txBody>
                  <a:tcPr/>
                </a:tc>
                <a:tc>
                  <a:txBody>
                    <a:bodyPr/>
                    <a:lstStyle/>
                    <a:p>
                      <a:pPr algn="ctr"/>
                      <a:r>
                        <a:rPr lang="en-US" dirty="0" smtClean="0"/>
                        <a:t>R1</a:t>
                      </a:r>
                      <a:endParaRPr lang="en-US" dirty="0"/>
                    </a:p>
                  </a:txBody>
                  <a:tcPr/>
                </a:tc>
                <a:tc>
                  <a:txBody>
                    <a:bodyPr/>
                    <a:lstStyle/>
                    <a:p>
                      <a:pPr algn="ctr"/>
                      <a:r>
                        <a:rPr lang="en-US" dirty="0" smtClean="0"/>
                        <a:t>20(R2)</a:t>
                      </a:r>
                      <a:endParaRPr lang="en-US" dirty="0"/>
                    </a:p>
                  </a:txBody>
                  <a:tcPr/>
                </a:tc>
                <a:extLst>
                  <a:ext uri="{0D108BD9-81ED-4DB2-BD59-A6C34878D82A}">
                    <a16:rowId xmlns:a16="http://schemas.microsoft.com/office/drawing/2014/main" val="715141133"/>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1144815084"/>
              </p:ext>
            </p:extLst>
          </p:nvPr>
        </p:nvGraphicFramePr>
        <p:xfrm>
          <a:off x="6324600" y="5345430"/>
          <a:ext cx="2601930" cy="1112520"/>
        </p:xfrm>
        <a:graphic>
          <a:graphicData uri="http://schemas.openxmlformats.org/drawingml/2006/table">
            <a:tbl>
              <a:tblPr firstRow="1" bandRow="1">
                <a:tableStyleId>{5C22544A-7EE6-4342-B048-85BDC9FD1C3A}</a:tableStyleId>
              </a:tblPr>
              <a:tblGrid>
                <a:gridCol w="1300965">
                  <a:extLst>
                    <a:ext uri="{9D8B030D-6E8A-4147-A177-3AD203B41FA5}">
                      <a16:colId xmlns:a16="http://schemas.microsoft.com/office/drawing/2014/main" val="3653588570"/>
                    </a:ext>
                  </a:extLst>
                </a:gridCol>
                <a:gridCol w="1300965">
                  <a:extLst>
                    <a:ext uri="{9D8B030D-6E8A-4147-A177-3AD203B41FA5}">
                      <a16:colId xmlns:a16="http://schemas.microsoft.com/office/drawing/2014/main" val="1495838620"/>
                    </a:ext>
                  </a:extLst>
                </a:gridCol>
              </a:tblGrid>
              <a:tr h="370840">
                <a:tc>
                  <a:txBody>
                    <a:bodyPr/>
                    <a:lstStyle/>
                    <a:p>
                      <a:pPr algn="ctr"/>
                      <a:r>
                        <a:rPr lang="en-US" dirty="0" smtClean="0"/>
                        <a:t>ADDRESS</a:t>
                      </a:r>
                      <a:endParaRPr lang="en-US" dirty="0"/>
                    </a:p>
                  </a:txBody>
                  <a:tcPr/>
                </a:tc>
                <a:tc>
                  <a:txBody>
                    <a:bodyPr/>
                    <a:lstStyle/>
                    <a:p>
                      <a:pPr algn="ctr"/>
                      <a:r>
                        <a:rPr lang="en-US" dirty="0" smtClean="0"/>
                        <a:t>DATA</a:t>
                      </a:r>
                      <a:endParaRPr lang="en-US" dirty="0"/>
                    </a:p>
                  </a:txBody>
                  <a:tcPr/>
                </a:tc>
                <a:extLst>
                  <a:ext uri="{0D108BD9-81ED-4DB2-BD59-A6C34878D82A}">
                    <a16:rowId xmlns:a16="http://schemas.microsoft.com/office/drawing/2014/main" val="1399440225"/>
                  </a:ext>
                </a:extLst>
              </a:tr>
              <a:tr h="370840">
                <a:tc>
                  <a:txBody>
                    <a:bodyPr/>
                    <a:lstStyle/>
                    <a:p>
                      <a:pPr algn="ctr"/>
                      <a:r>
                        <a:rPr lang="en-US" dirty="0" smtClean="0"/>
                        <a:t>1020</a:t>
                      </a:r>
                      <a:endParaRPr lang="en-US" dirty="0"/>
                    </a:p>
                  </a:txBody>
                  <a:tcPr/>
                </a:tc>
                <a:tc>
                  <a:txBody>
                    <a:bodyPr/>
                    <a:lstStyle/>
                    <a:p>
                      <a:pPr algn="ctr"/>
                      <a:r>
                        <a:rPr lang="en-US" dirty="0" smtClean="0"/>
                        <a:t>30</a:t>
                      </a:r>
                      <a:endParaRPr lang="en-US" dirty="0"/>
                    </a:p>
                  </a:txBody>
                  <a:tcPr/>
                </a:tc>
                <a:extLst>
                  <a:ext uri="{0D108BD9-81ED-4DB2-BD59-A6C34878D82A}">
                    <a16:rowId xmlns:a16="http://schemas.microsoft.com/office/drawing/2014/main" val="1632234547"/>
                  </a:ext>
                </a:extLst>
              </a:tr>
              <a:tr h="370840">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1645416554"/>
                  </a:ext>
                </a:extLst>
              </a:tr>
            </a:tbl>
          </a:graphicData>
        </a:graphic>
      </p:graphicFrame>
      <p:sp>
        <p:nvSpPr>
          <p:cNvPr id="3" name="Curved Right Arrow 2"/>
          <p:cNvSpPr/>
          <p:nvPr/>
        </p:nvSpPr>
        <p:spPr>
          <a:xfrm>
            <a:off x="4427984" y="5445224"/>
            <a:ext cx="299863" cy="456466"/>
          </a:xfrm>
          <a:prstGeom prst="curved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Tree>
  </p:cSld>
  <p:clrMapOvr>
    <a:masterClrMapping/>
  </p:clrMapOvr>
  <p:transition spd="slow"/>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6867"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sp>
        <p:nvSpPr>
          <p:cNvPr id="36868" name="Rectangle 4"/>
          <p:cNvSpPr>
            <a:spLocks noGrp="1" noChangeArrowheads="1"/>
          </p:cNvSpPr>
          <p:nvPr>
            <p:ph type="title" idx="4294967295"/>
          </p:nvPr>
        </p:nvSpPr>
        <p:spPr>
          <a:xfrm>
            <a:off x="395536" y="260648"/>
            <a:ext cx="7556500" cy="1116012"/>
          </a:xfrm>
          <a:noFill/>
          <a:ln/>
        </p:spPr>
        <p:txBody>
          <a:bodyPr lIns="90488" tIns="44450" rIns="90488" bIns="44450"/>
          <a:lstStyle/>
          <a:p>
            <a:r>
              <a:rPr lang="en-US" dirty="0" smtClean="0">
                <a:effectLst>
                  <a:outerShdw blurRad="38100" dist="38100" dir="2700000" algn="tl">
                    <a:srgbClr val="000000">
                      <a:alpha val="43137"/>
                    </a:srgbClr>
                  </a:outerShdw>
                </a:effectLst>
              </a:rPr>
              <a:t>PC - Relative </a:t>
            </a:r>
            <a:r>
              <a:rPr lang="en-US" dirty="0" smtClean="0">
                <a:effectLst>
                  <a:outerShdw blurRad="38100" dist="38100" dir="2700000" algn="tl">
                    <a:srgbClr val="000000">
                      <a:alpha val="43137"/>
                    </a:srgbClr>
                  </a:outerShdw>
                </a:effectLst>
              </a:rPr>
              <a:t>Addressing</a:t>
            </a:r>
            <a:br>
              <a:rPr lang="en-US" dirty="0" smtClean="0">
                <a:effectLst>
                  <a:outerShdw blurRad="38100" dist="38100" dir="2700000" algn="tl">
                    <a:srgbClr val="000000">
                      <a:alpha val="43137"/>
                    </a:srgbClr>
                  </a:outerShdw>
                </a:effectLst>
              </a:rPr>
            </a:br>
            <a:r>
              <a:rPr lang="en-US" dirty="0" smtClean="0">
                <a:effectLst>
                  <a:outerShdw blurRad="38100" dist="38100" dir="2700000" algn="tl">
                    <a:srgbClr val="000000">
                      <a:alpha val="43137"/>
                    </a:srgbClr>
                  </a:outerShdw>
                </a:effectLst>
              </a:rPr>
              <a:t>         </a:t>
            </a:r>
            <a:r>
              <a:rPr lang="en-US" sz="2400" dirty="0" smtClean="0">
                <a:effectLst>
                  <a:outerShdw blurRad="38100" dist="38100" dir="2700000" algn="tl">
                    <a:srgbClr val="000000">
                      <a:alpha val="43137"/>
                    </a:srgbClr>
                  </a:outerShdw>
                </a:effectLst>
              </a:rPr>
              <a:t>Short Memory JMP</a:t>
            </a:r>
            <a:endParaRPr lang="en-US" sz="2400" dirty="0">
              <a:effectLst>
                <a:outerShdw blurRad="38100" dist="38100" dir="2700000" algn="tl">
                  <a:srgbClr val="000000">
                    <a:alpha val="43137"/>
                  </a:srgbClr>
                </a:outerShdw>
              </a:effectLst>
            </a:endParaRPr>
          </a:p>
        </p:txBody>
      </p:sp>
      <p:graphicFrame>
        <p:nvGraphicFramePr>
          <p:cNvPr id="3" name="Content Placeholder 2"/>
          <p:cNvGraphicFramePr>
            <a:graphicFrameLocks noGrp="1"/>
          </p:cNvGraphicFramePr>
          <p:nvPr>
            <p:ph idx="4294967295"/>
            <p:extLst>
              <p:ext uri="{D42A27DB-BD31-4B8C-83A1-F6EECF244321}">
                <p14:modId xmlns:p14="http://schemas.microsoft.com/office/powerpoint/2010/main" val="3094752632"/>
              </p:ext>
            </p:extLst>
          </p:nvPr>
        </p:nvGraphicFramePr>
        <p:xfrm>
          <a:off x="107504" y="1315222"/>
          <a:ext cx="8928992" cy="513811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Rectangle 3"/>
          <p:cNvSpPr/>
          <p:nvPr/>
        </p:nvSpPr>
        <p:spPr>
          <a:xfrm>
            <a:off x="5868144" y="548680"/>
            <a:ext cx="2920992" cy="1200329"/>
          </a:xfrm>
          <a:prstGeom prst="rect">
            <a:avLst/>
          </a:prstGeom>
        </p:spPr>
        <p:txBody>
          <a:bodyPr wrap="none">
            <a:spAutoFit/>
          </a:bodyPr>
          <a:lstStyle/>
          <a:p>
            <a:pPr lvl="0"/>
            <a:r>
              <a:rPr lang="en-US" sz="1800" dirty="0" smtClean="0">
                <a:solidFill>
                  <a:schemeClr val="accent2"/>
                </a:solidFill>
              </a:rPr>
              <a:t>PC </a:t>
            </a:r>
            <a:r>
              <a:rPr lang="en-US" sz="1800" dirty="0" smtClean="0">
                <a:solidFill>
                  <a:schemeClr val="accent2"/>
                </a:solidFill>
                <a:sym typeface="Wingdings" panose="05000000000000000000" pitchFamily="2" charset="2"/>
              </a:rPr>
              <a:t> PC + Offset</a:t>
            </a:r>
          </a:p>
          <a:p>
            <a:pPr lvl="0"/>
            <a:r>
              <a:rPr lang="en-US" sz="1800" dirty="0" smtClean="0">
                <a:solidFill>
                  <a:schemeClr val="accent2"/>
                </a:solidFill>
                <a:sym typeface="Wingdings" panose="05000000000000000000" pitchFamily="2" charset="2"/>
              </a:rPr>
              <a:t>1000H = SJMP 20H</a:t>
            </a:r>
          </a:p>
          <a:p>
            <a:pPr lvl="0"/>
            <a:r>
              <a:rPr lang="en-US" sz="1800" dirty="0" smtClean="0">
                <a:solidFill>
                  <a:schemeClr val="accent2"/>
                </a:solidFill>
                <a:sym typeface="Wingdings" panose="05000000000000000000" pitchFamily="2" charset="2"/>
              </a:rPr>
              <a:t>PC </a:t>
            </a:r>
            <a:r>
              <a:rPr lang="en-US" sz="1800" dirty="0" smtClean="0">
                <a:solidFill>
                  <a:schemeClr val="accent2"/>
                </a:solidFill>
                <a:sym typeface="Wingdings" panose="05000000000000000000" pitchFamily="2" charset="2"/>
              </a:rPr>
              <a:t>old = </a:t>
            </a:r>
            <a:r>
              <a:rPr lang="en-US" sz="1800" dirty="0" smtClean="0">
                <a:solidFill>
                  <a:schemeClr val="accent2"/>
                </a:solidFill>
                <a:sym typeface="Wingdings" panose="05000000000000000000" pitchFamily="2" charset="2"/>
              </a:rPr>
              <a:t>1002H</a:t>
            </a:r>
          </a:p>
          <a:p>
            <a:pPr lvl="0"/>
            <a:r>
              <a:rPr lang="en-US" sz="1800" dirty="0" smtClean="0">
                <a:solidFill>
                  <a:schemeClr val="accent2"/>
                </a:solidFill>
                <a:sym typeface="Wingdings" panose="05000000000000000000" pitchFamily="2" charset="2"/>
              </a:rPr>
              <a:t>PC now = 1002 + 20= </a:t>
            </a:r>
            <a:r>
              <a:rPr lang="en-US" sz="1800" dirty="0" smtClean="0">
                <a:solidFill>
                  <a:schemeClr val="accent2"/>
                </a:solidFill>
                <a:sym typeface="Wingdings" panose="05000000000000000000" pitchFamily="2" charset="2"/>
              </a:rPr>
              <a:t>1022H</a:t>
            </a:r>
            <a:endParaRPr lang="en-US" sz="1800" dirty="0"/>
          </a:p>
        </p:txBody>
      </p:sp>
    </p:spTree>
  </p:cSld>
  <p:clrMapOvr>
    <a:masterClrMapping/>
  </p:clrMapOvr>
  <p:transition spd="slow"/>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8915"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8916" name="Rectangle 4"/>
          <p:cNvSpPr>
            <a:spLocks noGrp="1" noChangeArrowheads="1"/>
          </p:cNvSpPr>
          <p:nvPr>
            <p:ph type="title"/>
          </p:nvPr>
        </p:nvSpPr>
        <p:spPr>
          <a:noFill/>
          <a:ln/>
        </p:spPr>
        <p:txBody>
          <a:bodyPr lIns="90488" tIns="44450" rIns="90488" bIns="44450"/>
          <a:lstStyle/>
          <a:p>
            <a:r>
              <a:rPr lang="en-US" dirty="0">
                <a:effectLst>
                  <a:outerShdw blurRad="38100" dist="38100" dir="2700000" algn="tl">
                    <a:srgbClr val="000000">
                      <a:alpha val="43137"/>
                    </a:srgbClr>
                  </a:outerShdw>
                </a:effectLst>
              </a:rPr>
              <a:t>Base-Register </a:t>
            </a:r>
            <a:r>
              <a:rPr lang="en-US" dirty="0" smtClean="0">
                <a:effectLst>
                  <a:outerShdw blurRad="38100" dist="38100" dir="2700000" algn="tl">
                    <a:srgbClr val="000000">
                      <a:alpha val="43137"/>
                    </a:srgbClr>
                  </a:outerShdw>
                </a:effectLst>
              </a:rPr>
              <a:t>Addressing</a:t>
            </a:r>
            <a:br>
              <a:rPr lang="en-US" dirty="0" smtClean="0">
                <a:effectLst>
                  <a:outerShdw blurRad="38100" dist="38100" dir="2700000" algn="tl">
                    <a:srgbClr val="000000">
                      <a:alpha val="43137"/>
                    </a:srgbClr>
                  </a:outerShdw>
                </a:effectLst>
              </a:rPr>
            </a:br>
            <a:r>
              <a:rPr lang="en-US" dirty="0" smtClean="0">
                <a:effectLst>
                  <a:outerShdw blurRad="38100" dist="38100" dir="2700000" algn="tl">
                    <a:srgbClr val="000000">
                      <a:alpha val="43137"/>
                    </a:srgbClr>
                  </a:outerShdw>
                </a:effectLst>
              </a:rPr>
              <a:t>        </a:t>
            </a:r>
            <a:r>
              <a:rPr lang="en-US" sz="2400" dirty="0" smtClean="0">
                <a:effectLst>
                  <a:outerShdw blurRad="38100" dist="38100" dir="2700000" algn="tl">
                    <a:srgbClr val="000000">
                      <a:alpha val="43137"/>
                    </a:srgbClr>
                  </a:outerShdw>
                </a:effectLst>
              </a:rPr>
              <a:t>Long </a:t>
            </a:r>
            <a:r>
              <a:rPr lang="en-US" sz="2400" dirty="0">
                <a:effectLst>
                  <a:outerShdw blurRad="38100" dist="38100" dir="2700000" algn="tl">
                    <a:srgbClr val="000000">
                      <a:alpha val="43137"/>
                    </a:srgbClr>
                  </a:outerShdw>
                </a:effectLst>
              </a:rPr>
              <a:t>Memory JMP</a:t>
            </a:r>
            <a:endParaRPr lang="en-US" sz="2400" dirty="0">
              <a:effectLst>
                <a:outerShdw blurRad="38100" dist="38100" dir="2700000" algn="tl">
                  <a:srgbClr val="000000">
                    <a:alpha val="43137"/>
                  </a:srgbClr>
                </a:outerShdw>
              </a:effectLst>
            </a:endParaRPr>
          </a:p>
        </p:txBody>
      </p:sp>
      <p:sp>
        <p:nvSpPr>
          <p:cNvPr id="38917" name="Rectangle 5"/>
          <p:cNvSpPr>
            <a:spLocks noGrp="1" noChangeArrowheads="1"/>
          </p:cNvSpPr>
          <p:nvPr>
            <p:ph idx="1"/>
          </p:nvPr>
        </p:nvSpPr>
        <p:spPr>
          <a:noFill/>
          <a:ln/>
        </p:spPr>
        <p:txBody>
          <a:bodyPr lIns="90488" tIns="44450" rIns="90488" bIns="44450">
            <a:normAutofit fontScale="92500" lnSpcReduction="10000"/>
          </a:bodyPr>
          <a:lstStyle/>
          <a:p>
            <a:r>
              <a:rPr lang="en-US" dirty="0" smtClean="0"/>
              <a:t>The referenced register contains a main memory address and the address field contains a displacement from that address</a:t>
            </a:r>
          </a:p>
          <a:p>
            <a:r>
              <a:rPr lang="en-US" dirty="0" smtClean="0"/>
              <a:t>The register reference may be explicit or implicit</a:t>
            </a:r>
          </a:p>
          <a:p>
            <a:r>
              <a:rPr lang="en-US" dirty="0" smtClean="0"/>
              <a:t>Exploits the locality of memory references</a:t>
            </a:r>
          </a:p>
          <a:p>
            <a:r>
              <a:rPr lang="en-US" dirty="0" smtClean="0"/>
              <a:t>Convenient means of implementing segmentation</a:t>
            </a:r>
          </a:p>
          <a:p>
            <a:r>
              <a:rPr lang="en-US" dirty="0" smtClean="0"/>
              <a:t>In some implementations a single segment base register is employed and is used implicitly</a:t>
            </a:r>
          </a:p>
          <a:p>
            <a:r>
              <a:rPr lang="en-US" dirty="0" smtClean="0"/>
              <a:t>In others the programmer may choose a register to hold the base address of a segment and the instruction must reference it explicitly</a:t>
            </a:r>
            <a:endParaRPr lang="en-US" dirty="0"/>
          </a:p>
        </p:txBody>
      </p:sp>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sp>
        <p:nvSpPr>
          <p:cNvPr id="7" name="Rectangle 6"/>
          <p:cNvSpPr/>
          <p:nvPr/>
        </p:nvSpPr>
        <p:spPr>
          <a:xfrm>
            <a:off x="5580112" y="1466614"/>
            <a:ext cx="2286844" cy="369332"/>
          </a:xfrm>
          <a:prstGeom prst="rect">
            <a:avLst/>
          </a:prstGeom>
        </p:spPr>
        <p:txBody>
          <a:bodyPr wrap="none">
            <a:spAutoFit/>
          </a:bodyPr>
          <a:lstStyle/>
          <a:p>
            <a:pPr lvl="0"/>
            <a:r>
              <a:rPr lang="en-US" sz="1800" dirty="0" smtClean="0">
                <a:solidFill>
                  <a:schemeClr val="accent2"/>
                </a:solidFill>
              </a:rPr>
              <a:t>PC </a:t>
            </a:r>
            <a:r>
              <a:rPr lang="en-US" sz="1800" dirty="0" smtClean="0">
                <a:solidFill>
                  <a:schemeClr val="accent2"/>
                </a:solidFill>
                <a:sym typeface="Wingdings" panose="05000000000000000000" pitchFamily="2" charset="2"/>
              </a:rPr>
              <a:t> Base R + Offset</a:t>
            </a:r>
          </a:p>
        </p:txBody>
      </p:sp>
    </p:spTree>
  </p:cSld>
  <p:clrMapOvr>
    <a:masterClrMapping/>
  </p:clrMapOvr>
  <p:transition spd="slow"/>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0963"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sp>
        <p:nvSpPr>
          <p:cNvPr id="40964" name="Rectangle 4"/>
          <p:cNvSpPr>
            <a:spLocks noGrp="1" noChangeArrowheads="1"/>
          </p:cNvSpPr>
          <p:nvPr>
            <p:ph type="title" idx="4294967295"/>
          </p:nvPr>
        </p:nvSpPr>
        <p:spPr>
          <a:xfrm>
            <a:off x="539552" y="332656"/>
            <a:ext cx="7556500" cy="1116013"/>
          </a:xfrm>
          <a:noFill/>
          <a:ln/>
        </p:spPr>
        <p:txBody>
          <a:bodyPr lIns="90488" tIns="44450" rIns="90488" bIns="44450"/>
          <a:lstStyle/>
          <a:p>
            <a:r>
              <a:rPr lang="en-US" dirty="0" smtClean="0">
                <a:effectLst>
                  <a:outerShdw blurRad="38100" dist="38100" dir="2700000" algn="tl">
                    <a:srgbClr val="000000">
                      <a:alpha val="43137"/>
                    </a:srgbClr>
                  </a:outerShdw>
                </a:effectLst>
              </a:rPr>
              <a:t>Indexing</a:t>
            </a:r>
            <a:endParaRPr lang="en-US" dirty="0">
              <a:effectLst>
                <a:outerShdw blurRad="38100" dist="38100" dir="2700000" algn="tl">
                  <a:srgbClr val="000000">
                    <a:alpha val="43137"/>
                  </a:srgbClr>
                </a:outerShdw>
              </a:effectLst>
            </a:endParaRPr>
          </a:p>
        </p:txBody>
      </p:sp>
      <p:sp>
        <p:nvSpPr>
          <p:cNvPr id="40965" name="Rectangle 5"/>
          <p:cNvSpPr>
            <a:spLocks noGrp="1" noChangeArrowheads="1"/>
          </p:cNvSpPr>
          <p:nvPr>
            <p:ph idx="4294967295"/>
          </p:nvPr>
        </p:nvSpPr>
        <p:spPr>
          <a:xfrm>
            <a:off x="539552" y="1268760"/>
            <a:ext cx="7554913" cy="5029200"/>
          </a:xfrm>
          <a:noFill/>
          <a:ln/>
        </p:spPr>
        <p:txBody>
          <a:bodyPr lIns="90488" tIns="44450" rIns="90488" bIns="44450">
            <a:normAutofit fontScale="77500" lnSpcReduction="20000"/>
          </a:bodyPr>
          <a:lstStyle/>
          <a:p>
            <a:r>
              <a:rPr lang="en-US" dirty="0" smtClean="0"/>
              <a:t>The address field references a main memory address and the referenced register contains a positive displacement from that address</a:t>
            </a:r>
          </a:p>
          <a:p>
            <a:r>
              <a:rPr lang="en-US" dirty="0" smtClean="0"/>
              <a:t>The method of calculating the EA is the same as for base-register addressing</a:t>
            </a:r>
          </a:p>
          <a:p>
            <a:r>
              <a:rPr lang="en-US" dirty="0" smtClean="0"/>
              <a:t>An important use is to provide an efficient mechanism for performing iterative operations</a:t>
            </a:r>
          </a:p>
          <a:p>
            <a:r>
              <a:rPr lang="en-US" dirty="0" smtClean="0"/>
              <a:t>Autoindexing</a:t>
            </a:r>
          </a:p>
          <a:p>
            <a:pPr lvl="1"/>
            <a:r>
              <a:rPr lang="en-US" dirty="0" smtClean="0"/>
              <a:t>Automatically increment or decrement the index register after each reference to it</a:t>
            </a:r>
          </a:p>
          <a:p>
            <a:pPr lvl="1"/>
            <a:r>
              <a:rPr lang="en-US" dirty="0" smtClean="0"/>
              <a:t>EA = A + (R)</a:t>
            </a:r>
          </a:p>
          <a:p>
            <a:pPr lvl="1"/>
            <a:r>
              <a:rPr lang="en-US" dirty="0" smtClean="0"/>
              <a:t>(R) </a:t>
            </a:r>
            <a:r>
              <a:rPr lang="en-US" dirty="0" smtClean="0">
                <a:latin typeface="Wingdings"/>
                <a:ea typeface="Wingdings"/>
                <a:cs typeface="Wingdings"/>
              </a:rPr>
              <a:t> </a:t>
            </a:r>
            <a:r>
              <a:rPr lang="en-US" dirty="0" smtClean="0">
                <a:ea typeface="Wingdings"/>
                <a:cs typeface="Wingdings"/>
              </a:rPr>
              <a:t>(R) + 1</a:t>
            </a:r>
            <a:endParaRPr lang="en-US" dirty="0" smtClean="0"/>
          </a:p>
          <a:p>
            <a:r>
              <a:rPr lang="en-US" dirty="0" smtClean="0"/>
              <a:t>Postindexing</a:t>
            </a:r>
          </a:p>
          <a:p>
            <a:pPr lvl="1"/>
            <a:r>
              <a:rPr lang="en-US" dirty="0" smtClean="0"/>
              <a:t>Indexing is performed after the indirection</a:t>
            </a:r>
          </a:p>
          <a:p>
            <a:pPr lvl="1"/>
            <a:r>
              <a:rPr lang="en-US" dirty="0" smtClean="0"/>
              <a:t>EA = (A) + (R)</a:t>
            </a:r>
          </a:p>
          <a:p>
            <a:r>
              <a:rPr lang="en-US" dirty="0" smtClean="0"/>
              <a:t>Preindexing</a:t>
            </a:r>
          </a:p>
          <a:p>
            <a:pPr lvl="1"/>
            <a:r>
              <a:rPr lang="en-US" dirty="0" smtClean="0"/>
              <a:t>Indexing is performed before the indirection</a:t>
            </a:r>
          </a:p>
          <a:p>
            <a:pPr lvl="1"/>
            <a:r>
              <a:rPr lang="en-US" dirty="0" smtClean="0"/>
              <a:t>EA = (A + (R))</a:t>
            </a:r>
          </a:p>
          <a:p>
            <a:endParaRPr lang="en-US" dirty="0"/>
          </a:p>
        </p:txBody>
      </p:sp>
      <p:pic>
        <p:nvPicPr>
          <p:cNvPr id="4" name="Picture 3"/>
          <p:cNvPicPr>
            <a:picLocks noChangeAspect="1"/>
          </p:cNvPicPr>
          <p:nvPr/>
        </p:nvPicPr>
        <p:blipFill>
          <a:blip r:embed="rId3">
            <a:extLst>
              <a:ext uri="{BEBA8EAE-BF5A-486C-A8C5-ECC9F3942E4B}">
                <a14:imgProps xmlns:a14="http://schemas.microsoft.com/office/drawing/2010/main">
                  <a14:imgLayer r:embed="rId4">
                    <a14:imgEffect>
                      <a14:backgroundRemoval t="4000" b="94476" l="10000" r="90000"/>
                    </a14:imgEffect>
                  </a14:imgLayer>
                </a14:imgProps>
              </a:ext>
            </a:extLst>
          </a:blip>
          <a:stretch>
            <a:fillRect/>
          </a:stretch>
        </p:blipFill>
        <p:spPr>
          <a:xfrm>
            <a:off x="6444208" y="4149080"/>
            <a:ext cx="2552328" cy="2552328"/>
          </a:xfrm>
          <a:prstGeom prst="rect">
            <a:avLst/>
          </a:prstGeom>
        </p:spPr>
      </p:pic>
    </p:spTree>
  </p:cSld>
  <p:clrMapOvr>
    <a:masterClrMapping/>
  </p:clrMapOvr>
  <p:transition spd="slow"/>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5059"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5060" name="Rectangle 4"/>
          <p:cNvSpPr>
            <a:spLocks noGrp="1" noChangeArrowheads="1"/>
          </p:cNvSpPr>
          <p:nvPr>
            <p:ph type="title"/>
          </p:nvPr>
        </p:nvSpPr>
        <p:spPr>
          <a:noFill/>
          <a:ln/>
        </p:spPr>
        <p:txBody>
          <a:bodyPr lIns="90488" tIns="44450" rIns="90488" bIns="44450"/>
          <a:lstStyle/>
          <a:p>
            <a:r>
              <a:rPr lang="en-US" dirty="0">
                <a:effectLst>
                  <a:outerShdw blurRad="38100" dist="38100" dir="2700000" algn="tl">
                    <a:srgbClr val="000000">
                      <a:alpha val="43137"/>
                    </a:srgbClr>
                  </a:outerShdw>
                </a:effectLst>
              </a:rPr>
              <a:t>Stack Addressing</a:t>
            </a:r>
          </a:p>
        </p:txBody>
      </p:sp>
      <p:sp>
        <p:nvSpPr>
          <p:cNvPr id="45061" name="Rectangle 5"/>
          <p:cNvSpPr>
            <a:spLocks noGrp="1" noChangeArrowheads="1"/>
          </p:cNvSpPr>
          <p:nvPr>
            <p:ph idx="1"/>
          </p:nvPr>
        </p:nvSpPr>
        <p:spPr>
          <a:noFill/>
          <a:ln/>
        </p:spPr>
        <p:txBody>
          <a:bodyPr lIns="90488" tIns="44450" rIns="90488" bIns="44450">
            <a:normAutofit/>
          </a:bodyPr>
          <a:lstStyle/>
          <a:p>
            <a:pPr>
              <a:lnSpc>
                <a:spcPct val="80000"/>
              </a:lnSpc>
            </a:pPr>
            <a:r>
              <a:rPr lang="en-US" sz="1600" dirty="0" smtClean="0"/>
              <a:t>A stack is a linear array of locations</a:t>
            </a:r>
          </a:p>
          <a:p>
            <a:pPr lvl="1">
              <a:lnSpc>
                <a:spcPct val="80000"/>
              </a:lnSpc>
            </a:pPr>
            <a:r>
              <a:rPr lang="en-US" sz="1400" dirty="0" smtClean="0"/>
              <a:t>Sometimes referred to as a </a:t>
            </a:r>
            <a:r>
              <a:rPr lang="en-US" sz="1400" i="1" dirty="0" smtClean="0"/>
              <a:t>pushdown list </a:t>
            </a:r>
            <a:r>
              <a:rPr lang="en-US" sz="1400" dirty="0" smtClean="0"/>
              <a:t>or </a:t>
            </a:r>
            <a:r>
              <a:rPr lang="en-US" sz="1400" b="1" i="1" dirty="0" smtClean="0"/>
              <a:t>last-in-first-out queue</a:t>
            </a:r>
          </a:p>
          <a:p>
            <a:pPr>
              <a:lnSpc>
                <a:spcPct val="80000"/>
              </a:lnSpc>
            </a:pPr>
            <a:r>
              <a:rPr lang="en-US" sz="1600" dirty="0" smtClean="0"/>
              <a:t>A stack is a reserved block of locations</a:t>
            </a:r>
          </a:p>
          <a:p>
            <a:pPr lvl="1">
              <a:lnSpc>
                <a:spcPct val="80000"/>
              </a:lnSpc>
            </a:pPr>
            <a:r>
              <a:rPr lang="en-US" sz="1400" dirty="0" smtClean="0"/>
              <a:t>Items are appended to the top of the stack so that the block is partially filled</a:t>
            </a:r>
          </a:p>
          <a:p>
            <a:pPr>
              <a:lnSpc>
                <a:spcPct val="80000"/>
              </a:lnSpc>
            </a:pPr>
            <a:r>
              <a:rPr lang="en-US" sz="1600" dirty="0" smtClean="0"/>
              <a:t>Associated with the stack is a pointer whose value is the address of the top of the stack</a:t>
            </a:r>
          </a:p>
          <a:p>
            <a:pPr lvl="1">
              <a:lnSpc>
                <a:spcPct val="80000"/>
              </a:lnSpc>
            </a:pPr>
            <a:r>
              <a:rPr lang="en-US" sz="1400" dirty="0" smtClean="0"/>
              <a:t>The stack pointer is maintained in a register</a:t>
            </a:r>
          </a:p>
          <a:p>
            <a:pPr lvl="1">
              <a:lnSpc>
                <a:spcPct val="80000"/>
              </a:lnSpc>
            </a:pPr>
            <a:r>
              <a:rPr lang="en-US" sz="1400" dirty="0" smtClean="0"/>
              <a:t>Thus references to stack locations in memory are in fact register indirect addresses</a:t>
            </a:r>
          </a:p>
          <a:p>
            <a:pPr marL="228600" lvl="1">
              <a:lnSpc>
                <a:spcPct val="80000"/>
              </a:lnSpc>
              <a:spcBef>
                <a:spcPts val="2000"/>
              </a:spcBef>
              <a:buClr>
                <a:schemeClr val="accent1"/>
              </a:buClr>
            </a:pPr>
            <a:r>
              <a:rPr lang="en-US" sz="1600" dirty="0" smtClean="0"/>
              <a:t>Is a form of implied addressing</a:t>
            </a:r>
          </a:p>
          <a:p>
            <a:pPr marL="228600" lvl="1">
              <a:lnSpc>
                <a:spcPct val="80000"/>
              </a:lnSpc>
              <a:spcBef>
                <a:spcPts val="2000"/>
              </a:spcBef>
              <a:buClr>
                <a:schemeClr val="accent1"/>
              </a:buClr>
            </a:pPr>
            <a:r>
              <a:rPr lang="en-US" sz="1600" dirty="0" smtClean="0"/>
              <a:t>The machine instructions need not include a memory                           reference but implicitly operate on the top of the stack</a:t>
            </a:r>
          </a:p>
        </p:txBody>
      </p:sp>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pic>
        <p:nvPicPr>
          <p:cNvPr id="3" name="Picture 2"/>
          <p:cNvPicPr>
            <a:picLocks noChangeAspect="1"/>
          </p:cNvPicPr>
          <p:nvPr/>
        </p:nvPicPr>
        <p:blipFill>
          <a:blip r:embed="rId3">
            <a:lum bright="20000" contrast="-40000"/>
          </a:blip>
          <a:stretch>
            <a:fillRect/>
          </a:stretch>
        </p:blipFill>
        <p:spPr>
          <a:xfrm>
            <a:off x="6853883" y="4610100"/>
            <a:ext cx="2311400" cy="2247900"/>
          </a:xfrm>
          <a:prstGeom prst="rect">
            <a:avLst/>
          </a:prstGeom>
        </p:spPr>
      </p:pic>
    </p:spTree>
  </p:cSld>
  <p:clrMapOvr>
    <a:masterClrMapping/>
  </p:clrMapOvr>
  <p:transition spd="slow"/>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pic>
        <p:nvPicPr>
          <p:cNvPr id="3" name="Picture 2" descr="f2.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512" y="-459432"/>
            <a:ext cx="9217024" cy="7122245"/>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a:fillRect/>
          </a:stretch>
        </p:blipFill>
        <p:spPr>
          <a:xfrm>
            <a:off x="19956" y="4869160"/>
            <a:ext cx="5943600" cy="1587500"/>
          </a:xfrm>
          <a:prstGeom prst="rect">
            <a:avLst/>
          </a:prstGeom>
        </p:spPr>
      </p:pic>
      <p:sp>
        <p:nvSpPr>
          <p:cNvPr id="3" name="Footer Placeholder 2"/>
          <p:cNvSpPr>
            <a:spLocks noGrp="1"/>
          </p:cNvSpPr>
          <p:nvPr>
            <p:ph type="ftr" sz="quarter" idx="11"/>
          </p:nvPr>
        </p:nvSpPr>
        <p:spPr/>
        <p:txBody>
          <a:bodyPr/>
          <a:lstStyle/>
          <a:p>
            <a:r>
              <a:rPr lang="en-US" dirty="0" smtClean="0"/>
              <a:t>© 2016 Pearson Education, Inc., Hoboken, NJ. All rights reserved.</a:t>
            </a:r>
            <a:endParaRPr lang="en-US" dirty="0"/>
          </a:p>
        </p:txBody>
      </p:sp>
      <p:pic>
        <p:nvPicPr>
          <p:cNvPr id="5" name="Picture 4"/>
          <p:cNvPicPr>
            <a:picLocks noChangeAspect="1"/>
          </p:cNvPicPr>
          <p:nvPr/>
        </p:nvPicPr>
        <p:blipFill>
          <a:blip r:embed="rId4"/>
          <a:stretch>
            <a:fillRect/>
          </a:stretch>
        </p:blipFill>
        <p:spPr>
          <a:xfrm>
            <a:off x="251520" y="1196752"/>
            <a:ext cx="8584572" cy="3845173"/>
          </a:xfrm>
          <a:prstGeom prst="rect">
            <a:avLst/>
          </a:prstGeom>
        </p:spPr>
      </p:pic>
      <p:sp>
        <p:nvSpPr>
          <p:cNvPr id="6" name="Rectangle 5"/>
          <p:cNvSpPr/>
          <p:nvPr/>
        </p:nvSpPr>
        <p:spPr>
          <a:xfrm>
            <a:off x="2267744" y="116632"/>
            <a:ext cx="4572000" cy="954107"/>
          </a:xfrm>
          <a:prstGeom prst="rect">
            <a:avLst/>
          </a:prstGeom>
        </p:spPr>
        <p:txBody>
          <a:bodyPr>
            <a:spAutoFit/>
          </a:bodyPr>
          <a:lstStyle/>
          <a:p>
            <a:pPr algn="ctr"/>
            <a:r>
              <a:rPr lang="en-US" sz="2800" dirty="0">
                <a:latin typeface="+mn-lt"/>
              </a:rPr>
              <a:t>Table 13.2  </a:t>
            </a:r>
            <a:endParaRPr lang="en-US" sz="2800" dirty="0" smtClean="0">
              <a:latin typeface="+mn-lt"/>
            </a:endParaRPr>
          </a:p>
          <a:p>
            <a:pPr algn="ctr"/>
            <a:r>
              <a:rPr lang="en-US" sz="2800" dirty="0" smtClean="0">
                <a:latin typeface="+mn-lt"/>
              </a:rPr>
              <a:t>x86 </a:t>
            </a:r>
            <a:r>
              <a:rPr lang="en-US" sz="2800" dirty="0">
                <a:latin typeface="+mn-lt"/>
              </a:rPr>
              <a:t>Addressing Modes </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idx="4294967295"/>
          </p:nvPr>
        </p:nvSpPr>
        <p:spPr>
          <a:xfrm>
            <a:off x="304800" y="228600"/>
            <a:ext cx="7556500" cy="1116013"/>
          </a:xfrm>
        </p:spPr>
        <p:txBody>
          <a:bodyPr/>
          <a:lstStyle/>
          <a:p>
            <a:r>
              <a:rPr lang="en-US" dirty="0">
                <a:effectLst>
                  <a:outerShdw blurRad="38100" dist="38100" dir="2700000" algn="tl">
                    <a:srgbClr val="000000">
                      <a:alpha val="43137"/>
                    </a:srgbClr>
                  </a:outerShdw>
                </a:effectLst>
              </a:rPr>
              <a:t>Instruction Formats</a:t>
            </a:r>
          </a:p>
        </p:txBody>
      </p:sp>
      <p:graphicFrame>
        <p:nvGraphicFramePr>
          <p:cNvPr id="4" name="Content Placeholder 3"/>
          <p:cNvGraphicFramePr>
            <a:graphicFrameLocks noGrp="1"/>
          </p:cNvGraphicFramePr>
          <p:nvPr>
            <p:ph idx="4294967295"/>
            <p:extLst>
              <p:ext uri="{D42A27DB-BD31-4B8C-83A1-F6EECF244321}">
                <p14:modId xmlns:p14="http://schemas.microsoft.com/office/powerpoint/2010/main" val="3603428657"/>
              </p:ext>
            </p:extLst>
          </p:nvPr>
        </p:nvGraphicFramePr>
        <p:xfrm>
          <a:off x="539552" y="1268760"/>
          <a:ext cx="8077200" cy="4906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smtClean="0"/>
              <a:t>© 2016 Pearson Education, Inc., Hoboken, NJ. All rights reserved.</a:t>
            </a:r>
            <a:endParaRPr lang="en-US" dirty="0"/>
          </a:p>
        </p:txBody>
      </p:sp>
      <p:pic>
        <p:nvPicPr>
          <p:cNvPr id="4" name="Picture 3"/>
          <p:cNvPicPr>
            <a:picLocks noChangeAspect="1"/>
          </p:cNvPicPr>
          <p:nvPr/>
        </p:nvPicPr>
        <p:blipFill>
          <a:blip r:embed="rId2"/>
          <a:stretch>
            <a:fillRect/>
          </a:stretch>
        </p:blipFill>
        <p:spPr>
          <a:xfrm>
            <a:off x="60846" y="2276872"/>
            <a:ext cx="9077325" cy="3228975"/>
          </a:xfrm>
          <a:prstGeom prst="rect">
            <a:avLst/>
          </a:prstGeom>
        </p:spPr>
      </p:pic>
      <p:sp>
        <p:nvSpPr>
          <p:cNvPr id="5" name="Rectangle 2"/>
          <p:cNvSpPr txBox="1">
            <a:spLocks noChangeArrowheads="1"/>
          </p:cNvSpPr>
          <p:nvPr/>
        </p:nvSpPr>
        <p:spPr>
          <a:xfrm>
            <a:off x="395536" y="701990"/>
            <a:ext cx="7556500" cy="1116013"/>
          </a:xfrm>
          <a:prstGeom prst="rect">
            <a:avLst/>
          </a:prstGeom>
        </p:spPr>
        <p:txBody>
          <a:bodyPr vert="horz" lIns="91440" tIns="45720" rIns="91440" bIns="45720" rtlCol="0" anchor="t" anchorCtr="0">
            <a:noAutofit/>
          </a:bodyPr>
          <a:lstStyle>
            <a:lvl1pPr algn="l" defTabSz="914400" rtl="0" eaLnBrk="1" latinLnBrk="0" hangingPunct="1">
              <a:spcBef>
                <a:spcPct val="0"/>
              </a:spcBef>
              <a:buNone/>
              <a:defRPr sz="3600" b="0" kern="1200">
                <a:solidFill>
                  <a:schemeClr val="accent1"/>
                </a:solidFill>
                <a:latin typeface="+mj-lt"/>
                <a:ea typeface="+mj-ea"/>
                <a:cs typeface="+mj-cs"/>
              </a:defRPr>
            </a:lvl1pPr>
          </a:lstStyle>
          <a:p>
            <a:pPr fontAlgn="auto">
              <a:spcAft>
                <a:spcPts val="0"/>
              </a:spcAft>
            </a:pPr>
            <a:r>
              <a:rPr lang="en-US" dirty="0" smtClean="0">
                <a:effectLst>
                  <a:outerShdw blurRad="38100" dist="38100" dir="2700000" algn="tl">
                    <a:srgbClr val="000000">
                      <a:alpha val="43137"/>
                    </a:srgbClr>
                  </a:outerShdw>
                </a:effectLst>
              </a:rPr>
              <a:t>Instruction Format</a:t>
            </a:r>
            <a:endParaRPr lang="en-US"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9967121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050"/>
          <p:cNvSpPr>
            <a:spLocks noGrp="1" noChangeArrowheads="1"/>
          </p:cNvSpPr>
          <p:nvPr>
            <p:ph type="title"/>
          </p:nvPr>
        </p:nvSpPr>
        <p:spPr>
          <a:xfrm>
            <a:off x="762000" y="533400"/>
            <a:ext cx="7556313" cy="1116106"/>
          </a:xfrm>
        </p:spPr>
        <p:txBody>
          <a:bodyPr/>
          <a:lstStyle/>
          <a:p>
            <a:r>
              <a:rPr lang="en-US" dirty="0">
                <a:effectLst>
                  <a:outerShdw blurRad="38100" dist="38100" dir="2700000" algn="tl">
                    <a:srgbClr val="000000">
                      <a:alpha val="43137"/>
                    </a:srgbClr>
                  </a:outerShdw>
                </a:effectLst>
              </a:rPr>
              <a:t>Instruction Length</a:t>
            </a:r>
          </a:p>
        </p:txBody>
      </p:sp>
      <p:sp>
        <p:nvSpPr>
          <p:cNvPr id="107523" name="Rectangle 2051"/>
          <p:cNvSpPr>
            <a:spLocks noGrp="1" noChangeArrowheads="1"/>
          </p:cNvSpPr>
          <p:nvPr>
            <p:ph idx="1"/>
          </p:nvPr>
        </p:nvSpPr>
        <p:spPr>
          <a:xfrm>
            <a:off x="498474" y="1600200"/>
            <a:ext cx="7556313" cy="4525963"/>
          </a:xfrm>
        </p:spPr>
        <p:txBody>
          <a:bodyPr>
            <a:normAutofit/>
          </a:bodyPr>
          <a:lstStyle/>
          <a:p>
            <a:r>
              <a:rPr lang="en-US" dirty="0" smtClean="0"/>
              <a:t>Most basic design issue</a:t>
            </a:r>
          </a:p>
          <a:p>
            <a:r>
              <a:rPr lang="en-US" dirty="0" smtClean="0"/>
              <a:t>Affects, and is affected by:</a:t>
            </a:r>
          </a:p>
          <a:p>
            <a:pPr lvl="1"/>
            <a:r>
              <a:rPr lang="en-US" dirty="0" smtClean="0"/>
              <a:t>Memory size</a:t>
            </a:r>
          </a:p>
          <a:p>
            <a:pPr lvl="1"/>
            <a:r>
              <a:rPr lang="en-US" dirty="0" smtClean="0"/>
              <a:t>Memory organization</a:t>
            </a:r>
          </a:p>
          <a:p>
            <a:pPr lvl="1"/>
            <a:r>
              <a:rPr lang="en-US" dirty="0" smtClean="0"/>
              <a:t>Bus structure</a:t>
            </a:r>
          </a:p>
          <a:p>
            <a:pPr lvl="1"/>
            <a:r>
              <a:rPr lang="en-US" dirty="0" smtClean="0"/>
              <a:t>Processor complexity</a:t>
            </a:r>
          </a:p>
          <a:p>
            <a:pPr lvl="1"/>
            <a:r>
              <a:rPr lang="en-US" dirty="0" smtClean="0"/>
              <a:t>Processor speed</a:t>
            </a:r>
          </a:p>
          <a:p>
            <a:pPr marL="228600" lvl="1">
              <a:spcBef>
                <a:spcPts val="2000"/>
              </a:spcBef>
              <a:buClr>
                <a:schemeClr val="accent1"/>
              </a:buClr>
            </a:pPr>
            <a:r>
              <a:rPr lang="en-US" sz="2000" dirty="0" smtClean="0"/>
              <a:t>Should be equal to the memory-transfer length or one should be a multiple of the other</a:t>
            </a:r>
          </a:p>
          <a:p>
            <a:pPr marL="228600" lvl="1">
              <a:spcBef>
                <a:spcPts val="2000"/>
              </a:spcBef>
              <a:buClr>
                <a:schemeClr val="accent1"/>
              </a:buClr>
            </a:pPr>
            <a:r>
              <a:rPr lang="en-US" sz="2000" dirty="0" smtClean="0"/>
              <a:t>Should be a multiple of the character length, which is usually 8 bits, and of the length of fixed-point numbers</a:t>
            </a:r>
          </a:p>
        </p:txBody>
      </p:sp>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sp>
        <p:nvSpPr>
          <p:cNvPr id="108546" name="Rectangle 2"/>
          <p:cNvSpPr>
            <a:spLocks noGrp="1" noChangeArrowheads="1"/>
          </p:cNvSpPr>
          <p:nvPr>
            <p:ph type="title" idx="4294967295"/>
          </p:nvPr>
        </p:nvSpPr>
        <p:spPr>
          <a:xfrm>
            <a:off x="395536" y="260648"/>
            <a:ext cx="7556500" cy="1116013"/>
          </a:xfrm>
        </p:spPr>
        <p:txBody>
          <a:bodyPr/>
          <a:lstStyle/>
          <a:p>
            <a:r>
              <a:rPr lang="en-US" sz="4400" dirty="0">
                <a:effectLst>
                  <a:outerShdw blurRad="38100" dist="38100" dir="2700000" algn="tl">
                    <a:srgbClr val="000000">
                      <a:alpha val="43137"/>
                    </a:srgbClr>
                  </a:outerShdw>
                </a:effectLst>
              </a:rPr>
              <a:t>Allocation of Bits</a:t>
            </a:r>
          </a:p>
        </p:txBody>
      </p:sp>
      <p:graphicFrame>
        <p:nvGraphicFramePr>
          <p:cNvPr id="11" name="Content Placeholder 10"/>
          <p:cNvGraphicFramePr>
            <a:graphicFrameLocks noGrp="1"/>
          </p:cNvGraphicFramePr>
          <p:nvPr>
            <p:ph idx="4294967295"/>
            <p:extLst>
              <p:ext uri="{D42A27DB-BD31-4B8C-83A1-F6EECF244321}">
                <p14:modId xmlns:p14="http://schemas.microsoft.com/office/powerpoint/2010/main" val="3765616690"/>
              </p:ext>
            </p:extLst>
          </p:nvPr>
        </p:nvGraphicFramePr>
        <p:xfrm>
          <a:off x="198086" y="1084082"/>
          <a:ext cx="8694394" cy="500921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pic>
        <p:nvPicPr>
          <p:cNvPr id="3" name="Picture 2" descr="f5.pdf"/>
          <p:cNvPicPr>
            <a:picLocks noChangeAspect="1"/>
          </p:cNvPicPr>
          <p:nvPr/>
        </p:nvPicPr>
        <p:blipFill rotWithShape="1">
          <a:blip r:embed="rId3">
            <a:extLst>
              <a:ext uri="{28A0092B-C50C-407E-A947-70E740481C1C}">
                <a14:useLocalDpi xmlns:a14="http://schemas.microsoft.com/office/drawing/2010/main" val="0"/>
              </a:ext>
            </a:extLst>
          </a:blip>
          <a:srcRect t="5946" b="27458"/>
          <a:stretch/>
        </p:blipFill>
        <p:spPr>
          <a:xfrm>
            <a:off x="539552" y="-99392"/>
            <a:ext cx="8072821" cy="6957392"/>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dirty="0" smtClean="0"/>
              <a:t>PDP – Programmed Data Processor – 8/12 bit minicomputer developed by DEC.</a:t>
            </a:r>
          </a:p>
          <a:p>
            <a:r>
              <a:rPr lang="en-US" dirty="0" smtClean="0"/>
              <a:t>PDP 10 – 36 bit </a:t>
            </a:r>
            <a:r>
              <a:rPr lang="en-US" dirty="0" err="1" smtClean="0"/>
              <a:t>maiframe</a:t>
            </a:r>
            <a:endParaRPr lang="en-US" dirty="0"/>
          </a:p>
        </p:txBody>
      </p:sp>
      <p:pic>
        <p:nvPicPr>
          <p:cNvPr id="3" name="Picture 2" descr="f6.pdf"/>
          <p:cNvPicPr>
            <a:picLocks noChangeAspect="1"/>
          </p:cNvPicPr>
          <p:nvPr/>
        </p:nvPicPr>
        <p:blipFill rotWithShape="1">
          <a:blip r:embed="rId3">
            <a:extLst>
              <a:ext uri="{28A0092B-C50C-407E-A947-70E740481C1C}">
                <a14:useLocalDpi xmlns:a14="http://schemas.microsoft.com/office/drawing/2010/main" val="0"/>
              </a:ext>
            </a:extLst>
          </a:blip>
          <a:srcRect l="6404" t="5776" r="5632" b="60926"/>
          <a:stretch/>
        </p:blipFill>
        <p:spPr>
          <a:xfrm>
            <a:off x="0" y="980728"/>
            <a:ext cx="9283975" cy="2715621"/>
          </a:xfrm>
          <a:prstGeom prst="rect">
            <a:avLst/>
          </a:prstGeom>
        </p:spPr>
      </p:pic>
      <p:pic>
        <p:nvPicPr>
          <p:cNvPr id="5" name="Picture 4"/>
          <p:cNvPicPr>
            <a:picLocks noChangeAspect="1"/>
          </p:cNvPicPr>
          <p:nvPr/>
        </p:nvPicPr>
        <p:blipFill>
          <a:blip r:embed="rId4"/>
          <a:stretch>
            <a:fillRect/>
          </a:stretch>
        </p:blipFill>
        <p:spPr>
          <a:xfrm>
            <a:off x="971600" y="3284984"/>
            <a:ext cx="7058025" cy="1914525"/>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568" y="620688"/>
            <a:ext cx="7556313" cy="1116106"/>
          </a:xfrm>
        </p:spPr>
        <p:txBody>
          <a:bodyPr/>
          <a:lstStyle/>
          <a:p>
            <a:r>
              <a:rPr lang="en-US" dirty="0" smtClean="0">
                <a:effectLst>
                  <a:outerShdw blurRad="38100" dist="38100" dir="2700000" algn="tl">
                    <a:srgbClr val="000000">
                      <a:alpha val="43137"/>
                    </a:srgbClr>
                  </a:outerShdw>
                </a:effectLst>
              </a:rPr>
              <a:t>Variable-Length Instructions</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683568" y="2060848"/>
            <a:ext cx="7556313" cy="4144963"/>
          </a:xfrm>
        </p:spPr>
        <p:txBody>
          <a:bodyPr/>
          <a:lstStyle/>
          <a:p>
            <a:r>
              <a:rPr lang="en-US" dirty="0" smtClean="0"/>
              <a:t>Variations can be provided efficiently and compactly</a:t>
            </a:r>
          </a:p>
          <a:p>
            <a:r>
              <a:rPr lang="en-US" dirty="0" smtClean="0"/>
              <a:t>Increases the complexity of the processor</a:t>
            </a:r>
          </a:p>
          <a:p>
            <a:r>
              <a:rPr lang="en-US" dirty="0" smtClean="0"/>
              <a:t>Does not remove the desirability of making all of the instruction lengths integrally related to word length</a:t>
            </a:r>
          </a:p>
          <a:p>
            <a:pPr lvl="1"/>
            <a:r>
              <a:rPr lang="en-US" dirty="0" smtClean="0"/>
              <a:t>Because the processor does not know the length of the next instruction to be fetched a typical strategy is to fetch a number of bytes or words equal to at least the longest possible instruction</a:t>
            </a:r>
          </a:p>
          <a:p>
            <a:pPr lvl="1"/>
            <a:r>
              <a:rPr lang="en-US" dirty="0" smtClean="0"/>
              <a:t>Sometimes multiple instructions are fetched</a:t>
            </a:r>
            <a:endParaRPr lang="en-US" dirty="0"/>
          </a:p>
        </p:txBody>
      </p:sp>
      <p:sp>
        <p:nvSpPr>
          <p:cNvPr id="4" name="Footer Placeholder 3"/>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pic>
        <p:nvPicPr>
          <p:cNvPr id="3" name="Picture 2" descr="f7.pdf"/>
          <p:cNvPicPr>
            <a:picLocks noChangeAspect="1"/>
          </p:cNvPicPr>
          <p:nvPr/>
        </p:nvPicPr>
        <p:blipFill rotWithShape="1">
          <a:blip r:embed="rId3">
            <a:extLst>
              <a:ext uri="{28A0092B-C50C-407E-A947-70E740481C1C}">
                <a14:useLocalDpi xmlns:a14="http://schemas.microsoft.com/office/drawing/2010/main" val="0"/>
              </a:ext>
            </a:extLst>
          </a:blip>
          <a:srcRect t="6456" b="11828"/>
          <a:stretch/>
        </p:blipFill>
        <p:spPr>
          <a:xfrm>
            <a:off x="1475656" y="0"/>
            <a:ext cx="6264696" cy="6624913"/>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762000" y="228600"/>
            <a:ext cx="4073526" cy="1116106"/>
          </a:xfrm>
        </p:spPr>
        <p:txBody>
          <a:bodyPr>
            <a:normAutofit/>
          </a:bodyPr>
          <a:lstStyle/>
          <a:p>
            <a:r>
              <a:rPr lang="en-US" sz="4400" dirty="0" smtClean="0"/>
              <a:t>Summary</a:t>
            </a:r>
            <a:endParaRPr lang="en-US" sz="4400" dirty="0"/>
          </a:p>
        </p:txBody>
      </p:sp>
      <p:sp>
        <p:nvSpPr>
          <p:cNvPr id="30" name="Content Placeholder 29"/>
          <p:cNvSpPr>
            <a:spLocks noGrp="1"/>
          </p:cNvSpPr>
          <p:nvPr>
            <p:ph sz="half" idx="2"/>
          </p:nvPr>
        </p:nvSpPr>
        <p:spPr>
          <a:xfrm>
            <a:off x="497541" y="2667000"/>
            <a:ext cx="3657600" cy="4191000"/>
          </a:xfrm>
        </p:spPr>
        <p:txBody>
          <a:bodyPr>
            <a:normAutofit/>
          </a:bodyPr>
          <a:lstStyle/>
          <a:p>
            <a:r>
              <a:rPr lang="en-US" sz="1765" dirty="0" smtClean="0"/>
              <a:t>Addressing modes</a:t>
            </a:r>
          </a:p>
          <a:p>
            <a:pPr lvl="1"/>
            <a:r>
              <a:rPr lang="en-US" sz="1765" dirty="0" smtClean="0"/>
              <a:t>Immediate addressing</a:t>
            </a:r>
          </a:p>
          <a:p>
            <a:pPr lvl="1"/>
            <a:r>
              <a:rPr lang="en-US" sz="1765" dirty="0" smtClean="0"/>
              <a:t>Direct addressing</a:t>
            </a:r>
          </a:p>
          <a:p>
            <a:pPr lvl="1"/>
            <a:r>
              <a:rPr lang="en-US" sz="1765" dirty="0" smtClean="0"/>
              <a:t>Indirect addressing</a:t>
            </a:r>
          </a:p>
          <a:p>
            <a:pPr lvl="1"/>
            <a:r>
              <a:rPr lang="en-US" sz="1765" dirty="0" smtClean="0"/>
              <a:t>Register addressing</a:t>
            </a:r>
          </a:p>
          <a:p>
            <a:pPr lvl="1"/>
            <a:r>
              <a:rPr lang="en-US" sz="1765" dirty="0" smtClean="0"/>
              <a:t>Register indirect addressing</a:t>
            </a:r>
          </a:p>
          <a:p>
            <a:pPr lvl="1"/>
            <a:r>
              <a:rPr lang="en-US" sz="1765" dirty="0" smtClean="0"/>
              <a:t>Displacement addressing </a:t>
            </a:r>
          </a:p>
          <a:p>
            <a:pPr lvl="1"/>
            <a:r>
              <a:rPr lang="en-US" sz="1765" dirty="0" smtClean="0"/>
              <a:t>Stack addressing</a:t>
            </a:r>
          </a:p>
          <a:p>
            <a:pPr marL="228600" lvl="1">
              <a:spcBef>
                <a:spcPts val="2000"/>
              </a:spcBef>
              <a:buClr>
                <a:schemeClr val="accent1"/>
              </a:buClr>
            </a:pPr>
            <a:r>
              <a:rPr lang="en-US" sz="1765" dirty="0"/>
              <a:t>Assembly language</a:t>
            </a:r>
          </a:p>
        </p:txBody>
      </p:sp>
      <p:sp>
        <p:nvSpPr>
          <p:cNvPr id="32" name="Content Placeholder 31"/>
          <p:cNvSpPr>
            <a:spLocks noGrp="1"/>
          </p:cNvSpPr>
          <p:nvPr>
            <p:ph sz="quarter" idx="4"/>
          </p:nvPr>
        </p:nvSpPr>
        <p:spPr>
          <a:xfrm>
            <a:off x="4800600" y="2286000"/>
            <a:ext cx="3657600" cy="4114800"/>
          </a:xfrm>
        </p:spPr>
        <p:txBody>
          <a:bodyPr>
            <a:normAutofit/>
          </a:bodyPr>
          <a:lstStyle/>
          <a:p>
            <a:r>
              <a:rPr lang="en-US" sz="1765" dirty="0" smtClean="0"/>
              <a:t>x86 addressing modes</a:t>
            </a:r>
          </a:p>
          <a:p>
            <a:r>
              <a:rPr lang="en-US" sz="1765" dirty="0" smtClean="0"/>
              <a:t>ARM addressing modes</a:t>
            </a:r>
          </a:p>
          <a:p>
            <a:r>
              <a:rPr lang="en-US" sz="1765" dirty="0" smtClean="0"/>
              <a:t>Instruction formats</a:t>
            </a:r>
          </a:p>
          <a:p>
            <a:pPr lvl="1"/>
            <a:r>
              <a:rPr lang="en-US" sz="1765" dirty="0" smtClean="0"/>
              <a:t>Instruction length</a:t>
            </a:r>
          </a:p>
          <a:p>
            <a:pPr lvl="1"/>
            <a:r>
              <a:rPr lang="en-US" sz="1765" dirty="0" smtClean="0"/>
              <a:t>Allocation of bits</a:t>
            </a:r>
          </a:p>
          <a:p>
            <a:pPr lvl="1"/>
            <a:r>
              <a:rPr lang="en-US" sz="1765" dirty="0" smtClean="0"/>
              <a:t>Variable-length instructions</a:t>
            </a:r>
          </a:p>
        </p:txBody>
      </p:sp>
      <p:sp>
        <p:nvSpPr>
          <p:cNvPr id="44035" name="Rectangle 3"/>
          <p:cNvSpPr>
            <a:spLocks noGrp="1" noChangeArrowheads="1"/>
          </p:cNvSpPr>
          <p:nvPr>
            <p:ph type="body" idx="1"/>
          </p:nvPr>
        </p:nvSpPr>
        <p:spPr>
          <a:xfrm>
            <a:off x="497541" y="1295400"/>
            <a:ext cx="3657600" cy="1098177"/>
          </a:xfrm>
        </p:spPr>
        <p:txBody>
          <a:bodyPr>
            <a:normAutofit/>
          </a:bodyPr>
          <a:lstStyle/>
          <a:p>
            <a:r>
              <a:rPr lang="en-US" dirty="0" smtClean="0"/>
              <a:t>    </a:t>
            </a:r>
          </a:p>
          <a:p>
            <a:endParaRPr lang="en-US" sz="800" dirty="0" smtClean="0"/>
          </a:p>
          <a:p>
            <a:endParaRPr lang="en-US" sz="800" dirty="0" smtClean="0"/>
          </a:p>
          <a:p>
            <a:r>
              <a:rPr lang="en-US" sz="3200" dirty="0" smtClean="0"/>
              <a:t>Chapter 13     </a:t>
            </a:r>
          </a:p>
          <a:p>
            <a:endParaRPr lang="en-US" sz="3200" dirty="0"/>
          </a:p>
        </p:txBody>
      </p:sp>
      <p:sp>
        <p:nvSpPr>
          <p:cNvPr id="31" name="Text Placeholder 30"/>
          <p:cNvSpPr>
            <a:spLocks noGrp="1"/>
          </p:cNvSpPr>
          <p:nvPr>
            <p:ph type="body" sz="quarter" idx="3"/>
          </p:nvPr>
        </p:nvSpPr>
        <p:spPr>
          <a:xfrm>
            <a:off x="4419600" y="304800"/>
            <a:ext cx="3657600" cy="1707776"/>
          </a:xfrm>
        </p:spPr>
        <p:txBody>
          <a:bodyPr/>
          <a:lstStyle/>
          <a:p>
            <a:r>
              <a:rPr lang="en-US" sz="2800" dirty="0" smtClean="0">
                <a:solidFill>
                  <a:schemeClr val="accent1">
                    <a:lumMod val="50000"/>
                  </a:schemeClr>
                </a:solidFill>
              </a:rPr>
              <a:t>Instruction Sets: Addressing Modes and Formats</a:t>
            </a:r>
            <a:endParaRPr lang="en-US" dirty="0">
              <a:solidFill>
                <a:srgbClr val="6666CC"/>
              </a:solidFill>
            </a:endParaRPr>
          </a:p>
        </p:txBody>
      </p:sp>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Advantag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Advantage.thmx</Template>
  <TotalTime>5397</TotalTime>
  <Words>8308</Words>
  <Application>Microsoft Office PowerPoint</Application>
  <PresentationFormat>On-screen Show (4:3)</PresentationFormat>
  <Paragraphs>491</Paragraphs>
  <Slides>27</Slides>
  <Notes>25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ＭＳ Ｐゴシック</vt:lpstr>
      <vt:lpstr>Arial</vt:lpstr>
      <vt:lpstr>Rockwell</vt:lpstr>
      <vt:lpstr>Times New Roman</vt:lpstr>
      <vt:lpstr>Wingdings</vt:lpstr>
      <vt:lpstr>Advantage</vt:lpstr>
      <vt:lpstr>William Stallings  Computer Organization  and Architecture 10th Edition</vt:lpstr>
      <vt:lpstr>Chapter 13</vt:lpstr>
      <vt:lpstr>PowerPoint Presentation</vt:lpstr>
      <vt:lpstr>Addressing Modes</vt:lpstr>
      <vt:lpstr>PowerPoint Presentation</vt:lpstr>
      <vt:lpstr>PowerPoint Presentation</vt:lpstr>
      <vt:lpstr>Immediate Addressing {#}</vt:lpstr>
      <vt:lpstr>Direct Addressing [  ]</vt:lpstr>
      <vt:lpstr>Indirect Addressing @, (), []</vt:lpstr>
      <vt:lpstr>Register Addressing</vt:lpstr>
      <vt:lpstr>Register Indirect Addressing [ ]</vt:lpstr>
      <vt:lpstr>Displacement Addressing</vt:lpstr>
      <vt:lpstr>PC - Relative Addressing          Short Memory JMP</vt:lpstr>
      <vt:lpstr>Base-Register Addressing         Long Memory JMP</vt:lpstr>
      <vt:lpstr>Indexing</vt:lpstr>
      <vt:lpstr>Stack Addressing</vt:lpstr>
      <vt:lpstr>PowerPoint Presentation</vt:lpstr>
      <vt:lpstr>PowerPoint Presentation</vt:lpstr>
      <vt:lpstr>Instruction Formats</vt:lpstr>
      <vt:lpstr>PowerPoint Presentation</vt:lpstr>
      <vt:lpstr>Instruction Length</vt:lpstr>
      <vt:lpstr>Allocation of Bits</vt:lpstr>
      <vt:lpstr>PowerPoint Presentation</vt:lpstr>
      <vt:lpstr>PowerPoint Presentation</vt:lpstr>
      <vt:lpstr>Variable-Length Instructions</vt:lpstr>
      <vt:lpstr>PowerPoint Presentation</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Addressing Modes</dc:title>
  <dc:creator>Adrian &amp; Wendy</dc:creator>
  <cp:lastModifiedBy>Dell</cp:lastModifiedBy>
  <cp:revision>180</cp:revision>
  <dcterms:created xsi:type="dcterms:W3CDTF">2012-07-21T04:30:17Z</dcterms:created>
  <dcterms:modified xsi:type="dcterms:W3CDTF">2026-05-25T06:18:25Z</dcterms:modified>
</cp:coreProperties>
</file>