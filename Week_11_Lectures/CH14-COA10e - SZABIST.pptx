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25"/>
  </p:notesMasterIdLst>
  <p:handoutMasterIdLst>
    <p:handoutMasterId r:id="rId26"/>
  </p:handoutMasterIdLst>
  <p:sldIdLst>
    <p:sldId id="355" r:id="rId2"/>
    <p:sldId id="356" r:id="rId3"/>
    <p:sldId id="277" r:id="rId4"/>
    <p:sldId id="317" r:id="rId5"/>
    <p:sldId id="318" r:id="rId6"/>
    <p:sldId id="278" r:id="rId7"/>
    <p:sldId id="279" r:id="rId8"/>
    <p:sldId id="282" r:id="rId9"/>
    <p:sldId id="285" r:id="rId10"/>
    <p:sldId id="286" r:id="rId11"/>
    <p:sldId id="305" r:id="rId12"/>
    <p:sldId id="290" r:id="rId13"/>
    <p:sldId id="307" r:id="rId14"/>
    <p:sldId id="308" r:id="rId15"/>
    <p:sldId id="309" r:id="rId16"/>
    <p:sldId id="312" r:id="rId17"/>
    <p:sldId id="313" r:id="rId18"/>
    <p:sldId id="293" r:id="rId19"/>
    <p:sldId id="326" r:id="rId20"/>
    <p:sldId id="327" r:id="rId21"/>
    <p:sldId id="333" r:id="rId22"/>
    <p:sldId id="360" r:id="rId23"/>
    <p:sldId id="357" r:id="rId24"/>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57" autoAdjust="0"/>
    <p:restoredTop sz="84339" autoAdjust="0"/>
  </p:normalViewPr>
  <p:slideViewPr>
    <p:cSldViewPr>
      <p:cViewPr varScale="1">
        <p:scale>
          <a:sx n="58" d="100"/>
          <a:sy n="58" d="100"/>
        </p:scale>
        <p:origin x="1344" y="2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12.xml"/><Relationship Id="rId13" Type="http://schemas.openxmlformats.org/officeDocument/2006/relationships/slide" Target="slides/slide23.xml"/><Relationship Id="rId3" Type="http://schemas.openxmlformats.org/officeDocument/2006/relationships/slide" Target="slides/slide6.xml"/><Relationship Id="rId7" Type="http://schemas.openxmlformats.org/officeDocument/2006/relationships/slide" Target="slides/slide10.xml"/><Relationship Id="rId12" Type="http://schemas.openxmlformats.org/officeDocument/2006/relationships/slide" Target="slides/slide21.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9.xml"/><Relationship Id="rId11" Type="http://schemas.openxmlformats.org/officeDocument/2006/relationships/slide" Target="slides/slide19.xml"/><Relationship Id="rId5" Type="http://schemas.openxmlformats.org/officeDocument/2006/relationships/slide" Target="slides/slide8.xml"/><Relationship Id="rId10" Type="http://schemas.openxmlformats.org/officeDocument/2006/relationships/slide" Target="slides/slide18.xml"/><Relationship Id="rId4" Type="http://schemas.openxmlformats.org/officeDocument/2006/relationships/slide" Target="slides/slide7.xml"/><Relationship Id="rId9"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9E9820-F66C-E04D-9FC9-DFBCA3ECB710}"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2D59797C-7B77-5C45-9F45-B471200144CC}">
      <dgm:prSet/>
      <dgm:spPr/>
      <dgm:t>
        <a:bodyPr/>
        <a:lstStyle/>
        <a:p>
          <a:pPr rtl="0"/>
          <a:r>
            <a:rPr lang="en-US" dirty="0" smtClean="0"/>
            <a:t>Referenced by means of the machine language that the processor executes</a:t>
          </a:r>
          <a:endParaRPr lang="en-US" dirty="0"/>
        </a:p>
      </dgm:t>
    </dgm:pt>
    <dgm:pt modelId="{0803F194-D4E3-B245-93EE-3CD971BA5A09}" type="parTrans" cxnId="{CD42B28C-03CA-304E-94C9-1D24E256F04E}">
      <dgm:prSet/>
      <dgm:spPr/>
      <dgm:t>
        <a:bodyPr/>
        <a:lstStyle/>
        <a:p>
          <a:endParaRPr lang="en-US"/>
        </a:p>
      </dgm:t>
    </dgm:pt>
    <dgm:pt modelId="{171B27C5-D6EC-1943-A537-E909B0C5AFEA}" type="sibTrans" cxnId="{CD42B28C-03CA-304E-94C9-1D24E256F04E}">
      <dgm:prSet/>
      <dgm:spPr>
        <a:solidFill>
          <a:schemeClr val="accent3"/>
        </a:solidFill>
        <a:ln>
          <a:solidFill>
            <a:schemeClr val="accent3"/>
          </a:solidFill>
        </a:ln>
      </dgm:spPr>
      <dgm:t>
        <a:bodyPr/>
        <a:lstStyle/>
        <a:p>
          <a:endParaRPr lang="en-US"/>
        </a:p>
      </dgm:t>
    </dgm:pt>
    <dgm:pt modelId="{BCB9639E-16A4-AC44-9331-45AF99368057}">
      <dgm:prSet custT="1"/>
      <dgm:spPr/>
      <dgm:t>
        <a:bodyPr/>
        <a:lstStyle/>
        <a:p>
          <a:pPr rtl="0"/>
          <a:r>
            <a:rPr lang="en-US" sz="3600" dirty="0" smtClean="0"/>
            <a:t>Categories:</a:t>
          </a:r>
          <a:endParaRPr lang="en-US" sz="3600" dirty="0"/>
        </a:p>
      </dgm:t>
    </dgm:pt>
    <dgm:pt modelId="{B1E5DC08-4940-3743-999E-EBB5458DFBC7}" type="parTrans" cxnId="{71D36931-2C65-3444-88DB-5EB26C3409AD}">
      <dgm:prSet/>
      <dgm:spPr/>
      <dgm:t>
        <a:bodyPr/>
        <a:lstStyle/>
        <a:p>
          <a:endParaRPr lang="en-US"/>
        </a:p>
      </dgm:t>
    </dgm:pt>
    <dgm:pt modelId="{CA32CB20-AAA6-724E-B6C4-B6D44AD43CD2}" type="sibTrans" cxnId="{71D36931-2C65-3444-88DB-5EB26C3409AD}">
      <dgm:prSet/>
      <dgm:spPr/>
      <dgm:t>
        <a:bodyPr/>
        <a:lstStyle/>
        <a:p>
          <a:endParaRPr lang="en-US"/>
        </a:p>
      </dgm:t>
    </dgm:pt>
    <dgm:pt modelId="{511BB6DD-96D4-4D4B-9E9B-6ABB3B02BC83}">
      <dgm:prSet/>
      <dgm:spPr/>
      <dgm:t>
        <a:bodyPr/>
        <a:lstStyle/>
        <a:p>
          <a:pPr rtl="0"/>
          <a:r>
            <a:rPr lang="en-US" b="1" dirty="0" smtClean="0">
              <a:solidFill>
                <a:schemeClr val="accent3"/>
              </a:solidFill>
            </a:rPr>
            <a:t>General purpose</a:t>
          </a:r>
          <a:endParaRPr lang="en-US" b="1" dirty="0">
            <a:solidFill>
              <a:schemeClr val="accent3"/>
            </a:solidFill>
          </a:endParaRPr>
        </a:p>
      </dgm:t>
    </dgm:pt>
    <dgm:pt modelId="{2D97D296-BCAD-FD4C-8097-747204B2259C}" type="parTrans" cxnId="{E73BA739-2E38-504B-9EFF-CE02609484A0}">
      <dgm:prSet/>
      <dgm:spPr/>
      <dgm:t>
        <a:bodyPr/>
        <a:lstStyle/>
        <a:p>
          <a:endParaRPr lang="en-US"/>
        </a:p>
      </dgm:t>
    </dgm:pt>
    <dgm:pt modelId="{0B22A020-8323-8C46-B9AC-D995B925E7F0}" type="sibTrans" cxnId="{E73BA739-2E38-504B-9EFF-CE02609484A0}">
      <dgm:prSet/>
      <dgm:spPr/>
      <dgm:t>
        <a:bodyPr/>
        <a:lstStyle/>
        <a:p>
          <a:endParaRPr lang="en-US"/>
        </a:p>
      </dgm:t>
    </dgm:pt>
    <dgm:pt modelId="{1DAAC1CB-4715-F347-80BA-24406AEB247B}">
      <dgm:prSet/>
      <dgm:spPr/>
      <dgm:t>
        <a:bodyPr/>
        <a:lstStyle/>
        <a:p>
          <a:pPr rtl="0"/>
          <a:r>
            <a:rPr lang="en-US" dirty="0" smtClean="0"/>
            <a:t>Can be assigned to a variety of functions by the programmer</a:t>
          </a:r>
          <a:endParaRPr lang="en-US" dirty="0"/>
        </a:p>
      </dgm:t>
    </dgm:pt>
    <dgm:pt modelId="{F7EAF623-8562-9144-8838-EA31845B22F1}" type="parTrans" cxnId="{221C15B1-D64A-6447-A18A-C9F351F30E97}">
      <dgm:prSet/>
      <dgm:spPr/>
      <dgm:t>
        <a:bodyPr/>
        <a:lstStyle/>
        <a:p>
          <a:endParaRPr lang="en-US"/>
        </a:p>
      </dgm:t>
    </dgm:pt>
    <dgm:pt modelId="{D4AB538A-897E-1346-BAD9-1B81A4B2200E}" type="sibTrans" cxnId="{221C15B1-D64A-6447-A18A-C9F351F30E97}">
      <dgm:prSet/>
      <dgm:spPr/>
      <dgm:t>
        <a:bodyPr/>
        <a:lstStyle/>
        <a:p>
          <a:endParaRPr lang="en-US"/>
        </a:p>
      </dgm:t>
    </dgm:pt>
    <dgm:pt modelId="{EBF7DEDA-BC08-484A-B706-959A5B1FC235}">
      <dgm:prSet/>
      <dgm:spPr/>
      <dgm:t>
        <a:bodyPr/>
        <a:lstStyle/>
        <a:p>
          <a:pPr rtl="0"/>
          <a:r>
            <a:rPr lang="en-US" b="1" dirty="0" smtClean="0">
              <a:solidFill>
                <a:schemeClr val="accent3"/>
              </a:solidFill>
            </a:rPr>
            <a:t>Data</a:t>
          </a:r>
        </a:p>
      </dgm:t>
    </dgm:pt>
    <dgm:pt modelId="{B6991402-628E-E44C-9EAA-D750C1DD2115}" type="parTrans" cxnId="{D12F8C23-765B-3048-9E49-DF7ED22E69F6}">
      <dgm:prSet/>
      <dgm:spPr/>
      <dgm:t>
        <a:bodyPr/>
        <a:lstStyle/>
        <a:p>
          <a:endParaRPr lang="en-US"/>
        </a:p>
      </dgm:t>
    </dgm:pt>
    <dgm:pt modelId="{BF4369AD-2341-324F-908E-5745F8111EF8}" type="sibTrans" cxnId="{D12F8C23-765B-3048-9E49-DF7ED22E69F6}">
      <dgm:prSet/>
      <dgm:spPr/>
      <dgm:t>
        <a:bodyPr/>
        <a:lstStyle/>
        <a:p>
          <a:endParaRPr lang="en-US"/>
        </a:p>
      </dgm:t>
    </dgm:pt>
    <dgm:pt modelId="{98FF5C87-34E8-A74C-9290-1DF6EEAC886D}">
      <dgm:prSet/>
      <dgm:spPr/>
      <dgm:t>
        <a:bodyPr/>
        <a:lstStyle/>
        <a:p>
          <a:pPr rtl="0"/>
          <a:r>
            <a:rPr lang="en-US" dirty="0" smtClean="0"/>
            <a:t>May be used only to hold data and cannot be employed in the calculation of an operand address</a:t>
          </a:r>
          <a:endParaRPr lang="en-US" dirty="0"/>
        </a:p>
      </dgm:t>
    </dgm:pt>
    <dgm:pt modelId="{EF08AAF5-1B3E-624F-8083-56125B17096B}" type="parTrans" cxnId="{62F4ADE6-7A37-8240-A3C2-9ACF991FE783}">
      <dgm:prSet/>
      <dgm:spPr/>
      <dgm:t>
        <a:bodyPr/>
        <a:lstStyle/>
        <a:p>
          <a:endParaRPr lang="en-US"/>
        </a:p>
      </dgm:t>
    </dgm:pt>
    <dgm:pt modelId="{5AF01204-147C-4E4C-AD92-620F237C0BB1}" type="sibTrans" cxnId="{62F4ADE6-7A37-8240-A3C2-9ACF991FE783}">
      <dgm:prSet/>
      <dgm:spPr/>
      <dgm:t>
        <a:bodyPr/>
        <a:lstStyle/>
        <a:p>
          <a:endParaRPr lang="en-US"/>
        </a:p>
      </dgm:t>
    </dgm:pt>
    <dgm:pt modelId="{A0FE24AE-09FF-9A4A-9657-51866483B5CE}">
      <dgm:prSet/>
      <dgm:spPr/>
      <dgm:t>
        <a:bodyPr/>
        <a:lstStyle/>
        <a:p>
          <a:pPr rtl="0"/>
          <a:r>
            <a:rPr lang="en-US" b="1" dirty="0" smtClean="0">
              <a:solidFill>
                <a:schemeClr val="accent3"/>
              </a:solidFill>
            </a:rPr>
            <a:t>Address</a:t>
          </a:r>
        </a:p>
      </dgm:t>
    </dgm:pt>
    <dgm:pt modelId="{59A5C328-4A21-8D43-990E-6EB3354E2FCB}" type="parTrans" cxnId="{521D8C47-F512-7B42-A03B-F7012501D7F4}">
      <dgm:prSet/>
      <dgm:spPr/>
      <dgm:t>
        <a:bodyPr/>
        <a:lstStyle/>
        <a:p>
          <a:endParaRPr lang="en-US"/>
        </a:p>
      </dgm:t>
    </dgm:pt>
    <dgm:pt modelId="{BA40B69B-B5E7-8847-A6DF-F55EAB929C7A}" type="sibTrans" cxnId="{521D8C47-F512-7B42-A03B-F7012501D7F4}">
      <dgm:prSet/>
      <dgm:spPr/>
      <dgm:t>
        <a:bodyPr/>
        <a:lstStyle/>
        <a:p>
          <a:endParaRPr lang="en-US"/>
        </a:p>
      </dgm:t>
    </dgm:pt>
    <dgm:pt modelId="{06F087F8-B506-1B41-8B40-C1691648366C}">
      <dgm:prSet/>
      <dgm:spPr/>
      <dgm:t>
        <a:bodyPr/>
        <a:lstStyle/>
        <a:p>
          <a:pPr rtl="0"/>
          <a:r>
            <a:rPr lang="en-US" dirty="0" smtClean="0"/>
            <a:t>May be somewhat general purpose or may be devoted to a particular addressing mode</a:t>
          </a:r>
          <a:endParaRPr lang="en-US" dirty="0"/>
        </a:p>
      </dgm:t>
    </dgm:pt>
    <dgm:pt modelId="{2D813256-DF2E-5F4F-9B3C-22D4294F52E6}" type="parTrans" cxnId="{365DF8A7-BDEA-5042-8DA8-372F7F1344A8}">
      <dgm:prSet/>
      <dgm:spPr/>
      <dgm:t>
        <a:bodyPr/>
        <a:lstStyle/>
        <a:p>
          <a:endParaRPr lang="en-US"/>
        </a:p>
      </dgm:t>
    </dgm:pt>
    <dgm:pt modelId="{161BCF23-3684-C947-909D-73A925D3779B}" type="sibTrans" cxnId="{365DF8A7-BDEA-5042-8DA8-372F7F1344A8}">
      <dgm:prSet/>
      <dgm:spPr/>
      <dgm:t>
        <a:bodyPr/>
        <a:lstStyle/>
        <a:p>
          <a:endParaRPr lang="en-US"/>
        </a:p>
      </dgm:t>
    </dgm:pt>
    <dgm:pt modelId="{CD61BE16-52DD-5449-B110-7E5591E905CA}">
      <dgm:prSet/>
      <dgm:spPr/>
      <dgm:t>
        <a:bodyPr/>
        <a:lstStyle/>
        <a:p>
          <a:pPr rtl="0"/>
          <a:r>
            <a:rPr lang="en-US" dirty="0" smtClean="0"/>
            <a:t>Examples:  segment pointers, index registers, stack pointer</a:t>
          </a:r>
          <a:endParaRPr lang="en-US" dirty="0"/>
        </a:p>
      </dgm:t>
    </dgm:pt>
    <dgm:pt modelId="{81CFD568-4C7F-C74E-B94C-F891041E31BC}" type="parTrans" cxnId="{6796C31D-D50E-9941-9219-732C0A97C6E6}">
      <dgm:prSet/>
      <dgm:spPr/>
      <dgm:t>
        <a:bodyPr/>
        <a:lstStyle/>
        <a:p>
          <a:endParaRPr lang="en-US"/>
        </a:p>
      </dgm:t>
    </dgm:pt>
    <dgm:pt modelId="{19F540C6-2791-274E-96DC-D3634DEEAA4E}" type="sibTrans" cxnId="{6796C31D-D50E-9941-9219-732C0A97C6E6}">
      <dgm:prSet/>
      <dgm:spPr/>
      <dgm:t>
        <a:bodyPr/>
        <a:lstStyle/>
        <a:p>
          <a:endParaRPr lang="en-US"/>
        </a:p>
      </dgm:t>
    </dgm:pt>
    <dgm:pt modelId="{598CD63E-A291-2B4B-9A76-A6B25AF2BE1F}">
      <dgm:prSet/>
      <dgm:spPr/>
      <dgm:t>
        <a:bodyPr/>
        <a:lstStyle/>
        <a:p>
          <a:pPr rtl="0"/>
          <a:r>
            <a:rPr lang="en-US" b="1" dirty="0" smtClean="0">
              <a:solidFill>
                <a:schemeClr val="accent3"/>
              </a:solidFill>
            </a:rPr>
            <a:t>Condition codes</a:t>
          </a:r>
        </a:p>
      </dgm:t>
    </dgm:pt>
    <dgm:pt modelId="{5A10E322-7F18-BB41-BA8A-83BA2E34E548}" type="parTrans" cxnId="{3225679F-0B25-974A-B833-8B02F4FEBC95}">
      <dgm:prSet/>
      <dgm:spPr/>
      <dgm:t>
        <a:bodyPr/>
        <a:lstStyle/>
        <a:p>
          <a:endParaRPr lang="en-US"/>
        </a:p>
      </dgm:t>
    </dgm:pt>
    <dgm:pt modelId="{7E81E51A-13F5-C040-8651-241555A127D0}" type="sibTrans" cxnId="{3225679F-0B25-974A-B833-8B02F4FEBC95}">
      <dgm:prSet/>
      <dgm:spPr/>
      <dgm:t>
        <a:bodyPr/>
        <a:lstStyle/>
        <a:p>
          <a:endParaRPr lang="en-US"/>
        </a:p>
      </dgm:t>
    </dgm:pt>
    <dgm:pt modelId="{0CF9FC02-B2F8-CE43-8074-2C4E645D2233}">
      <dgm:prSet/>
      <dgm:spPr/>
      <dgm:t>
        <a:bodyPr/>
        <a:lstStyle/>
        <a:p>
          <a:pPr rtl="0"/>
          <a:r>
            <a:rPr lang="en-US" dirty="0" smtClean="0"/>
            <a:t>Also referred to as </a:t>
          </a:r>
          <a:r>
            <a:rPr lang="en-US" i="1" dirty="0" smtClean="0"/>
            <a:t>flags</a:t>
          </a:r>
          <a:endParaRPr lang="en-US" dirty="0"/>
        </a:p>
      </dgm:t>
    </dgm:pt>
    <dgm:pt modelId="{F9307962-D8D8-6443-954F-1573A930905F}" type="parTrans" cxnId="{4479C9AF-CC05-4248-8EED-980380337186}">
      <dgm:prSet/>
      <dgm:spPr/>
      <dgm:t>
        <a:bodyPr/>
        <a:lstStyle/>
        <a:p>
          <a:endParaRPr lang="en-US"/>
        </a:p>
      </dgm:t>
    </dgm:pt>
    <dgm:pt modelId="{499BE514-14A2-654C-BDA0-E936ECB13BED}" type="sibTrans" cxnId="{4479C9AF-CC05-4248-8EED-980380337186}">
      <dgm:prSet/>
      <dgm:spPr/>
      <dgm:t>
        <a:bodyPr/>
        <a:lstStyle/>
        <a:p>
          <a:endParaRPr lang="en-US"/>
        </a:p>
      </dgm:t>
    </dgm:pt>
    <dgm:pt modelId="{ACF38634-81AD-0D48-B651-7D0D6C553136}">
      <dgm:prSet/>
      <dgm:spPr/>
      <dgm:t>
        <a:bodyPr/>
        <a:lstStyle/>
        <a:p>
          <a:pPr rtl="0"/>
          <a:r>
            <a:rPr lang="en-US" dirty="0" smtClean="0"/>
            <a:t>Bits set by the processor hardware as the result of operations</a:t>
          </a:r>
          <a:endParaRPr lang="en-US" dirty="0"/>
        </a:p>
      </dgm:t>
    </dgm:pt>
    <dgm:pt modelId="{532D61AB-3B28-0641-9F97-BA795ED2DC20}" type="parTrans" cxnId="{D8D54744-D7A4-EE49-86A5-65B495BB3A05}">
      <dgm:prSet/>
      <dgm:spPr/>
      <dgm:t>
        <a:bodyPr/>
        <a:lstStyle/>
        <a:p>
          <a:endParaRPr lang="en-US"/>
        </a:p>
      </dgm:t>
    </dgm:pt>
    <dgm:pt modelId="{9C877795-57FE-2342-80EC-8CED6CC23819}" type="sibTrans" cxnId="{D8D54744-D7A4-EE49-86A5-65B495BB3A05}">
      <dgm:prSet/>
      <dgm:spPr/>
      <dgm:t>
        <a:bodyPr/>
        <a:lstStyle/>
        <a:p>
          <a:endParaRPr lang="en-US"/>
        </a:p>
      </dgm:t>
    </dgm:pt>
    <dgm:pt modelId="{26A4BAEB-B72C-1943-AEEC-9A40E0FDD806}" type="pres">
      <dgm:prSet presAssocID="{449E9820-F66C-E04D-9FC9-DFBCA3ECB710}" presName="Name0" presStyleCnt="0">
        <dgm:presLayoutVars>
          <dgm:dir/>
          <dgm:animLvl val="lvl"/>
          <dgm:resizeHandles val="exact"/>
        </dgm:presLayoutVars>
      </dgm:prSet>
      <dgm:spPr/>
      <dgm:t>
        <a:bodyPr/>
        <a:lstStyle/>
        <a:p>
          <a:endParaRPr lang="en-US"/>
        </a:p>
      </dgm:t>
    </dgm:pt>
    <dgm:pt modelId="{99A703B5-C9E6-884D-8014-F7364321B605}" type="pres">
      <dgm:prSet presAssocID="{449E9820-F66C-E04D-9FC9-DFBCA3ECB710}" presName="tSp" presStyleCnt="0"/>
      <dgm:spPr/>
    </dgm:pt>
    <dgm:pt modelId="{2D632835-A53D-3A43-A1D5-2C2D581A4DB2}" type="pres">
      <dgm:prSet presAssocID="{449E9820-F66C-E04D-9FC9-DFBCA3ECB710}" presName="bSp" presStyleCnt="0"/>
      <dgm:spPr/>
    </dgm:pt>
    <dgm:pt modelId="{195771B2-E83C-8D47-AC5A-E0907F1AB596}" type="pres">
      <dgm:prSet presAssocID="{449E9820-F66C-E04D-9FC9-DFBCA3ECB710}" presName="process" presStyleCnt="0"/>
      <dgm:spPr/>
    </dgm:pt>
    <dgm:pt modelId="{472E555F-5D76-F646-A9B1-4FB9028CA3C5}" type="pres">
      <dgm:prSet presAssocID="{2D59797C-7B77-5C45-9F45-B471200144CC}" presName="composite1" presStyleCnt="0"/>
      <dgm:spPr/>
    </dgm:pt>
    <dgm:pt modelId="{B8A9D309-9071-E14D-BB12-D0AEB42CD846}" type="pres">
      <dgm:prSet presAssocID="{2D59797C-7B77-5C45-9F45-B471200144CC}" presName="dummyNode1" presStyleLbl="node1" presStyleIdx="0" presStyleCnt="2"/>
      <dgm:spPr/>
    </dgm:pt>
    <dgm:pt modelId="{09038744-C04D-3E4E-AA73-587B41E192F1}" type="pres">
      <dgm:prSet presAssocID="{2D59797C-7B77-5C45-9F45-B471200144CC}" presName="childNode1" presStyleLbl="bgAcc1" presStyleIdx="0" presStyleCnt="2" custLinFactNeighborX="5974" custLinFactNeighborY="1266">
        <dgm:presLayoutVars>
          <dgm:bulletEnabled val="1"/>
        </dgm:presLayoutVars>
      </dgm:prSet>
      <dgm:spPr/>
    </dgm:pt>
    <dgm:pt modelId="{88034084-8706-6345-8CE3-DF48E4AD27BC}" type="pres">
      <dgm:prSet presAssocID="{2D59797C-7B77-5C45-9F45-B471200144CC}" presName="childNode1tx" presStyleLbl="bgAcc1" presStyleIdx="0" presStyleCnt="2">
        <dgm:presLayoutVars>
          <dgm:bulletEnabled val="1"/>
        </dgm:presLayoutVars>
      </dgm:prSet>
      <dgm:spPr/>
    </dgm:pt>
    <dgm:pt modelId="{4921A1A8-6658-C946-81EC-1BBCEEEDE982}" type="pres">
      <dgm:prSet presAssocID="{2D59797C-7B77-5C45-9F45-B471200144CC}" presName="parentNode1" presStyleLbl="node1" presStyleIdx="0" presStyleCnt="2" custLinFactY="-23523" custLinFactNeighborX="-9235" custLinFactNeighborY="-100000">
        <dgm:presLayoutVars>
          <dgm:chMax val="1"/>
          <dgm:bulletEnabled val="1"/>
        </dgm:presLayoutVars>
      </dgm:prSet>
      <dgm:spPr/>
      <dgm:t>
        <a:bodyPr/>
        <a:lstStyle/>
        <a:p>
          <a:endParaRPr lang="en-US"/>
        </a:p>
      </dgm:t>
    </dgm:pt>
    <dgm:pt modelId="{3314B292-EC9A-424A-9941-393AA94D0860}" type="pres">
      <dgm:prSet presAssocID="{2D59797C-7B77-5C45-9F45-B471200144CC}" presName="connSite1" presStyleCnt="0"/>
      <dgm:spPr/>
    </dgm:pt>
    <dgm:pt modelId="{035FEA2A-0066-1642-A472-449A8E0D404E}" type="pres">
      <dgm:prSet presAssocID="{171B27C5-D6EC-1943-A537-E909B0C5AFEA}" presName="Name9" presStyleLbl="sibTrans2D1" presStyleIdx="0" presStyleCnt="1" custScaleX="62178" custLinFactNeighborX="-24298" custLinFactNeighborY="129"/>
      <dgm:spPr/>
      <dgm:t>
        <a:bodyPr/>
        <a:lstStyle/>
        <a:p>
          <a:endParaRPr lang="en-US"/>
        </a:p>
      </dgm:t>
    </dgm:pt>
    <dgm:pt modelId="{E9B317C0-603D-8847-96CD-2BC1C21CD16E}" type="pres">
      <dgm:prSet presAssocID="{BCB9639E-16A4-AC44-9331-45AF99368057}" presName="composite2" presStyleCnt="0"/>
      <dgm:spPr/>
    </dgm:pt>
    <dgm:pt modelId="{369B91B5-8C91-294B-A353-A5CAB840FB07}" type="pres">
      <dgm:prSet presAssocID="{BCB9639E-16A4-AC44-9331-45AF99368057}" presName="dummyNode2" presStyleLbl="node1" presStyleIdx="0" presStyleCnt="2"/>
      <dgm:spPr/>
    </dgm:pt>
    <dgm:pt modelId="{C1F890E0-24C4-D642-8884-C9B159244FFE}" type="pres">
      <dgm:prSet presAssocID="{BCB9639E-16A4-AC44-9331-45AF99368057}" presName="childNode2" presStyleLbl="bgAcc1" presStyleIdx="1" presStyleCnt="2" custScaleX="108664" custScaleY="147272" custLinFactNeighborX="2166" custLinFactNeighborY="20186">
        <dgm:presLayoutVars>
          <dgm:bulletEnabled val="1"/>
        </dgm:presLayoutVars>
      </dgm:prSet>
      <dgm:spPr/>
      <dgm:t>
        <a:bodyPr/>
        <a:lstStyle/>
        <a:p>
          <a:endParaRPr lang="en-US"/>
        </a:p>
      </dgm:t>
    </dgm:pt>
    <dgm:pt modelId="{887124B2-DCF2-7348-9A24-03BDFAC773C6}" type="pres">
      <dgm:prSet presAssocID="{BCB9639E-16A4-AC44-9331-45AF99368057}" presName="childNode2tx" presStyleLbl="bgAcc1" presStyleIdx="1" presStyleCnt="2">
        <dgm:presLayoutVars>
          <dgm:bulletEnabled val="1"/>
        </dgm:presLayoutVars>
      </dgm:prSet>
      <dgm:spPr/>
      <dgm:t>
        <a:bodyPr/>
        <a:lstStyle/>
        <a:p>
          <a:endParaRPr lang="en-US"/>
        </a:p>
      </dgm:t>
    </dgm:pt>
    <dgm:pt modelId="{1F6A97C5-F3A9-E94F-905E-0E5EEFB98187}" type="pres">
      <dgm:prSet presAssocID="{BCB9639E-16A4-AC44-9331-45AF99368057}" presName="parentNode2" presStyleLbl="node1" presStyleIdx="1" presStyleCnt="2" custScaleX="105587" custScaleY="108936" custLinFactNeighborX="-7400" custLinFactNeighborY="6253">
        <dgm:presLayoutVars>
          <dgm:chMax val="0"/>
          <dgm:bulletEnabled val="1"/>
        </dgm:presLayoutVars>
      </dgm:prSet>
      <dgm:spPr/>
      <dgm:t>
        <a:bodyPr/>
        <a:lstStyle/>
        <a:p>
          <a:endParaRPr lang="en-US"/>
        </a:p>
      </dgm:t>
    </dgm:pt>
    <dgm:pt modelId="{F41D957D-C15B-7F4C-9089-B004335F615C}" type="pres">
      <dgm:prSet presAssocID="{BCB9639E-16A4-AC44-9331-45AF99368057}" presName="connSite2" presStyleCnt="0"/>
      <dgm:spPr/>
    </dgm:pt>
  </dgm:ptLst>
  <dgm:cxnLst>
    <dgm:cxn modelId="{521D8C47-F512-7B42-A03B-F7012501D7F4}" srcId="{BCB9639E-16A4-AC44-9331-45AF99368057}" destId="{A0FE24AE-09FF-9A4A-9657-51866483B5CE}" srcOrd="2" destOrd="0" parTransId="{59A5C328-4A21-8D43-990E-6EB3354E2FCB}" sibTransId="{BA40B69B-B5E7-8847-A6DF-F55EAB929C7A}"/>
    <dgm:cxn modelId="{D12F8C23-765B-3048-9E49-DF7ED22E69F6}" srcId="{BCB9639E-16A4-AC44-9331-45AF99368057}" destId="{EBF7DEDA-BC08-484A-B706-959A5B1FC235}" srcOrd="1" destOrd="0" parTransId="{B6991402-628E-E44C-9EAA-D750C1DD2115}" sibTransId="{BF4369AD-2341-324F-908E-5745F8111EF8}"/>
    <dgm:cxn modelId="{3225679F-0B25-974A-B833-8B02F4FEBC95}" srcId="{BCB9639E-16A4-AC44-9331-45AF99368057}" destId="{598CD63E-A291-2B4B-9A76-A6B25AF2BE1F}" srcOrd="3" destOrd="0" parTransId="{5A10E322-7F18-BB41-BA8A-83BA2E34E548}" sibTransId="{7E81E51A-13F5-C040-8651-241555A127D0}"/>
    <dgm:cxn modelId="{CD42B28C-03CA-304E-94C9-1D24E256F04E}" srcId="{449E9820-F66C-E04D-9FC9-DFBCA3ECB710}" destId="{2D59797C-7B77-5C45-9F45-B471200144CC}" srcOrd="0" destOrd="0" parTransId="{0803F194-D4E3-B245-93EE-3CD971BA5A09}" sibTransId="{171B27C5-D6EC-1943-A537-E909B0C5AFEA}"/>
    <dgm:cxn modelId="{E73BA739-2E38-504B-9EFF-CE02609484A0}" srcId="{BCB9639E-16A4-AC44-9331-45AF99368057}" destId="{511BB6DD-96D4-4D4B-9E9B-6ABB3B02BC83}" srcOrd="0" destOrd="0" parTransId="{2D97D296-BCAD-FD4C-8097-747204B2259C}" sibTransId="{0B22A020-8323-8C46-B9AC-D995B925E7F0}"/>
    <dgm:cxn modelId="{77ABB4C0-B42B-204D-8FA8-1701DE64A97C}" type="presOf" srcId="{CD61BE16-52DD-5449-B110-7E5591E905CA}" destId="{C1F890E0-24C4-D642-8884-C9B159244FFE}" srcOrd="0" destOrd="6" presId="urn:microsoft.com/office/officeart/2005/8/layout/hProcess4"/>
    <dgm:cxn modelId="{221C15B1-D64A-6447-A18A-C9F351F30E97}" srcId="{511BB6DD-96D4-4D4B-9E9B-6ABB3B02BC83}" destId="{1DAAC1CB-4715-F347-80BA-24406AEB247B}" srcOrd="0" destOrd="0" parTransId="{F7EAF623-8562-9144-8838-EA31845B22F1}" sibTransId="{D4AB538A-897E-1346-BAD9-1B81A4B2200E}"/>
    <dgm:cxn modelId="{08967C9F-9402-E349-BDCA-2F40D77F3F51}" type="presOf" srcId="{CD61BE16-52DD-5449-B110-7E5591E905CA}" destId="{887124B2-DCF2-7348-9A24-03BDFAC773C6}" srcOrd="1" destOrd="6" presId="urn:microsoft.com/office/officeart/2005/8/layout/hProcess4"/>
    <dgm:cxn modelId="{CDA79AAE-8CBC-534E-90AF-37EE393DA5B8}" type="presOf" srcId="{511BB6DD-96D4-4D4B-9E9B-6ABB3B02BC83}" destId="{887124B2-DCF2-7348-9A24-03BDFAC773C6}" srcOrd="1" destOrd="0" presId="urn:microsoft.com/office/officeart/2005/8/layout/hProcess4"/>
    <dgm:cxn modelId="{112CEC28-D8EA-CC4C-8685-DB824C5810A5}" type="presOf" srcId="{EBF7DEDA-BC08-484A-B706-959A5B1FC235}" destId="{C1F890E0-24C4-D642-8884-C9B159244FFE}" srcOrd="0" destOrd="2" presId="urn:microsoft.com/office/officeart/2005/8/layout/hProcess4"/>
    <dgm:cxn modelId="{79BF52BD-7FBA-FB4E-A6B5-ADA5719388A0}" type="presOf" srcId="{0CF9FC02-B2F8-CE43-8074-2C4E645D2233}" destId="{887124B2-DCF2-7348-9A24-03BDFAC773C6}" srcOrd="1" destOrd="8" presId="urn:microsoft.com/office/officeart/2005/8/layout/hProcess4"/>
    <dgm:cxn modelId="{213919C4-246B-774C-ABE5-6CEA86FD2D49}" type="presOf" srcId="{171B27C5-D6EC-1943-A537-E909B0C5AFEA}" destId="{035FEA2A-0066-1642-A472-449A8E0D404E}" srcOrd="0" destOrd="0" presId="urn:microsoft.com/office/officeart/2005/8/layout/hProcess4"/>
    <dgm:cxn modelId="{E3C53A1E-54A4-F44D-A335-018EA5061449}" type="presOf" srcId="{BCB9639E-16A4-AC44-9331-45AF99368057}" destId="{1F6A97C5-F3A9-E94F-905E-0E5EEFB98187}" srcOrd="0" destOrd="0" presId="urn:microsoft.com/office/officeart/2005/8/layout/hProcess4"/>
    <dgm:cxn modelId="{14228737-9488-2144-BE32-477ABC682697}" type="presOf" srcId="{ACF38634-81AD-0D48-B651-7D0D6C553136}" destId="{887124B2-DCF2-7348-9A24-03BDFAC773C6}" srcOrd="1" destOrd="9" presId="urn:microsoft.com/office/officeart/2005/8/layout/hProcess4"/>
    <dgm:cxn modelId="{15D1258A-FB24-AF4C-8DF5-554E484DCD90}" type="presOf" srcId="{A0FE24AE-09FF-9A4A-9657-51866483B5CE}" destId="{C1F890E0-24C4-D642-8884-C9B159244FFE}" srcOrd="0" destOrd="4" presId="urn:microsoft.com/office/officeart/2005/8/layout/hProcess4"/>
    <dgm:cxn modelId="{851DCCCF-52B3-4545-9AAA-AC737A45B60C}" type="presOf" srcId="{06F087F8-B506-1B41-8B40-C1691648366C}" destId="{C1F890E0-24C4-D642-8884-C9B159244FFE}" srcOrd="0" destOrd="5" presId="urn:microsoft.com/office/officeart/2005/8/layout/hProcess4"/>
    <dgm:cxn modelId="{62F4ADE6-7A37-8240-A3C2-9ACF991FE783}" srcId="{EBF7DEDA-BC08-484A-B706-959A5B1FC235}" destId="{98FF5C87-34E8-A74C-9290-1DF6EEAC886D}" srcOrd="0" destOrd="0" parTransId="{EF08AAF5-1B3E-624F-8083-56125B17096B}" sibTransId="{5AF01204-147C-4E4C-AD92-620F237C0BB1}"/>
    <dgm:cxn modelId="{D8D54744-D7A4-EE49-86A5-65B495BB3A05}" srcId="{598CD63E-A291-2B4B-9A76-A6B25AF2BE1F}" destId="{ACF38634-81AD-0D48-B651-7D0D6C553136}" srcOrd="1" destOrd="0" parTransId="{532D61AB-3B28-0641-9F97-BA795ED2DC20}" sibTransId="{9C877795-57FE-2342-80EC-8CED6CC23819}"/>
    <dgm:cxn modelId="{52087324-CD50-864E-B232-F202CBB40BD2}" type="presOf" srcId="{1DAAC1CB-4715-F347-80BA-24406AEB247B}" destId="{887124B2-DCF2-7348-9A24-03BDFAC773C6}" srcOrd="1" destOrd="1" presId="urn:microsoft.com/office/officeart/2005/8/layout/hProcess4"/>
    <dgm:cxn modelId="{71D36931-2C65-3444-88DB-5EB26C3409AD}" srcId="{449E9820-F66C-E04D-9FC9-DFBCA3ECB710}" destId="{BCB9639E-16A4-AC44-9331-45AF99368057}" srcOrd="1" destOrd="0" parTransId="{B1E5DC08-4940-3743-999E-EBB5458DFBC7}" sibTransId="{CA32CB20-AAA6-724E-B6C4-B6D44AD43CD2}"/>
    <dgm:cxn modelId="{E2E159B2-1791-A240-9E6A-97D00125ECEA}" type="presOf" srcId="{2D59797C-7B77-5C45-9F45-B471200144CC}" destId="{4921A1A8-6658-C946-81EC-1BBCEEEDE982}" srcOrd="0" destOrd="0" presId="urn:microsoft.com/office/officeart/2005/8/layout/hProcess4"/>
    <dgm:cxn modelId="{CB8F0222-C790-0C4E-BB39-C4F1C44EC565}" type="presOf" srcId="{98FF5C87-34E8-A74C-9290-1DF6EEAC886D}" destId="{C1F890E0-24C4-D642-8884-C9B159244FFE}" srcOrd="0" destOrd="3" presId="urn:microsoft.com/office/officeart/2005/8/layout/hProcess4"/>
    <dgm:cxn modelId="{BE7700A5-86F5-0B4D-BD37-9EF1C5957816}" type="presOf" srcId="{ACF38634-81AD-0D48-B651-7D0D6C553136}" destId="{C1F890E0-24C4-D642-8884-C9B159244FFE}" srcOrd="0" destOrd="9" presId="urn:microsoft.com/office/officeart/2005/8/layout/hProcess4"/>
    <dgm:cxn modelId="{365DF8A7-BDEA-5042-8DA8-372F7F1344A8}" srcId="{A0FE24AE-09FF-9A4A-9657-51866483B5CE}" destId="{06F087F8-B506-1B41-8B40-C1691648366C}" srcOrd="0" destOrd="0" parTransId="{2D813256-DF2E-5F4F-9B3C-22D4294F52E6}" sibTransId="{161BCF23-3684-C947-909D-73A925D3779B}"/>
    <dgm:cxn modelId="{9B6DB19B-F11A-5C4B-8761-3CF8C034CCE2}" type="presOf" srcId="{598CD63E-A291-2B4B-9A76-A6B25AF2BE1F}" destId="{C1F890E0-24C4-D642-8884-C9B159244FFE}" srcOrd="0" destOrd="7" presId="urn:microsoft.com/office/officeart/2005/8/layout/hProcess4"/>
    <dgm:cxn modelId="{286B6CD7-CC03-2F46-B8F7-CD4281349CF1}" type="presOf" srcId="{598CD63E-A291-2B4B-9A76-A6B25AF2BE1F}" destId="{887124B2-DCF2-7348-9A24-03BDFAC773C6}" srcOrd="1" destOrd="7" presId="urn:microsoft.com/office/officeart/2005/8/layout/hProcess4"/>
    <dgm:cxn modelId="{2828E02D-F186-3E40-A5BF-98D8106296B1}" type="presOf" srcId="{A0FE24AE-09FF-9A4A-9657-51866483B5CE}" destId="{887124B2-DCF2-7348-9A24-03BDFAC773C6}" srcOrd="1" destOrd="4" presId="urn:microsoft.com/office/officeart/2005/8/layout/hProcess4"/>
    <dgm:cxn modelId="{950264A4-D3FD-744D-BBC7-9F8A63AE57E7}" type="presOf" srcId="{EBF7DEDA-BC08-484A-B706-959A5B1FC235}" destId="{887124B2-DCF2-7348-9A24-03BDFAC773C6}" srcOrd="1" destOrd="2" presId="urn:microsoft.com/office/officeart/2005/8/layout/hProcess4"/>
    <dgm:cxn modelId="{020224E4-AF45-8F45-ADB1-BD390EA2D8D2}" type="presOf" srcId="{511BB6DD-96D4-4D4B-9E9B-6ABB3B02BC83}" destId="{C1F890E0-24C4-D642-8884-C9B159244FFE}" srcOrd="0" destOrd="0" presId="urn:microsoft.com/office/officeart/2005/8/layout/hProcess4"/>
    <dgm:cxn modelId="{A550EBA5-84C3-B44E-9DCA-BF60F74B93BB}" type="presOf" srcId="{449E9820-F66C-E04D-9FC9-DFBCA3ECB710}" destId="{26A4BAEB-B72C-1943-AEEC-9A40E0FDD806}" srcOrd="0" destOrd="0" presId="urn:microsoft.com/office/officeart/2005/8/layout/hProcess4"/>
    <dgm:cxn modelId="{4536A677-0CD6-FF40-BA31-7DB0F319AF62}" type="presOf" srcId="{06F087F8-B506-1B41-8B40-C1691648366C}" destId="{887124B2-DCF2-7348-9A24-03BDFAC773C6}" srcOrd="1" destOrd="5" presId="urn:microsoft.com/office/officeart/2005/8/layout/hProcess4"/>
    <dgm:cxn modelId="{4479C9AF-CC05-4248-8EED-980380337186}" srcId="{598CD63E-A291-2B4B-9A76-A6B25AF2BE1F}" destId="{0CF9FC02-B2F8-CE43-8074-2C4E645D2233}" srcOrd="0" destOrd="0" parTransId="{F9307962-D8D8-6443-954F-1573A930905F}" sibTransId="{499BE514-14A2-654C-BDA0-E936ECB13BED}"/>
    <dgm:cxn modelId="{9A240B86-CCD0-004F-BF9F-B27EF75F9F6F}" type="presOf" srcId="{0CF9FC02-B2F8-CE43-8074-2C4E645D2233}" destId="{C1F890E0-24C4-D642-8884-C9B159244FFE}" srcOrd="0" destOrd="8" presId="urn:microsoft.com/office/officeart/2005/8/layout/hProcess4"/>
    <dgm:cxn modelId="{B4CF7D64-80F0-C844-BB0C-25FF58DF6BB3}" type="presOf" srcId="{98FF5C87-34E8-A74C-9290-1DF6EEAC886D}" destId="{887124B2-DCF2-7348-9A24-03BDFAC773C6}" srcOrd="1" destOrd="3" presId="urn:microsoft.com/office/officeart/2005/8/layout/hProcess4"/>
    <dgm:cxn modelId="{FEDDBC59-3CBC-694F-8B0B-742C66029C84}" type="presOf" srcId="{1DAAC1CB-4715-F347-80BA-24406AEB247B}" destId="{C1F890E0-24C4-D642-8884-C9B159244FFE}" srcOrd="0" destOrd="1" presId="urn:microsoft.com/office/officeart/2005/8/layout/hProcess4"/>
    <dgm:cxn modelId="{6796C31D-D50E-9941-9219-732C0A97C6E6}" srcId="{A0FE24AE-09FF-9A4A-9657-51866483B5CE}" destId="{CD61BE16-52DD-5449-B110-7E5591E905CA}" srcOrd="1" destOrd="0" parTransId="{81CFD568-4C7F-C74E-B94C-F891041E31BC}" sibTransId="{19F540C6-2791-274E-96DC-D3634DEEAA4E}"/>
    <dgm:cxn modelId="{710D463B-430B-CA44-A895-58976ED9584D}" type="presParOf" srcId="{26A4BAEB-B72C-1943-AEEC-9A40E0FDD806}" destId="{99A703B5-C9E6-884D-8014-F7364321B605}" srcOrd="0" destOrd="0" presId="urn:microsoft.com/office/officeart/2005/8/layout/hProcess4"/>
    <dgm:cxn modelId="{CBF036C3-938F-2841-9273-D642B8E2E494}" type="presParOf" srcId="{26A4BAEB-B72C-1943-AEEC-9A40E0FDD806}" destId="{2D632835-A53D-3A43-A1D5-2C2D581A4DB2}" srcOrd="1" destOrd="0" presId="urn:microsoft.com/office/officeart/2005/8/layout/hProcess4"/>
    <dgm:cxn modelId="{32E7ED61-1CC3-CA45-A8B4-34C13F6E8D9B}" type="presParOf" srcId="{26A4BAEB-B72C-1943-AEEC-9A40E0FDD806}" destId="{195771B2-E83C-8D47-AC5A-E0907F1AB596}" srcOrd="2" destOrd="0" presId="urn:microsoft.com/office/officeart/2005/8/layout/hProcess4"/>
    <dgm:cxn modelId="{E5F3A696-2D6C-5445-AE47-C41AA71665C7}" type="presParOf" srcId="{195771B2-E83C-8D47-AC5A-E0907F1AB596}" destId="{472E555F-5D76-F646-A9B1-4FB9028CA3C5}" srcOrd="0" destOrd="0" presId="urn:microsoft.com/office/officeart/2005/8/layout/hProcess4"/>
    <dgm:cxn modelId="{D5FE58AC-1D16-314F-996D-61E0A34E287A}" type="presParOf" srcId="{472E555F-5D76-F646-A9B1-4FB9028CA3C5}" destId="{B8A9D309-9071-E14D-BB12-D0AEB42CD846}" srcOrd="0" destOrd="0" presId="urn:microsoft.com/office/officeart/2005/8/layout/hProcess4"/>
    <dgm:cxn modelId="{3CD35ED0-6EA5-A14F-9D59-D4F7C435A9E2}" type="presParOf" srcId="{472E555F-5D76-F646-A9B1-4FB9028CA3C5}" destId="{09038744-C04D-3E4E-AA73-587B41E192F1}" srcOrd="1" destOrd="0" presId="urn:microsoft.com/office/officeart/2005/8/layout/hProcess4"/>
    <dgm:cxn modelId="{4AAF2173-00E4-D94A-888B-A8727F22019F}" type="presParOf" srcId="{472E555F-5D76-F646-A9B1-4FB9028CA3C5}" destId="{88034084-8706-6345-8CE3-DF48E4AD27BC}" srcOrd="2" destOrd="0" presId="urn:microsoft.com/office/officeart/2005/8/layout/hProcess4"/>
    <dgm:cxn modelId="{CE3E8BB5-5324-AD49-AB5D-A68CB154BACF}" type="presParOf" srcId="{472E555F-5D76-F646-A9B1-4FB9028CA3C5}" destId="{4921A1A8-6658-C946-81EC-1BBCEEEDE982}" srcOrd="3" destOrd="0" presId="urn:microsoft.com/office/officeart/2005/8/layout/hProcess4"/>
    <dgm:cxn modelId="{8A9CB17D-1BC1-3543-A55A-AA3378116DED}" type="presParOf" srcId="{472E555F-5D76-F646-A9B1-4FB9028CA3C5}" destId="{3314B292-EC9A-424A-9941-393AA94D0860}" srcOrd="4" destOrd="0" presId="urn:microsoft.com/office/officeart/2005/8/layout/hProcess4"/>
    <dgm:cxn modelId="{24200AC4-CB20-A24D-9F79-652D4669A8B2}" type="presParOf" srcId="{195771B2-E83C-8D47-AC5A-E0907F1AB596}" destId="{035FEA2A-0066-1642-A472-449A8E0D404E}" srcOrd="1" destOrd="0" presId="urn:microsoft.com/office/officeart/2005/8/layout/hProcess4"/>
    <dgm:cxn modelId="{89E0CBB5-0415-7C41-B960-9DBB26E7258B}" type="presParOf" srcId="{195771B2-E83C-8D47-AC5A-E0907F1AB596}" destId="{E9B317C0-603D-8847-96CD-2BC1C21CD16E}" srcOrd="2" destOrd="0" presId="urn:microsoft.com/office/officeart/2005/8/layout/hProcess4"/>
    <dgm:cxn modelId="{90F7BDDA-F1ED-934B-9783-0465D4C99730}" type="presParOf" srcId="{E9B317C0-603D-8847-96CD-2BC1C21CD16E}" destId="{369B91B5-8C91-294B-A353-A5CAB840FB07}" srcOrd="0" destOrd="0" presId="urn:microsoft.com/office/officeart/2005/8/layout/hProcess4"/>
    <dgm:cxn modelId="{6DA0DC50-D392-BD4F-85AC-931A0DB379A0}" type="presParOf" srcId="{E9B317C0-603D-8847-96CD-2BC1C21CD16E}" destId="{C1F890E0-24C4-D642-8884-C9B159244FFE}" srcOrd="1" destOrd="0" presId="urn:microsoft.com/office/officeart/2005/8/layout/hProcess4"/>
    <dgm:cxn modelId="{D78CCF25-CD3F-CE49-8B19-BE1C2F978170}" type="presParOf" srcId="{E9B317C0-603D-8847-96CD-2BC1C21CD16E}" destId="{887124B2-DCF2-7348-9A24-03BDFAC773C6}" srcOrd="2" destOrd="0" presId="urn:microsoft.com/office/officeart/2005/8/layout/hProcess4"/>
    <dgm:cxn modelId="{FCD35A8F-EEFD-974F-8B53-B70D6EAE894D}" type="presParOf" srcId="{E9B317C0-603D-8847-96CD-2BC1C21CD16E}" destId="{1F6A97C5-F3A9-E94F-905E-0E5EEFB98187}" srcOrd="3" destOrd="0" presId="urn:microsoft.com/office/officeart/2005/8/layout/hProcess4"/>
    <dgm:cxn modelId="{183C9372-C06B-774A-A474-92868D2A47C7}" type="presParOf" srcId="{E9B317C0-603D-8847-96CD-2BC1C21CD16E}" destId="{F41D957D-C15B-7F4C-9089-B004335F615C}"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966F55-D052-E14D-848F-7196F1653D62}"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7CD53D11-14A8-BB47-93CB-4BC9BBFDA16C}">
      <dgm:prSet/>
      <dgm:spPr/>
      <dgm:t>
        <a:bodyPr/>
        <a:lstStyle/>
        <a:p>
          <a:pPr rtl="0"/>
          <a:r>
            <a:rPr lang="en-US" dirty="0" smtClean="0"/>
            <a:t>Many processor designs include a register or set of registers, often known as PSW, that contain status information plus conditions codes.</a:t>
          </a:r>
          <a:endParaRPr lang="en-US" dirty="0"/>
        </a:p>
      </dgm:t>
    </dgm:pt>
    <dgm:pt modelId="{8D1367BB-84E1-5D4E-AEFC-5100700A0E70}" type="parTrans" cxnId="{171FDFEC-3D39-0045-A026-4928B870FF4F}">
      <dgm:prSet/>
      <dgm:spPr/>
      <dgm:t>
        <a:bodyPr/>
        <a:lstStyle/>
        <a:p>
          <a:endParaRPr lang="en-US"/>
        </a:p>
      </dgm:t>
    </dgm:pt>
    <dgm:pt modelId="{02269C7D-0197-2D4E-8CA6-418CA636BF74}" type="sibTrans" cxnId="{171FDFEC-3D39-0045-A026-4928B870FF4F}">
      <dgm:prSet/>
      <dgm:spPr/>
      <dgm:t>
        <a:bodyPr/>
        <a:lstStyle/>
        <a:p>
          <a:endParaRPr lang="en-US"/>
        </a:p>
      </dgm:t>
    </dgm:pt>
    <dgm:pt modelId="{BD6D24BD-E548-9A4A-855D-6C225FD31DCB}">
      <dgm:prSet/>
      <dgm:spPr/>
      <dgm:t>
        <a:bodyPr/>
        <a:lstStyle/>
        <a:p>
          <a:pPr rtl="0"/>
          <a:r>
            <a:rPr lang="en-US" dirty="0" smtClean="0"/>
            <a:t>Common fields or flags include:</a:t>
          </a:r>
          <a:endParaRPr lang="en-US" dirty="0"/>
        </a:p>
      </dgm:t>
    </dgm:pt>
    <dgm:pt modelId="{3B2DB9EB-8A9D-6E48-9CAD-6EE944E183CF}" type="parTrans" cxnId="{02CEC83C-DB20-C542-B1C1-903452A57AD4}">
      <dgm:prSet/>
      <dgm:spPr/>
      <dgm:t>
        <a:bodyPr/>
        <a:lstStyle/>
        <a:p>
          <a:endParaRPr lang="en-US"/>
        </a:p>
      </dgm:t>
    </dgm:pt>
    <dgm:pt modelId="{46296E97-6DD7-5B42-A2D7-2B317B9916ED}" type="sibTrans" cxnId="{02CEC83C-DB20-C542-B1C1-903452A57AD4}">
      <dgm:prSet/>
      <dgm:spPr/>
      <dgm:t>
        <a:bodyPr/>
        <a:lstStyle/>
        <a:p>
          <a:endParaRPr lang="en-US"/>
        </a:p>
      </dgm:t>
    </dgm:pt>
    <dgm:pt modelId="{AE179C10-8D0E-FC4E-B58C-24E89F87024F}">
      <dgm:prSet/>
      <dgm:spPr/>
      <dgm:t>
        <a:bodyPr/>
        <a:lstStyle/>
        <a:p>
          <a:pPr rtl="0"/>
          <a:r>
            <a:rPr lang="en-US" dirty="0" smtClean="0"/>
            <a:t>Sign</a:t>
          </a:r>
          <a:endParaRPr lang="en-US" dirty="0"/>
        </a:p>
      </dgm:t>
    </dgm:pt>
    <dgm:pt modelId="{D7FD6E6C-6BC1-5747-BA0E-5AE759ADB980}" type="parTrans" cxnId="{C9EBAF4B-F1ED-E943-BF4C-6A8588BC6EC0}">
      <dgm:prSet/>
      <dgm:spPr/>
      <dgm:t>
        <a:bodyPr/>
        <a:lstStyle/>
        <a:p>
          <a:endParaRPr lang="en-US"/>
        </a:p>
      </dgm:t>
    </dgm:pt>
    <dgm:pt modelId="{47E37169-8B77-BA4B-87CB-B339DABDB0D7}" type="sibTrans" cxnId="{C9EBAF4B-F1ED-E943-BF4C-6A8588BC6EC0}">
      <dgm:prSet/>
      <dgm:spPr/>
      <dgm:t>
        <a:bodyPr/>
        <a:lstStyle/>
        <a:p>
          <a:endParaRPr lang="en-US"/>
        </a:p>
      </dgm:t>
    </dgm:pt>
    <dgm:pt modelId="{4C25EF1F-2B52-1A49-996A-69288106C6D8}">
      <dgm:prSet/>
      <dgm:spPr/>
      <dgm:t>
        <a:bodyPr/>
        <a:lstStyle/>
        <a:p>
          <a:pPr rtl="0"/>
          <a:r>
            <a:rPr lang="en-US" dirty="0" smtClean="0"/>
            <a:t>Zero</a:t>
          </a:r>
          <a:endParaRPr lang="en-US" dirty="0"/>
        </a:p>
      </dgm:t>
    </dgm:pt>
    <dgm:pt modelId="{045E6BBE-1863-9545-BB4A-83592E351C7B}" type="parTrans" cxnId="{32F583A6-15F0-5B45-8EEB-796A35CB3268}">
      <dgm:prSet/>
      <dgm:spPr/>
      <dgm:t>
        <a:bodyPr/>
        <a:lstStyle/>
        <a:p>
          <a:endParaRPr lang="en-US"/>
        </a:p>
      </dgm:t>
    </dgm:pt>
    <dgm:pt modelId="{2C632AA3-C700-214A-8407-8E131F5275B9}" type="sibTrans" cxnId="{32F583A6-15F0-5B45-8EEB-796A35CB3268}">
      <dgm:prSet/>
      <dgm:spPr/>
      <dgm:t>
        <a:bodyPr/>
        <a:lstStyle/>
        <a:p>
          <a:endParaRPr lang="en-US"/>
        </a:p>
      </dgm:t>
    </dgm:pt>
    <dgm:pt modelId="{07EFF1AF-5A02-EA4E-B19A-96E78F350787}">
      <dgm:prSet/>
      <dgm:spPr/>
      <dgm:t>
        <a:bodyPr/>
        <a:lstStyle/>
        <a:p>
          <a:pPr rtl="0"/>
          <a:r>
            <a:rPr lang="en-US" dirty="0" smtClean="0"/>
            <a:t>Carry</a:t>
          </a:r>
          <a:endParaRPr lang="en-US" dirty="0"/>
        </a:p>
      </dgm:t>
    </dgm:pt>
    <dgm:pt modelId="{C707A371-12AF-8E49-87EC-418B31F6101C}" type="parTrans" cxnId="{9875B65D-6A11-E44C-B06A-5DE5F30308DA}">
      <dgm:prSet/>
      <dgm:spPr/>
      <dgm:t>
        <a:bodyPr/>
        <a:lstStyle/>
        <a:p>
          <a:endParaRPr lang="en-US"/>
        </a:p>
      </dgm:t>
    </dgm:pt>
    <dgm:pt modelId="{A412703B-B498-8542-A863-1BA5F2403F1B}" type="sibTrans" cxnId="{9875B65D-6A11-E44C-B06A-5DE5F30308DA}">
      <dgm:prSet/>
      <dgm:spPr/>
      <dgm:t>
        <a:bodyPr/>
        <a:lstStyle/>
        <a:p>
          <a:endParaRPr lang="en-US"/>
        </a:p>
      </dgm:t>
    </dgm:pt>
    <dgm:pt modelId="{C38BB5B9-C9C6-784E-86C7-565A576E006C}">
      <dgm:prSet/>
      <dgm:spPr/>
      <dgm:t>
        <a:bodyPr/>
        <a:lstStyle/>
        <a:p>
          <a:pPr rtl="0"/>
          <a:r>
            <a:rPr lang="en-US" dirty="0" smtClean="0"/>
            <a:t>Equal</a:t>
          </a:r>
          <a:endParaRPr lang="en-US" dirty="0"/>
        </a:p>
      </dgm:t>
    </dgm:pt>
    <dgm:pt modelId="{350000F1-E51D-2D4A-98F9-9A8FA001818E}" type="parTrans" cxnId="{B70FE954-9617-8441-B007-95D9514E94EB}">
      <dgm:prSet/>
      <dgm:spPr/>
      <dgm:t>
        <a:bodyPr/>
        <a:lstStyle/>
        <a:p>
          <a:endParaRPr lang="en-US"/>
        </a:p>
      </dgm:t>
    </dgm:pt>
    <dgm:pt modelId="{D6539CDB-D55A-8E44-8B60-F9382D57AE08}" type="sibTrans" cxnId="{B70FE954-9617-8441-B007-95D9514E94EB}">
      <dgm:prSet/>
      <dgm:spPr/>
      <dgm:t>
        <a:bodyPr/>
        <a:lstStyle/>
        <a:p>
          <a:endParaRPr lang="en-US"/>
        </a:p>
      </dgm:t>
    </dgm:pt>
    <dgm:pt modelId="{7FFDA7A2-87A6-CE4A-88DA-CA55B94BFE18}">
      <dgm:prSet/>
      <dgm:spPr/>
      <dgm:t>
        <a:bodyPr/>
        <a:lstStyle/>
        <a:p>
          <a:pPr rtl="0"/>
          <a:r>
            <a:rPr lang="en-US" dirty="0" smtClean="0"/>
            <a:t>Overflow</a:t>
          </a:r>
          <a:endParaRPr lang="en-US" dirty="0"/>
        </a:p>
      </dgm:t>
    </dgm:pt>
    <dgm:pt modelId="{6E34A588-C12B-C448-987E-324F184314F8}" type="parTrans" cxnId="{D15C54FD-F364-B448-931F-E0417ED2500E}">
      <dgm:prSet/>
      <dgm:spPr/>
      <dgm:t>
        <a:bodyPr/>
        <a:lstStyle/>
        <a:p>
          <a:endParaRPr lang="en-US"/>
        </a:p>
      </dgm:t>
    </dgm:pt>
    <dgm:pt modelId="{59466A86-9BFC-B344-8376-2AB916A42DA3}" type="sibTrans" cxnId="{D15C54FD-F364-B448-931F-E0417ED2500E}">
      <dgm:prSet/>
      <dgm:spPr/>
      <dgm:t>
        <a:bodyPr/>
        <a:lstStyle/>
        <a:p>
          <a:endParaRPr lang="en-US"/>
        </a:p>
      </dgm:t>
    </dgm:pt>
    <dgm:pt modelId="{D88FECE5-5FC3-0B4A-B7D9-66A3BD92AB68}">
      <dgm:prSet/>
      <dgm:spPr/>
      <dgm:t>
        <a:bodyPr/>
        <a:lstStyle/>
        <a:p>
          <a:pPr rtl="0"/>
          <a:r>
            <a:rPr lang="en-US" dirty="0" smtClean="0"/>
            <a:t>Interrupt Enable/Disable</a:t>
          </a:r>
          <a:endParaRPr lang="en-US" dirty="0"/>
        </a:p>
      </dgm:t>
    </dgm:pt>
    <dgm:pt modelId="{B39B5C1E-9D79-FE4D-87C2-8B6346D79A57}" type="parTrans" cxnId="{23FBF6F8-ED99-2042-B962-152426A3E129}">
      <dgm:prSet/>
      <dgm:spPr/>
      <dgm:t>
        <a:bodyPr/>
        <a:lstStyle/>
        <a:p>
          <a:endParaRPr lang="en-US"/>
        </a:p>
      </dgm:t>
    </dgm:pt>
    <dgm:pt modelId="{F548B796-6E6E-CA48-859B-E62D2D3E16BC}" type="sibTrans" cxnId="{23FBF6F8-ED99-2042-B962-152426A3E129}">
      <dgm:prSet/>
      <dgm:spPr/>
      <dgm:t>
        <a:bodyPr/>
        <a:lstStyle/>
        <a:p>
          <a:endParaRPr lang="en-US"/>
        </a:p>
      </dgm:t>
    </dgm:pt>
    <dgm:pt modelId="{3624604C-F1E1-724B-A085-66D556D96BC3}">
      <dgm:prSet/>
      <dgm:spPr/>
      <dgm:t>
        <a:bodyPr/>
        <a:lstStyle/>
        <a:p>
          <a:pPr rtl="0"/>
          <a:r>
            <a:rPr lang="en-US" dirty="0" smtClean="0"/>
            <a:t>Supervisor</a:t>
          </a:r>
          <a:endParaRPr lang="en-US" dirty="0"/>
        </a:p>
      </dgm:t>
    </dgm:pt>
    <dgm:pt modelId="{9B905FF9-13EB-5D41-85AB-FC2423B0548A}" type="parTrans" cxnId="{50E77A2B-DEFF-604D-9B91-3A3228253E01}">
      <dgm:prSet/>
      <dgm:spPr/>
      <dgm:t>
        <a:bodyPr/>
        <a:lstStyle/>
        <a:p>
          <a:endParaRPr lang="en-US"/>
        </a:p>
      </dgm:t>
    </dgm:pt>
    <dgm:pt modelId="{1C0FB960-31CE-8C44-BED9-92839C72EFA0}" type="sibTrans" cxnId="{50E77A2B-DEFF-604D-9B91-3A3228253E01}">
      <dgm:prSet/>
      <dgm:spPr/>
      <dgm:t>
        <a:bodyPr/>
        <a:lstStyle/>
        <a:p>
          <a:endParaRPr lang="en-US"/>
        </a:p>
      </dgm:t>
    </dgm:pt>
    <dgm:pt modelId="{327D01AD-C940-E849-A75E-691ADFDC39EC}" type="pres">
      <dgm:prSet presAssocID="{C0966F55-D052-E14D-848F-7196F1653D62}" presName="compositeShape" presStyleCnt="0">
        <dgm:presLayoutVars>
          <dgm:chMax val="2"/>
          <dgm:dir/>
          <dgm:resizeHandles val="exact"/>
        </dgm:presLayoutVars>
      </dgm:prSet>
      <dgm:spPr/>
      <dgm:t>
        <a:bodyPr/>
        <a:lstStyle/>
        <a:p>
          <a:endParaRPr lang="en-US"/>
        </a:p>
      </dgm:t>
    </dgm:pt>
    <dgm:pt modelId="{B73E271E-CE66-1941-BDE4-DC011A56D099}" type="pres">
      <dgm:prSet presAssocID="{7CD53D11-14A8-BB47-93CB-4BC9BBFDA16C}" presName="upArrow" presStyleLbl="node1" presStyleIdx="0" presStyleCnt="2"/>
      <dgm:spPr/>
    </dgm:pt>
    <dgm:pt modelId="{CFF95017-E622-CB47-81A6-7B8D3D03A33B}" type="pres">
      <dgm:prSet presAssocID="{7CD53D11-14A8-BB47-93CB-4BC9BBFDA16C}" presName="upArrowText" presStyleLbl="revTx" presStyleIdx="0" presStyleCnt="2">
        <dgm:presLayoutVars>
          <dgm:chMax val="0"/>
          <dgm:bulletEnabled val="1"/>
        </dgm:presLayoutVars>
      </dgm:prSet>
      <dgm:spPr/>
      <dgm:t>
        <a:bodyPr/>
        <a:lstStyle/>
        <a:p>
          <a:endParaRPr lang="en-US"/>
        </a:p>
      </dgm:t>
    </dgm:pt>
    <dgm:pt modelId="{FAFFC7AD-0AC6-7C42-BAAA-78490EEA3097}" type="pres">
      <dgm:prSet presAssocID="{BD6D24BD-E548-9A4A-855D-6C225FD31DCB}" presName="downArrow" presStyleLbl="node1" presStyleIdx="1" presStyleCnt="2"/>
      <dgm:spPr/>
    </dgm:pt>
    <dgm:pt modelId="{20F573A9-C3CE-6E4D-8FF9-E946479E33E0}" type="pres">
      <dgm:prSet presAssocID="{BD6D24BD-E548-9A4A-855D-6C225FD31DCB}" presName="downArrowText" presStyleLbl="revTx" presStyleIdx="1" presStyleCnt="2">
        <dgm:presLayoutVars>
          <dgm:chMax val="0"/>
          <dgm:bulletEnabled val="1"/>
        </dgm:presLayoutVars>
      </dgm:prSet>
      <dgm:spPr/>
      <dgm:t>
        <a:bodyPr/>
        <a:lstStyle/>
        <a:p>
          <a:endParaRPr lang="en-US"/>
        </a:p>
      </dgm:t>
    </dgm:pt>
  </dgm:ptLst>
  <dgm:cxnLst>
    <dgm:cxn modelId="{CCB9949D-12C8-7240-BD12-A3C7F099828E}" type="presOf" srcId="{BD6D24BD-E548-9A4A-855D-6C225FD31DCB}" destId="{20F573A9-C3CE-6E4D-8FF9-E946479E33E0}" srcOrd="0" destOrd="0" presId="urn:microsoft.com/office/officeart/2005/8/layout/arrow4"/>
    <dgm:cxn modelId="{C9EBAF4B-F1ED-E943-BF4C-6A8588BC6EC0}" srcId="{BD6D24BD-E548-9A4A-855D-6C225FD31DCB}" destId="{AE179C10-8D0E-FC4E-B58C-24E89F87024F}" srcOrd="0" destOrd="0" parTransId="{D7FD6E6C-6BC1-5747-BA0E-5AE759ADB980}" sibTransId="{47E37169-8B77-BA4B-87CB-B339DABDB0D7}"/>
    <dgm:cxn modelId="{23FBF6F8-ED99-2042-B962-152426A3E129}" srcId="{BD6D24BD-E548-9A4A-855D-6C225FD31DCB}" destId="{D88FECE5-5FC3-0B4A-B7D9-66A3BD92AB68}" srcOrd="5" destOrd="0" parTransId="{B39B5C1E-9D79-FE4D-87C2-8B6346D79A57}" sibTransId="{F548B796-6E6E-CA48-859B-E62D2D3E16BC}"/>
    <dgm:cxn modelId="{1252901D-A7F0-BA43-BD4D-DC84F8B2E66F}" type="presOf" srcId="{4C25EF1F-2B52-1A49-996A-69288106C6D8}" destId="{20F573A9-C3CE-6E4D-8FF9-E946479E33E0}" srcOrd="0" destOrd="2" presId="urn:microsoft.com/office/officeart/2005/8/layout/arrow4"/>
    <dgm:cxn modelId="{32F583A6-15F0-5B45-8EEB-796A35CB3268}" srcId="{BD6D24BD-E548-9A4A-855D-6C225FD31DCB}" destId="{4C25EF1F-2B52-1A49-996A-69288106C6D8}" srcOrd="1" destOrd="0" parTransId="{045E6BBE-1863-9545-BB4A-83592E351C7B}" sibTransId="{2C632AA3-C700-214A-8407-8E131F5275B9}"/>
    <dgm:cxn modelId="{9875B65D-6A11-E44C-B06A-5DE5F30308DA}" srcId="{BD6D24BD-E548-9A4A-855D-6C225FD31DCB}" destId="{07EFF1AF-5A02-EA4E-B19A-96E78F350787}" srcOrd="2" destOrd="0" parTransId="{C707A371-12AF-8E49-87EC-418B31F6101C}" sibTransId="{A412703B-B498-8542-A863-1BA5F2403F1B}"/>
    <dgm:cxn modelId="{B70FE954-9617-8441-B007-95D9514E94EB}" srcId="{BD6D24BD-E548-9A4A-855D-6C225FD31DCB}" destId="{C38BB5B9-C9C6-784E-86C7-565A576E006C}" srcOrd="3" destOrd="0" parTransId="{350000F1-E51D-2D4A-98F9-9A8FA001818E}" sibTransId="{D6539CDB-D55A-8E44-8B60-F9382D57AE08}"/>
    <dgm:cxn modelId="{A53ADBAA-E375-8D49-A2C2-53382B42842E}" type="presOf" srcId="{7CD53D11-14A8-BB47-93CB-4BC9BBFDA16C}" destId="{CFF95017-E622-CB47-81A6-7B8D3D03A33B}" srcOrd="0" destOrd="0" presId="urn:microsoft.com/office/officeart/2005/8/layout/arrow4"/>
    <dgm:cxn modelId="{770B8EE4-4489-4044-A899-BF8F463E22AC}" type="presOf" srcId="{C0966F55-D052-E14D-848F-7196F1653D62}" destId="{327D01AD-C940-E849-A75E-691ADFDC39EC}" srcOrd="0" destOrd="0" presId="urn:microsoft.com/office/officeart/2005/8/layout/arrow4"/>
    <dgm:cxn modelId="{2B413D94-028C-0248-8811-2527F21973F3}" type="presOf" srcId="{AE179C10-8D0E-FC4E-B58C-24E89F87024F}" destId="{20F573A9-C3CE-6E4D-8FF9-E946479E33E0}" srcOrd="0" destOrd="1" presId="urn:microsoft.com/office/officeart/2005/8/layout/arrow4"/>
    <dgm:cxn modelId="{D15C54FD-F364-B448-931F-E0417ED2500E}" srcId="{BD6D24BD-E548-9A4A-855D-6C225FD31DCB}" destId="{7FFDA7A2-87A6-CE4A-88DA-CA55B94BFE18}" srcOrd="4" destOrd="0" parTransId="{6E34A588-C12B-C448-987E-324F184314F8}" sibTransId="{59466A86-9BFC-B344-8376-2AB916A42DA3}"/>
    <dgm:cxn modelId="{7A248969-10F8-F748-8560-D187512113EA}" type="presOf" srcId="{3624604C-F1E1-724B-A085-66D556D96BC3}" destId="{20F573A9-C3CE-6E4D-8FF9-E946479E33E0}" srcOrd="0" destOrd="7" presId="urn:microsoft.com/office/officeart/2005/8/layout/arrow4"/>
    <dgm:cxn modelId="{171FDFEC-3D39-0045-A026-4928B870FF4F}" srcId="{C0966F55-D052-E14D-848F-7196F1653D62}" destId="{7CD53D11-14A8-BB47-93CB-4BC9BBFDA16C}" srcOrd="0" destOrd="0" parTransId="{8D1367BB-84E1-5D4E-AEFC-5100700A0E70}" sibTransId="{02269C7D-0197-2D4E-8CA6-418CA636BF74}"/>
    <dgm:cxn modelId="{621F0006-92D2-C148-88A0-283DBB2C8F3B}" type="presOf" srcId="{D88FECE5-5FC3-0B4A-B7D9-66A3BD92AB68}" destId="{20F573A9-C3CE-6E4D-8FF9-E946479E33E0}" srcOrd="0" destOrd="6" presId="urn:microsoft.com/office/officeart/2005/8/layout/arrow4"/>
    <dgm:cxn modelId="{6AA83238-6387-B940-822D-36C005D0C486}" type="presOf" srcId="{7FFDA7A2-87A6-CE4A-88DA-CA55B94BFE18}" destId="{20F573A9-C3CE-6E4D-8FF9-E946479E33E0}" srcOrd="0" destOrd="5" presId="urn:microsoft.com/office/officeart/2005/8/layout/arrow4"/>
    <dgm:cxn modelId="{02CEC83C-DB20-C542-B1C1-903452A57AD4}" srcId="{C0966F55-D052-E14D-848F-7196F1653D62}" destId="{BD6D24BD-E548-9A4A-855D-6C225FD31DCB}" srcOrd="1" destOrd="0" parTransId="{3B2DB9EB-8A9D-6E48-9CAD-6EE944E183CF}" sibTransId="{46296E97-6DD7-5B42-A2D7-2B317B9916ED}"/>
    <dgm:cxn modelId="{3A0AE0B4-FB87-134C-B0AC-4CCB32380A4D}" type="presOf" srcId="{07EFF1AF-5A02-EA4E-B19A-96E78F350787}" destId="{20F573A9-C3CE-6E4D-8FF9-E946479E33E0}" srcOrd="0" destOrd="3" presId="urn:microsoft.com/office/officeart/2005/8/layout/arrow4"/>
    <dgm:cxn modelId="{50E77A2B-DEFF-604D-9B91-3A3228253E01}" srcId="{BD6D24BD-E548-9A4A-855D-6C225FD31DCB}" destId="{3624604C-F1E1-724B-A085-66D556D96BC3}" srcOrd="6" destOrd="0" parTransId="{9B905FF9-13EB-5D41-85AB-FC2423B0548A}" sibTransId="{1C0FB960-31CE-8C44-BED9-92839C72EFA0}"/>
    <dgm:cxn modelId="{095ED521-D2CC-7E47-8499-0975E01F78B2}" type="presOf" srcId="{C38BB5B9-C9C6-784E-86C7-565A576E006C}" destId="{20F573A9-C3CE-6E4D-8FF9-E946479E33E0}" srcOrd="0" destOrd="4" presId="urn:microsoft.com/office/officeart/2005/8/layout/arrow4"/>
    <dgm:cxn modelId="{FB2325C1-E278-FA4F-94BA-C1AF01FD2AEA}" type="presParOf" srcId="{327D01AD-C940-E849-A75E-691ADFDC39EC}" destId="{B73E271E-CE66-1941-BDE4-DC011A56D099}" srcOrd="0" destOrd="0" presId="urn:microsoft.com/office/officeart/2005/8/layout/arrow4"/>
    <dgm:cxn modelId="{66F20C0E-9AB6-1D4F-B021-6D86E67EBB94}" type="presParOf" srcId="{327D01AD-C940-E849-A75E-691ADFDC39EC}" destId="{CFF95017-E622-CB47-81A6-7B8D3D03A33B}" srcOrd="1" destOrd="0" presId="urn:microsoft.com/office/officeart/2005/8/layout/arrow4"/>
    <dgm:cxn modelId="{1B2ABDE6-1429-B74B-AB5C-83B6D98F824E}" type="presParOf" srcId="{327D01AD-C940-E849-A75E-691ADFDC39EC}" destId="{FAFFC7AD-0AC6-7C42-BAAA-78490EEA3097}" srcOrd="2" destOrd="0" presId="urn:microsoft.com/office/officeart/2005/8/layout/arrow4"/>
    <dgm:cxn modelId="{239D558F-3FF7-9B4F-AAEC-4055F99030A2}" type="presParOf" srcId="{327D01AD-C940-E849-A75E-691ADFDC39EC}" destId="{20F573A9-C3CE-6E4D-8FF9-E946479E33E0}"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C00FE2-E675-F241-B8B5-CB3484196D43}"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17B91373-4AA7-984A-800B-F0F814C964AA}">
      <dgm:prSet/>
      <dgm:spPr/>
      <dgm:t>
        <a:bodyPr/>
        <a:lstStyle/>
        <a:p>
          <a:pPr rtl="0"/>
          <a:r>
            <a:rPr lang="en-US" dirty="0" smtClean="0"/>
            <a:t>Includes the following stages:</a:t>
          </a:r>
          <a:endParaRPr lang="en-US" dirty="0"/>
        </a:p>
      </dgm:t>
    </dgm:pt>
    <dgm:pt modelId="{08C813BA-9A73-3149-AA1A-D20F8F27A2F2}" type="parTrans" cxnId="{5E9ED15C-E641-1847-808B-9B6FDDE3F30C}">
      <dgm:prSet/>
      <dgm:spPr/>
      <dgm:t>
        <a:bodyPr/>
        <a:lstStyle/>
        <a:p>
          <a:endParaRPr lang="en-US"/>
        </a:p>
      </dgm:t>
    </dgm:pt>
    <dgm:pt modelId="{6D1D04D7-5AEF-6149-A956-8B77A56DC5B1}" type="sibTrans" cxnId="{5E9ED15C-E641-1847-808B-9B6FDDE3F30C}">
      <dgm:prSet/>
      <dgm:spPr/>
      <dgm:t>
        <a:bodyPr/>
        <a:lstStyle/>
        <a:p>
          <a:endParaRPr lang="en-US"/>
        </a:p>
      </dgm:t>
    </dgm:pt>
    <dgm:pt modelId="{E9DC148B-85D3-3B4E-B8EB-6B25518CC616}">
      <dgm:prSet/>
      <dgm:spPr/>
      <dgm:t>
        <a:bodyPr/>
        <a:lstStyle/>
        <a:p>
          <a:pPr rtl="0"/>
          <a:r>
            <a:rPr lang="en-US" dirty="0" smtClean="0"/>
            <a:t>Fetch</a:t>
          </a:r>
          <a:endParaRPr lang="en-US" dirty="0"/>
        </a:p>
      </dgm:t>
    </dgm:pt>
    <dgm:pt modelId="{FAA0F2C6-C41B-964C-92B1-8515E277C50C}" type="parTrans" cxnId="{0C6625CD-8564-B74E-88BD-FC7FB995490C}">
      <dgm:prSet/>
      <dgm:spPr/>
      <dgm:t>
        <a:bodyPr/>
        <a:lstStyle/>
        <a:p>
          <a:endParaRPr lang="en-US"/>
        </a:p>
      </dgm:t>
    </dgm:pt>
    <dgm:pt modelId="{079AAD60-39C3-C147-A324-08FC7E336F58}" type="sibTrans" cxnId="{0C6625CD-8564-B74E-88BD-FC7FB995490C}">
      <dgm:prSet/>
      <dgm:spPr/>
      <dgm:t>
        <a:bodyPr/>
        <a:lstStyle/>
        <a:p>
          <a:endParaRPr lang="en-US"/>
        </a:p>
      </dgm:t>
    </dgm:pt>
    <dgm:pt modelId="{B67C3CE5-CF88-2546-A775-40C9C279EB36}">
      <dgm:prSet/>
      <dgm:spPr/>
      <dgm:t>
        <a:bodyPr/>
        <a:lstStyle/>
        <a:p>
          <a:pPr rtl="0"/>
          <a:r>
            <a:rPr lang="en-US" dirty="0" smtClean="0"/>
            <a:t>Read the next instruction from memory into the processor</a:t>
          </a:r>
          <a:endParaRPr lang="en-US" dirty="0"/>
        </a:p>
      </dgm:t>
    </dgm:pt>
    <dgm:pt modelId="{918D2150-EAA7-B84E-B1F6-92CA50A8FB72}" type="parTrans" cxnId="{37D630B1-7B74-8A47-A556-A16DCF1F82BE}">
      <dgm:prSet/>
      <dgm:spPr/>
      <dgm:t>
        <a:bodyPr/>
        <a:lstStyle/>
        <a:p>
          <a:endParaRPr lang="en-US"/>
        </a:p>
      </dgm:t>
    </dgm:pt>
    <dgm:pt modelId="{B01F8F4A-4143-E24E-805F-3642DC6FEA50}" type="sibTrans" cxnId="{37D630B1-7B74-8A47-A556-A16DCF1F82BE}">
      <dgm:prSet/>
      <dgm:spPr/>
      <dgm:t>
        <a:bodyPr/>
        <a:lstStyle/>
        <a:p>
          <a:endParaRPr lang="en-US"/>
        </a:p>
      </dgm:t>
    </dgm:pt>
    <dgm:pt modelId="{385A3E21-C52E-0B48-9C02-87C94DE86B5C}">
      <dgm:prSet/>
      <dgm:spPr/>
      <dgm:t>
        <a:bodyPr/>
        <a:lstStyle/>
        <a:p>
          <a:pPr rtl="0"/>
          <a:r>
            <a:rPr lang="en-US" dirty="0" smtClean="0"/>
            <a:t>Execute</a:t>
          </a:r>
          <a:endParaRPr lang="en-US" dirty="0"/>
        </a:p>
      </dgm:t>
    </dgm:pt>
    <dgm:pt modelId="{BF7E736F-6546-584D-9156-3CD23AEBB46D}" type="parTrans" cxnId="{2B6CEEC9-7455-ED42-BCBB-4DBDD8C8C765}">
      <dgm:prSet/>
      <dgm:spPr/>
      <dgm:t>
        <a:bodyPr/>
        <a:lstStyle/>
        <a:p>
          <a:endParaRPr lang="en-US"/>
        </a:p>
      </dgm:t>
    </dgm:pt>
    <dgm:pt modelId="{A6BC3F7C-119A-7648-A1A8-9C7F69A3B80A}" type="sibTrans" cxnId="{2B6CEEC9-7455-ED42-BCBB-4DBDD8C8C765}">
      <dgm:prSet/>
      <dgm:spPr/>
      <dgm:t>
        <a:bodyPr/>
        <a:lstStyle/>
        <a:p>
          <a:endParaRPr lang="en-US"/>
        </a:p>
      </dgm:t>
    </dgm:pt>
    <dgm:pt modelId="{B5C9E825-14F4-724A-B515-C09AA5EFB617}">
      <dgm:prSet/>
      <dgm:spPr/>
      <dgm:t>
        <a:bodyPr/>
        <a:lstStyle/>
        <a:p>
          <a:pPr rtl="0"/>
          <a:r>
            <a:rPr lang="en-US" dirty="0" smtClean="0"/>
            <a:t>Interpret the opcode and perform the indicated operation</a:t>
          </a:r>
          <a:endParaRPr lang="en-US" dirty="0"/>
        </a:p>
      </dgm:t>
    </dgm:pt>
    <dgm:pt modelId="{E74EECEE-65F0-E241-83CC-FB01D52015C7}" type="parTrans" cxnId="{3DC2F1F0-5877-0A47-89F6-9C8BDECCA003}">
      <dgm:prSet/>
      <dgm:spPr/>
      <dgm:t>
        <a:bodyPr/>
        <a:lstStyle/>
        <a:p>
          <a:endParaRPr lang="en-US"/>
        </a:p>
      </dgm:t>
    </dgm:pt>
    <dgm:pt modelId="{F4077039-4200-3342-88FC-0DC8F7E3DC38}" type="sibTrans" cxnId="{3DC2F1F0-5877-0A47-89F6-9C8BDECCA003}">
      <dgm:prSet/>
      <dgm:spPr/>
      <dgm:t>
        <a:bodyPr/>
        <a:lstStyle/>
        <a:p>
          <a:endParaRPr lang="en-US"/>
        </a:p>
      </dgm:t>
    </dgm:pt>
    <dgm:pt modelId="{E51C8DE6-BE3D-CA47-832C-A3DBDB57C472}">
      <dgm:prSet/>
      <dgm:spPr/>
      <dgm:t>
        <a:bodyPr/>
        <a:lstStyle/>
        <a:p>
          <a:pPr rtl="0"/>
          <a:r>
            <a:rPr lang="en-US" dirty="0" smtClean="0"/>
            <a:t>Interrupt </a:t>
          </a:r>
          <a:endParaRPr lang="en-US" dirty="0"/>
        </a:p>
      </dgm:t>
    </dgm:pt>
    <dgm:pt modelId="{7C2196FF-39C8-E140-B37A-13AC3B7711A2}" type="parTrans" cxnId="{244E2247-C434-3B47-9512-8ED9EE3707B2}">
      <dgm:prSet/>
      <dgm:spPr/>
      <dgm:t>
        <a:bodyPr/>
        <a:lstStyle/>
        <a:p>
          <a:endParaRPr lang="en-US"/>
        </a:p>
      </dgm:t>
    </dgm:pt>
    <dgm:pt modelId="{806047C7-4457-7745-9FDE-8F83DCEC165D}" type="sibTrans" cxnId="{244E2247-C434-3B47-9512-8ED9EE3707B2}">
      <dgm:prSet/>
      <dgm:spPr/>
      <dgm:t>
        <a:bodyPr/>
        <a:lstStyle/>
        <a:p>
          <a:endParaRPr lang="en-US"/>
        </a:p>
      </dgm:t>
    </dgm:pt>
    <dgm:pt modelId="{ED28E4C6-50E3-B742-9E76-FF0C9B1AFE75}">
      <dgm:prSet/>
      <dgm:spPr/>
      <dgm:t>
        <a:bodyPr/>
        <a:lstStyle/>
        <a:p>
          <a:pPr rtl="0"/>
          <a:r>
            <a:rPr lang="en-US" dirty="0" smtClean="0"/>
            <a:t>If interrupts are enabled and an interrupt has occurred, save the current process state and service the interrupt</a:t>
          </a:r>
          <a:endParaRPr lang="en-US" dirty="0"/>
        </a:p>
      </dgm:t>
    </dgm:pt>
    <dgm:pt modelId="{790CC5E7-EBE8-EE47-814E-DDFB6563CF62}" type="parTrans" cxnId="{62D24259-E22D-E442-9207-5D6C14CF2780}">
      <dgm:prSet/>
      <dgm:spPr/>
      <dgm:t>
        <a:bodyPr/>
        <a:lstStyle/>
        <a:p>
          <a:endParaRPr lang="en-US"/>
        </a:p>
      </dgm:t>
    </dgm:pt>
    <dgm:pt modelId="{1D705BA5-7361-E84E-8662-96FBA0A59419}" type="sibTrans" cxnId="{62D24259-E22D-E442-9207-5D6C14CF2780}">
      <dgm:prSet/>
      <dgm:spPr/>
      <dgm:t>
        <a:bodyPr/>
        <a:lstStyle/>
        <a:p>
          <a:endParaRPr lang="en-US"/>
        </a:p>
      </dgm:t>
    </dgm:pt>
    <dgm:pt modelId="{3EC35534-BB77-244C-87D7-7C099BE391E0}" type="pres">
      <dgm:prSet presAssocID="{B1C00FE2-E675-F241-B8B5-CB3484196D43}" presName="hierChild1" presStyleCnt="0">
        <dgm:presLayoutVars>
          <dgm:chPref val="1"/>
          <dgm:dir/>
          <dgm:animOne val="branch"/>
          <dgm:animLvl val="lvl"/>
          <dgm:resizeHandles/>
        </dgm:presLayoutVars>
      </dgm:prSet>
      <dgm:spPr/>
      <dgm:t>
        <a:bodyPr/>
        <a:lstStyle/>
        <a:p>
          <a:endParaRPr lang="en-US"/>
        </a:p>
      </dgm:t>
    </dgm:pt>
    <dgm:pt modelId="{A22DFF86-D3CE-B040-99F1-D29E47636276}" type="pres">
      <dgm:prSet presAssocID="{17B91373-4AA7-984A-800B-F0F814C964AA}" presName="hierRoot1" presStyleCnt="0"/>
      <dgm:spPr/>
    </dgm:pt>
    <dgm:pt modelId="{8803A015-5E37-3F4A-A098-C6B33A4B0F59}" type="pres">
      <dgm:prSet presAssocID="{17B91373-4AA7-984A-800B-F0F814C964AA}" presName="composite" presStyleCnt="0"/>
      <dgm:spPr/>
    </dgm:pt>
    <dgm:pt modelId="{AD085B36-DA72-2244-BE46-2D2FD9A8231A}" type="pres">
      <dgm:prSet presAssocID="{17B91373-4AA7-984A-800B-F0F814C964AA}" presName="background" presStyleLbl="node0" presStyleIdx="0" presStyleCnt="1"/>
      <dgm:spPr/>
    </dgm:pt>
    <dgm:pt modelId="{4EA4FB93-F3AC-BD4A-A777-9351FC75EDE1}" type="pres">
      <dgm:prSet presAssocID="{17B91373-4AA7-984A-800B-F0F814C964AA}" presName="text" presStyleLbl="fgAcc0" presStyleIdx="0" presStyleCnt="1">
        <dgm:presLayoutVars>
          <dgm:chPref val="3"/>
        </dgm:presLayoutVars>
      </dgm:prSet>
      <dgm:spPr/>
      <dgm:t>
        <a:bodyPr/>
        <a:lstStyle/>
        <a:p>
          <a:endParaRPr lang="en-US"/>
        </a:p>
      </dgm:t>
    </dgm:pt>
    <dgm:pt modelId="{26E1531E-0D91-CE4C-9A06-D9407F309F38}" type="pres">
      <dgm:prSet presAssocID="{17B91373-4AA7-984A-800B-F0F814C964AA}" presName="hierChild2" presStyleCnt="0"/>
      <dgm:spPr/>
    </dgm:pt>
    <dgm:pt modelId="{44366298-FD9B-5A4A-9783-59C231A2AEE2}" type="pres">
      <dgm:prSet presAssocID="{FAA0F2C6-C41B-964C-92B1-8515E277C50C}" presName="Name10" presStyleLbl="parChTrans1D2" presStyleIdx="0" presStyleCnt="3"/>
      <dgm:spPr/>
      <dgm:t>
        <a:bodyPr/>
        <a:lstStyle/>
        <a:p>
          <a:endParaRPr lang="en-US"/>
        </a:p>
      </dgm:t>
    </dgm:pt>
    <dgm:pt modelId="{A3D27CFD-EB6F-CC47-9E33-D9CE045507EB}" type="pres">
      <dgm:prSet presAssocID="{E9DC148B-85D3-3B4E-B8EB-6B25518CC616}" presName="hierRoot2" presStyleCnt="0"/>
      <dgm:spPr/>
    </dgm:pt>
    <dgm:pt modelId="{E1073C21-9E88-E342-BDBC-43E3C9E897F8}" type="pres">
      <dgm:prSet presAssocID="{E9DC148B-85D3-3B4E-B8EB-6B25518CC616}" presName="composite2" presStyleCnt="0"/>
      <dgm:spPr/>
    </dgm:pt>
    <dgm:pt modelId="{9FB4FFB5-C11F-484E-B2AC-3F8A7722AECD}" type="pres">
      <dgm:prSet presAssocID="{E9DC148B-85D3-3B4E-B8EB-6B25518CC616}" presName="background2" presStyleLbl="node2" presStyleIdx="0" presStyleCnt="3"/>
      <dgm:spPr/>
    </dgm:pt>
    <dgm:pt modelId="{4C89960E-E5D9-D046-8D4B-DD02582B7D3A}" type="pres">
      <dgm:prSet presAssocID="{E9DC148B-85D3-3B4E-B8EB-6B25518CC616}" presName="text2" presStyleLbl="fgAcc2" presStyleIdx="0" presStyleCnt="3">
        <dgm:presLayoutVars>
          <dgm:chPref val="3"/>
        </dgm:presLayoutVars>
      </dgm:prSet>
      <dgm:spPr/>
      <dgm:t>
        <a:bodyPr/>
        <a:lstStyle/>
        <a:p>
          <a:endParaRPr lang="en-US"/>
        </a:p>
      </dgm:t>
    </dgm:pt>
    <dgm:pt modelId="{0CB30970-28B4-D347-B2F4-F2E101ACBBB0}" type="pres">
      <dgm:prSet presAssocID="{E9DC148B-85D3-3B4E-B8EB-6B25518CC616}" presName="hierChild3" presStyleCnt="0"/>
      <dgm:spPr/>
    </dgm:pt>
    <dgm:pt modelId="{7336A106-E8E5-7842-B744-5DA305419486}" type="pres">
      <dgm:prSet presAssocID="{918D2150-EAA7-B84E-B1F6-92CA50A8FB72}" presName="Name17" presStyleLbl="parChTrans1D3" presStyleIdx="0" presStyleCnt="3"/>
      <dgm:spPr/>
      <dgm:t>
        <a:bodyPr/>
        <a:lstStyle/>
        <a:p>
          <a:endParaRPr lang="en-US"/>
        </a:p>
      </dgm:t>
    </dgm:pt>
    <dgm:pt modelId="{9E55D632-7927-6248-9FA5-084F2DAEEF53}" type="pres">
      <dgm:prSet presAssocID="{B67C3CE5-CF88-2546-A775-40C9C279EB36}" presName="hierRoot3" presStyleCnt="0"/>
      <dgm:spPr/>
    </dgm:pt>
    <dgm:pt modelId="{A80B8D5C-4FF0-D84D-A8F5-EE2C067D3000}" type="pres">
      <dgm:prSet presAssocID="{B67C3CE5-CF88-2546-A775-40C9C279EB36}" presName="composite3" presStyleCnt="0"/>
      <dgm:spPr/>
    </dgm:pt>
    <dgm:pt modelId="{553E2E5B-A13E-FF49-8C45-FB7E75BAA80F}" type="pres">
      <dgm:prSet presAssocID="{B67C3CE5-CF88-2546-A775-40C9C279EB36}" presName="background3" presStyleLbl="node3" presStyleIdx="0" presStyleCnt="3"/>
      <dgm:spPr/>
    </dgm:pt>
    <dgm:pt modelId="{BB51A060-E74F-BA43-988A-F74B2DB43A08}" type="pres">
      <dgm:prSet presAssocID="{B67C3CE5-CF88-2546-A775-40C9C279EB36}" presName="text3" presStyleLbl="fgAcc3" presStyleIdx="0" presStyleCnt="3">
        <dgm:presLayoutVars>
          <dgm:chPref val="3"/>
        </dgm:presLayoutVars>
      </dgm:prSet>
      <dgm:spPr/>
      <dgm:t>
        <a:bodyPr/>
        <a:lstStyle/>
        <a:p>
          <a:endParaRPr lang="en-US"/>
        </a:p>
      </dgm:t>
    </dgm:pt>
    <dgm:pt modelId="{C1BBFBC6-0335-5F47-A8F8-78874A72787B}" type="pres">
      <dgm:prSet presAssocID="{B67C3CE5-CF88-2546-A775-40C9C279EB36}" presName="hierChild4" presStyleCnt="0"/>
      <dgm:spPr/>
    </dgm:pt>
    <dgm:pt modelId="{7134F9FD-5E66-6844-A538-8F42E8B33A32}" type="pres">
      <dgm:prSet presAssocID="{BF7E736F-6546-584D-9156-3CD23AEBB46D}" presName="Name10" presStyleLbl="parChTrans1D2" presStyleIdx="1" presStyleCnt="3"/>
      <dgm:spPr/>
      <dgm:t>
        <a:bodyPr/>
        <a:lstStyle/>
        <a:p>
          <a:endParaRPr lang="en-US"/>
        </a:p>
      </dgm:t>
    </dgm:pt>
    <dgm:pt modelId="{C3350344-6DB9-644C-9F71-A4FF4B875519}" type="pres">
      <dgm:prSet presAssocID="{385A3E21-C52E-0B48-9C02-87C94DE86B5C}" presName="hierRoot2" presStyleCnt="0"/>
      <dgm:spPr/>
    </dgm:pt>
    <dgm:pt modelId="{C242A02E-A430-B64B-8E34-4E99BEE4BD9B}" type="pres">
      <dgm:prSet presAssocID="{385A3E21-C52E-0B48-9C02-87C94DE86B5C}" presName="composite2" presStyleCnt="0"/>
      <dgm:spPr/>
    </dgm:pt>
    <dgm:pt modelId="{25DF7365-5D74-DF46-96B5-16D5E6DC1CCA}" type="pres">
      <dgm:prSet presAssocID="{385A3E21-C52E-0B48-9C02-87C94DE86B5C}" presName="background2" presStyleLbl="node2" presStyleIdx="1" presStyleCnt="3"/>
      <dgm:spPr/>
    </dgm:pt>
    <dgm:pt modelId="{08A2C79F-E9DA-7747-88FE-4BE1B57D3E7B}" type="pres">
      <dgm:prSet presAssocID="{385A3E21-C52E-0B48-9C02-87C94DE86B5C}" presName="text2" presStyleLbl="fgAcc2" presStyleIdx="1" presStyleCnt="3">
        <dgm:presLayoutVars>
          <dgm:chPref val="3"/>
        </dgm:presLayoutVars>
      </dgm:prSet>
      <dgm:spPr/>
      <dgm:t>
        <a:bodyPr/>
        <a:lstStyle/>
        <a:p>
          <a:endParaRPr lang="en-US"/>
        </a:p>
      </dgm:t>
    </dgm:pt>
    <dgm:pt modelId="{34986FB8-09F5-CA44-80F4-104ED1CA306E}" type="pres">
      <dgm:prSet presAssocID="{385A3E21-C52E-0B48-9C02-87C94DE86B5C}" presName="hierChild3" presStyleCnt="0"/>
      <dgm:spPr/>
    </dgm:pt>
    <dgm:pt modelId="{2643EC93-7D48-5144-87AF-EB858A6B6431}" type="pres">
      <dgm:prSet presAssocID="{E74EECEE-65F0-E241-83CC-FB01D52015C7}" presName="Name17" presStyleLbl="parChTrans1D3" presStyleIdx="1" presStyleCnt="3"/>
      <dgm:spPr/>
      <dgm:t>
        <a:bodyPr/>
        <a:lstStyle/>
        <a:p>
          <a:endParaRPr lang="en-US"/>
        </a:p>
      </dgm:t>
    </dgm:pt>
    <dgm:pt modelId="{1CC495CC-F5B1-C748-9C0D-9D5BEA2E475D}" type="pres">
      <dgm:prSet presAssocID="{B5C9E825-14F4-724A-B515-C09AA5EFB617}" presName="hierRoot3" presStyleCnt="0"/>
      <dgm:spPr/>
    </dgm:pt>
    <dgm:pt modelId="{2BAB3673-0E32-9847-B217-86B2D16B93C5}" type="pres">
      <dgm:prSet presAssocID="{B5C9E825-14F4-724A-B515-C09AA5EFB617}" presName="composite3" presStyleCnt="0"/>
      <dgm:spPr/>
    </dgm:pt>
    <dgm:pt modelId="{2BAF6A3E-78B0-7949-A2B0-6895C6917D8B}" type="pres">
      <dgm:prSet presAssocID="{B5C9E825-14F4-724A-B515-C09AA5EFB617}" presName="background3" presStyleLbl="node3" presStyleIdx="1" presStyleCnt="3"/>
      <dgm:spPr/>
    </dgm:pt>
    <dgm:pt modelId="{BAF7092A-AE27-DE44-9782-177693E2CA5C}" type="pres">
      <dgm:prSet presAssocID="{B5C9E825-14F4-724A-B515-C09AA5EFB617}" presName="text3" presStyleLbl="fgAcc3" presStyleIdx="1" presStyleCnt="3">
        <dgm:presLayoutVars>
          <dgm:chPref val="3"/>
        </dgm:presLayoutVars>
      </dgm:prSet>
      <dgm:spPr/>
      <dgm:t>
        <a:bodyPr/>
        <a:lstStyle/>
        <a:p>
          <a:endParaRPr lang="en-US"/>
        </a:p>
      </dgm:t>
    </dgm:pt>
    <dgm:pt modelId="{1348903F-6FC3-1B49-A6FD-208E39CFC159}" type="pres">
      <dgm:prSet presAssocID="{B5C9E825-14F4-724A-B515-C09AA5EFB617}" presName="hierChild4" presStyleCnt="0"/>
      <dgm:spPr/>
    </dgm:pt>
    <dgm:pt modelId="{DC38F41A-7026-F74C-AC4B-78ED7376BF67}" type="pres">
      <dgm:prSet presAssocID="{7C2196FF-39C8-E140-B37A-13AC3B7711A2}" presName="Name10" presStyleLbl="parChTrans1D2" presStyleIdx="2" presStyleCnt="3"/>
      <dgm:spPr/>
      <dgm:t>
        <a:bodyPr/>
        <a:lstStyle/>
        <a:p>
          <a:endParaRPr lang="en-US"/>
        </a:p>
      </dgm:t>
    </dgm:pt>
    <dgm:pt modelId="{17640A64-76D8-C94B-8C99-6C00AA7D1185}" type="pres">
      <dgm:prSet presAssocID="{E51C8DE6-BE3D-CA47-832C-A3DBDB57C472}" presName="hierRoot2" presStyleCnt="0"/>
      <dgm:spPr/>
    </dgm:pt>
    <dgm:pt modelId="{68EAF65C-CC2C-404F-9539-8D10727E37D3}" type="pres">
      <dgm:prSet presAssocID="{E51C8DE6-BE3D-CA47-832C-A3DBDB57C472}" presName="composite2" presStyleCnt="0"/>
      <dgm:spPr/>
    </dgm:pt>
    <dgm:pt modelId="{C91E6CA4-2AF4-C547-9551-BEB59BE9CDA3}" type="pres">
      <dgm:prSet presAssocID="{E51C8DE6-BE3D-CA47-832C-A3DBDB57C472}" presName="background2" presStyleLbl="node2" presStyleIdx="2" presStyleCnt="3"/>
      <dgm:spPr/>
    </dgm:pt>
    <dgm:pt modelId="{350E5B82-958A-1F4B-AE37-5BE92D52A0F0}" type="pres">
      <dgm:prSet presAssocID="{E51C8DE6-BE3D-CA47-832C-A3DBDB57C472}" presName="text2" presStyleLbl="fgAcc2" presStyleIdx="2" presStyleCnt="3">
        <dgm:presLayoutVars>
          <dgm:chPref val="3"/>
        </dgm:presLayoutVars>
      </dgm:prSet>
      <dgm:spPr/>
      <dgm:t>
        <a:bodyPr/>
        <a:lstStyle/>
        <a:p>
          <a:endParaRPr lang="en-US"/>
        </a:p>
      </dgm:t>
    </dgm:pt>
    <dgm:pt modelId="{D1E3DEBF-A74F-9840-947B-72619A82F83E}" type="pres">
      <dgm:prSet presAssocID="{E51C8DE6-BE3D-CA47-832C-A3DBDB57C472}" presName="hierChild3" presStyleCnt="0"/>
      <dgm:spPr/>
    </dgm:pt>
    <dgm:pt modelId="{0AEDDD63-D148-C04E-AE73-900A9CB76940}" type="pres">
      <dgm:prSet presAssocID="{790CC5E7-EBE8-EE47-814E-DDFB6563CF62}" presName="Name17" presStyleLbl="parChTrans1D3" presStyleIdx="2" presStyleCnt="3"/>
      <dgm:spPr/>
      <dgm:t>
        <a:bodyPr/>
        <a:lstStyle/>
        <a:p>
          <a:endParaRPr lang="en-US"/>
        </a:p>
      </dgm:t>
    </dgm:pt>
    <dgm:pt modelId="{4979D8B5-91B3-1A41-9ABE-1C89BD183149}" type="pres">
      <dgm:prSet presAssocID="{ED28E4C6-50E3-B742-9E76-FF0C9B1AFE75}" presName="hierRoot3" presStyleCnt="0"/>
      <dgm:spPr/>
    </dgm:pt>
    <dgm:pt modelId="{E6D220D2-293C-514B-8AEC-BB2C6CDA8398}" type="pres">
      <dgm:prSet presAssocID="{ED28E4C6-50E3-B742-9E76-FF0C9B1AFE75}" presName="composite3" presStyleCnt="0"/>
      <dgm:spPr/>
    </dgm:pt>
    <dgm:pt modelId="{421C3655-0911-9049-B8DE-E6E2B6DA48D6}" type="pres">
      <dgm:prSet presAssocID="{ED28E4C6-50E3-B742-9E76-FF0C9B1AFE75}" presName="background3" presStyleLbl="node3" presStyleIdx="2" presStyleCnt="3"/>
      <dgm:spPr/>
    </dgm:pt>
    <dgm:pt modelId="{8B4CAA32-B118-204E-8081-E3E47AD463CF}" type="pres">
      <dgm:prSet presAssocID="{ED28E4C6-50E3-B742-9E76-FF0C9B1AFE75}" presName="text3" presStyleLbl="fgAcc3" presStyleIdx="2" presStyleCnt="3">
        <dgm:presLayoutVars>
          <dgm:chPref val="3"/>
        </dgm:presLayoutVars>
      </dgm:prSet>
      <dgm:spPr/>
      <dgm:t>
        <a:bodyPr/>
        <a:lstStyle/>
        <a:p>
          <a:endParaRPr lang="en-US"/>
        </a:p>
      </dgm:t>
    </dgm:pt>
    <dgm:pt modelId="{A6DA207E-A18B-574B-A1C4-080E0F7C65B5}" type="pres">
      <dgm:prSet presAssocID="{ED28E4C6-50E3-B742-9E76-FF0C9B1AFE75}" presName="hierChild4" presStyleCnt="0"/>
      <dgm:spPr/>
    </dgm:pt>
  </dgm:ptLst>
  <dgm:cxnLst>
    <dgm:cxn modelId="{7822B30F-A355-B843-A212-F82A111CE883}" type="presOf" srcId="{17B91373-4AA7-984A-800B-F0F814C964AA}" destId="{4EA4FB93-F3AC-BD4A-A777-9351FC75EDE1}" srcOrd="0" destOrd="0" presId="urn:microsoft.com/office/officeart/2005/8/layout/hierarchy1"/>
    <dgm:cxn modelId="{62D24259-E22D-E442-9207-5D6C14CF2780}" srcId="{E51C8DE6-BE3D-CA47-832C-A3DBDB57C472}" destId="{ED28E4C6-50E3-B742-9E76-FF0C9B1AFE75}" srcOrd="0" destOrd="0" parTransId="{790CC5E7-EBE8-EE47-814E-DDFB6563CF62}" sibTransId="{1D705BA5-7361-E84E-8662-96FBA0A59419}"/>
    <dgm:cxn modelId="{C0158737-F4D5-AE43-90EF-1AEE6817D51C}" type="presOf" srcId="{E74EECEE-65F0-E241-83CC-FB01D52015C7}" destId="{2643EC93-7D48-5144-87AF-EB858A6B6431}" srcOrd="0" destOrd="0" presId="urn:microsoft.com/office/officeart/2005/8/layout/hierarchy1"/>
    <dgm:cxn modelId="{13B091F8-E181-A14A-B8AF-751C554817D0}" type="presOf" srcId="{E9DC148B-85D3-3B4E-B8EB-6B25518CC616}" destId="{4C89960E-E5D9-D046-8D4B-DD02582B7D3A}" srcOrd="0" destOrd="0" presId="urn:microsoft.com/office/officeart/2005/8/layout/hierarchy1"/>
    <dgm:cxn modelId="{AD12182E-ACA4-4849-A713-7BF8593E2B1A}" type="presOf" srcId="{BF7E736F-6546-584D-9156-3CD23AEBB46D}" destId="{7134F9FD-5E66-6844-A538-8F42E8B33A32}" srcOrd="0" destOrd="0" presId="urn:microsoft.com/office/officeart/2005/8/layout/hierarchy1"/>
    <dgm:cxn modelId="{244E2247-C434-3B47-9512-8ED9EE3707B2}" srcId="{17B91373-4AA7-984A-800B-F0F814C964AA}" destId="{E51C8DE6-BE3D-CA47-832C-A3DBDB57C472}" srcOrd="2" destOrd="0" parTransId="{7C2196FF-39C8-E140-B37A-13AC3B7711A2}" sibTransId="{806047C7-4457-7745-9FDE-8F83DCEC165D}"/>
    <dgm:cxn modelId="{5E9ED15C-E641-1847-808B-9B6FDDE3F30C}" srcId="{B1C00FE2-E675-F241-B8B5-CB3484196D43}" destId="{17B91373-4AA7-984A-800B-F0F814C964AA}" srcOrd="0" destOrd="0" parTransId="{08C813BA-9A73-3149-AA1A-D20F8F27A2F2}" sibTransId="{6D1D04D7-5AEF-6149-A956-8B77A56DC5B1}"/>
    <dgm:cxn modelId="{016329F9-F4E4-B744-89EF-7117FD1FB5FB}" type="presOf" srcId="{E51C8DE6-BE3D-CA47-832C-A3DBDB57C472}" destId="{350E5B82-958A-1F4B-AE37-5BE92D52A0F0}" srcOrd="0" destOrd="0" presId="urn:microsoft.com/office/officeart/2005/8/layout/hierarchy1"/>
    <dgm:cxn modelId="{ACA89640-D2BE-4E46-88FC-CA479DB00F8F}" type="presOf" srcId="{385A3E21-C52E-0B48-9C02-87C94DE86B5C}" destId="{08A2C79F-E9DA-7747-88FE-4BE1B57D3E7B}" srcOrd="0" destOrd="0" presId="urn:microsoft.com/office/officeart/2005/8/layout/hierarchy1"/>
    <dgm:cxn modelId="{3F188ECC-B2B7-6F43-94FD-8178C2D5860B}" type="presOf" srcId="{FAA0F2C6-C41B-964C-92B1-8515E277C50C}" destId="{44366298-FD9B-5A4A-9783-59C231A2AEE2}" srcOrd="0" destOrd="0" presId="urn:microsoft.com/office/officeart/2005/8/layout/hierarchy1"/>
    <dgm:cxn modelId="{3DC2F1F0-5877-0A47-89F6-9C8BDECCA003}" srcId="{385A3E21-C52E-0B48-9C02-87C94DE86B5C}" destId="{B5C9E825-14F4-724A-B515-C09AA5EFB617}" srcOrd="0" destOrd="0" parTransId="{E74EECEE-65F0-E241-83CC-FB01D52015C7}" sibTransId="{F4077039-4200-3342-88FC-0DC8F7E3DC38}"/>
    <dgm:cxn modelId="{EE81858A-6223-3A4B-8511-24124C684A42}" type="presOf" srcId="{790CC5E7-EBE8-EE47-814E-DDFB6563CF62}" destId="{0AEDDD63-D148-C04E-AE73-900A9CB76940}" srcOrd="0" destOrd="0" presId="urn:microsoft.com/office/officeart/2005/8/layout/hierarchy1"/>
    <dgm:cxn modelId="{0C6625CD-8564-B74E-88BD-FC7FB995490C}" srcId="{17B91373-4AA7-984A-800B-F0F814C964AA}" destId="{E9DC148B-85D3-3B4E-B8EB-6B25518CC616}" srcOrd="0" destOrd="0" parTransId="{FAA0F2C6-C41B-964C-92B1-8515E277C50C}" sibTransId="{079AAD60-39C3-C147-A324-08FC7E336F58}"/>
    <dgm:cxn modelId="{110A2771-442D-A04E-8420-1199E1A09BBD}" type="presOf" srcId="{B67C3CE5-CF88-2546-A775-40C9C279EB36}" destId="{BB51A060-E74F-BA43-988A-F74B2DB43A08}" srcOrd="0" destOrd="0" presId="urn:microsoft.com/office/officeart/2005/8/layout/hierarchy1"/>
    <dgm:cxn modelId="{37D630B1-7B74-8A47-A556-A16DCF1F82BE}" srcId="{E9DC148B-85D3-3B4E-B8EB-6B25518CC616}" destId="{B67C3CE5-CF88-2546-A775-40C9C279EB36}" srcOrd="0" destOrd="0" parTransId="{918D2150-EAA7-B84E-B1F6-92CA50A8FB72}" sibTransId="{B01F8F4A-4143-E24E-805F-3642DC6FEA50}"/>
    <dgm:cxn modelId="{38EAF8C5-4776-0E42-9AEA-06AA1E44DC83}" type="presOf" srcId="{ED28E4C6-50E3-B742-9E76-FF0C9B1AFE75}" destId="{8B4CAA32-B118-204E-8081-E3E47AD463CF}" srcOrd="0" destOrd="0" presId="urn:microsoft.com/office/officeart/2005/8/layout/hierarchy1"/>
    <dgm:cxn modelId="{2B6CEEC9-7455-ED42-BCBB-4DBDD8C8C765}" srcId="{17B91373-4AA7-984A-800B-F0F814C964AA}" destId="{385A3E21-C52E-0B48-9C02-87C94DE86B5C}" srcOrd="1" destOrd="0" parTransId="{BF7E736F-6546-584D-9156-3CD23AEBB46D}" sibTransId="{A6BC3F7C-119A-7648-A1A8-9C7F69A3B80A}"/>
    <dgm:cxn modelId="{AC9D0144-47C9-FA4D-BE87-F427F24653B0}" type="presOf" srcId="{7C2196FF-39C8-E140-B37A-13AC3B7711A2}" destId="{DC38F41A-7026-F74C-AC4B-78ED7376BF67}" srcOrd="0" destOrd="0" presId="urn:microsoft.com/office/officeart/2005/8/layout/hierarchy1"/>
    <dgm:cxn modelId="{F20883EE-6FC6-B643-8B18-8A120FE0337B}" type="presOf" srcId="{B5C9E825-14F4-724A-B515-C09AA5EFB617}" destId="{BAF7092A-AE27-DE44-9782-177693E2CA5C}" srcOrd="0" destOrd="0" presId="urn:microsoft.com/office/officeart/2005/8/layout/hierarchy1"/>
    <dgm:cxn modelId="{F07D23E3-1927-E742-A6DF-14035AD5F2A7}" type="presOf" srcId="{918D2150-EAA7-B84E-B1F6-92CA50A8FB72}" destId="{7336A106-E8E5-7842-B744-5DA305419486}" srcOrd="0" destOrd="0" presId="urn:microsoft.com/office/officeart/2005/8/layout/hierarchy1"/>
    <dgm:cxn modelId="{AC7C4C8F-4843-4140-9FF9-1B3C272B79F2}" type="presOf" srcId="{B1C00FE2-E675-F241-B8B5-CB3484196D43}" destId="{3EC35534-BB77-244C-87D7-7C099BE391E0}" srcOrd="0" destOrd="0" presId="urn:microsoft.com/office/officeart/2005/8/layout/hierarchy1"/>
    <dgm:cxn modelId="{4FBC4FD1-5876-8F42-86A2-51D0C7125B88}" type="presParOf" srcId="{3EC35534-BB77-244C-87D7-7C099BE391E0}" destId="{A22DFF86-D3CE-B040-99F1-D29E47636276}" srcOrd="0" destOrd="0" presId="urn:microsoft.com/office/officeart/2005/8/layout/hierarchy1"/>
    <dgm:cxn modelId="{BD8881F4-5030-9744-BA70-2979B92C2AB7}" type="presParOf" srcId="{A22DFF86-D3CE-B040-99F1-D29E47636276}" destId="{8803A015-5E37-3F4A-A098-C6B33A4B0F59}" srcOrd="0" destOrd="0" presId="urn:microsoft.com/office/officeart/2005/8/layout/hierarchy1"/>
    <dgm:cxn modelId="{14FB7736-2BDA-564B-9B40-B24F7F7B100B}" type="presParOf" srcId="{8803A015-5E37-3F4A-A098-C6B33A4B0F59}" destId="{AD085B36-DA72-2244-BE46-2D2FD9A8231A}" srcOrd="0" destOrd="0" presId="urn:microsoft.com/office/officeart/2005/8/layout/hierarchy1"/>
    <dgm:cxn modelId="{F2F21E5D-7B97-5347-838F-70EBE700CD67}" type="presParOf" srcId="{8803A015-5E37-3F4A-A098-C6B33A4B0F59}" destId="{4EA4FB93-F3AC-BD4A-A777-9351FC75EDE1}" srcOrd="1" destOrd="0" presId="urn:microsoft.com/office/officeart/2005/8/layout/hierarchy1"/>
    <dgm:cxn modelId="{CCC867C4-4416-D444-9AA6-D317D9116185}" type="presParOf" srcId="{A22DFF86-D3CE-B040-99F1-D29E47636276}" destId="{26E1531E-0D91-CE4C-9A06-D9407F309F38}" srcOrd="1" destOrd="0" presId="urn:microsoft.com/office/officeart/2005/8/layout/hierarchy1"/>
    <dgm:cxn modelId="{D233214B-ABFD-9342-9B37-79D6B00A84E2}" type="presParOf" srcId="{26E1531E-0D91-CE4C-9A06-D9407F309F38}" destId="{44366298-FD9B-5A4A-9783-59C231A2AEE2}" srcOrd="0" destOrd="0" presId="urn:microsoft.com/office/officeart/2005/8/layout/hierarchy1"/>
    <dgm:cxn modelId="{D56AD9E3-50BC-9343-B658-379BF149C969}" type="presParOf" srcId="{26E1531E-0D91-CE4C-9A06-D9407F309F38}" destId="{A3D27CFD-EB6F-CC47-9E33-D9CE045507EB}" srcOrd="1" destOrd="0" presId="urn:microsoft.com/office/officeart/2005/8/layout/hierarchy1"/>
    <dgm:cxn modelId="{11E475D7-E90C-A044-808A-A8B9B5277497}" type="presParOf" srcId="{A3D27CFD-EB6F-CC47-9E33-D9CE045507EB}" destId="{E1073C21-9E88-E342-BDBC-43E3C9E897F8}" srcOrd="0" destOrd="0" presId="urn:microsoft.com/office/officeart/2005/8/layout/hierarchy1"/>
    <dgm:cxn modelId="{A44A683B-629D-D547-B6F4-4FFE0852269D}" type="presParOf" srcId="{E1073C21-9E88-E342-BDBC-43E3C9E897F8}" destId="{9FB4FFB5-C11F-484E-B2AC-3F8A7722AECD}" srcOrd="0" destOrd="0" presId="urn:microsoft.com/office/officeart/2005/8/layout/hierarchy1"/>
    <dgm:cxn modelId="{C773010E-4C22-4A4F-814B-FE914AC5F837}" type="presParOf" srcId="{E1073C21-9E88-E342-BDBC-43E3C9E897F8}" destId="{4C89960E-E5D9-D046-8D4B-DD02582B7D3A}" srcOrd="1" destOrd="0" presId="urn:microsoft.com/office/officeart/2005/8/layout/hierarchy1"/>
    <dgm:cxn modelId="{2CADD080-362F-3949-A0FE-955922BB5BBC}" type="presParOf" srcId="{A3D27CFD-EB6F-CC47-9E33-D9CE045507EB}" destId="{0CB30970-28B4-D347-B2F4-F2E101ACBBB0}" srcOrd="1" destOrd="0" presId="urn:microsoft.com/office/officeart/2005/8/layout/hierarchy1"/>
    <dgm:cxn modelId="{6B87EE36-0E17-E846-8439-9045C5DA6DBC}" type="presParOf" srcId="{0CB30970-28B4-D347-B2F4-F2E101ACBBB0}" destId="{7336A106-E8E5-7842-B744-5DA305419486}" srcOrd="0" destOrd="0" presId="urn:microsoft.com/office/officeart/2005/8/layout/hierarchy1"/>
    <dgm:cxn modelId="{F9C2288B-026D-E24B-AD5C-BEEC8C524F7D}" type="presParOf" srcId="{0CB30970-28B4-D347-B2F4-F2E101ACBBB0}" destId="{9E55D632-7927-6248-9FA5-084F2DAEEF53}" srcOrd="1" destOrd="0" presId="urn:microsoft.com/office/officeart/2005/8/layout/hierarchy1"/>
    <dgm:cxn modelId="{C08EC2C3-5326-4B4D-85BB-3E1416E4EB0A}" type="presParOf" srcId="{9E55D632-7927-6248-9FA5-084F2DAEEF53}" destId="{A80B8D5C-4FF0-D84D-A8F5-EE2C067D3000}" srcOrd="0" destOrd="0" presId="urn:microsoft.com/office/officeart/2005/8/layout/hierarchy1"/>
    <dgm:cxn modelId="{53759B97-4F26-D549-99CB-5C1DD95A6B13}" type="presParOf" srcId="{A80B8D5C-4FF0-D84D-A8F5-EE2C067D3000}" destId="{553E2E5B-A13E-FF49-8C45-FB7E75BAA80F}" srcOrd="0" destOrd="0" presId="urn:microsoft.com/office/officeart/2005/8/layout/hierarchy1"/>
    <dgm:cxn modelId="{4DAA351D-0DE4-C84C-ACB2-C468B257F605}" type="presParOf" srcId="{A80B8D5C-4FF0-D84D-A8F5-EE2C067D3000}" destId="{BB51A060-E74F-BA43-988A-F74B2DB43A08}" srcOrd="1" destOrd="0" presId="urn:microsoft.com/office/officeart/2005/8/layout/hierarchy1"/>
    <dgm:cxn modelId="{C2A50609-05AE-4248-8EAB-B4885F6F709C}" type="presParOf" srcId="{9E55D632-7927-6248-9FA5-084F2DAEEF53}" destId="{C1BBFBC6-0335-5F47-A8F8-78874A72787B}" srcOrd="1" destOrd="0" presId="urn:microsoft.com/office/officeart/2005/8/layout/hierarchy1"/>
    <dgm:cxn modelId="{94A060D8-FBDC-3D43-B309-1E8DC4482420}" type="presParOf" srcId="{26E1531E-0D91-CE4C-9A06-D9407F309F38}" destId="{7134F9FD-5E66-6844-A538-8F42E8B33A32}" srcOrd="2" destOrd="0" presId="urn:microsoft.com/office/officeart/2005/8/layout/hierarchy1"/>
    <dgm:cxn modelId="{4CA5F5BB-843D-114D-80A6-FB3538C65A41}" type="presParOf" srcId="{26E1531E-0D91-CE4C-9A06-D9407F309F38}" destId="{C3350344-6DB9-644C-9F71-A4FF4B875519}" srcOrd="3" destOrd="0" presId="urn:microsoft.com/office/officeart/2005/8/layout/hierarchy1"/>
    <dgm:cxn modelId="{65B9C261-F1FD-A54C-9529-A313CCB23B3A}" type="presParOf" srcId="{C3350344-6DB9-644C-9F71-A4FF4B875519}" destId="{C242A02E-A430-B64B-8E34-4E99BEE4BD9B}" srcOrd="0" destOrd="0" presId="urn:microsoft.com/office/officeart/2005/8/layout/hierarchy1"/>
    <dgm:cxn modelId="{F6B9F434-6D3A-5243-8B6E-D05522751F76}" type="presParOf" srcId="{C242A02E-A430-B64B-8E34-4E99BEE4BD9B}" destId="{25DF7365-5D74-DF46-96B5-16D5E6DC1CCA}" srcOrd="0" destOrd="0" presId="urn:microsoft.com/office/officeart/2005/8/layout/hierarchy1"/>
    <dgm:cxn modelId="{F46CEE2F-F623-0C4D-9F27-D4853070F834}" type="presParOf" srcId="{C242A02E-A430-B64B-8E34-4E99BEE4BD9B}" destId="{08A2C79F-E9DA-7747-88FE-4BE1B57D3E7B}" srcOrd="1" destOrd="0" presId="urn:microsoft.com/office/officeart/2005/8/layout/hierarchy1"/>
    <dgm:cxn modelId="{958D5F24-069A-8C44-BDC0-615629F14A12}" type="presParOf" srcId="{C3350344-6DB9-644C-9F71-A4FF4B875519}" destId="{34986FB8-09F5-CA44-80F4-104ED1CA306E}" srcOrd="1" destOrd="0" presId="urn:microsoft.com/office/officeart/2005/8/layout/hierarchy1"/>
    <dgm:cxn modelId="{6C3B81BC-D8E8-914C-A1CF-A4E2F550AA5B}" type="presParOf" srcId="{34986FB8-09F5-CA44-80F4-104ED1CA306E}" destId="{2643EC93-7D48-5144-87AF-EB858A6B6431}" srcOrd="0" destOrd="0" presId="urn:microsoft.com/office/officeart/2005/8/layout/hierarchy1"/>
    <dgm:cxn modelId="{C2BB5115-671E-1346-9E06-5EAA3CF83A93}" type="presParOf" srcId="{34986FB8-09F5-CA44-80F4-104ED1CA306E}" destId="{1CC495CC-F5B1-C748-9C0D-9D5BEA2E475D}" srcOrd="1" destOrd="0" presId="urn:microsoft.com/office/officeart/2005/8/layout/hierarchy1"/>
    <dgm:cxn modelId="{4864B615-59E5-614C-9B13-D1151B3F4E79}" type="presParOf" srcId="{1CC495CC-F5B1-C748-9C0D-9D5BEA2E475D}" destId="{2BAB3673-0E32-9847-B217-86B2D16B93C5}" srcOrd="0" destOrd="0" presId="urn:microsoft.com/office/officeart/2005/8/layout/hierarchy1"/>
    <dgm:cxn modelId="{D9761A25-A62E-1B4E-9F53-A2320A025318}" type="presParOf" srcId="{2BAB3673-0E32-9847-B217-86B2D16B93C5}" destId="{2BAF6A3E-78B0-7949-A2B0-6895C6917D8B}" srcOrd="0" destOrd="0" presId="urn:microsoft.com/office/officeart/2005/8/layout/hierarchy1"/>
    <dgm:cxn modelId="{9D7EA5A1-049F-1944-A412-0429F7C13B6C}" type="presParOf" srcId="{2BAB3673-0E32-9847-B217-86B2D16B93C5}" destId="{BAF7092A-AE27-DE44-9782-177693E2CA5C}" srcOrd="1" destOrd="0" presId="urn:microsoft.com/office/officeart/2005/8/layout/hierarchy1"/>
    <dgm:cxn modelId="{D5A76713-DBB4-2E4E-A483-8CDCB0DFA9FB}" type="presParOf" srcId="{1CC495CC-F5B1-C748-9C0D-9D5BEA2E475D}" destId="{1348903F-6FC3-1B49-A6FD-208E39CFC159}" srcOrd="1" destOrd="0" presId="urn:microsoft.com/office/officeart/2005/8/layout/hierarchy1"/>
    <dgm:cxn modelId="{A9BF7EF0-7DDB-9846-8AE7-EBAD59E45408}" type="presParOf" srcId="{26E1531E-0D91-CE4C-9A06-D9407F309F38}" destId="{DC38F41A-7026-F74C-AC4B-78ED7376BF67}" srcOrd="4" destOrd="0" presId="urn:microsoft.com/office/officeart/2005/8/layout/hierarchy1"/>
    <dgm:cxn modelId="{94CD5F43-83EC-0A4B-B461-0609EE78EB92}" type="presParOf" srcId="{26E1531E-0D91-CE4C-9A06-D9407F309F38}" destId="{17640A64-76D8-C94B-8C99-6C00AA7D1185}" srcOrd="5" destOrd="0" presId="urn:microsoft.com/office/officeart/2005/8/layout/hierarchy1"/>
    <dgm:cxn modelId="{A25BB689-7B76-0441-966B-A0C3665D62E2}" type="presParOf" srcId="{17640A64-76D8-C94B-8C99-6C00AA7D1185}" destId="{68EAF65C-CC2C-404F-9539-8D10727E37D3}" srcOrd="0" destOrd="0" presId="urn:microsoft.com/office/officeart/2005/8/layout/hierarchy1"/>
    <dgm:cxn modelId="{61DE74B2-3FE8-C94A-AFCC-AFE6EDBC84D2}" type="presParOf" srcId="{68EAF65C-CC2C-404F-9539-8D10727E37D3}" destId="{C91E6CA4-2AF4-C547-9551-BEB59BE9CDA3}" srcOrd="0" destOrd="0" presId="urn:microsoft.com/office/officeart/2005/8/layout/hierarchy1"/>
    <dgm:cxn modelId="{16713B66-7DBA-FD47-BC75-F32060EBF61F}" type="presParOf" srcId="{68EAF65C-CC2C-404F-9539-8D10727E37D3}" destId="{350E5B82-958A-1F4B-AE37-5BE92D52A0F0}" srcOrd="1" destOrd="0" presId="urn:microsoft.com/office/officeart/2005/8/layout/hierarchy1"/>
    <dgm:cxn modelId="{C5733E24-6F7D-EE4A-84F0-2897A32D8D45}" type="presParOf" srcId="{17640A64-76D8-C94B-8C99-6C00AA7D1185}" destId="{D1E3DEBF-A74F-9840-947B-72619A82F83E}" srcOrd="1" destOrd="0" presId="urn:microsoft.com/office/officeart/2005/8/layout/hierarchy1"/>
    <dgm:cxn modelId="{2380BA2B-CD5C-AC4F-A035-144F36074D03}" type="presParOf" srcId="{D1E3DEBF-A74F-9840-947B-72619A82F83E}" destId="{0AEDDD63-D148-C04E-AE73-900A9CB76940}" srcOrd="0" destOrd="0" presId="urn:microsoft.com/office/officeart/2005/8/layout/hierarchy1"/>
    <dgm:cxn modelId="{6CEFA821-B983-7D48-AF2A-CA0B38EE4C99}" type="presParOf" srcId="{D1E3DEBF-A74F-9840-947B-72619A82F83E}" destId="{4979D8B5-91B3-1A41-9ABE-1C89BD183149}" srcOrd="1" destOrd="0" presId="urn:microsoft.com/office/officeart/2005/8/layout/hierarchy1"/>
    <dgm:cxn modelId="{1F12F153-6183-9743-8ED9-CCF0730E731A}" type="presParOf" srcId="{4979D8B5-91B3-1A41-9ABE-1C89BD183149}" destId="{E6D220D2-293C-514B-8AEC-BB2C6CDA8398}" srcOrd="0" destOrd="0" presId="urn:microsoft.com/office/officeart/2005/8/layout/hierarchy1"/>
    <dgm:cxn modelId="{435FA6EA-2D46-2448-AC61-B8BA28286F64}" type="presParOf" srcId="{E6D220D2-293C-514B-8AEC-BB2C6CDA8398}" destId="{421C3655-0911-9049-B8DE-E6E2B6DA48D6}" srcOrd="0" destOrd="0" presId="urn:microsoft.com/office/officeart/2005/8/layout/hierarchy1"/>
    <dgm:cxn modelId="{1F9F09DE-284F-1947-954C-78875132A4A0}" type="presParOf" srcId="{E6D220D2-293C-514B-8AEC-BB2C6CDA8398}" destId="{8B4CAA32-B118-204E-8081-E3E47AD463CF}" srcOrd="1" destOrd="0" presId="urn:microsoft.com/office/officeart/2005/8/layout/hierarchy1"/>
    <dgm:cxn modelId="{4AB1783A-CABB-AE49-B025-B6F1271D67C0}" type="presParOf" srcId="{4979D8B5-91B3-1A41-9ABE-1C89BD183149}" destId="{A6DA207E-A18B-574B-A1C4-080E0F7C65B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85C84A-E5F5-3A41-9F5F-AC27C1D4EE55}" type="doc">
      <dgm:prSet loTypeId="urn:microsoft.com/office/officeart/2005/8/layout/process4" loCatId="process" qsTypeId="urn:microsoft.com/office/officeart/2005/8/quickstyle/3D3" qsCatId="3D" csTypeId="urn:microsoft.com/office/officeart/2005/8/colors/colorful3" csCatId="colorful"/>
      <dgm:spPr/>
      <dgm:t>
        <a:bodyPr/>
        <a:lstStyle/>
        <a:p>
          <a:endParaRPr lang="en-US"/>
        </a:p>
      </dgm:t>
    </dgm:pt>
    <dgm:pt modelId="{8CB7D1A7-D135-BF4D-AAEA-D203A671227C}">
      <dgm:prSet/>
      <dgm:spPr/>
      <dgm:t>
        <a:bodyPr/>
        <a:lstStyle/>
        <a:p>
          <a:pPr rtl="0"/>
          <a:r>
            <a:rPr lang="en-GB" smtClean="0"/>
            <a:t>Fetch</a:t>
          </a:r>
          <a:endParaRPr lang="en-GB"/>
        </a:p>
      </dgm:t>
    </dgm:pt>
    <dgm:pt modelId="{8BD0A86A-7E79-5444-B7C6-2FDB26BA9AAE}" type="parTrans" cxnId="{262B09E0-F9BA-B44A-AE53-F706DAEC4FB8}">
      <dgm:prSet/>
      <dgm:spPr/>
      <dgm:t>
        <a:bodyPr/>
        <a:lstStyle/>
        <a:p>
          <a:endParaRPr lang="en-US"/>
        </a:p>
      </dgm:t>
    </dgm:pt>
    <dgm:pt modelId="{EA6BE41C-A630-7B44-8272-11E91B465E62}" type="sibTrans" cxnId="{262B09E0-F9BA-B44A-AE53-F706DAEC4FB8}">
      <dgm:prSet/>
      <dgm:spPr/>
      <dgm:t>
        <a:bodyPr/>
        <a:lstStyle/>
        <a:p>
          <a:endParaRPr lang="en-US"/>
        </a:p>
      </dgm:t>
    </dgm:pt>
    <dgm:pt modelId="{589603AB-A285-394E-AFED-C17ECA6B2D17}">
      <dgm:prSet/>
      <dgm:spPr/>
      <dgm:t>
        <a:bodyPr/>
        <a:lstStyle/>
        <a:p>
          <a:pPr rtl="0"/>
          <a:r>
            <a:rPr lang="en-GB" smtClean="0"/>
            <a:t>Objective is to fill the prefetch buffers with new data as soon as the old data have been consumed by the instruction decoder</a:t>
          </a:r>
          <a:endParaRPr lang="en-GB"/>
        </a:p>
      </dgm:t>
    </dgm:pt>
    <dgm:pt modelId="{322B68CD-E98E-D44C-A394-F455EEDFB8D3}" type="parTrans" cxnId="{2A8613AF-2982-CF46-B4ED-D4923115A5EC}">
      <dgm:prSet/>
      <dgm:spPr/>
      <dgm:t>
        <a:bodyPr/>
        <a:lstStyle/>
        <a:p>
          <a:endParaRPr lang="en-US"/>
        </a:p>
      </dgm:t>
    </dgm:pt>
    <dgm:pt modelId="{9C823A49-D0A9-2945-8267-6CC8371CD4E2}" type="sibTrans" cxnId="{2A8613AF-2982-CF46-B4ED-D4923115A5EC}">
      <dgm:prSet/>
      <dgm:spPr/>
      <dgm:t>
        <a:bodyPr/>
        <a:lstStyle/>
        <a:p>
          <a:endParaRPr lang="en-US"/>
        </a:p>
      </dgm:t>
    </dgm:pt>
    <dgm:pt modelId="{5D23B203-7EF5-2B48-B366-D785D9A788AF}">
      <dgm:prSet/>
      <dgm:spPr/>
      <dgm:t>
        <a:bodyPr/>
        <a:lstStyle/>
        <a:p>
          <a:pPr rtl="0"/>
          <a:r>
            <a:rPr lang="en-GB" smtClean="0"/>
            <a:t>Operates independently of the other stages to keep the prefetch buffers full</a:t>
          </a:r>
          <a:endParaRPr lang="en-GB"/>
        </a:p>
      </dgm:t>
    </dgm:pt>
    <dgm:pt modelId="{A5C585F6-28C3-E74A-BC19-1A4C39B353A4}" type="parTrans" cxnId="{B86FBE96-E386-4940-BAA2-DAFC245438FC}">
      <dgm:prSet/>
      <dgm:spPr/>
      <dgm:t>
        <a:bodyPr/>
        <a:lstStyle/>
        <a:p>
          <a:endParaRPr lang="en-US"/>
        </a:p>
      </dgm:t>
    </dgm:pt>
    <dgm:pt modelId="{C827D877-48B5-9043-9C22-CA35708494B1}" type="sibTrans" cxnId="{B86FBE96-E386-4940-BAA2-DAFC245438FC}">
      <dgm:prSet/>
      <dgm:spPr/>
      <dgm:t>
        <a:bodyPr/>
        <a:lstStyle/>
        <a:p>
          <a:endParaRPr lang="en-US"/>
        </a:p>
      </dgm:t>
    </dgm:pt>
    <dgm:pt modelId="{843BA61E-7D3F-C84F-A2B0-576C2512FD7D}">
      <dgm:prSet/>
      <dgm:spPr/>
      <dgm:t>
        <a:bodyPr/>
        <a:lstStyle/>
        <a:p>
          <a:pPr rtl="0"/>
          <a:r>
            <a:rPr lang="en-GB" smtClean="0"/>
            <a:t>Decode stage 1</a:t>
          </a:r>
          <a:endParaRPr lang="en-GB"/>
        </a:p>
      </dgm:t>
    </dgm:pt>
    <dgm:pt modelId="{C850FBF3-5F07-D242-B78F-0CD1A9E695AE}" type="parTrans" cxnId="{5F3070D0-FFF0-0F44-ADE3-3FBF09994465}">
      <dgm:prSet/>
      <dgm:spPr/>
      <dgm:t>
        <a:bodyPr/>
        <a:lstStyle/>
        <a:p>
          <a:endParaRPr lang="en-US"/>
        </a:p>
      </dgm:t>
    </dgm:pt>
    <dgm:pt modelId="{D121255B-A1B6-B84F-A7D3-7BE1B7D4D20B}" type="sibTrans" cxnId="{5F3070D0-FFF0-0F44-ADE3-3FBF09994465}">
      <dgm:prSet/>
      <dgm:spPr/>
      <dgm:t>
        <a:bodyPr/>
        <a:lstStyle/>
        <a:p>
          <a:endParaRPr lang="en-US"/>
        </a:p>
      </dgm:t>
    </dgm:pt>
    <dgm:pt modelId="{E62F3FFF-10B3-FF4B-9C78-96651AE7337F}">
      <dgm:prSet/>
      <dgm:spPr/>
      <dgm:t>
        <a:bodyPr/>
        <a:lstStyle/>
        <a:p>
          <a:pPr rtl="0"/>
          <a:r>
            <a:rPr lang="en-GB" smtClean="0"/>
            <a:t>All opcode and addressing-mode information is decoded in the D1 stage</a:t>
          </a:r>
          <a:endParaRPr lang="en-GB"/>
        </a:p>
      </dgm:t>
    </dgm:pt>
    <dgm:pt modelId="{7AC2CB80-E549-8446-9763-51B55A5A45BE}" type="parTrans" cxnId="{6E4D85CD-5E7D-2C4D-8EF6-A31BB6665819}">
      <dgm:prSet/>
      <dgm:spPr/>
      <dgm:t>
        <a:bodyPr/>
        <a:lstStyle/>
        <a:p>
          <a:endParaRPr lang="en-US"/>
        </a:p>
      </dgm:t>
    </dgm:pt>
    <dgm:pt modelId="{872561F3-C30E-8349-B3AC-B51EEA96AE18}" type="sibTrans" cxnId="{6E4D85CD-5E7D-2C4D-8EF6-A31BB6665819}">
      <dgm:prSet/>
      <dgm:spPr/>
      <dgm:t>
        <a:bodyPr/>
        <a:lstStyle/>
        <a:p>
          <a:endParaRPr lang="en-US"/>
        </a:p>
      </dgm:t>
    </dgm:pt>
    <dgm:pt modelId="{30921778-804A-324E-8751-9A806FD2FC53}">
      <dgm:prSet/>
      <dgm:spPr/>
      <dgm:t>
        <a:bodyPr/>
        <a:lstStyle/>
        <a:p>
          <a:pPr rtl="0"/>
          <a:r>
            <a:rPr lang="en-GB" smtClean="0"/>
            <a:t>3 bytes of instruction are passed to the D1 stage from the prefetch buffers</a:t>
          </a:r>
          <a:endParaRPr lang="en-GB"/>
        </a:p>
      </dgm:t>
    </dgm:pt>
    <dgm:pt modelId="{B375C82C-ED30-7D49-99BE-1F8D20EB6937}" type="parTrans" cxnId="{F3E48F21-1BD8-F54B-8902-FBFF3C977702}">
      <dgm:prSet/>
      <dgm:spPr/>
      <dgm:t>
        <a:bodyPr/>
        <a:lstStyle/>
        <a:p>
          <a:endParaRPr lang="en-US"/>
        </a:p>
      </dgm:t>
    </dgm:pt>
    <dgm:pt modelId="{432A75C1-333B-E84A-A691-E33135925CE8}" type="sibTrans" cxnId="{F3E48F21-1BD8-F54B-8902-FBFF3C977702}">
      <dgm:prSet/>
      <dgm:spPr/>
      <dgm:t>
        <a:bodyPr/>
        <a:lstStyle/>
        <a:p>
          <a:endParaRPr lang="en-US"/>
        </a:p>
      </dgm:t>
    </dgm:pt>
    <dgm:pt modelId="{5017EDA6-EB71-7741-AA11-698F2727454B}">
      <dgm:prSet/>
      <dgm:spPr/>
      <dgm:t>
        <a:bodyPr/>
        <a:lstStyle/>
        <a:p>
          <a:pPr rtl="0"/>
          <a:r>
            <a:rPr lang="en-GB" smtClean="0"/>
            <a:t>D1 decoder can then direct the D2 stage to capture the rest of the instruction</a:t>
          </a:r>
          <a:endParaRPr lang="en-GB"/>
        </a:p>
      </dgm:t>
    </dgm:pt>
    <dgm:pt modelId="{320CF892-E7F5-6C46-96C2-365E6DE6ABCB}" type="parTrans" cxnId="{6B9C1B7A-3AF5-194E-A1A8-F7D8F18A9E28}">
      <dgm:prSet/>
      <dgm:spPr/>
      <dgm:t>
        <a:bodyPr/>
        <a:lstStyle/>
        <a:p>
          <a:endParaRPr lang="en-US"/>
        </a:p>
      </dgm:t>
    </dgm:pt>
    <dgm:pt modelId="{B6E7E68A-3CC2-5741-9540-C36D123C71FF}" type="sibTrans" cxnId="{6B9C1B7A-3AF5-194E-A1A8-F7D8F18A9E28}">
      <dgm:prSet/>
      <dgm:spPr/>
      <dgm:t>
        <a:bodyPr/>
        <a:lstStyle/>
        <a:p>
          <a:endParaRPr lang="en-US"/>
        </a:p>
      </dgm:t>
    </dgm:pt>
    <dgm:pt modelId="{24C6ABE2-2110-F647-A6BA-9AAE716A23AE}">
      <dgm:prSet/>
      <dgm:spPr/>
      <dgm:t>
        <a:bodyPr/>
        <a:lstStyle/>
        <a:p>
          <a:pPr rtl="0"/>
          <a:r>
            <a:rPr lang="en-GB" smtClean="0"/>
            <a:t>Decode stage 2</a:t>
          </a:r>
          <a:endParaRPr lang="en-GB"/>
        </a:p>
      </dgm:t>
    </dgm:pt>
    <dgm:pt modelId="{92E4C216-F7CD-F64C-ADAB-BEA527D63E05}" type="parTrans" cxnId="{60EF6050-DB2F-724F-96B7-276AA3DA615E}">
      <dgm:prSet/>
      <dgm:spPr/>
      <dgm:t>
        <a:bodyPr/>
        <a:lstStyle/>
        <a:p>
          <a:endParaRPr lang="en-US"/>
        </a:p>
      </dgm:t>
    </dgm:pt>
    <dgm:pt modelId="{D749398B-C184-6244-8E47-DFD1EFCA87FB}" type="sibTrans" cxnId="{60EF6050-DB2F-724F-96B7-276AA3DA615E}">
      <dgm:prSet/>
      <dgm:spPr/>
      <dgm:t>
        <a:bodyPr/>
        <a:lstStyle/>
        <a:p>
          <a:endParaRPr lang="en-US"/>
        </a:p>
      </dgm:t>
    </dgm:pt>
    <dgm:pt modelId="{72401490-A5DA-D14E-A560-EF66726187FD}">
      <dgm:prSet/>
      <dgm:spPr/>
      <dgm:t>
        <a:bodyPr/>
        <a:lstStyle/>
        <a:p>
          <a:pPr rtl="0"/>
          <a:r>
            <a:rPr lang="en-GB" smtClean="0"/>
            <a:t>Expands each opcode into control signals for the ALU</a:t>
          </a:r>
          <a:endParaRPr lang="en-GB"/>
        </a:p>
      </dgm:t>
    </dgm:pt>
    <dgm:pt modelId="{33BBC257-8B0F-CD4A-BDB6-4C58E2A95B13}" type="parTrans" cxnId="{857DCA6C-399A-314E-B3AA-462DF3863979}">
      <dgm:prSet/>
      <dgm:spPr/>
      <dgm:t>
        <a:bodyPr/>
        <a:lstStyle/>
        <a:p>
          <a:endParaRPr lang="en-US"/>
        </a:p>
      </dgm:t>
    </dgm:pt>
    <dgm:pt modelId="{09732D72-3E4E-9241-97B1-5261BA30496E}" type="sibTrans" cxnId="{857DCA6C-399A-314E-B3AA-462DF3863979}">
      <dgm:prSet/>
      <dgm:spPr/>
      <dgm:t>
        <a:bodyPr/>
        <a:lstStyle/>
        <a:p>
          <a:endParaRPr lang="en-US"/>
        </a:p>
      </dgm:t>
    </dgm:pt>
    <dgm:pt modelId="{9680B5DB-3E1A-6C40-BBA3-770769CE1445}">
      <dgm:prSet/>
      <dgm:spPr/>
      <dgm:t>
        <a:bodyPr/>
        <a:lstStyle/>
        <a:p>
          <a:pPr rtl="0"/>
          <a:r>
            <a:rPr lang="en-GB" smtClean="0"/>
            <a:t>Also controls the computation of the more complex addressing modes</a:t>
          </a:r>
          <a:endParaRPr lang="en-GB"/>
        </a:p>
      </dgm:t>
    </dgm:pt>
    <dgm:pt modelId="{DA0E61AD-DBE2-9643-ACAF-35F61AA95EE9}" type="parTrans" cxnId="{62D938E7-1465-9547-AC78-7C19AE7B57DE}">
      <dgm:prSet/>
      <dgm:spPr/>
      <dgm:t>
        <a:bodyPr/>
        <a:lstStyle/>
        <a:p>
          <a:endParaRPr lang="en-US"/>
        </a:p>
      </dgm:t>
    </dgm:pt>
    <dgm:pt modelId="{8D9340BF-2C9B-504D-A8F8-0ECA8B83DBF0}" type="sibTrans" cxnId="{62D938E7-1465-9547-AC78-7C19AE7B57DE}">
      <dgm:prSet/>
      <dgm:spPr/>
      <dgm:t>
        <a:bodyPr/>
        <a:lstStyle/>
        <a:p>
          <a:endParaRPr lang="en-US"/>
        </a:p>
      </dgm:t>
    </dgm:pt>
    <dgm:pt modelId="{89D7BDB2-8EE0-5E44-9D0D-DA4E1F1D8DF1}">
      <dgm:prSet/>
      <dgm:spPr/>
      <dgm:t>
        <a:bodyPr/>
        <a:lstStyle/>
        <a:p>
          <a:pPr rtl="0"/>
          <a:r>
            <a:rPr lang="en-GB" smtClean="0"/>
            <a:t>Execute</a:t>
          </a:r>
          <a:endParaRPr lang="en-GB"/>
        </a:p>
      </dgm:t>
    </dgm:pt>
    <dgm:pt modelId="{3006FBAE-534A-CD40-90CE-3A6C37B7995B}" type="parTrans" cxnId="{320B64A8-006E-0147-95F1-83C05761E8B9}">
      <dgm:prSet/>
      <dgm:spPr/>
      <dgm:t>
        <a:bodyPr/>
        <a:lstStyle/>
        <a:p>
          <a:endParaRPr lang="en-US"/>
        </a:p>
      </dgm:t>
    </dgm:pt>
    <dgm:pt modelId="{E63166DA-1CB5-F246-8D2B-ADC2F4850387}" type="sibTrans" cxnId="{320B64A8-006E-0147-95F1-83C05761E8B9}">
      <dgm:prSet/>
      <dgm:spPr/>
      <dgm:t>
        <a:bodyPr/>
        <a:lstStyle/>
        <a:p>
          <a:endParaRPr lang="en-US"/>
        </a:p>
      </dgm:t>
    </dgm:pt>
    <dgm:pt modelId="{C4B9E2AC-D8AF-E840-848B-E462825091A8}">
      <dgm:prSet/>
      <dgm:spPr/>
      <dgm:t>
        <a:bodyPr/>
        <a:lstStyle/>
        <a:p>
          <a:pPr rtl="0"/>
          <a:r>
            <a:rPr lang="en-GB" smtClean="0"/>
            <a:t>Stage includes ALU operations, cache access, and register update</a:t>
          </a:r>
          <a:endParaRPr lang="en-GB"/>
        </a:p>
      </dgm:t>
    </dgm:pt>
    <dgm:pt modelId="{2B7F55DB-AA4F-9B41-A762-8E0A2159D270}" type="parTrans" cxnId="{2F6D108B-63A0-8C4C-ACCC-2F7600CF6A56}">
      <dgm:prSet/>
      <dgm:spPr/>
      <dgm:t>
        <a:bodyPr/>
        <a:lstStyle/>
        <a:p>
          <a:endParaRPr lang="en-US"/>
        </a:p>
      </dgm:t>
    </dgm:pt>
    <dgm:pt modelId="{ED507F0B-74D1-624F-B04C-8FEF7C15A45F}" type="sibTrans" cxnId="{2F6D108B-63A0-8C4C-ACCC-2F7600CF6A56}">
      <dgm:prSet/>
      <dgm:spPr/>
      <dgm:t>
        <a:bodyPr/>
        <a:lstStyle/>
        <a:p>
          <a:endParaRPr lang="en-US"/>
        </a:p>
      </dgm:t>
    </dgm:pt>
    <dgm:pt modelId="{92A9CFB3-6211-604C-BA9B-820E09FAB85C}">
      <dgm:prSet/>
      <dgm:spPr/>
      <dgm:t>
        <a:bodyPr/>
        <a:lstStyle/>
        <a:p>
          <a:pPr rtl="0"/>
          <a:r>
            <a:rPr lang="en-GB" smtClean="0"/>
            <a:t>Write back</a:t>
          </a:r>
          <a:endParaRPr lang="en-GB"/>
        </a:p>
      </dgm:t>
    </dgm:pt>
    <dgm:pt modelId="{E5B64DAB-919B-F848-B3BB-42E02F516881}" type="parTrans" cxnId="{7CD1AC90-4B91-694F-8303-05E7F2E01015}">
      <dgm:prSet/>
      <dgm:spPr/>
      <dgm:t>
        <a:bodyPr/>
        <a:lstStyle/>
        <a:p>
          <a:endParaRPr lang="en-US"/>
        </a:p>
      </dgm:t>
    </dgm:pt>
    <dgm:pt modelId="{0609CE27-85DB-7B41-8A6A-A13954516E15}" type="sibTrans" cxnId="{7CD1AC90-4B91-694F-8303-05E7F2E01015}">
      <dgm:prSet/>
      <dgm:spPr/>
      <dgm:t>
        <a:bodyPr/>
        <a:lstStyle/>
        <a:p>
          <a:endParaRPr lang="en-US"/>
        </a:p>
      </dgm:t>
    </dgm:pt>
    <dgm:pt modelId="{D4EE6F57-B316-BC49-8E8C-1BFACC17F892}">
      <dgm:prSet/>
      <dgm:spPr/>
      <dgm:t>
        <a:bodyPr/>
        <a:lstStyle/>
        <a:p>
          <a:pPr rtl="0"/>
          <a:r>
            <a:rPr lang="en-GB" smtClean="0"/>
            <a:t>Updates registers and status flags modified during the preceding execute stage</a:t>
          </a:r>
          <a:endParaRPr lang="en-GB"/>
        </a:p>
      </dgm:t>
    </dgm:pt>
    <dgm:pt modelId="{370C6179-63F6-6148-BED1-780B15F56650}" type="parTrans" cxnId="{F0443D99-C7BD-A140-B267-B503CA224C1A}">
      <dgm:prSet/>
      <dgm:spPr/>
      <dgm:t>
        <a:bodyPr/>
        <a:lstStyle/>
        <a:p>
          <a:endParaRPr lang="en-US"/>
        </a:p>
      </dgm:t>
    </dgm:pt>
    <dgm:pt modelId="{EE2828EE-8C79-D046-8BA5-612764FDCFFB}" type="sibTrans" cxnId="{F0443D99-C7BD-A140-B267-B503CA224C1A}">
      <dgm:prSet/>
      <dgm:spPr/>
      <dgm:t>
        <a:bodyPr/>
        <a:lstStyle/>
        <a:p>
          <a:endParaRPr lang="en-US"/>
        </a:p>
      </dgm:t>
    </dgm:pt>
    <dgm:pt modelId="{C17D6A2C-360B-0B47-9402-D3C745092FC4}" type="pres">
      <dgm:prSet presAssocID="{BF85C84A-E5F5-3A41-9F5F-AC27C1D4EE55}" presName="Name0" presStyleCnt="0">
        <dgm:presLayoutVars>
          <dgm:dir/>
          <dgm:animLvl val="lvl"/>
          <dgm:resizeHandles val="exact"/>
        </dgm:presLayoutVars>
      </dgm:prSet>
      <dgm:spPr/>
      <dgm:t>
        <a:bodyPr/>
        <a:lstStyle/>
        <a:p>
          <a:endParaRPr lang="en-US"/>
        </a:p>
      </dgm:t>
    </dgm:pt>
    <dgm:pt modelId="{EA6DABDF-A844-EB45-BAB5-D6F4DEA6D01F}" type="pres">
      <dgm:prSet presAssocID="{92A9CFB3-6211-604C-BA9B-820E09FAB85C}" presName="boxAndChildren" presStyleCnt="0"/>
      <dgm:spPr/>
    </dgm:pt>
    <dgm:pt modelId="{289024DD-E6DD-E44D-9D59-0D76F8C2DF48}" type="pres">
      <dgm:prSet presAssocID="{92A9CFB3-6211-604C-BA9B-820E09FAB85C}" presName="parentTextBox" presStyleLbl="node1" presStyleIdx="0" presStyleCnt="5"/>
      <dgm:spPr/>
      <dgm:t>
        <a:bodyPr/>
        <a:lstStyle/>
        <a:p>
          <a:endParaRPr lang="en-US"/>
        </a:p>
      </dgm:t>
    </dgm:pt>
    <dgm:pt modelId="{6A1A5C5D-E876-A54A-A276-7916B59DDE7B}" type="pres">
      <dgm:prSet presAssocID="{92A9CFB3-6211-604C-BA9B-820E09FAB85C}" presName="entireBox" presStyleLbl="node1" presStyleIdx="0" presStyleCnt="5"/>
      <dgm:spPr/>
      <dgm:t>
        <a:bodyPr/>
        <a:lstStyle/>
        <a:p>
          <a:endParaRPr lang="en-US"/>
        </a:p>
      </dgm:t>
    </dgm:pt>
    <dgm:pt modelId="{668B9D5A-D731-7446-927D-628B106088A5}" type="pres">
      <dgm:prSet presAssocID="{92A9CFB3-6211-604C-BA9B-820E09FAB85C}" presName="descendantBox" presStyleCnt="0"/>
      <dgm:spPr/>
    </dgm:pt>
    <dgm:pt modelId="{934F4480-EF98-2D4C-9B83-D15690809056}" type="pres">
      <dgm:prSet presAssocID="{D4EE6F57-B316-BC49-8E8C-1BFACC17F892}" presName="childTextBox" presStyleLbl="fgAccFollowNode1" presStyleIdx="0" presStyleCnt="9">
        <dgm:presLayoutVars>
          <dgm:bulletEnabled val="1"/>
        </dgm:presLayoutVars>
      </dgm:prSet>
      <dgm:spPr/>
      <dgm:t>
        <a:bodyPr/>
        <a:lstStyle/>
        <a:p>
          <a:endParaRPr lang="en-US"/>
        </a:p>
      </dgm:t>
    </dgm:pt>
    <dgm:pt modelId="{8C0377E9-CC77-EC4B-BA09-E1AF0AFFCAFC}" type="pres">
      <dgm:prSet presAssocID="{E63166DA-1CB5-F246-8D2B-ADC2F4850387}" presName="sp" presStyleCnt="0"/>
      <dgm:spPr/>
    </dgm:pt>
    <dgm:pt modelId="{0D9A1043-0844-6B42-A15D-4BD8C433C5FE}" type="pres">
      <dgm:prSet presAssocID="{89D7BDB2-8EE0-5E44-9D0D-DA4E1F1D8DF1}" presName="arrowAndChildren" presStyleCnt="0"/>
      <dgm:spPr/>
    </dgm:pt>
    <dgm:pt modelId="{BB601536-BA29-E54E-A0E9-6D7B0CF894E4}" type="pres">
      <dgm:prSet presAssocID="{89D7BDB2-8EE0-5E44-9D0D-DA4E1F1D8DF1}" presName="parentTextArrow" presStyleLbl="node1" presStyleIdx="0" presStyleCnt="5"/>
      <dgm:spPr/>
      <dgm:t>
        <a:bodyPr/>
        <a:lstStyle/>
        <a:p>
          <a:endParaRPr lang="en-US"/>
        </a:p>
      </dgm:t>
    </dgm:pt>
    <dgm:pt modelId="{076C065E-D8E3-AC43-9F26-8D74FDDEE281}" type="pres">
      <dgm:prSet presAssocID="{89D7BDB2-8EE0-5E44-9D0D-DA4E1F1D8DF1}" presName="arrow" presStyleLbl="node1" presStyleIdx="1" presStyleCnt="5"/>
      <dgm:spPr/>
      <dgm:t>
        <a:bodyPr/>
        <a:lstStyle/>
        <a:p>
          <a:endParaRPr lang="en-US"/>
        </a:p>
      </dgm:t>
    </dgm:pt>
    <dgm:pt modelId="{EE37C080-4358-9543-9417-392157613AB9}" type="pres">
      <dgm:prSet presAssocID="{89D7BDB2-8EE0-5E44-9D0D-DA4E1F1D8DF1}" presName="descendantArrow" presStyleCnt="0"/>
      <dgm:spPr/>
    </dgm:pt>
    <dgm:pt modelId="{8D380DDE-D8A1-CA46-A6EA-E26248B08CA0}" type="pres">
      <dgm:prSet presAssocID="{C4B9E2AC-D8AF-E840-848B-E462825091A8}" presName="childTextArrow" presStyleLbl="fgAccFollowNode1" presStyleIdx="1" presStyleCnt="9">
        <dgm:presLayoutVars>
          <dgm:bulletEnabled val="1"/>
        </dgm:presLayoutVars>
      </dgm:prSet>
      <dgm:spPr/>
      <dgm:t>
        <a:bodyPr/>
        <a:lstStyle/>
        <a:p>
          <a:endParaRPr lang="en-US"/>
        </a:p>
      </dgm:t>
    </dgm:pt>
    <dgm:pt modelId="{DBC4B77A-E1D5-E740-A9EF-1D21F455E5AE}" type="pres">
      <dgm:prSet presAssocID="{D749398B-C184-6244-8E47-DFD1EFCA87FB}" presName="sp" presStyleCnt="0"/>
      <dgm:spPr/>
    </dgm:pt>
    <dgm:pt modelId="{4714A245-D030-F045-A9E7-AA0FE37DE911}" type="pres">
      <dgm:prSet presAssocID="{24C6ABE2-2110-F647-A6BA-9AAE716A23AE}" presName="arrowAndChildren" presStyleCnt="0"/>
      <dgm:spPr/>
    </dgm:pt>
    <dgm:pt modelId="{37DB57B1-C80C-0C44-AA7D-134BA0E548FE}" type="pres">
      <dgm:prSet presAssocID="{24C6ABE2-2110-F647-A6BA-9AAE716A23AE}" presName="parentTextArrow" presStyleLbl="node1" presStyleIdx="1" presStyleCnt="5"/>
      <dgm:spPr/>
      <dgm:t>
        <a:bodyPr/>
        <a:lstStyle/>
        <a:p>
          <a:endParaRPr lang="en-US"/>
        </a:p>
      </dgm:t>
    </dgm:pt>
    <dgm:pt modelId="{1F270C8F-950D-4746-ADF7-6E5479824A59}" type="pres">
      <dgm:prSet presAssocID="{24C6ABE2-2110-F647-A6BA-9AAE716A23AE}" presName="arrow" presStyleLbl="node1" presStyleIdx="2" presStyleCnt="5"/>
      <dgm:spPr/>
      <dgm:t>
        <a:bodyPr/>
        <a:lstStyle/>
        <a:p>
          <a:endParaRPr lang="en-US"/>
        </a:p>
      </dgm:t>
    </dgm:pt>
    <dgm:pt modelId="{9595F397-6B16-E147-9582-A2FF1C96EE8C}" type="pres">
      <dgm:prSet presAssocID="{24C6ABE2-2110-F647-A6BA-9AAE716A23AE}" presName="descendantArrow" presStyleCnt="0"/>
      <dgm:spPr/>
    </dgm:pt>
    <dgm:pt modelId="{D380F6F6-CF18-2345-A74F-FDE18796F575}" type="pres">
      <dgm:prSet presAssocID="{72401490-A5DA-D14E-A560-EF66726187FD}" presName="childTextArrow" presStyleLbl="fgAccFollowNode1" presStyleIdx="2" presStyleCnt="9">
        <dgm:presLayoutVars>
          <dgm:bulletEnabled val="1"/>
        </dgm:presLayoutVars>
      </dgm:prSet>
      <dgm:spPr/>
      <dgm:t>
        <a:bodyPr/>
        <a:lstStyle/>
        <a:p>
          <a:endParaRPr lang="en-US"/>
        </a:p>
      </dgm:t>
    </dgm:pt>
    <dgm:pt modelId="{E7F4D529-EE61-FA46-8C6C-3665849EB00A}" type="pres">
      <dgm:prSet presAssocID="{9680B5DB-3E1A-6C40-BBA3-770769CE1445}" presName="childTextArrow" presStyleLbl="fgAccFollowNode1" presStyleIdx="3" presStyleCnt="9">
        <dgm:presLayoutVars>
          <dgm:bulletEnabled val="1"/>
        </dgm:presLayoutVars>
      </dgm:prSet>
      <dgm:spPr/>
      <dgm:t>
        <a:bodyPr/>
        <a:lstStyle/>
        <a:p>
          <a:endParaRPr lang="en-US"/>
        </a:p>
      </dgm:t>
    </dgm:pt>
    <dgm:pt modelId="{AF7CB47D-EA9F-AB49-AD4B-195AE061A0AF}" type="pres">
      <dgm:prSet presAssocID="{D121255B-A1B6-B84F-A7D3-7BE1B7D4D20B}" presName="sp" presStyleCnt="0"/>
      <dgm:spPr/>
    </dgm:pt>
    <dgm:pt modelId="{87F18BDB-1171-A74C-AE38-0140DBC9AE21}" type="pres">
      <dgm:prSet presAssocID="{843BA61E-7D3F-C84F-A2B0-576C2512FD7D}" presName="arrowAndChildren" presStyleCnt="0"/>
      <dgm:spPr/>
    </dgm:pt>
    <dgm:pt modelId="{AD1EC417-B49E-2D48-8BA0-8C91F112FAA7}" type="pres">
      <dgm:prSet presAssocID="{843BA61E-7D3F-C84F-A2B0-576C2512FD7D}" presName="parentTextArrow" presStyleLbl="node1" presStyleIdx="2" presStyleCnt="5"/>
      <dgm:spPr/>
      <dgm:t>
        <a:bodyPr/>
        <a:lstStyle/>
        <a:p>
          <a:endParaRPr lang="en-US"/>
        </a:p>
      </dgm:t>
    </dgm:pt>
    <dgm:pt modelId="{5B26307B-A624-C24C-ACCD-2DDF84EAA60B}" type="pres">
      <dgm:prSet presAssocID="{843BA61E-7D3F-C84F-A2B0-576C2512FD7D}" presName="arrow" presStyleLbl="node1" presStyleIdx="3" presStyleCnt="5"/>
      <dgm:spPr/>
      <dgm:t>
        <a:bodyPr/>
        <a:lstStyle/>
        <a:p>
          <a:endParaRPr lang="en-US"/>
        </a:p>
      </dgm:t>
    </dgm:pt>
    <dgm:pt modelId="{AC85C532-A897-9D43-AF2B-A27640ADCBB0}" type="pres">
      <dgm:prSet presAssocID="{843BA61E-7D3F-C84F-A2B0-576C2512FD7D}" presName="descendantArrow" presStyleCnt="0"/>
      <dgm:spPr/>
    </dgm:pt>
    <dgm:pt modelId="{86710D97-7381-7643-8E6C-7CD89531582C}" type="pres">
      <dgm:prSet presAssocID="{E62F3FFF-10B3-FF4B-9C78-96651AE7337F}" presName="childTextArrow" presStyleLbl="fgAccFollowNode1" presStyleIdx="4" presStyleCnt="9">
        <dgm:presLayoutVars>
          <dgm:bulletEnabled val="1"/>
        </dgm:presLayoutVars>
      </dgm:prSet>
      <dgm:spPr/>
      <dgm:t>
        <a:bodyPr/>
        <a:lstStyle/>
        <a:p>
          <a:endParaRPr lang="en-US"/>
        </a:p>
      </dgm:t>
    </dgm:pt>
    <dgm:pt modelId="{981DC774-DE51-BE4F-B703-2CC713DF2309}" type="pres">
      <dgm:prSet presAssocID="{30921778-804A-324E-8751-9A806FD2FC53}" presName="childTextArrow" presStyleLbl="fgAccFollowNode1" presStyleIdx="5" presStyleCnt="9">
        <dgm:presLayoutVars>
          <dgm:bulletEnabled val="1"/>
        </dgm:presLayoutVars>
      </dgm:prSet>
      <dgm:spPr/>
      <dgm:t>
        <a:bodyPr/>
        <a:lstStyle/>
        <a:p>
          <a:endParaRPr lang="en-US"/>
        </a:p>
      </dgm:t>
    </dgm:pt>
    <dgm:pt modelId="{FC3D2DC0-4C36-2745-8697-9F32D22B9C2E}" type="pres">
      <dgm:prSet presAssocID="{5017EDA6-EB71-7741-AA11-698F2727454B}" presName="childTextArrow" presStyleLbl="fgAccFollowNode1" presStyleIdx="6" presStyleCnt="9">
        <dgm:presLayoutVars>
          <dgm:bulletEnabled val="1"/>
        </dgm:presLayoutVars>
      </dgm:prSet>
      <dgm:spPr/>
      <dgm:t>
        <a:bodyPr/>
        <a:lstStyle/>
        <a:p>
          <a:endParaRPr lang="en-US"/>
        </a:p>
      </dgm:t>
    </dgm:pt>
    <dgm:pt modelId="{67E6B979-C45B-094B-A020-D8FFA4816A9F}" type="pres">
      <dgm:prSet presAssocID="{EA6BE41C-A630-7B44-8272-11E91B465E62}" presName="sp" presStyleCnt="0"/>
      <dgm:spPr/>
    </dgm:pt>
    <dgm:pt modelId="{2697E330-7545-4842-BD82-05F119779EB5}" type="pres">
      <dgm:prSet presAssocID="{8CB7D1A7-D135-BF4D-AAEA-D203A671227C}" presName="arrowAndChildren" presStyleCnt="0"/>
      <dgm:spPr/>
    </dgm:pt>
    <dgm:pt modelId="{BA9C48DF-74FF-6F4C-B4D4-B33E426FCF5D}" type="pres">
      <dgm:prSet presAssocID="{8CB7D1A7-D135-BF4D-AAEA-D203A671227C}" presName="parentTextArrow" presStyleLbl="node1" presStyleIdx="3" presStyleCnt="5"/>
      <dgm:spPr/>
      <dgm:t>
        <a:bodyPr/>
        <a:lstStyle/>
        <a:p>
          <a:endParaRPr lang="en-US"/>
        </a:p>
      </dgm:t>
    </dgm:pt>
    <dgm:pt modelId="{EB857481-C7D6-2D4C-89EB-D1F54EFE4799}" type="pres">
      <dgm:prSet presAssocID="{8CB7D1A7-D135-BF4D-AAEA-D203A671227C}" presName="arrow" presStyleLbl="node1" presStyleIdx="4" presStyleCnt="5"/>
      <dgm:spPr/>
      <dgm:t>
        <a:bodyPr/>
        <a:lstStyle/>
        <a:p>
          <a:endParaRPr lang="en-US"/>
        </a:p>
      </dgm:t>
    </dgm:pt>
    <dgm:pt modelId="{745E780D-0CFE-9741-9AD7-B95239441AD6}" type="pres">
      <dgm:prSet presAssocID="{8CB7D1A7-D135-BF4D-AAEA-D203A671227C}" presName="descendantArrow" presStyleCnt="0"/>
      <dgm:spPr/>
    </dgm:pt>
    <dgm:pt modelId="{23616CED-90C6-0049-B429-C173A89B11C4}" type="pres">
      <dgm:prSet presAssocID="{589603AB-A285-394E-AFED-C17ECA6B2D17}" presName="childTextArrow" presStyleLbl="fgAccFollowNode1" presStyleIdx="7" presStyleCnt="9">
        <dgm:presLayoutVars>
          <dgm:bulletEnabled val="1"/>
        </dgm:presLayoutVars>
      </dgm:prSet>
      <dgm:spPr/>
      <dgm:t>
        <a:bodyPr/>
        <a:lstStyle/>
        <a:p>
          <a:endParaRPr lang="en-US"/>
        </a:p>
      </dgm:t>
    </dgm:pt>
    <dgm:pt modelId="{1D9CA8F7-9FAF-B443-9050-42C2FD4F26E6}" type="pres">
      <dgm:prSet presAssocID="{5D23B203-7EF5-2B48-B366-D785D9A788AF}" presName="childTextArrow" presStyleLbl="fgAccFollowNode1" presStyleIdx="8" presStyleCnt="9">
        <dgm:presLayoutVars>
          <dgm:bulletEnabled val="1"/>
        </dgm:presLayoutVars>
      </dgm:prSet>
      <dgm:spPr/>
      <dgm:t>
        <a:bodyPr/>
        <a:lstStyle/>
        <a:p>
          <a:endParaRPr lang="en-US"/>
        </a:p>
      </dgm:t>
    </dgm:pt>
  </dgm:ptLst>
  <dgm:cxnLst>
    <dgm:cxn modelId="{F2DCCE04-D1E3-7E45-B496-8B6FFBD1C199}" type="presOf" srcId="{E62F3FFF-10B3-FF4B-9C78-96651AE7337F}" destId="{86710D97-7381-7643-8E6C-7CD89531582C}" srcOrd="0" destOrd="0" presId="urn:microsoft.com/office/officeart/2005/8/layout/process4"/>
    <dgm:cxn modelId="{855270EA-59D3-794C-B029-E10F2B6B9E01}" type="presOf" srcId="{BF85C84A-E5F5-3A41-9F5F-AC27C1D4EE55}" destId="{C17D6A2C-360B-0B47-9402-D3C745092FC4}" srcOrd="0" destOrd="0" presId="urn:microsoft.com/office/officeart/2005/8/layout/process4"/>
    <dgm:cxn modelId="{5F3070D0-FFF0-0F44-ADE3-3FBF09994465}" srcId="{BF85C84A-E5F5-3A41-9F5F-AC27C1D4EE55}" destId="{843BA61E-7D3F-C84F-A2B0-576C2512FD7D}" srcOrd="1" destOrd="0" parTransId="{C850FBF3-5F07-D242-B78F-0CD1A9E695AE}" sibTransId="{D121255B-A1B6-B84F-A7D3-7BE1B7D4D20B}"/>
    <dgm:cxn modelId="{62A40ACF-E8DD-F947-AFFA-B34600A177A8}" type="presOf" srcId="{9680B5DB-3E1A-6C40-BBA3-770769CE1445}" destId="{E7F4D529-EE61-FA46-8C6C-3665849EB00A}" srcOrd="0" destOrd="0" presId="urn:microsoft.com/office/officeart/2005/8/layout/process4"/>
    <dgm:cxn modelId="{A1014CDC-5E5B-554F-B2D7-78B02108E680}" type="presOf" srcId="{843BA61E-7D3F-C84F-A2B0-576C2512FD7D}" destId="{5B26307B-A624-C24C-ACCD-2DDF84EAA60B}" srcOrd="1" destOrd="0" presId="urn:microsoft.com/office/officeart/2005/8/layout/process4"/>
    <dgm:cxn modelId="{E8405F4B-D3C9-EF45-A023-913C5D7C3B04}" type="presOf" srcId="{C4B9E2AC-D8AF-E840-848B-E462825091A8}" destId="{8D380DDE-D8A1-CA46-A6EA-E26248B08CA0}" srcOrd="0" destOrd="0" presId="urn:microsoft.com/office/officeart/2005/8/layout/process4"/>
    <dgm:cxn modelId="{2200475A-0384-9A4B-A992-3C56EADE1B6A}" type="presOf" srcId="{30921778-804A-324E-8751-9A806FD2FC53}" destId="{981DC774-DE51-BE4F-B703-2CC713DF2309}" srcOrd="0" destOrd="0" presId="urn:microsoft.com/office/officeart/2005/8/layout/process4"/>
    <dgm:cxn modelId="{BE506953-A12F-0241-BC5E-7345095C914A}" type="presOf" srcId="{24C6ABE2-2110-F647-A6BA-9AAE716A23AE}" destId="{37DB57B1-C80C-0C44-AA7D-134BA0E548FE}" srcOrd="0" destOrd="0" presId="urn:microsoft.com/office/officeart/2005/8/layout/process4"/>
    <dgm:cxn modelId="{B86FBE96-E386-4940-BAA2-DAFC245438FC}" srcId="{8CB7D1A7-D135-BF4D-AAEA-D203A671227C}" destId="{5D23B203-7EF5-2B48-B366-D785D9A788AF}" srcOrd="1" destOrd="0" parTransId="{A5C585F6-28C3-E74A-BC19-1A4C39B353A4}" sibTransId="{C827D877-48B5-9043-9C22-CA35708494B1}"/>
    <dgm:cxn modelId="{60EF6050-DB2F-724F-96B7-276AA3DA615E}" srcId="{BF85C84A-E5F5-3A41-9F5F-AC27C1D4EE55}" destId="{24C6ABE2-2110-F647-A6BA-9AAE716A23AE}" srcOrd="2" destOrd="0" parTransId="{92E4C216-F7CD-F64C-ADAB-BEA527D63E05}" sibTransId="{D749398B-C184-6244-8E47-DFD1EFCA87FB}"/>
    <dgm:cxn modelId="{7CD1AC90-4B91-694F-8303-05E7F2E01015}" srcId="{BF85C84A-E5F5-3A41-9F5F-AC27C1D4EE55}" destId="{92A9CFB3-6211-604C-BA9B-820E09FAB85C}" srcOrd="4" destOrd="0" parTransId="{E5B64DAB-919B-F848-B3BB-42E02F516881}" sibTransId="{0609CE27-85DB-7B41-8A6A-A13954516E15}"/>
    <dgm:cxn modelId="{2F6D108B-63A0-8C4C-ACCC-2F7600CF6A56}" srcId="{89D7BDB2-8EE0-5E44-9D0D-DA4E1F1D8DF1}" destId="{C4B9E2AC-D8AF-E840-848B-E462825091A8}" srcOrd="0" destOrd="0" parTransId="{2B7F55DB-AA4F-9B41-A762-8E0A2159D270}" sibTransId="{ED507F0B-74D1-624F-B04C-8FEF7C15A45F}"/>
    <dgm:cxn modelId="{F0DA4E03-A825-4D4F-8C58-7EA42F68EB3F}" type="presOf" srcId="{8CB7D1A7-D135-BF4D-AAEA-D203A671227C}" destId="{EB857481-C7D6-2D4C-89EB-D1F54EFE4799}" srcOrd="1" destOrd="0" presId="urn:microsoft.com/office/officeart/2005/8/layout/process4"/>
    <dgm:cxn modelId="{14C06D23-2234-304B-8477-85A1E279E2FC}" type="presOf" srcId="{D4EE6F57-B316-BC49-8E8C-1BFACC17F892}" destId="{934F4480-EF98-2D4C-9B83-D15690809056}" srcOrd="0" destOrd="0" presId="urn:microsoft.com/office/officeart/2005/8/layout/process4"/>
    <dgm:cxn modelId="{C861D611-4CB6-FF4E-9467-81B74FE5B798}" type="presOf" srcId="{89D7BDB2-8EE0-5E44-9D0D-DA4E1F1D8DF1}" destId="{BB601536-BA29-E54E-A0E9-6D7B0CF894E4}" srcOrd="0" destOrd="0" presId="urn:microsoft.com/office/officeart/2005/8/layout/process4"/>
    <dgm:cxn modelId="{FF53E347-A7BB-AD4E-B3C7-E393F1EAB406}" type="presOf" srcId="{92A9CFB3-6211-604C-BA9B-820E09FAB85C}" destId="{6A1A5C5D-E876-A54A-A276-7916B59DDE7B}" srcOrd="1" destOrd="0" presId="urn:microsoft.com/office/officeart/2005/8/layout/process4"/>
    <dgm:cxn modelId="{857DCA6C-399A-314E-B3AA-462DF3863979}" srcId="{24C6ABE2-2110-F647-A6BA-9AAE716A23AE}" destId="{72401490-A5DA-D14E-A560-EF66726187FD}" srcOrd="0" destOrd="0" parTransId="{33BBC257-8B0F-CD4A-BDB6-4C58E2A95B13}" sibTransId="{09732D72-3E4E-9241-97B1-5261BA30496E}"/>
    <dgm:cxn modelId="{320B64A8-006E-0147-95F1-83C05761E8B9}" srcId="{BF85C84A-E5F5-3A41-9F5F-AC27C1D4EE55}" destId="{89D7BDB2-8EE0-5E44-9D0D-DA4E1F1D8DF1}" srcOrd="3" destOrd="0" parTransId="{3006FBAE-534A-CD40-90CE-3A6C37B7995B}" sibTransId="{E63166DA-1CB5-F246-8D2B-ADC2F4850387}"/>
    <dgm:cxn modelId="{A6FB8014-0D28-4A4A-A265-B6F1C6B735FB}" type="presOf" srcId="{24C6ABE2-2110-F647-A6BA-9AAE716A23AE}" destId="{1F270C8F-950D-4746-ADF7-6E5479824A59}" srcOrd="1" destOrd="0" presId="urn:microsoft.com/office/officeart/2005/8/layout/process4"/>
    <dgm:cxn modelId="{66E773C1-C318-3F4B-BDB8-AE7A553617DC}" type="presOf" srcId="{8CB7D1A7-D135-BF4D-AAEA-D203A671227C}" destId="{BA9C48DF-74FF-6F4C-B4D4-B33E426FCF5D}" srcOrd="0" destOrd="0" presId="urn:microsoft.com/office/officeart/2005/8/layout/process4"/>
    <dgm:cxn modelId="{F3E48F21-1BD8-F54B-8902-FBFF3C977702}" srcId="{843BA61E-7D3F-C84F-A2B0-576C2512FD7D}" destId="{30921778-804A-324E-8751-9A806FD2FC53}" srcOrd="1" destOrd="0" parTransId="{B375C82C-ED30-7D49-99BE-1F8D20EB6937}" sibTransId="{432A75C1-333B-E84A-A691-E33135925CE8}"/>
    <dgm:cxn modelId="{62D938E7-1465-9547-AC78-7C19AE7B57DE}" srcId="{24C6ABE2-2110-F647-A6BA-9AAE716A23AE}" destId="{9680B5DB-3E1A-6C40-BBA3-770769CE1445}" srcOrd="1" destOrd="0" parTransId="{DA0E61AD-DBE2-9643-ACAF-35F61AA95EE9}" sibTransId="{8D9340BF-2C9B-504D-A8F8-0ECA8B83DBF0}"/>
    <dgm:cxn modelId="{2A8613AF-2982-CF46-B4ED-D4923115A5EC}" srcId="{8CB7D1A7-D135-BF4D-AAEA-D203A671227C}" destId="{589603AB-A285-394E-AFED-C17ECA6B2D17}" srcOrd="0" destOrd="0" parTransId="{322B68CD-E98E-D44C-A394-F455EEDFB8D3}" sibTransId="{9C823A49-D0A9-2945-8267-6CC8371CD4E2}"/>
    <dgm:cxn modelId="{6BA82641-8792-FC4B-A589-F389BBCB34B8}" type="presOf" srcId="{843BA61E-7D3F-C84F-A2B0-576C2512FD7D}" destId="{AD1EC417-B49E-2D48-8BA0-8C91F112FAA7}" srcOrd="0" destOrd="0" presId="urn:microsoft.com/office/officeart/2005/8/layout/process4"/>
    <dgm:cxn modelId="{8CC5585A-F5E8-9A4D-A5C2-216A1BE3293E}" type="presOf" srcId="{92A9CFB3-6211-604C-BA9B-820E09FAB85C}" destId="{289024DD-E6DD-E44D-9D59-0D76F8C2DF48}" srcOrd="0" destOrd="0" presId="urn:microsoft.com/office/officeart/2005/8/layout/process4"/>
    <dgm:cxn modelId="{262B09E0-F9BA-B44A-AE53-F706DAEC4FB8}" srcId="{BF85C84A-E5F5-3A41-9F5F-AC27C1D4EE55}" destId="{8CB7D1A7-D135-BF4D-AAEA-D203A671227C}" srcOrd="0" destOrd="0" parTransId="{8BD0A86A-7E79-5444-B7C6-2FDB26BA9AAE}" sibTransId="{EA6BE41C-A630-7B44-8272-11E91B465E62}"/>
    <dgm:cxn modelId="{78CC749B-FD9B-F14D-86B9-C06165A84CAD}" type="presOf" srcId="{589603AB-A285-394E-AFED-C17ECA6B2D17}" destId="{23616CED-90C6-0049-B429-C173A89B11C4}" srcOrd="0" destOrd="0" presId="urn:microsoft.com/office/officeart/2005/8/layout/process4"/>
    <dgm:cxn modelId="{D352D111-5478-0E4E-A0A4-DDB52BB23BF6}" type="presOf" srcId="{89D7BDB2-8EE0-5E44-9D0D-DA4E1F1D8DF1}" destId="{076C065E-D8E3-AC43-9F26-8D74FDDEE281}" srcOrd="1" destOrd="0" presId="urn:microsoft.com/office/officeart/2005/8/layout/process4"/>
    <dgm:cxn modelId="{F0443D99-C7BD-A140-B267-B503CA224C1A}" srcId="{92A9CFB3-6211-604C-BA9B-820E09FAB85C}" destId="{D4EE6F57-B316-BC49-8E8C-1BFACC17F892}" srcOrd="0" destOrd="0" parTransId="{370C6179-63F6-6148-BED1-780B15F56650}" sibTransId="{EE2828EE-8C79-D046-8BA5-612764FDCFFB}"/>
    <dgm:cxn modelId="{2AF16FBD-1E00-C842-8467-792B22D2FEFE}" type="presOf" srcId="{5017EDA6-EB71-7741-AA11-698F2727454B}" destId="{FC3D2DC0-4C36-2745-8697-9F32D22B9C2E}" srcOrd="0" destOrd="0" presId="urn:microsoft.com/office/officeart/2005/8/layout/process4"/>
    <dgm:cxn modelId="{6B9C1B7A-3AF5-194E-A1A8-F7D8F18A9E28}" srcId="{843BA61E-7D3F-C84F-A2B0-576C2512FD7D}" destId="{5017EDA6-EB71-7741-AA11-698F2727454B}" srcOrd="2" destOrd="0" parTransId="{320CF892-E7F5-6C46-96C2-365E6DE6ABCB}" sibTransId="{B6E7E68A-3CC2-5741-9540-C36D123C71FF}"/>
    <dgm:cxn modelId="{58E88B9A-7B41-7A42-8F5B-113A9A689092}" type="presOf" srcId="{5D23B203-7EF5-2B48-B366-D785D9A788AF}" destId="{1D9CA8F7-9FAF-B443-9050-42C2FD4F26E6}" srcOrd="0" destOrd="0" presId="urn:microsoft.com/office/officeart/2005/8/layout/process4"/>
    <dgm:cxn modelId="{8B0285C2-5F14-D144-8FFD-76458CE3866F}" type="presOf" srcId="{72401490-A5DA-D14E-A560-EF66726187FD}" destId="{D380F6F6-CF18-2345-A74F-FDE18796F575}" srcOrd="0" destOrd="0" presId="urn:microsoft.com/office/officeart/2005/8/layout/process4"/>
    <dgm:cxn modelId="{6E4D85CD-5E7D-2C4D-8EF6-A31BB6665819}" srcId="{843BA61E-7D3F-C84F-A2B0-576C2512FD7D}" destId="{E62F3FFF-10B3-FF4B-9C78-96651AE7337F}" srcOrd="0" destOrd="0" parTransId="{7AC2CB80-E549-8446-9763-51B55A5A45BE}" sibTransId="{872561F3-C30E-8349-B3AC-B51EEA96AE18}"/>
    <dgm:cxn modelId="{D3310410-D9D4-4747-AD0E-518E3BC6F6FD}" type="presParOf" srcId="{C17D6A2C-360B-0B47-9402-D3C745092FC4}" destId="{EA6DABDF-A844-EB45-BAB5-D6F4DEA6D01F}" srcOrd="0" destOrd="0" presId="urn:microsoft.com/office/officeart/2005/8/layout/process4"/>
    <dgm:cxn modelId="{107B07CE-E2AC-4E48-AC9A-908500CA92F2}" type="presParOf" srcId="{EA6DABDF-A844-EB45-BAB5-D6F4DEA6D01F}" destId="{289024DD-E6DD-E44D-9D59-0D76F8C2DF48}" srcOrd="0" destOrd="0" presId="urn:microsoft.com/office/officeart/2005/8/layout/process4"/>
    <dgm:cxn modelId="{041E63AD-A65B-A542-8EC5-FEC23605A3F9}" type="presParOf" srcId="{EA6DABDF-A844-EB45-BAB5-D6F4DEA6D01F}" destId="{6A1A5C5D-E876-A54A-A276-7916B59DDE7B}" srcOrd="1" destOrd="0" presId="urn:microsoft.com/office/officeart/2005/8/layout/process4"/>
    <dgm:cxn modelId="{B41A31B1-967A-3045-954E-EEB6C6CD4B00}" type="presParOf" srcId="{EA6DABDF-A844-EB45-BAB5-D6F4DEA6D01F}" destId="{668B9D5A-D731-7446-927D-628B106088A5}" srcOrd="2" destOrd="0" presId="urn:microsoft.com/office/officeart/2005/8/layout/process4"/>
    <dgm:cxn modelId="{0F6B578B-29B0-8B46-AB96-3D5EA4867334}" type="presParOf" srcId="{668B9D5A-D731-7446-927D-628B106088A5}" destId="{934F4480-EF98-2D4C-9B83-D15690809056}" srcOrd="0" destOrd="0" presId="urn:microsoft.com/office/officeart/2005/8/layout/process4"/>
    <dgm:cxn modelId="{610E9721-CCE9-874D-A440-A416D9D8B329}" type="presParOf" srcId="{C17D6A2C-360B-0B47-9402-D3C745092FC4}" destId="{8C0377E9-CC77-EC4B-BA09-E1AF0AFFCAFC}" srcOrd="1" destOrd="0" presId="urn:microsoft.com/office/officeart/2005/8/layout/process4"/>
    <dgm:cxn modelId="{22CD6A89-3477-5642-B767-B961C2127FEE}" type="presParOf" srcId="{C17D6A2C-360B-0B47-9402-D3C745092FC4}" destId="{0D9A1043-0844-6B42-A15D-4BD8C433C5FE}" srcOrd="2" destOrd="0" presId="urn:microsoft.com/office/officeart/2005/8/layout/process4"/>
    <dgm:cxn modelId="{47BB46AF-E7A6-7841-B645-A98095DB05F7}" type="presParOf" srcId="{0D9A1043-0844-6B42-A15D-4BD8C433C5FE}" destId="{BB601536-BA29-E54E-A0E9-6D7B0CF894E4}" srcOrd="0" destOrd="0" presId="urn:microsoft.com/office/officeart/2005/8/layout/process4"/>
    <dgm:cxn modelId="{E1ADE432-25D6-7B4B-841C-72B77B1BBB70}" type="presParOf" srcId="{0D9A1043-0844-6B42-A15D-4BD8C433C5FE}" destId="{076C065E-D8E3-AC43-9F26-8D74FDDEE281}" srcOrd="1" destOrd="0" presId="urn:microsoft.com/office/officeart/2005/8/layout/process4"/>
    <dgm:cxn modelId="{73800BE3-A292-C74C-BC46-0CC302AF954E}" type="presParOf" srcId="{0D9A1043-0844-6B42-A15D-4BD8C433C5FE}" destId="{EE37C080-4358-9543-9417-392157613AB9}" srcOrd="2" destOrd="0" presId="urn:microsoft.com/office/officeart/2005/8/layout/process4"/>
    <dgm:cxn modelId="{EBA9C8EB-E04D-A647-97E6-1A727B415922}" type="presParOf" srcId="{EE37C080-4358-9543-9417-392157613AB9}" destId="{8D380DDE-D8A1-CA46-A6EA-E26248B08CA0}" srcOrd="0" destOrd="0" presId="urn:microsoft.com/office/officeart/2005/8/layout/process4"/>
    <dgm:cxn modelId="{E280690D-9958-B340-841D-3204ED99D465}" type="presParOf" srcId="{C17D6A2C-360B-0B47-9402-D3C745092FC4}" destId="{DBC4B77A-E1D5-E740-A9EF-1D21F455E5AE}" srcOrd="3" destOrd="0" presId="urn:microsoft.com/office/officeart/2005/8/layout/process4"/>
    <dgm:cxn modelId="{DDD570CB-382B-3544-9CD6-4C4C1E176958}" type="presParOf" srcId="{C17D6A2C-360B-0B47-9402-D3C745092FC4}" destId="{4714A245-D030-F045-A9E7-AA0FE37DE911}" srcOrd="4" destOrd="0" presId="urn:microsoft.com/office/officeart/2005/8/layout/process4"/>
    <dgm:cxn modelId="{429F0035-A91A-2941-AD6B-F75C0888CAEB}" type="presParOf" srcId="{4714A245-D030-F045-A9E7-AA0FE37DE911}" destId="{37DB57B1-C80C-0C44-AA7D-134BA0E548FE}" srcOrd="0" destOrd="0" presId="urn:microsoft.com/office/officeart/2005/8/layout/process4"/>
    <dgm:cxn modelId="{983DE708-37C0-1F4F-B32A-B3F6C7744EFB}" type="presParOf" srcId="{4714A245-D030-F045-A9E7-AA0FE37DE911}" destId="{1F270C8F-950D-4746-ADF7-6E5479824A59}" srcOrd="1" destOrd="0" presId="urn:microsoft.com/office/officeart/2005/8/layout/process4"/>
    <dgm:cxn modelId="{47C1107D-6892-C74D-B67F-F73590415ACA}" type="presParOf" srcId="{4714A245-D030-F045-A9E7-AA0FE37DE911}" destId="{9595F397-6B16-E147-9582-A2FF1C96EE8C}" srcOrd="2" destOrd="0" presId="urn:microsoft.com/office/officeart/2005/8/layout/process4"/>
    <dgm:cxn modelId="{1004EE42-CBD7-9342-A0E4-99077A29686F}" type="presParOf" srcId="{9595F397-6B16-E147-9582-A2FF1C96EE8C}" destId="{D380F6F6-CF18-2345-A74F-FDE18796F575}" srcOrd="0" destOrd="0" presId="urn:microsoft.com/office/officeart/2005/8/layout/process4"/>
    <dgm:cxn modelId="{2FD1CEE4-2E17-0048-B03F-374AA67F507D}" type="presParOf" srcId="{9595F397-6B16-E147-9582-A2FF1C96EE8C}" destId="{E7F4D529-EE61-FA46-8C6C-3665849EB00A}" srcOrd="1" destOrd="0" presId="urn:microsoft.com/office/officeart/2005/8/layout/process4"/>
    <dgm:cxn modelId="{5C5DC16E-1D6F-104A-8F5A-D8C2F5B40B2C}" type="presParOf" srcId="{C17D6A2C-360B-0B47-9402-D3C745092FC4}" destId="{AF7CB47D-EA9F-AB49-AD4B-195AE061A0AF}" srcOrd="5" destOrd="0" presId="urn:microsoft.com/office/officeart/2005/8/layout/process4"/>
    <dgm:cxn modelId="{CFD1803D-F59C-3044-8936-9239475C65B6}" type="presParOf" srcId="{C17D6A2C-360B-0B47-9402-D3C745092FC4}" destId="{87F18BDB-1171-A74C-AE38-0140DBC9AE21}" srcOrd="6" destOrd="0" presId="urn:microsoft.com/office/officeart/2005/8/layout/process4"/>
    <dgm:cxn modelId="{B232C612-8C76-8E45-9B2D-54267754AA1C}" type="presParOf" srcId="{87F18BDB-1171-A74C-AE38-0140DBC9AE21}" destId="{AD1EC417-B49E-2D48-8BA0-8C91F112FAA7}" srcOrd="0" destOrd="0" presId="urn:microsoft.com/office/officeart/2005/8/layout/process4"/>
    <dgm:cxn modelId="{11F71D61-0CC6-5041-B99F-0D6242E6F18E}" type="presParOf" srcId="{87F18BDB-1171-A74C-AE38-0140DBC9AE21}" destId="{5B26307B-A624-C24C-ACCD-2DDF84EAA60B}" srcOrd="1" destOrd="0" presId="urn:microsoft.com/office/officeart/2005/8/layout/process4"/>
    <dgm:cxn modelId="{6A6C40D3-986F-774B-934C-B96602564B32}" type="presParOf" srcId="{87F18BDB-1171-A74C-AE38-0140DBC9AE21}" destId="{AC85C532-A897-9D43-AF2B-A27640ADCBB0}" srcOrd="2" destOrd="0" presId="urn:microsoft.com/office/officeart/2005/8/layout/process4"/>
    <dgm:cxn modelId="{62D8968C-C0AB-6342-AB6C-898873D33F28}" type="presParOf" srcId="{AC85C532-A897-9D43-AF2B-A27640ADCBB0}" destId="{86710D97-7381-7643-8E6C-7CD89531582C}" srcOrd="0" destOrd="0" presId="urn:microsoft.com/office/officeart/2005/8/layout/process4"/>
    <dgm:cxn modelId="{C67B9758-383B-0E4B-93F2-07C238607F04}" type="presParOf" srcId="{AC85C532-A897-9D43-AF2B-A27640ADCBB0}" destId="{981DC774-DE51-BE4F-B703-2CC713DF2309}" srcOrd="1" destOrd="0" presId="urn:microsoft.com/office/officeart/2005/8/layout/process4"/>
    <dgm:cxn modelId="{C17FCB5D-B47A-474C-9257-5C23FDB0D475}" type="presParOf" srcId="{AC85C532-A897-9D43-AF2B-A27640ADCBB0}" destId="{FC3D2DC0-4C36-2745-8697-9F32D22B9C2E}" srcOrd="2" destOrd="0" presId="urn:microsoft.com/office/officeart/2005/8/layout/process4"/>
    <dgm:cxn modelId="{E609A8AA-2EF0-2344-9376-2E9C0BFBB355}" type="presParOf" srcId="{C17D6A2C-360B-0B47-9402-D3C745092FC4}" destId="{67E6B979-C45B-094B-A020-D8FFA4816A9F}" srcOrd="7" destOrd="0" presId="urn:microsoft.com/office/officeart/2005/8/layout/process4"/>
    <dgm:cxn modelId="{DD450D84-0345-7E4F-9444-6635E8E4C89A}" type="presParOf" srcId="{C17D6A2C-360B-0B47-9402-D3C745092FC4}" destId="{2697E330-7545-4842-BD82-05F119779EB5}" srcOrd="8" destOrd="0" presId="urn:microsoft.com/office/officeart/2005/8/layout/process4"/>
    <dgm:cxn modelId="{C84BAE5D-1E29-8B4E-B56D-B534C10C1F7A}" type="presParOf" srcId="{2697E330-7545-4842-BD82-05F119779EB5}" destId="{BA9C48DF-74FF-6F4C-B4D4-B33E426FCF5D}" srcOrd="0" destOrd="0" presId="urn:microsoft.com/office/officeart/2005/8/layout/process4"/>
    <dgm:cxn modelId="{EB41654D-3A47-A343-A3F9-209021BC607F}" type="presParOf" srcId="{2697E330-7545-4842-BD82-05F119779EB5}" destId="{EB857481-C7D6-2D4C-89EB-D1F54EFE4799}" srcOrd="1" destOrd="0" presId="urn:microsoft.com/office/officeart/2005/8/layout/process4"/>
    <dgm:cxn modelId="{AEE94624-2759-6843-A18F-C173A39EA647}" type="presParOf" srcId="{2697E330-7545-4842-BD82-05F119779EB5}" destId="{745E780D-0CFE-9741-9AD7-B95239441AD6}" srcOrd="2" destOrd="0" presId="urn:microsoft.com/office/officeart/2005/8/layout/process4"/>
    <dgm:cxn modelId="{CCCE37E8-5937-FC42-971C-FF4B82179F40}" type="presParOf" srcId="{745E780D-0CFE-9741-9AD7-B95239441AD6}" destId="{23616CED-90C6-0049-B429-C173A89B11C4}" srcOrd="0" destOrd="0" presId="urn:microsoft.com/office/officeart/2005/8/layout/process4"/>
    <dgm:cxn modelId="{F660FD03-5563-4D41-9583-5DD151CCD1C7}" type="presParOf" srcId="{745E780D-0CFE-9741-9AD7-B95239441AD6}" destId="{1D9CA8F7-9FAF-B443-9050-42C2FD4F26E6}"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38744-C04D-3E4E-AA73-587B41E192F1}">
      <dsp:nvSpPr>
        <dsp:cNvPr id="0" name=""/>
        <dsp:cNvSpPr/>
      </dsp:nvSpPr>
      <dsp:spPr>
        <a:xfrm>
          <a:off x="228587" y="1676388"/>
          <a:ext cx="3791510" cy="31272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35FEA2A-0066-1642-A472-449A8E0D404E}">
      <dsp:nvSpPr>
        <dsp:cNvPr id="0" name=""/>
        <dsp:cNvSpPr/>
      </dsp:nvSpPr>
      <dsp:spPr>
        <a:xfrm>
          <a:off x="1828804" y="1219192"/>
          <a:ext cx="3287503" cy="5287245"/>
        </a:xfrm>
        <a:prstGeom prst="leftCircularArrow">
          <a:avLst>
            <a:gd name="adj1" fmla="val 1811"/>
            <a:gd name="adj2" fmla="val 215986"/>
            <a:gd name="adj3" fmla="val 3871744"/>
            <a:gd name="adj4" fmla="val 10904737"/>
            <a:gd name="adj5" fmla="val 2112"/>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921A1A8-6658-C946-81EC-1BBCEEEDE982}">
      <dsp:nvSpPr>
        <dsp:cNvPr id="0" name=""/>
        <dsp:cNvSpPr/>
      </dsp:nvSpPr>
      <dsp:spPr>
        <a:xfrm>
          <a:off x="533399" y="2438394"/>
          <a:ext cx="3370231" cy="134023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27940" rIns="41910" bIns="27940" numCol="1" spcCol="1270" anchor="ctr" anchorCtr="0">
          <a:noAutofit/>
        </a:bodyPr>
        <a:lstStyle/>
        <a:p>
          <a:pPr lvl="0" algn="ctr" defTabSz="977900" rtl="0">
            <a:lnSpc>
              <a:spcPct val="90000"/>
            </a:lnSpc>
            <a:spcBef>
              <a:spcPct val="0"/>
            </a:spcBef>
            <a:spcAft>
              <a:spcPct val="35000"/>
            </a:spcAft>
          </a:pPr>
          <a:r>
            <a:rPr lang="en-US" sz="2200" kern="1200" dirty="0" smtClean="0"/>
            <a:t>Referenced by means of the machine language that the processor executes</a:t>
          </a:r>
          <a:endParaRPr lang="en-US" sz="2200" kern="1200" dirty="0"/>
        </a:p>
      </dsp:txBody>
      <dsp:txXfrm>
        <a:off x="572653" y="2477648"/>
        <a:ext cx="3291723" cy="1261722"/>
      </dsp:txXfrm>
    </dsp:sp>
    <dsp:sp modelId="{C1F890E0-24C4-D642-8884-C9B159244FFE}">
      <dsp:nvSpPr>
        <dsp:cNvPr id="0" name=""/>
        <dsp:cNvSpPr/>
      </dsp:nvSpPr>
      <dsp:spPr>
        <a:xfrm>
          <a:off x="4752856" y="1528909"/>
          <a:ext cx="4120007" cy="46054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26670" rIns="26670" bIns="26670" numCol="1" spcCol="1270" anchor="t" anchorCtr="0">
          <a:noAutofit/>
        </a:bodyPr>
        <a:lstStyle/>
        <a:p>
          <a:pPr marL="114300" lvl="1" indent="-114300" algn="l" defTabSz="622300" rtl="0">
            <a:lnSpc>
              <a:spcPct val="90000"/>
            </a:lnSpc>
            <a:spcBef>
              <a:spcPct val="0"/>
            </a:spcBef>
            <a:spcAft>
              <a:spcPct val="15000"/>
            </a:spcAft>
            <a:buChar char="••"/>
          </a:pPr>
          <a:r>
            <a:rPr lang="en-US" sz="1400" b="1" kern="1200" dirty="0" smtClean="0">
              <a:solidFill>
                <a:schemeClr val="accent3"/>
              </a:solidFill>
            </a:rPr>
            <a:t>General purpose</a:t>
          </a:r>
          <a:endParaRPr lang="en-US" sz="1400" b="1" kern="1200" dirty="0">
            <a:solidFill>
              <a:schemeClr val="accent3"/>
            </a:solidFill>
          </a:endParaRPr>
        </a:p>
        <a:p>
          <a:pPr marL="228600" lvl="2" indent="-114300" algn="l" defTabSz="622300" rtl="0">
            <a:lnSpc>
              <a:spcPct val="90000"/>
            </a:lnSpc>
            <a:spcBef>
              <a:spcPct val="0"/>
            </a:spcBef>
            <a:spcAft>
              <a:spcPct val="15000"/>
            </a:spcAft>
            <a:buChar char="••"/>
          </a:pPr>
          <a:r>
            <a:rPr lang="en-US" sz="1400" kern="1200" dirty="0" smtClean="0"/>
            <a:t>Can be assigned to a variety of functions by the programmer</a:t>
          </a:r>
          <a:endParaRPr lang="en-US" sz="1400" kern="1200" dirty="0"/>
        </a:p>
        <a:p>
          <a:pPr marL="114300" lvl="1" indent="-114300" algn="l" defTabSz="622300" rtl="0">
            <a:lnSpc>
              <a:spcPct val="90000"/>
            </a:lnSpc>
            <a:spcBef>
              <a:spcPct val="0"/>
            </a:spcBef>
            <a:spcAft>
              <a:spcPct val="15000"/>
            </a:spcAft>
            <a:buChar char="••"/>
          </a:pPr>
          <a:r>
            <a:rPr lang="en-US" sz="1400" b="1" kern="1200" dirty="0" smtClean="0">
              <a:solidFill>
                <a:schemeClr val="accent3"/>
              </a:solidFill>
            </a:rPr>
            <a:t>Data</a:t>
          </a:r>
        </a:p>
        <a:p>
          <a:pPr marL="228600" lvl="2" indent="-114300" algn="l" defTabSz="622300" rtl="0">
            <a:lnSpc>
              <a:spcPct val="90000"/>
            </a:lnSpc>
            <a:spcBef>
              <a:spcPct val="0"/>
            </a:spcBef>
            <a:spcAft>
              <a:spcPct val="15000"/>
            </a:spcAft>
            <a:buChar char="••"/>
          </a:pPr>
          <a:r>
            <a:rPr lang="en-US" sz="1400" kern="1200" dirty="0" smtClean="0"/>
            <a:t>May be used only to hold data and cannot be employed in the calculation of an operand address</a:t>
          </a:r>
          <a:endParaRPr lang="en-US" sz="1400" kern="1200" dirty="0"/>
        </a:p>
        <a:p>
          <a:pPr marL="114300" lvl="1" indent="-114300" algn="l" defTabSz="622300" rtl="0">
            <a:lnSpc>
              <a:spcPct val="90000"/>
            </a:lnSpc>
            <a:spcBef>
              <a:spcPct val="0"/>
            </a:spcBef>
            <a:spcAft>
              <a:spcPct val="15000"/>
            </a:spcAft>
            <a:buChar char="••"/>
          </a:pPr>
          <a:r>
            <a:rPr lang="en-US" sz="1400" b="1" kern="1200" dirty="0" smtClean="0">
              <a:solidFill>
                <a:schemeClr val="accent3"/>
              </a:solidFill>
            </a:rPr>
            <a:t>Address</a:t>
          </a:r>
        </a:p>
        <a:p>
          <a:pPr marL="228600" lvl="2" indent="-114300" algn="l" defTabSz="622300" rtl="0">
            <a:lnSpc>
              <a:spcPct val="90000"/>
            </a:lnSpc>
            <a:spcBef>
              <a:spcPct val="0"/>
            </a:spcBef>
            <a:spcAft>
              <a:spcPct val="15000"/>
            </a:spcAft>
            <a:buChar char="••"/>
          </a:pPr>
          <a:r>
            <a:rPr lang="en-US" sz="1400" kern="1200" dirty="0" smtClean="0"/>
            <a:t>May be somewhat general purpose or may be devoted to a particular addressing mode</a:t>
          </a:r>
          <a:endParaRPr lang="en-US" sz="1400" kern="1200" dirty="0"/>
        </a:p>
        <a:p>
          <a:pPr marL="228600" lvl="2" indent="-114300" algn="l" defTabSz="622300" rtl="0">
            <a:lnSpc>
              <a:spcPct val="90000"/>
            </a:lnSpc>
            <a:spcBef>
              <a:spcPct val="0"/>
            </a:spcBef>
            <a:spcAft>
              <a:spcPct val="15000"/>
            </a:spcAft>
            <a:buChar char="••"/>
          </a:pPr>
          <a:r>
            <a:rPr lang="en-US" sz="1400" kern="1200" dirty="0" smtClean="0"/>
            <a:t>Examples:  segment pointers, index registers, stack pointer</a:t>
          </a:r>
          <a:endParaRPr lang="en-US" sz="1400" kern="1200" dirty="0"/>
        </a:p>
        <a:p>
          <a:pPr marL="114300" lvl="1" indent="-114300" algn="l" defTabSz="622300" rtl="0">
            <a:lnSpc>
              <a:spcPct val="90000"/>
            </a:lnSpc>
            <a:spcBef>
              <a:spcPct val="0"/>
            </a:spcBef>
            <a:spcAft>
              <a:spcPct val="15000"/>
            </a:spcAft>
            <a:buChar char="••"/>
          </a:pPr>
          <a:r>
            <a:rPr lang="en-US" sz="1400" b="1" kern="1200" dirty="0" smtClean="0">
              <a:solidFill>
                <a:schemeClr val="accent3"/>
              </a:solidFill>
            </a:rPr>
            <a:t>Condition codes</a:t>
          </a:r>
        </a:p>
        <a:p>
          <a:pPr marL="228600" lvl="2" indent="-114300" algn="l" defTabSz="622300" rtl="0">
            <a:lnSpc>
              <a:spcPct val="90000"/>
            </a:lnSpc>
            <a:spcBef>
              <a:spcPct val="0"/>
            </a:spcBef>
            <a:spcAft>
              <a:spcPct val="15000"/>
            </a:spcAft>
            <a:buChar char="••"/>
          </a:pPr>
          <a:r>
            <a:rPr lang="en-US" sz="1400" kern="1200" dirty="0" smtClean="0"/>
            <a:t>Also referred to as </a:t>
          </a:r>
          <a:r>
            <a:rPr lang="en-US" sz="1400" i="1" kern="1200" dirty="0" smtClean="0"/>
            <a:t>flags</a:t>
          </a:r>
          <a:endParaRPr lang="en-US" sz="1400" kern="1200" dirty="0"/>
        </a:p>
        <a:p>
          <a:pPr marL="228600" lvl="2" indent="-114300" algn="l" defTabSz="622300" rtl="0">
            <a:lnSpc>
              <a:spcPct val="90000"/>
            </a:lnSpc>
            <a:spcBef>
              <a:spcPct val="0"/>
            </a:spcBef>
            <a:spcAft>
              <a:spcPct val="15000"/>
            </a:spcAft>
            <a:buChar char="••"/>
          </a:pPr>
          <a:r>
            <a:rPr lang="en-US" sz="1400" kern="1200" dirty="0" smtClean="0"/>
            <a:t>Bits set by the processor hardware as the result of operations</a:t>
          </a:r>
          <a:endParaRPr lang="en-US" sz="1400" kern="1200" dirty="0"/>
        </a:p>
      </dsp:txBody>
      <dsp:txXfrm>
        <a:off x="4858841" y="2621786"/>
        <a:ext cx="3908037" cy="3406633"/>
      </dsp:txXfrm>
    </dsp:sp>
    <dsp:sp modelId="{1F6A97C5-F3A9-E94F-905E-0E5EEFB98187}">
      <dsp:nvSpPr>
        <dsp:cNvPr id="0" name=""/>
        <dsp:cNvSpPr/>
      </dsp:nvSpPr>
      <dsp:spPr>
        <a:xfrm>
          <a:off x="5333994" y="990606"/>
          <a:ext cx="3558526" cy="1459992"/>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lvl="0" algn="ctr" defTabSz="1600200" rtl="0">
            <a:lnSpc>
              <a:spcPct val="90000"/>
            </a:lnSpc>
            <a:spcBef>
              <a:spcPct val="0"/>
            </a:spcBef>
            <a:spcAft>
              <a:spcPct val="35000"/>
            </a:spcAft>
          </a:pPr>
          <a:r>
            <a:rPr lang="en-US" sz="3600" kern="1200" dirty="0" smtClean="0"/>
            <a:t>Categories:</a:t>
          </a:r>
          <a:endParaRPr lang="en-US" sz="3600" kern="1200" dirty="0"/>
        </a:p>
      </dsp:txBody>
      <dsp:txXfrm>
        <a:off x="5376756" y="1033368"/>
        <a:ext cx="3473002" cy="1374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E271E-CE66-1941-BDE4-DC011A56D099}">
      <dsp:nvSpPr>
        <dsp:cNvPr id="0" name=""/>
        <dsp:cNvSpPr/>
      </dsp:nvSpPr>
      <dsp:spPr>
        <a:xfrm>
          <a:off x="4622" y="0"/>
          <a:ext cx="2773435" cy="2384904"/>
        </a:xfrm>
        <a:prstGeom prst="upArrow">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CFF95017-E622-CB47-81A6-7B8D3D03A33B}">
      <dsp:nvSpPr>
        <dsp:cNvPr id="0" name=""/>
        <dsp:cNvSpPr/>
      </dsp:nvSpPr>
      <dsp:spPr>
        <a:xfrm>
          <a:off x="2861260" y="0"/>
          <a:ext cx="4706436" cy="2384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0" rIns="149352" bIns="149352" numCol="1" spcCol="1270" anchor="ctr" anchorCtr="0">
          <a:noAutofit/>
        </a:bodyPr>
        <a:lstStyle/>
        <a:p>
          <a:pPr lvl="0" algn="l" defTabSz="933450" rtl="0">
            <a:lnSpc>
              <a:spcPct val="90000"/>
            </a:lnSpc>
            <a:spcBef>
              <a:spcPct val="0"/>
            </a:spcBef>
            <a:spcAft>
              <a:spcPct val="35000"/>
            </a:spcAft>
          </a:pPr>
          <a:r>
            <a:rPr lang="en-US" sz="2100" kern="1200" dirty="0" smtClean="0"/>
            <a:t>Many processor designs include a register or set of registers, often known as PSW, that contain status information plus conditions codes.</a:t>
          </a:r>
          <a:endParaRPr lang="en-US" sz="2100" kern="1200" dirty="0"/>
        </a:p>
      </dsp:txBody>
      <dsp:txXfrm>
        <a:off x="2861260" y="0"/>
        <a:ext cx="4706436" cy="2384904"/>
      </dsp:txXfrm>
    </dsp:sp>
    <dsp:sp modelId="{FAFFC7AD-0AC6-7C42-BAAA-78490EEA3097}">
      <dsp:nvSpPr>
        <dsp:cNvPr id="0" name=""/>
        <dsp:cNvSpPr/>
      </dsp:nvSpPr>
      <dsp:spPr>
        <a:xfrm>
          <a:off x="836653" y="2583647"/>
          <a:ext cx="2773435" cy="2384904"/>
        </a:xfrm>
        <a:prstGeom prst="downArrow">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20F573A9-C3CE-6E4D-8FF9-E946479E33E0}">
      <dsp:nvSpPr>
        <dsp:cNvPr id="0" name=""/>
        <dsp:cNvSpPr/>
      </dsp:nvSpPr>
      <dsp:spPr>
        <a:xfrm>
          <a:off x="3693291" y="2583647"/>
          <a:ext cx="4706436" cy="2384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0" rIns="149352" bIns="149352" numCol="1" spcCol="1270" anchor="ctr" anchorCtr="0">
          <a:noAutofit/>
        </a:bodyPr>
        <a:lstStyle/>
        <a:p>
          <a:pPr lvl="0" algn="l" defTabSz="933450" rtl="0">
            <a:lnSpc>
              <a:spcPct val="90000"/>
            </a:lnSpc>
            <a:spcBef>
              <a:spcPct val="0"/>
            </a:spcBef>
            <a:spcAft>
              <a:spcPct val="35000"/>
            </a:spcAft>
          </a:pPr>
          <a:r>
            <a:rPr lang="en-US" sz="2100" kern="1200" dirty="0" smtClean="0"/>
            <a:t>Common fields or flags include:</a:t>
          </a:r>
          <a:endParaRPr lang="en-US" sz="2100" kern="1200" dirty="0"/>
        </a:p>
        <a:p>
          <a:pPr marL="171450" lvl="1" indent="-171450" algn="l" defTabSz="711200" rtl="0">
            <a:lnSpc>
              <a:spcPct val="90000"/>
            </a:lnSpc>
            <a:spcBef>
              <a:spcPct val="0"/>
            </a:spcBef>
            <a:spcAft>
              <a:spcPct val="15000"/>
            </a:spcAft>
            <a:buChar char="••"/>
          </a:pPr>
          <a:r>
            <a:rPr lang="en-US" sz="1600" kern="1200" dirty="0" smtClean="0"/>
            <a:t>Sign</a:t>
          </a:r>
          <a:endParaRPr lang="en-US" sz="1600" kern="1200" dirty="0"/>
        </a:p>
        <a:p>
          <a:pPr marL="171450" lvl="1" indent="-171450" algn="l" defTabSz="711200" rtl="0">
            <a:lnSpc>
              <a:spcPct val="90000"/>
            </a:lnSpc>
            <a:spcBef>
              <a:spcPct val="0"/>
            </a:spcBef>
            <a:spcAft>
              <a:spcPct val="15000"/>
            </a:spcAft>
            <a:buChar char="••"/>
          </a:pPr>
          <a:r>
            <a:rPr lang="en-US" sz="1600" kern="1200" dirty="0" smtClean="0"/>
            <a:t>Zero</a:t>
          </a:r>
          <a:endParaRPr lang="en-US" sz="1600" kern="1200" dirty="0"/>
        </a:p>
        <a:p>
          <a:pPr marL="171450" lvl="1" indent="-171450" algn="l" defTabSz="711200" rtl="0">
            <a:lnSpc>
              <a:spcPct val="90000"/>
            </a:lnSpc>
            <a:spcBef>
              <a:spcPct val="0"/>
            </a:spcBef>
            <a:spcAft>
              <a:spcPct val="15000"/>
            </a:spcAft>
            <a:buChar char="••"/>
          </a:pPr>
          <a:r>
            <a:rPr lang="en-US" sz="1600" kern="1200" dirty="0" smtClean="0"/>
            <a:t>Carry</a:t>
          </a:r>
          <a:endParaRPr lang="en-US" sz="1600" kern="1200" dirty="0"/>
        </a:p>
        <a:p>
          <a:pPr marL="171450" lvl="1" indent="-171450" algn="l" defTabSz="711200" rtl="0">
            <a:lnSpc>
              <a:spcPct val="90000"/>
            </a:lnSpc>
            <a:spcBef>
              <a:spcPct val="0"/>
            </a:spcBef>
            <a:spcAft>
              <a:spcPct val="15000"/>
            </a:spcAft>
            <a:buChar char="••"/>
          </a:pPr>
          <a:r>
            <a:rPr lang="en-US" sz="1600" kern="1200" dirty="0" smtClean="0"/>
            <a:t>Equal</a:t>
          </a:r>
          <a:endParaRPr lang="en-US" sz="1600" kern="1200" dirty="0"/>
        </a:p>
        <a:p>
          <a:pPr marL="171450" lvl="1" indent="-171450" algn="l" defTabSz="711200" rtl="0">
            <a:lnSpc>
              <a:spcPct val="90000"/>
            </a:lnSpc>
            <a:spcBef>
              <a:spcPct val="0"/>
            </a:spcBef>
            <a:spcAft>
              <a:spcPct val="15000"/>
            </a:spcAft>
            <a:buChar char="••"/>
          </a:pPr>
          <a:r>
            <a:rPr lang="en-US" sz="1600" kern="1200" dirty="0" smtClean="0"/>
            <a:t>Overflow</a:t>
          </a:r>
          <a:endParaRPr lang="en-US" sz="1600" kern="1200" dirty="0"/>
        </a:p>
        <a:p>
          <a:pPr marL="171450" lvl="1" indent="-171450" algn="l" defTabSz="711200" rtl="0">
            <a:lnSpc>
              <a:spcPct val="90000"/>
            </a:lnSpc>
            <a:spcBef>
              <a:spcPct val="0"/>
            </a:spcBef>
            <a:spcAft>
              <a:spcPct val="15000"/>
            </a:spcAft>
            <a:buChar char="••"/>
          </a:pPr>
          <a:r>
            <a:rPr lang="en-US" sz="1600" kern="1200" dirty="0" smtClean="0"/>
            <a:t>Interrupt Enable/Disable</a:t>
          </a:r>
          <a:endParaRPr lang="en-US" sz="1600" kern="1200" dirty="0"/>
        </a:p>
        <a:p>
          <a:pPr marL="171450" lvl="1" indent="-171450" algn="l" defTabSz="711200" rtl="0">
            <a:lnSpc>
              <a:spcPct val="90000"/>
            </a:lnSpc>
            <a:spcBef>
              <a:spcPct val="0"/>
            </a:spcBef>
            <a:spcAft>
              <a:spcPct val="15000"/>
            </a:spcAft>
            <a:buChar char="••"/>
          </a:pPr>
          <a:r>
            <a:rPr lang="en-US" sz="1600" kern="1200" dirty="0" smtClean="0"/>
            <a:t>Supervisor</a:t>
          </a:r>
          <a:endParaRPr lang="en-US" sz="1600" kern="1200" dirty="0"/>
        </a:p>
      </dsp:txBody>
      <dsp:txXfrm>
        <a:off x="3693291" y="2583647"/>
        <a:ext cx="4706436" cy="23849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DDD63-D148-C04E-AE73-900A9CB76940}">
      <dsp:nvSpPr>
        <dsp:cNvPr id="0" name=""/>
        <dsp:cNvSpPr/>
      </dsp:nvSpPr>
      <dsp:spPr>
        <a:xfrm>
          <a:off x="7224511" y="3684778"/>
          <a:ext cx="91440" cy="686030"/>
        </a:xfrm>
        <a:custGeom>
          <a:avLst/>
          <a:gdLst/>
          <a:ahLst/>
          <a:cxnLst/>
          <a:rect l="0" t="0" r="0" b="0"/>
          <a:pathLst>
            <a:path>
              <a:moveTo>
                <a:pt x="45720" y="0"/>
              </a:moveTo>
              <a:lnTo>
                <a:pt x="45720" y="686030"/>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C38F41A-7026-F74C-AC4B-78ED7376BF67}">
      <dsp:nvSpPr>
        <dsp:cNvPr id="0" name=""/>
        <dsp:cNvSpPr/>
      </dsp:nvSpPr>
      <dsp:spPr>
        <a:xfrm>
          <a:off x="4387201" y="1500882"/>
          <a:ext cx="2883030" cy="686030"/>
        </a:xfrm>
        <a:custGeom>
          <a:avLst/>
          <a:gdLst/>
          <a:ahLst/>
          <a:cxnLst/>
          <a:rect l="0" t="0" r="0" b="0"/>
          <a:pathLst>
            <a:path>
              <a:moveTo>
                <a:pt x="0" y="0"/>
              </a:moveTo>
              <a:lnTo>
                <a:pt x="0" y="467509"/>
              </a:lnTo>
              <a:lnTo>
                <a:pt x="2883030" y="467509"/>
              </a:lnTo>
              <a:lnTo>
                <a:pt x="2883030" y="68603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643EC93-7D48-5144-87AF-EB858A6B6431}">
      <dsp:nvSpPr>
        <dsp:cNvPr id="0" name=""/>
        <dsp:cNvSpPr/>
      </dsp:nvSpPr>
      <dsp:spPr>
        <a:xfrm>
          <a:off x="4341481" y="3684778"/>
          <a:ext cx="91440" cy="686030"/>
        </a:xfrm>
        <a:custGeom>
          <a:avLst/>
          <a:gdLst/>
          <a:ahLst/>
          <a:cxnLst/>
          <a:rect l="0" t="0" r="0" b="0"/>
          <a:pathLst>
            <a:path>
              <a:moveTo>
                <a:pt x="45720" y="0"/>
              </a:moveTo>
              <a:lnTo>
                <a:pt x="45720" y="686030"/>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134F9FD-5E66-6844-A538-8F42E8B33A32}">
      <dsp:nvSpPr>
        <dsp:cNvPr id="0" name=""/>
        <dsp:cNvSpPr/>
      </dsp:nvSpPr>
      <dsp:spPr>
        <a:xfrm>
          <a:off x="4341481" y="1500882"/>
          <a:ext cx="91440" cy="686030"/>
        </a:xfrm>
        <a:custGeom>
          <a:avLst/>
          <a:gdLst/>
          <a:ahLst/>
          <a:cxnLst/>
          <a:rect l="0" t="0" r="0" b="0"/>
          <a:pathLst>
            <a:path>
              <a:moveTo>
                <a:pt x="45720" y="0"/>
              </a:moveTo>
              <a:lnTo>
                <a:pt x="45720" y="68603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36A106-E8E5-7842-B744-5DA305419486}">
      <dsp:nvSpPr>
        <dsp:cNvPr id="0" name=""/>
        <dsp:cNvSpPr/>
      </dsp:nvSpPr>
      <dsp:spPr>
        <a:xfrm>
          <a:off x="1458450" y="3684778"/>
          <a:ext cx="91440" cy="686030"/>
        </a:xfrm>
        <a:custGeom>
          <a:avLst/>
          <a:gdLst/>
          <a:ahLst/>
          <a:cxnLst/>
          <a:rect l="0" t="0" r="0" b="0"/>
          <a:pathLst>
            <a:path>
              <a:moveTo>
                <a:pt x="45720" y="0"/>
              </a:moveTo>
              <a:lnTo>
                <a:pt x="45720" y="686030"/>
              </a:lnTo>
            </a:path>
          </a:pathLst>
        </a:custGeom>
        <a:noFill/>
        <a:ln w="12700"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4366298-FD9B-5A4A-9783-59C231A2AEE2}">
      <dsp:nvSpPr>
        <dsp:cNvPr id="0" name=""/>
        <dsp:cNvSpPr/>
      </dsp:nvSpPr>
      <dsp:spPr>
        <a:xfrm>
          <a:off x="1504170" y="1500882"/>
          <a:ext cx="2883030" cy="686030"/>
        </a:xfrm>
        <a:custGeom>
          <a:avLst/>
          <a:gdLst/>
          <a:ahLst/>
          <a:cxnLst/>
          <a:rect l="0" t="0" r="0" b="0"/>
          <a:pathLst>
            <a:path>
              <a:moveTo>
                <a:pt x="2883030" y="0"/>
              </a:moveTo>
              <a:lnTo>
                <a:pt x="2883030" y="467509"/>
              </a:lnTo>
              <a:lnTo>
                <a:pt x="0" y="467509"/>
              </a:lnTo>
              <a:lnTo>
                <a:pt x="0" y="68603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D085B36-DA72-2244-BE46-2D2FD9A8231A}">
      <dsp:nvSpPr>
        <dsp:cNvPr id="0" name=""/>
        <dsp:cNvSpPr/>
      </dsp:nvSpPr>
      <dsp:spPr>
        <a:xfrm>
          <a:off x="3207779" y="3017"/>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EA4FB93-F3AC-BD4A-A777-9351FC75EDE1}">
      <dsp:nvSpPr>
        <dsp:cNvPr id="0" name=""/>
        <dsp:cNvSpPr/>
      </dsp:nvSpPr>
      <dsp:spPr>
        <a:xfrm>
          <a:off x="3469873" y="252006"/>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Includes the following stages:</a:t>
          </a:r>
          <a:endParaRPr lang="en-US" sz="1500" kern="1200" dirty="0"/>
        </a:p>
      </dsp:txBody>
      <dsp:txXfrm>
        <a:off x="3513744" y="295877"/>
        <a:ext cx="2271101" cy="1410123"/>
      </dsp:txXfrm>
    </dsp:sp>
    <dsp:sp modelId="{9FB4FFB5-C11F-484E-B2AC-3F8A7722AECD}">
      <dsp:nvSpPr>
        <dsp:cNvPr id="0" name=""/>
        <dsp:cNvSpPr/>
      </dsp:nvSpPr>
      <dsp:spPr>
        <a:xfrm>
          <a:off x="324749" y="2186912"/>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C89960E-E5D9-D046-8D4B-DD02582B7D3A}">
      <dsp:nvSpPr>
        <dsp:cNvPr id="0" name=""/>
        <dsp:cNvSpPr/>
      </dsp:nvSpPr>
      <dsp:spPr>
        <a:xfrm>
          <a:off x="586842" y="2435901"/>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Fetch</a:t>
          </a:r>
          <a:endParaRPr lang="en-US" sz="1500" kern="1200" dirty="0"/>
        </a:p>
      </dsp:txBody>
      <dsp:txXfrm>
        <a:off x="630713" y="2479772"/>
        <a:ext cx="2271101" cy="1410123"/>
      </dsp:txXfrm>
    </dsp:sp>
    <dsp:sp modelId="{553E2E5B-A13E-FF49-8C45-FB7E75BAA80F}">
      <dsp:nvSpPr>
        <dsp:cNvPr id="0" name=""/>
        <dsp:cNvSpPr/>
      </dsp:nvSpPr>
      <dsp:spPr>
        <a:xfrm>
          <a:off x="324749" y="4370808"/>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B51A060-E74F-BA43-988A-F74B2DB43A08}">
      <dsp:nvSpPr>
        <dsp:cNvPr id="0" name=""/>
        <dsp:cNvSpPr/>
      </dsp:nvSpPr>
      <dsp:spPr>
        <a:xfrm>
          <a:off x="586842" y="4619797"/>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Read the next instruction from memory into the processor</a:t>
          </a:r>
          <a:endParaRPr lang="en-US" sz="1500" kern="1200" dirty="0"/>
        </a:p>
      </dsp:txBody>
      <dsp:txXfrm>
        <a:off x="630713" y="4663668"/>
        <a:ext cx="2271101" cy="1410123"/>
      </dsp:txXfrm>
    </dsp:sp>
    <dsp:sp modelId="{25DF7365-5D74-DF46-96B5-16D5E6DC1CCA}">
      <dsp:nvSpPr>
        <dsp:cNvPr id="0" name=""/>
        <dsp:cNvSpPr/>
      </dsp:nvSpPr>
      <dsp:spPr>
        <a:xfrm>
          <a:off x="3207779" y="2186912"/>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A2C79F-E9DA-7747-88FE-4BE1B57D3E7B}">
      <dsp:nvSpPr>
        <dsp:cNvPr id="0" name=""/>
        <dsp:cNvSpPr/>
      </dsp:nvSpPr>
      <dsp:spPr>
        <a:xfrm>
          <a:off x="3469873" y="2435901"/>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Execute</a:t>
          </a:r>
          <a:endParaRPr lang="en-US" sz="1500" kern="1200" dirty="0"/>
        </a:p>
      </dsp:txBody>
      <dsp:txXfrm>
        <a:off x="3513744" y="2479772"/>
        <a:ext cx="2271101" cy="1410123"/>
      </dsp:txXfrm>
    </dsp:sp>
    <dsp:sp modelId="{2BAF6A3E-78B0-7949-A2B0-6895C6917D8B}">
      <dsp:nvSpPr>
        <dsp:cNvPr id="0" name=""/>
        <dsp:cNvSpPr/>
      </dsp:nvSpPr>
      <dsp:spPr>
        <a:xfrm>
          <a:off x="3207779" y="4370808"/>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AF7092A-AE27-DE44-9782-177693E2CA5C}">
      <dsp:nvSpPr>
        <dsp:cNvPr id="0" name=""/>
        <dsp:cNvSpPr/>
      </dsp:nvSpPr>
      <dsp:spPr>
        <a:xfrm>
          <a:off x="3469873" y="4619797"/>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Interpret the opcode and perform the indicated operation</a:t>
          </a:r>
          <a:endParaRPr lang="en-US" sz="1500" kern="1200" dirty="0"/>
        </a:p>
      </dsp:txBody>
      <dsp:txXfrm>
        <a:off x="3513744" y="4663668"/>
        <a:ext cx="2271101" cy="1410123"/>
      </dsp:txXfrm>
    </dsp:sp>
    <dsp:sp modelId="{C91E6CA4-2AF4-C547-9551-BEB59BE9CDA3}">
      <dsp:nvSpPr>
        <dsp:cNvPr id="0" name=""/>
        <dsp:cNvSpPr/>
      </dsp:nvSpPr>
      <dsp:spPr>
        <a:xfrm>
          <a:off x="6090810" y="2186912"/>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50E5B82-958A-1F4B-AE37-5BE92D52A0F0}">
      <dsp:nvSpPr>
        <dsp:cNvPr id="0" name=""/>
        <dsp:cNvSpPr/>
      </dsp:nvSpPr>
      <dsp:spPr>
        <a:xfrm>
          <a:off x="6352903" y="2435901"/>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Interrupt </a:t>
          </a:r>
          <a:endParaRPr lang="en-US" sz="1500" kern="1200" dirty="0"/>
        </a:p>
      </dsp:txBody>
      <dsp:txXfrm>
        <a:off x="6396774" y="2479772"/>
        <a:ext cx="2271101" cy="1410123"/>
      </dsp:txXfrm>
    </dsp:sp>
    <dsp:sp modelId="{421C3655-0911-9049-B8DE-E6E2B6DA48D6}">
      <dsp:nvSpPr>
        <dsp:cNvPr id="0" name=""/>
        <dsp:cNvSpPr/>
      </dsp:nvSpPr>
      <dsp:spPr>
        <a:xfrm>
          <a:off x="6090810" y="4370808"/>
          <a:ext cx="2358843" cy="14978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B4CAA32-B118-204E-8081-E3E47AD463CF}">
      <dsp:nvSpPr>
        <dsp:cNvPr id="0" name=""/>
        <dsp:cNvSpPr/>
      </dsp:nvSpPr>
      <dsp:spPr>
        <a:xfrm>
          <a:off x="6352903" y="4619797"/>
          <a:ext cx="2358843" cy="14978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If interrupts are enabled and an interrupt has occurred, save the current process state and service the interrupt</a:t>
          </a:r>
          <a:endParaRPr lang="en-US" sz="1500" kern="1200" dirty="0"/>
        </a:p>
      </dsp:txBody>
      <dsp:txXfrm>
        <a:off x="6396774" y="4663668"/>
        <a:ext cx="2271101" cy="14101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A5C5D-E876-A54A-A276-7916B59DDE7B}">
      <dsp:nvSpPr>
        <dsp:cNvPr id="0" name=""/>
        <dsp:cNvSpPr/>
      </dsp:nvSpPr>
      <dsp:spPr>
        <a:xfrm>
          <a:off x="0" y="4671800"/>
          <a:ext cx="8712968" cy="766447"/>
        </a:xfrm>
        <a:prstGeom prst="rect">
          <a:avLst/>
        </a:prstGeom>
        <a:solidFill>
          <a:schemeClr val="accent3">
            <a:hueOff val="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r>
            <a:rPr lang="en-GB" sz="1400" kern="1200" smtClean="0"/>
            <a:t>Write back</a:t>
          </a:r>
          <a:endParaRPr lang="en-GB" sz="1400" kern="1200"/>
        </a:p>
      </dsp:txBody>
      <dsp:txXfrm>
        <a:off x="0" y="4671800"/>
        <a:ext cx="8712968" cy="413881"/>
      </dsp:txXfrm>
    </dsp:sp>
    <dsp:sp modelId="{934F4480-EF98-2D4C-9B83-D15690809056}">
      <dsp:nvSpPr>
        <dsp:cNvPr id="0" name=""/>
        <dsp:cNvSpPr/>
      </dsp:nvSpPr>
      <dsp:spPr>
        <a:xfrm>
          <a:off x="0" y="5070353"/>
          <a:ext cx="8712968" cy="352565"/>
        </a:xfrm>
        <a:prstGeom prst="rect">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Updates registers and status flags modified during the preceding execute stage</a:t>
          </a:r>
          <a:endParaRPr lang="en-GB" sz="1100" kern="1200"/>
        </a:p>
      </dsp:txBody>
      <dsp:txXfrm>
        <a:off x="0" y="5070353"/>
        <a:ext cx="8712968" cy="352565"/>
      </dsp:txXfrm>
    </dsp:sp>
    <dsp:sp modelId="{076C065E-D8E3-AC43-9F26-8D74FDDEE281}">
      <dsp:nvSpPr>
        <dsp:cNvPr id="0" name=""/>
        <dsp:cNvSpPr/>
      </dsp:nvSpPr>
      <dsp:spPr>
        <a:xfrm rot="10800000">
          <a:off x="0" y="3504500"/>
          <a:ext cx="8712968" cy="1178796"/>
        </a:xfrm>
        <a:prstGeom prst="upArrowCallout">
          <a:avLst/>
        </a:prstGeom>
        <a:solidFill>
          <a:schemeClr val="accent3">
            <a:hueOff val="-270000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r>
            <a:rPr lang="en-GB" sz="1400" kern="1200" smtClean="0"/>
            <a:t>Execute</a:t>
          </a:r>
          <a:endParaRPr lang="en-GB" sz="1400" kern="1200"/>
        </a:p>
      </dsp:txBody>
      <dsp:txXfrm rot="-10800000">
        <a:off x="0" y="3504500"/>
        <a:ext cx="8712968" cy="413757"/>
      </dsp:txXfrm>
    </dsp:sp>
    <dsp:sp modelId="{8D380DDE-D8A1-CA46-A6EA-E26248B08CA0}">
      <dsp:nvSpPr>
        <dsp:cNvPr id="0" name=""/>
        <dsp:cNvSpPr/>
      </dsp:nvSpPr>
      <dsp:spPr>
        <a:xfrm>
          <a:off x="0" y="3918258"/>
          <a:ext cx="8712968" cy="352460"/>
        </a:xfrm>
        <a:prstGeom prst="rect">
          <a:avLst/>
        </a:prstGeom>
        <a:solidFill>
          <a:schemeClr val="accent3">
            <a:tint val="40000"/>
            <a:alpha val="90000"/>
            <a:hueOff val="-135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Stage includes ALU operations, cache access, and register update</a:t>
          </a:r>
          <a:endParaRPr lang="en-GB" sz="1100" kern="1200"/>
        </a:p>
      </dsp:txBody>
      <dsp:txXfrm>
        <a:off x="0" y="3918258"/>
        <a:ext cx="8712968" cy="352460"/>
      </dsp:txXfrm>
    </dsp:sp>
    <dsp:sp modelId="{1F270C8F-950D-4746-ADF7-6E5479824A59}">
      <dsp:nvSpPr>
        <dsp:cNvPr id="0" name=""/>
        <dsp:cNvSpPr/>
      </dsp:nvSpPr>
      <dsp:spPr>
        <a:xfrm rot="10800000">
          <a:off x="0" y="2337200"/>
          <a:ext cx="8712968" cy="1178796"/>
        </a:xfrm>
        <a:prstGeom prst="upArrowCallout">
          <a:avLst/>
        </a:prstGeom>
        <a:solidFill>
          <a:schemeClr val="accent3">
            <a:hueOff val="-540000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r>
            <a:rPr lang="en-GB" sz="1400" kern="1200" smtClean="0"/>
            <a:t>Decode stage 2</a:t>
          </a:r>
          <a:endParaRPr lang="en-GB" sz="1400" kern="1200"/>
        </a:p>
      </dsp:txBody>
      <dsp:txXfrm rot="-10800000">
        <a:off x="0" y="2337200"/>
        <a:ext cx="8712968" cy="413757"/>
      </dsp:txXfrm>
    </dsp:sp>
    <dsp:sp modelId="{D380F6F6-CF18-2345-A74F-FDE18796F575}">
      <dsp:nvSpPr>
        <dsp:cNvPr id="0" name=""/>
        <dsp:cNvSpPr/>
      </dsp:nvSpPr>
      <dsp:spPr>
        <a:xfrm>
          <a:off x="0" y="2750958"/>
          <a:ext cx="4356483" cy="352460"/>
        </a:xfrm>
        <a:prstGeom prst="rect">
          <a:avLst/>
        </a:prstGeom>
        <a:solidFill>
          <a:schemeClr val="accent3">
            <a:tint val="40000"/>
            <a:alpha val="90000"/>
            <a:hueOff val="-270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Expands each opcode into control signals for the ALU</a:t>
          </a:r>
          <a:endParaRPr lang="en-GB" sz="1100" kern="1200"/>
        </a:p>
      </dsp:txBody>
      <dsp:txXfrm>
        <a:off x="0" y="2750958"/>
        <a:ext cx="4356483" cy="352460"/>
      </dsp:txXfrm>
    </dsp:sp>
    <dsp:sp modelId="{E7F4D529-EE61-FA46-8C6C-3665849EB00A}">
      <dsp:nvSpPr>
        <dsp:cNvPr id="0" name=""/>
        <dsp:cNvSpPr/>
      </dsp:nvSpPr>
      <dsp:spPr>
        <a:xfrm>
          <a:off x="4356484" y="2750958"/>
          <a:ext cx="4356483" cy="352460"/>
        </a:xfrm>
        <a:prstGeom prst="rect">
          <a:avLst/>
        </a:prstGeom>
        <a:solidFill>
          <a:schemeClr val="accent3">
            <a:tint val="40000"/>
            <a:alpha val="90000"/>
            <a:hueOff val="-405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Also controls the computation of the more complex addressing modes</a:t>
          </a:r>
          <a:endParaRPr lang="en-GB" sz="1100" kern="1200"/>
        </a:p>
      </dsp:txBody>
      <dsp:txXfrm>
        <a:off x="4356484" y="2750958"/>
        <a:ext cx="4356483" cy="352460"/>
      </dsp:txXfrm>
    </dsp:sp>
    <dsp:sp modelId="{5B26307B-A624-C24C-ACCD-2DDF84EAA60B}">
      <dsp:nvSpPr>
        <dsp:cNvPr id="0" name=""/>
        <dsp:cNvSpPr/>
      </dsp:nvSpPr>
      <dsp:spPr>
        <a:xfrm rot="10800000">
          <a:off x="0" y="1169900"/>
          <a:ext cx="8712968" cy="1178796"/>
        </a:xfrm>
        <a:prstGeom prst="upArrowCallout">
          <a:avLst/>
        </a:prstGeom>
        <a:solidFill>
          <a:schemeClr val="accent3">
            <a:hueOff val="-810000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r>
            <a:rPr lang="en-GB" sz="1400" kern="1200" smtClean="0"/>
            <a:t>Decode stage 1</a:t>
          </a:r>
          <a:endParaRPr lang="en-GB" sz="1400" kern="1200"/>
        </a:p>
      </dsp:txBody>
      <dsp:txXfrm rot="-10800000">
        <a:off x="0" y="1169900"/>
        <a:ext cx="8712968" cy="413757"/>
      </dsp:txXfrm>
    </dsp:sp>
    <dsp:sp modelId="{86710D97-7381-7643-8E6C-7CD89531582C}">
      <dsp:nvSpPr>
        <dsp:cNvPr id="0" name=""/>
        <dsp:cNvSpPr/>
      </dsp:nvSpPr>
      <dsp:spPr>
        <a:xfrm>
          <a:off x="4254" y="1583658"/>
          <a:ext cx="2901486" cy="352460"/>
        </a:xfrm>
        <a:prstGeom prst="rect">
          <a:avLst/>
        </a:prstGeom>
        <a:solidFill>
          <a:schemeClr val="accent3">
            <a:tint val="40000"/>
            <a:alpha val="90000"/>
            <a:hueOff val="-540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All opcode and addressing-mode information is decoded in the D1 stage</a:t>
          </a:r>
          <a:endParaRPr lang="en-GB" sz="1100" kern="1200"/>
        </a:p>
      </dsp:txBody>
      <dsp:txXfrm>
        <a:off x="4254" y="1583658"/>
        <a:ext cx="2901486" cy="352460"/>
      </dsp:txXfrm>
    </dsp:sp>
    <dsp:sp modelId="{981DC774-DE51-BE4F-B703-2CC713DF2309}">
      <dsp:nvSpPr>
        <dsp:cNvPr id="0" name=""/>
        <dsp:cNvSpPr/>
      </dsp:nvSpPr>
      <dsp:spPr>
        <a:xfrm>
          <a:off x="2905740" y="1583658"/>
          <a:ext cx="2901486" cy="352460"/>
        </a:xfrm>
        <a:prstGeom prst="rect">
          <a:avLst/>
        </a:prstGeom>
        <a:solidFill>
          <a:schemeClr val="accent3">
            <a:tint val="40000"/>
            <a:alpha val="90000"/>
            <a:hueOff val="-675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3 bytes of instruction are passed to the D1 stage from the prefetch buffers</a:t>
          </a:r>
          <a:endParaRPr lang="en-GB" sz="1100" kern="1200"/>
        </a:p>
      </dsp:txBody>
      <dsp:txXfrm>
        <a:off x="2905740" y="1583658"/>
        <a:ext cx="2901486" cy="352460"/>
      </dsp:txXfrm>
    </dsp:sp>
    <dsp:sp modelId="{FC3D2DC0-4C36-2745-8697-9F32D22B9C2E}">
      <dsp:nvSpPr>
        <dsp:cNvPr id="0" name=""/>
        <dsp:cNvSpPr/>
      </dsp:nvSpPr>
      <dsp:spPr>
        <a:xfrm>
          <a:off x="5807227" y="1583658"/>
          <a:ext cx="2901486" cy="352460"/>
        </a:xfrm>
        <a:prstGeom prst="rect">
          <a:avLst/>
        </a:prstGeom>
        <a:solidFill>
          <a:schemeClr val="accent3">
            <a:tint val="40000"/>
            <a:alpha val="90000"/>
            <a:hueOff val="-810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D1 decoder can then direct the D2 stage to capture the rest of the instruction</a:t>
          </a:r>
          <a:endParaRPr lang="en-GB" sz="1100" kern="1200"/>
        </a:p>
      </dsp:txBody>
      <dsp:txXfrm>
        <a:off x="5807227" y="1583658"/>
        <a:ext cx="2901486" cy="352460"/>
      </dsp:txXfrm>
    </dsp:sp>
    <dsp:sp modelId="{EB857481-C7D6-2D4C-89EB-D1F54EFE4799}">
      <dsp:nvSpPr>
        <dsp:cNvPr id="0" name=""/>
        <dsp:cNvSpPr/>
      </dsp:nvSpPr>
      <dsp:spPr>
        <a:xfrm rot="10800000">
          <a:off x="0" y="2600"/>
          <a:ext cx="8712968" cy="1178796"/>
        </a:xfrm>
        <a:prstGeom prst="upArrowCallout">
          <a:avLst/>
        </a:prstGeom>
        <a:solidFill>
          <a:schemeClr val="accent3">
            <a:hueOff val="-1080000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rtl="0">
            <a:lnSpc>
              <a:spcPct val="90000"/>
            </a:lnSpc>
            <a:spcBef>
              <a:spcPct val="0"/>
            </a:spcBef>
            <a:spcAft>
              <a:spcPct val="35000"/>
            </a:spcAft>
          </a:pPr>
          <a:r>
            <a:rPr lang="en-GB" sz="1400" kern="1200" smtClean="0"/>
            <a:t>Fetch</a:t>
          </a:r>
          <a:endParaRPr lang="en-GB" sz="1400" kern="1200"/>
        </a:p>
      </dsp:txBody>
      <dsp:txXfrm rot="-10800000">
        <a:off x="0" y="2600"/>
        <a:ext cx="8712968" cy="413757"/>
      </dsp:txXfrm>
    </dsp:sp>
    <dsp:sp modelId="{23616CED-90C6-0049-B429-C173A89B11C4}">
      <dsp:nvSpPr>
        <dsp:cNvPr id="0" name=""/>
        <dsp:cNvSpPr/>
      </dsp:nvSpPr>
      <dsp:spPr>
        <a:xfrm>
          <a:off x="0" y="416358"/>
          <a:ext cx="4356483" cy="352460"/>
        </a:xfrm>
        <a:prstGeom prst="rect">
          <a:avLst/>
        </a:prstGeom>
        <a:solidFill>
          <a:schemeClr val="accent3">
            <a:tint val="40000"/>
            <a:alpha val="90000"/>
            <a:hueOff val="-945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Objective is to fill the prefetch buffers with new data as soon as the old data have been consumed by the instruction decoder</a:t>
          </a:r>
          <a:endParaRPr lang="en-GB" sz="1100" kern="1200"/>
        </a:p>
      </dsp:txBody>
      <dsp:txXfrm>
        <a:off x="0" y="416358"/>
        <a:ext cx="4356483" cy="352460"/>
      </dsp:txXfrm>
    </dsp:sp>
    <dsp:sp modelId="{1D9CA8F7-9FAF-B443-9050-42C2FD4F26E6}">
      <dsp:nvSpPr>
        <dsp:cNvPr id="0" name=""/>
        <dsp:cNvSpPr/>
      </dsp:nvSpPr>
      <dsp:spPr>
        <a:xfrm>
          <a:off x="4356484" y="416358"/>
          <a:ext cx="4356483" cy="352460"/>
        </a:xfrm>
        <a:prstGeom prst="rect">
          <a:avLst/>
        </a:prstGeom>
        <a:solidFill>
          <a:schemeClr val="accent3">
            <a:tint val="40000"/>
            <a:alpha val="90000"/>
            <a:hueOff val="-1080000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rtl="0">
            <a:lnSpc>
              <a:spcPct val="90000"/>
            </a:lnSpc>
            <a:spcBef>
              <a:spcPct val="0"/>
            </a:spcBef>
            <a:spcAft>
              <a:spcPct val="35000"/>
            </a:spcAft>
          </a:pPr>
          <a:r>
            <a:rPr lang="en-GB" sz="1100" kern="1200" smtClean="0"/>
            <a:t>Operates independently of the other stages to keep the prefetch buffers full</a:t>
          </a:r>
          <a:endParaRPr lang="en-GB" sz="1100" kern="1200"/>
        </a:p>
      </dsp:txBody>
      <dsp:txXfrm>
        <a:off x="4356484" y="416358"/>
        <a:ext cx="4356483" cy="35246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0867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87029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10/e, by William Stallings, Chapter 14 “Processor Structure and Function</a:t>
            </a:r>
            <a:r>
              <a:rPr lang="en-US" baseline="0" dirty="0" smtClean="0">
                <a:latin typeface="Times New Roman" pitchFamily="-110" charset="0"/>
              </a:rPr>
              <a:t> </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This chapter discusses aspects of the processor not yet covered in Part Three and sets the stage for the discussion of RISC and superscalar architecture in Chapters 15 and 16.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We begin with a summary of processor organization. Registers, which form the internal memory of the processor, are then analyzed. We are then in a position to return to the discussion (begun in Section 3.2) of the instruction cycle. A description of the instruction cycle and a common technique known as instruction pipelining complete our description. The chapter concludes with an examination of some aspects of the x86 and ARM organizations. </a:t>
            </a:r>
            <a:endParaRPr lang="en-US" dirty="0" smtClean="0"/>
          </a:p>
          <a:p>
            <a:endParaRPr lang="en-US" dirty="0"/>
          </a:p>
        </p:txBody>
      </p:sp>
      <p:sp>
        <p:nvSpPr>
          <p:cNvPr id="4" name="Slide Number Placeholder 3"/>
          <p:cNvSpPr>
            <a:spLocks noGrp="1"/>
          </p:cNvSpPr>
          <p:nvPr>
            <p:ph type="sldNum" sz="quarter" idx="10"/>
          </p:nvPr>
        </p:nvSpPr>
        <p:spPr>
          <a:xfrm>
            <a:off x="3886200" y="8686800"/>
            <a:ext cx="2971800" cy="457200"/>
          </a:xfrm>
          <a:prstGeom prst="rect">
            <a:avLst/>
          </a:prstGeom>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To understand the organization of the processor, let us consider the requirements placed on the processor, the things that it must do: </a:t>
            </a:r>
            <a:endParaRPr lang="en-US" dirty="0" smtClean="0"/>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Fetch instruction: The processor reads an instruction from memory (register, cache, main memory).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Interpret instruction: The </a:t>
            </a:r>
            <a:r>
              <a:rPr lang="en-US" sz="1200" kern="1200" dirty="0" smtClean="0">
                <a:solidFill>
                  <a:schemeClr val="tx1"/>
                </a:solidFill>
                <a:latin typeface="Times New Roman" pitchFamily="-1" charset="0"/>
                <a:ea typeface="+mn-ea"/>
                <a:cs typeface="+mn-cs"/>
              </a:rPr>
              <a:t>instruction is decoded to determine what action is required. </a:t>
            </a:r>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Fetch data: The execution of an instruction may require reading data from memory or an I/O module.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Process data: The execution of an instruction may require performing some arithmetic or logical operation on data.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Write data: The results of an execution may require writing data to memory or an I/O module.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To do these things, it should be clear that the processor needs to store some data temporarily. It must remember the location of the last instruction so that it can know where to get the next instruction. It needs to store instructions and data temporarily while an instruction is being executed. In other words, the processor needs a small internal memory. </a:t>
            </a:r>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14.1 is a simplified view of a processor, indicating its connection to the rest of the system via the system bus. A similar interface would be needed for any of the interconnection structures described in Chapter 3. The reader will recall that the major components of the processor are an </a:t>
            </a:r>
            <a:r>
              <a:rPr lang="en-US" sz="1200" i="1" kern="1200" dirty="0" smtClean="0">
                <a:solidFill>
                  <a:schemeClr val="tx1"/>
                </a:solidFill>
                <a:latin typeface="Times New Roman" pitchFamily="-1" charset="0"/>
                <a:ea typeface="+mn-ea"/>
                <a:cs typeface="+mn-cs"/>
              </a:rPr>
              <a:t>arithmetic and logic unit </a:t>
            </a:r>
            <a:r>
              <a:rPr lang="en-US" sz="1200" kern="1200" dirty="0" smtClean="0">
                <a:solidFill>
                  <a:schemeClr val="tx1"/>
                </a:solidFill>
                <a:latin typeface="Times New Roman" pitchFamily="-1" charset="0"/>
                <a:ea typeface="+mn-ea"/>
                <a:cs typeface="+mn-cs"/>
              </a:rPr>
              <a:t>(ALU) and a </a:t>
            </a:r>
            <a:r>
              <a:rPr lang="en-US" sz="1200" i="1" kern="1200" dirty="0" smtClean="0">
                <a:solidFill>
                  <a:schemeClr val="tx1"/>
                </a:solidFill>
                <a:latin typeface="Times New Roman" pitchFamily="-1" charset="0"/>
                <a:ea typeface="+mn-ea"/>
                <a:cs typeface="+mn-cs"/>
              </a:rPr>
              <a:t>control unit </a:t>
            </a:r>
            <a:r>
              <a:rPr lang="en-US" sz="1200" kern="1200" dirty="0" smtClean="0">
                <a:solidFill>
                  <a:schemeClr val="tx1"/>
                </a:solidFill>
                <a:latin typeface="Times New Roman" pitchFamily="-1" charset="0"/>
                <a:ea typeface="+mn-ea"/>
                <a:cs typeface="+mn-cs"/>
              </a:rPr>
              <a:t>(CU). The ALU does the actual computation or processing of data. The control unit controls the movement of data and instructions into and out of the processor and controls the operation of the ALU. In addition, the figure shows a minimal internal memory, consisting of a set of storage locations, called </a:t>
            </a:r>
            <a:r>
              <a:rPr lang="en-US" sz="1200" i="1" kern="1200" dirty="0" smtClean="0">
                <a:solidFill>
                  <a:schemeClr val="tx1"/>
                </a:solidFill>
                <a:latin typeface="Times New Roman" pitchFamily="-1" charset="0"/>
                <a:ea typeface="+mn-ea"/>
                <a:cs typeface="+mn-cs"/>
              </a:rPr>
              <a:t>registers. </a:t>
            </a:r>
            <a:endParaRPr lang="en-US" dirty="0" smtClean="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14.2 is a slightly more detailed view of the processor. The data transfer and logic control paths are indicated, including an element labeled </a:t>
            </a:r>
            <a:r>
              <a:rPr lang="en-US" sz="1200" i="1" kern="1200" dirty="0" smtClean="0">
                <a:solidFill>
                  <a:schemeClr val="tx1"/>
                </a:solidFill>
                <a:latin typeface="Times New Roman" pitchFamily="-1" charset="0"/>
                <a:ea typeface="+mn-ea"/>
                <a:cs typeface="+mn-cs"/>
              </a:rPr>
              <a:t>internal  processor bus. </a:t>
            </a:r>
            <a:r>
              <a:rPr lang="en-US" sz="1200" kern="1200" dirty="0" smtClean="0">
                <a:solidFill>
                  <a:schemeClr val="tx1"/>
                </a:solidFill>
                <a:latin typeface="Times New Roman" pitchFamily="-1" charset="0"/>
                <a:ea typeface="+mn-ea"/>
                <a:cs typeface="+mn-cs"/>
              </a:rPr>
              <a:t>This element is needed to transfer data between the various registers and the ALU because the ALU in fact operates only on data in the internal processor memory. The figure also shows typical basic elements of the ALU. Note the similarity between the internal structure of the computer as a whole and the internal structure of the processor. In both cases, there is a small collection of major elements (computer: processor, I/O, memory; processor: control unit, ALU, registers) connected by data paths. </a:t>
            </a:r>
            <a:endParaRPr lang="en-US" dirty="0" smtClean="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23</a:t>
            </a:r>
          </a:p>
        </p:txBody>
      </p:sp>
      <p:sp>
        <p:nvSpPr>
          <p:cNvPr id="501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2" name="Rectangle 6"/>
          <p:cNvSpPr>
            <a:spLocks noGrp="1" noRot="1" noChangeAspect="1" noChangeArrowheads="1" noTextEdit="1"/>
          </p:cNvSpPr>
          <p:nvPr>
            <p:ph type="sldImg"/>
          </p:nvPr>
        </p:nvSpPr>
        <p:spPr>
          <a:xfrm>
            <a:off x="1150938" y="692150"/>
            <a:ext cx="4556125" cy="3416300"/>
          </a:xfrm>
          <a:ln cap="flat"/>
        </p:spPr>
      </p:sp>
      <p:sp>
        <p:nvSpPr>
          <p:cNvPr id="50183"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As we discussed in Chapter 4, a computer system employs a memory hierarchy. At higher levels of the hierarchy, memory is faster, smaller, and more expensive (per bit). Within the processor, there is a set of registers that function as a level of memory above main memory and cache in the hierarchy. The registers in the processor perform two roles: </a:t>
            </a:r>
            <a:endParaRPr lang="en-US" dirty="0" smtClean="0"/>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User-visible registers: Enable the machine- or assembly language programmer to minimize main memory references by optimizing use of registers.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Control and status registers: </a:t>
            </a:r>
            <a:r>
              <a:rPr lang="en-US" sz="1200" kern="1200" dirty="0" smtClean="0">
                <a:solidFill>
                  <a:schemeClr val="tx1"/>
                </a:solidFill>
                <a:latin typeface="Times New Roman" pitchFamily="-1" charset="0"/>
                <a:ea typeface="+mn-ea"/>
                <a:cs typeface="+mn-cs"/>
              </a:rPr>
              <a:t>Used by the control unit to control the operation of the processor and by privileged, operating system programs to control the execution of programs.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There is not a clean separation of registers into these two categories. For example, on some machines the program counter is user visible (e.g., x86), but on many it is not. For purposes of the following discussion, however, we will use these categories. </a:t>
            </a:r>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24</a:t>
            </a:r>
          </a:p>
        </p:txBody>
      </p:sp>
      <p:sp>
        <p:nvSpPr>
          <p:cNvPr id="522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30" name="Rectangle 6"/>
          <p:cNvSpPr>
            <a:spLocks noGrp="1" noRot="1" noChangeAspect="1" noChangeArrowheads="1" noTextEdit="1"/>
          </p:cNvSpPr>
          <p:nvPr>
            <p:ph type="sldImg"/>
          </p:nvPr>
        </p:nvSpPr>
        <p:spPr>
          <a:xfrm>
            <a:off x="1150938" y="692150"/>
            <a:ext cx="4556125" cy="3416300"/>
          </a:xfrm>
          <a:ln cap="flat"/>
        </p:spPr>
      </p:sp>
      <p:sp>
        <p:nvSpPr>
          <p:cNvPr id="52231"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A user-visible register is one that may be referenced by means of the machine language that the processor executes. We can characterize these in the following categories: </a:t>
            </a:r>
            <a:endParaRPr lang="en-US" dirty="0" smtClean="0"/>
          </a:p>
          <a:p>
            <a:pPr lvl="1"/>
            <a:endParaRPr lang="en-US" sz="1200" kern="1200" dirty="0" smtClean="0">
              <a:solidFill>
                <a:schemeClr val="tx1"/>
              </a:solidFill>
              <a:latin typeface="Times New Roman" pitchFamily="-1" charset="0"/>
              <a:ea typeface="ＭＳ Ｐゴシック" pitchFamily="-1" charset="-128"/>
              <a:cs typeface="+mn-cs"/>
            </a:endParaRPr>
          </a:p>
          <a:p>
            <a:pPr lvl="1"/>
            <a:r>
              <a:rPr lang="en-US" sz="1200" kern="1200" dirty="0" smtClean="0">
                <a:solidFill>
                  <a:schemeClr val="tx1"/>
                </a:solidFill>
                <a:latin typeface="Times New Roman" pitchFamily="-1" charset="0"/>
                <a:ea typeface="ＭＳ Ｐゴシック" pitchFamily="-1" charset="-128"/>
                <a:cs typeface="+mn-cs"/>
              </a:rPr>
              <a:t>General purpose </a:t>
            </a:r>
          </a:p>
          <a:p>
            <a:pPr lvl="1"/>
            <a:r>
              <a:rPr lang="en-US" sz="1200" kern="1200" dirty="0" smtClean="0">
                <a:solidFill>
                  <a:schemeClr val="tx1"/>
                </a:solidFill>
                <a:latin typeface="Times New Roman" pitchFamily="-1" charset="0"/>
                <a:ea typeface="ＭＳ Ｐゴシック" pitchFamily="-1" charset="-128"/>
                <a:cs typeface="+mn-cs"/>
              </a:rPr>
              <a:t>Data </a:t>
            </a:r>
          </a:p>
          <a:p>
            <a:pPr lvl="1"/>
            <a:r>
              <a:rPr lang="en-US" sz="1200" kern="1200" dirty="0" smtClean="0">
                <a:solidFill>
                  <a:schemeClr val="tx1"/>
                </a:solidFill>
                <a:latin typeface="Times New Roman" pitchFamily="-1" charset="0"/>
                <a:ea typeface="ＭＳ Ｐゴシック" pitchFamily="-1" charset="-128"/>
                <a:cs typeface="+mn-cs"/>
              </a:rPr>
              <a:t>Address </a:t>
            </a:r>
          </a:p>
          <a:p>
            <a:pPr lvl="1"/>
            <a:r>
              <a:rPr lang="en-US" sz="1200" kern="1200" dirty="0" smtClean="0">
                <a:solidFill>
                  <a:schemeClr val="tx1"/>
                </a:solidFill>
                <a:latin typeface="Times New Roman" pitchFamily="-1" charset="0"/>
                <a:ea typeface="ＭＳ Ｐゴシック" pitchFamily="-1" charset="-128"/>
                <a:cs typeface="+mn-cs"/>
              </a:rPr>
              <a:t>Condition codes </a:t>
            </a:r>
          </a:p>
          <a:p>
            <a:pPr lvl="1"/>
            <a:endParaRPr lang="en-US" sz="1200" b="1" kern="1200" dirty="0" smtClean="0">
              <a:solidFill>
                <a:schemeClr val="tx1"/>
              </a:solidFill>
              <a:latin typeface="Times New Roman" pitchFamily="-1" charset="0"/>
              <a:ea typeface="ＭＳ Ｐゴシック" pitchFamily="-1" charset="-128"/>
              <a:cs typeface="+mn-cs"/>
            </a:endParaRPr>
          </a:p>
          <a:p>
            <a:pPr lvl="1"/>
            <a:r>
              <a:rPr lang="en-US" sz="1200" b="1" kern="1200" dirty="0" smtClean="0">
                <a:solidFill>
                  <a:schemeClr val="tx1"/>
                </a:solidFill>
                <a:latin typeface="Times New Roman" pitchFamily="-1" charset="0"/>
                <a:ea typeface="ＭＳ Ｐゴシック" pitchFamily="-1" charset="-128"/>
                <a:cs typeface="+mn-cs"/>
              </a:rPr>
              <a:t>General-purpose registers </a:t>
            </a:r>
            <a:r>
              <a:rPr lang="en-US" sz="1200" kern="1200" dirty="0" smtClean="0">
                <a:solidFill>
                  <a:schemeClr val="tx1"/>
                </a:solidFill>
                <a:latin typeface="Times New Roman" pitchFamily="-1" charset="0"/>
                <a:ea typeface="ＭＳ Ｐゴシック" pitchFamily="-1" charset="-128"/>
                <a:cs typeface="+mn-cs"/>
              </a:rPr>
              <a:t>can be assigned to a variety of functions by the programmer. Sometimes their use within the instruction set is orthogonal to the operation. That is, any general-purpose register can contain the operand for any opcode. This provides true general-purpose register use. Often, however, there are restrictions. For example, there may be dedicated registers for floating-point and stack operations. </a:t>
            </a:r>
          </a:p>
          <a:p>
            <a:pPr lvl="1"/>
            <a:endParaRPr lang="en-US" sz="1200" kern="1200" dirty="0" smtClean="0">
              <a:solidFill>
                <a:schemeClr val="tx1"/>
              </a:solidFill>
              <a:latin typeface="Times New Roman" pitchFamily="-1" charset="0"/>
              <a:ea typeface="ＭＳ Ｐゴシック" pitchFamily="-1" charset="-128"/>
              <a:cs typeface="+mn-cs"/>
            </a:endParaRP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ＭＳ Ｐゴシック" pitchFamily="-1" charset="-128"/>
                <a:cs typeface="+mn-cs"/>
              </a:rPr>
              <a:t>In some cases, general-purpose registers can be used for addressing functions (e.g., register indirect, displacement). In other cases, there is a partial or clean separation between data registers and address registers. </a:t>
            </a:r>
            <a:r>
              <a:rPr lang="en-US" sz="1200" b="1" kern="1200" dirty="0" smtClean="0">
                <a:solidFill>
                  <a:schemeClr val="tx1"/>
                </a:solidFill>
                <a:latin typeface="Times New Roman" pitchFamily="-1" charset="0"/>
                <a:ea typeface="ＭＳ Ｐゴシック" pitchFamily="-1" charset="-128"/>
                <a:cs typeface="+mn-cs"/>
              </a:rPr>
              <a:t>Data registers </a:t>
            </a:r>
            <a:r>
              <a:rPr lang="en-US" sz="1200" kern="1200" dirty="0" smtClean="0">
                <a:solidFill>
                  <a:schemeClr val="tx1"/>
                </a:solidFill>
                <a:latin typeface="Times New Roman" pitchFamily="-1" charset="0"/>
                <a:ea typeface="ＭＳ Ｐゴシック" pitchFamily="-1" charset="-128"/>
                <a:cs typeface="+mn-cs"/>
              </a:rPr>
              <a:t>may be used only to hold data and cannot be employed in the calculation of an operand address. </a:t>
            </a:r>
          </a:p>
          <a:p>
            <a:pPr lvl="1"/>
            <a:endParaRPr lang="en-US" sz="1200" kern="1200" dirty="0" smtClean="0">
              <a:solidFill>
                <a:schemeClr val="tx1"/>
              </a:solidFill>
              <a:latin typeface="Times New Roman" pitchFamily="-1" charset="0"/>
              <a:ea typeface="ＭＳ Ｐゴシック" pitchFamily="-1" charset="-128"/>
              <a:cs typeface="+mn-cs"/>
            </a:endParaRPr>
          </a:p>
          <a:p>
            <a:r>
              <a:rPr lang="en-US" sz="1200" b="1" kern="1200" dirty="0" smtClean="0">
                <a:solidFill>
                  <a:schemeClr val="tx1"/>
                </a:solidFill>
                <a:latin typeface="Times New Roman" pitchFamily="-1" charset="0"/>
                <a:ea typeface="+mn-ea"/>
                <a:cs typeface="+mn-cs"/>
              </a:rPr>
              <a:t>Address registers </a:t>
            </a:r>
            <a:r>
              <a:rPr lang="en-US" sz="1200" kern="1200" dirty="0" smtClean="0">
                <a:solidFill>
                  <a:schemeClr val="tx1"/>
                </a:solidFill>
                <a:latin typeface="Times New Roman" pitchFamily="-1" charset="0"/>
                <a:ea typeface="+mn-ea"/>
                <a:cs typeface="+mn-cs"/>
              </a:rPr>
              <a:t>may themselves be somewhat general purpose, or they may be </a:t>
            </a:r>
            <a:endParaRPr lang="en-US" dirty="0" smtClean="0"/>
          </a:p>
          <a:p>
            <a:r>
              <a:rPr lang="en-US" sz="1200" kern="1200" dirty="0" smtClean="0">
                <a:solidFill>
                  <a:schemeClr val="tx1"/>
                </a:solidFill>
                <a:latin typeface="Times New Roman" pitchFamily="-1" charset="0"/>
                <a:ea typeface="+mn-ea"/>
                <a:cs typeface="+mn-cs"/>
              </a:rPr>
              <a:t>devoted to a particular addressing mode. Examples include the following: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Segment pointers: </a:t>
            </a:r>
            <a:r>
              <a:rPr lang="en-US" sz="1200" kern="1200" dirty="0" smtClean="0">
                <a:solidFill>
                  <a:schemeClr val="tx1"/>
                </a:solidFill>
                <a:latin typeface="Times New Roman" pitchFamily="-1" charset="0"/>
                <a:ea typeface="+mn-ea"/>
                <a:cs typeface="+mn-cs"/>
              </a:rPr>
              <a:t>In a machine with segmented addressing (see Section 8.3), a segment register holds the address of the base of the segment. There may be multiple registers: for example, one for the operating system and one for the current process.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Index registers: </a:t>
            </a:r>
            <a:r>
              <a:rPr lang="en-US" sz="1200" kern="1200" dirty="0" smtClean="0">
                <a:solidFill>
                  <a:schemeClr val="tx1"/>
                </a:solidFill>
                <a:latin typeface="Times New Roman" pitchFamily="-1" charset="0"/>
                <a:ea typeface="+mn-ea"/>
                <a:cs typeface="+mn-cs"/>
              </a:rPr>
              <a:t>These are used for indexed addressing and may be autoindexed.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Stack pointer: </a:t>
            </a:r>
            <a:r>
              <a:rPr lang="en-US" sz="1200" kern="1200" dirty="0" smtClean="0">
                <a:solidFill>
                  <a:schemeClr val="tx1"/>
                </a:solidFill>
                <a:latin typeface="Times New Roman" pitchFamily="-1" charset="0"/>
                <a:ea typeface="+mn-ea"/>
                <a:cs typeface="+mn-cs"/>
              </a:rPr>
              <a:t>If there is user-visible stack addressing, then typically there is a dedicated register that points to the top of the stack. This allows implicit ad- dressing; that is, push, pop, and other stack instructions need not contain an explicit stack operand. </a:t>
            </a:r>
          </a:p>
          <a:p>
            <a:pPr lvl="1"/>
            <a:endParaRPr lang="en-US" sz="1200" b="1" kern="1200" dirty="0" smtClean="0">
              <a:solidFill>
                <a:schemeClr val="tx1"/>
              </a:solidFill>
              <a:latin typeface="Times New Roman" pitchFamily="-1" charset="0"/>
              <a:ea typeface="ＭＳ Ｐゴシック" pitchFamily="-1" charset="-128"/>
              <a:cs typeface="+mn-cs"/>
            </a:endParaRPr>
          </a:p>
          <a:p>
            <a:r>
              <a:rPr lang="en-US" sz="1200" kern="1200" dirty="0" smtClean="0">
                <a:solidFill>
                  <a:schemeClr val="tx1"/>
                </a:solidFill>
                <a:latin typeface="Times New Roman" pitchFamily="-1" charset="0"/>
                <a:ea typeface="+mn-ea"/>
                <a:cs typeface="+mn-cs"/>
              </a:rPr>
              <a:t>There are several design issues to be addressed here. An important issue is whether to use completely general-purpose registers or to specialize their use. We have already touched on this issue in the preceding chapter because it affects instruction set design. With the use of specialized registers, it can generally be implicit in the opcode which type of register a certain operand specifier refers to. The operand specifier must only identify one of a set of specialized registers rather than one out of all the registers, thus saving bits. On the other hand, this specialization limits the programmer’s flexibility.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Another design issue is the number of registers, either general purpose or data plus address, to be provided. Again, this affects instruction set design because more registers require more operand specifier bits. As we previously discussed, somewhere between 8 and 32 registers appears optimum [LUND77]. Fewer registers result in more memory references; more registers do not noticeably reduce memory references (e.g., see [WILL90]). However, a new approach, which finds advantage in the use of hundreds of registers, is exhibited in some RISC systems and is discussed in Chapter 15.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Finally, there is the issue of register length. Registers that must hold addresses obviously must be at least long enough to hold the largest address. Data registers should be able to hold values of most data types. Some machines allow two contiguous registers to be used as one for holding double-length values.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final category of registers, which is at least partially visible to the user, holds </a:t>
            </a:r>
            <a:r>
              <a:rPr lang="en-US" sz="1200" b="1" kern="1200" dirty="0" smtClean="0">
                <a:solidFill>
                  <a:schemeClr val="tx1"/>
                </a:solidFill>
                <a:latin typeface="Times New Roman" pitchFamily="-1" charset="0"/>
                <a:ea typeface="+mn-ea"/>
                <a:cs typeface="+mn-cs"/>
              </a:rPr>
              <a:t>condition codes </a:t>
            </a:r>
            <a:r>
              <a:rPr lang="en-US" sz="1200" kern="1200" dirty="0" smtClean="0">
                <a:solidFill>
                  <a:schemeClr val="tx1"/>
                </a:solidFill>
                <a:latin typeface="Times New Roman" pitchFamily="-1" charset="0"/>
                <a:ea typeface="+mn-ea"/>
                <a:cs typeface="+mn-cs"/>
              </a:rPr>
              <a:t>(also referred to as </a:t>
            </a:r>
            <a:r>
              <a:rPr lang="en-US" sz="1200" i="1" kern="1200" dirty="0" smtClean="0">
                <a:solidFill>
                  <a:schemeClr val="tx1"/>
                </a:solidFill>
                <a:latin typeface="Times New Roman" pitchFamily="-1" charset="0"/>
                <a:ea typeface="+mn-ea"/>
                <a:cs typeface="+mn-cs"/>
              </a:rPr>
              <a:t>flags). </a:t>
            </a:r>
            <a:r>
              <a:rPr lang="en-US" sz="1200" kern="1200" dirty="0" smtClean="0">
                <a:solidFill>
                  <a:schemeClr val="tx1"/>
                </a:solidFill>
                <a:latin typeface="Times New Roman" pitchFamily="-1" charset="0"/>
                <a:ea typeface="+mn-ea"/>
                <a:cs typeface="+mn-cs"/>
              </a:rPr>
              <a:t>Condition codes are bits set by the processor hardware as the result of operations. For example, an arithmetic operation may produce a positive, negative, zero, or overflow result. In addition to the result itself being stored in a register or memory, a condition code is also set. The code may subsequently be tested as part of a conditional branch operation.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Condition code bits are collected into one or more registers. Usually, they form part of a control register. Generally, machine instructions allow these bits to be read by implicit reference, but the programmer cannot alter them. </a:t>
            </a:r>
            <a:endParaRPr lang="en-US" dirty="0" smtClean="0"/>
          </a:p>
          <a:p>
            <a:endParaRPr lang="en-US" dirty="0" smtClean="0"/>
          </a:p>
          <a:p>
            <a:pPr lvl="1"/>
            <a:endParaRPr lang="en-US" sz="1200" b="1" kern="1200" dirty="0" smtClean="0">
              <a:solidFill>
                <a:schemeClr val="tx1"/>
              </a:solidFill>
              <a:latin typeface="Times New Roman" pitchFamily="-1" charset="0"/>
              <a:ea typeface="ＭＳ Ｐゴシック" pitchFamily="-1" charset="-128"/>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27</a:t>
            </a:r>
          </a:p>
        </p:txBody>
      </p:sp>
      <p:sp>
        <p:nvSpPr>
          <p:cNvPr id="583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4" name="Rectangle 6"/>
          <p:cNvSpPr>
            <a:spLocks noGrp="1" noRot="1" noChangeAspect="1" noChangeArrowheads="1" noTextEdit="1"/>
          </p:cNvSpPr>
          <p:nvPr>
            <p:ph type="sldImg"/>
          </p:nvPr>
        </p:nvSpPr>
        <p:spPr>
          <a:xfrm>
            <a:off x="1150938" y="692150"/>
            <a:ext cx="4556125" cy="3416300"/>
          </a:xfrm>
          <a:ln cap="flat"/>
        </p:spPr>
      </p:sp>
      <p:sp>
        <p:nvSpPr>
          <p:cNvPr id="5837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Many processors, including those based on the IA-64 architecture and the MIPS processors, do not use condition codes at all. Rather, conditional branch instructions specify a comparison to be made and act on the result of the comparison, without storing a condition code. Table 14.1, based on [DERO87], lists key advantages and disadvantages of condition codes.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In some machines, a subroutine call will result in the automatic saving of all user-visible registers, to be restored on return. The processor performs the saving and restoring as part of the execution of call and return instructions. This allows each subroutine to use the user-visible registers independently. On other machines, it is the responsibility of the programmer to save the contents of the relevant user- visible registers prior to a subroutine call, by including instructions for this purpose in the program. </a:t>
            </a:r>
            <a:endParaRPr lang="en-US" dirty="0" smtClean="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30</a:t>
            </a:r>
          </a:p>
        </p:txBody>
      </p:sp>
      <p:sp>
        <p:nvSpPr>
          <p:cNvPr id="645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8" name="Rectangle 6"/>
          <p:cNvSpPr>
            <a:spLocks noGrp="1" noRot="1" noChangeAspect="1" noChangeArrowheads="1" noTextEdit="1"/>
          </p:cNvSpPr>
          <p:nvPr>
            <p:ph type="sldImg"/>
          </p:nvPr>
        </p:nvSpPr>
        <p:spPr>
          <a:xfrm>
            <a:off x="1150938" y="692150"/>
            <a:ext cx="4556125" cy="3416300"/>
          </a:xfrm>
          <a:ln cap="flat"/>
        </p:spPr>
      </p:sp>
      <p:sp>
        <p:nvSpPr>
          <p:cNvPr id="64519"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There are a variety of processor registers that are employed to control the operation of the processor. Most of these, on most machines, are not visible to the user. Some of them may be visible to machine instructions executed in a control or operating system mode.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Of course, different machines will have different register organizations and use different terminology. We list here a reasonably complete list of register types, with a brief description.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Four registers are essential to instruction execution: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Program counter (PC): </a:t>
            </a:r>
            <a:r>
              <a:rPr lang="en-US" sz="1200" kern="1200" dirty="0" smtClean="0">
                <a:solidFill>
                  <a:schemeClr val="tx1"/>
                </a:solidFill>
                <a:latin typeface="Times New Roman" pitchFamily="-1" charset="0"/>
                <a:ea typeface="+mn-ea"/>
                <a:cs typeface="+mn-cs"/>
              </a:rPr>
              <a:t>Contains the address of an instruction to be fetched.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Instruction register (IR): </a:t>
            </a:r>
            <a:r>
              <a:rPr lang="en-US" sz="1200" kern="1200" dirty="0" smtClean="0">
                <a:solidFill>
                  <a:schemeClr val="tx1"/>
                </a:solidFill>
                <a:latin typeface="Times New Roman" pitchFamily="-1" charset="0"/>
                <a:ea typeface="+mn-ea"/>
                <a:cs typeface="+mn-cs"/>
              </a:rPr>
              <a:t>Contains the instruction most recently fetched.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Memory address register (MAR): </a:t>
            </a:r>
            <a:r>
              <a:rPr lang="en-US" sz="1200" kern="1200" dirty="0" smtClean="0">
                <a:solidFill>
                  <a:schemeClr val="tx1"/>
                </a:solidFill>
                <a:latin typeface="Times New Roman" pitchFamily="-1" charset="0"/>
                <a:ea typeface="+mn-ea"/>
                <a:cs typeface="+mn-cs"/>
              </a:rPr>
              <a:t>Contains the address of a location in memory.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Memory buffer register (MBR): </a:t>
            </a:r>
            <a:r>
              <a:rPr lang="en-US" sz="1200" kern="1200" dirty="0" smtClean="0">
                <a:solidFill>
                  <a:schemeClr val="tx1"/>
                </a:solidFill>
                <a:latin typeface="Times New Roman" pitchFamily="-1" charset="0"/>
                <a:ea typeface="+mn-ea"/>
                <a:cs typeface="+mn-cs"/>
              </a:rPr>
              <a:t>Contains a word of data to be written to memory or the word most recently read.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Not all processors have internal registers designated as MAR and MBR, but some equivalent buffering mechanism is needed whereby the bits to be transferred to the system bus are staged and the bits to be read from the data bus are temporarily stored.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Typically, the processor updates the PC after each instruction fetch so that the PC always points to the next instruction to be executed. A branch or skip instruction will also modify the contents of the PC. The fetched instruction is loaded into an IR, where the opcode and operand specifiers are analyzed. Data are exchanged with memory using the MAR and MBR. In a bus- organized system, the MAR connects directly to the address bus, and the MBR connects directly to the data bus. User-visible registers, in turn, exchange data with the MBR.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four registers just mentioned are used for the movement of data between the processor and memory. Within the processor, data must be presented to the ALU for processing. The ALU may have direct access to the MBR and user-visible registers. Alternatively, there may be additional buffering registers at the boundary to the ALU; these registers serve as input and output registers for the ALU and exchange data with the MBR and user-visible registers. </a:t>
            </a:r>
            <a:endParaRPr lang="en-US" dirty="0" smtClean="0"/>
          </a:p>
          <a:p>
            <a:endParaRPr lang="en-US" sz="1200" kern="1200" dirty="0" smtClean="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31</a:t>
            </a:r>
          </a:p>
        </p:txBody>
      </p:sp>
      <p:sp>
        <p:nvSpPr>
          <p:cNvPr id="665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6566" name="Rectangle 6"/>
          <p:cNvSpPr>
            <a:spLocks noGrp="1" noRot="1" noChangeAspect="1" noChangeArrowheads="1" noTextEdit="1"/>
          </p:cNvSpPr>
          <p:nvPr>
            <p:ph type="sldImg"/>
          </p:nvPr>
        </p:nvSpPr>
        <p:spPr>
          <a:xfrm>
            <a:off x="1150938" y="692150"/>
            <a:ext cx="4556125" cy="3416300"/>
          </a:xfrm>
          <a:ln cap="flat"/>
        </p:spPr>
      </p:sp>
      <p:sp>
        <p:nvSpPr>
          <p:cNvPr id="66567"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Many processor designs include a register or set of registers, often known as the </a:t>
            </a:r>
            <a:r>
              <a:rPr lang="en-US" sz="1200" i="1" kern="1200" dirty="0" smtClean="0">
                <a:solidFill>
                  <a:schemeClr val="tx1"/>
                </a:solidFill>
                <a:latin typeface="Times New Roman" pitchFamily="-1" charset="0"/>
                <a:ea typeface="+mn-ea"/>
                <a:cs typeface="+mn-cs"/>
              </a:rPr>
              <a:t>program status word </a:t>
            </a:r>
            <a:r>
              <a:rPr lang="en-US" sz="1200" kern="1200" dirty="0" smtClean="0">
                <a:solidFill>
                  <a:schemeClr val="tx1"/>
                </a:solidFill>
                <a:latin typeface="Times New Roman" pitchFamily="-1" charset="0"/>
                <a:ea typeface="+mn-ea"/>
                <a:cs typeface="+mn-cs"/>
              </a:rPr>
              <a:t>(PSW), that contain status information. The PSW typically contains condition codes plus other status information. Common fields or flags include the following: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Sign: </a:t>
            </a:r>
            <a:r>
              <a:rPr lang="en-US" sz="1200" kern="1200" dirty="0" smtClean="0">
                <a:solidFill>
                  <a:schemeClr val="tx1"/>
                </a:solidFill>
                <a:latin typeface="Times New Roman" pitchFamily="-1" charset="0"/>
                <a:ea typeface="+mn-ea"/>
                <a:cs typeface="+mn-cs"/>
              </a:rPr>
              <a:t>Contains the sign bit of the result of the last arithmetic operation.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Zero: </a:t>
            </a:r>
            <a:r>
              <a:rPr lang="en-US" sz="1200" kern="1200" dirty="0" smtClean="0">
                <a:solidFill>
                  <a:schemeClr val="tx1"/>
                </a:solidFill>
                <a:latin typeface="Times New Roman" pitchFamily="-1" charset="0"/>
                <a:ea typeface="+mn-ea"/>
                <a:cs typeface="+mn-cs"/>
              </a:rPr>
              <a:t>Set when the result is 0.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Carry: </a:t>
            </a:r>
            <a:r>
              <a:rPr lang="en-US" sz="1200" kern="1200" dirty="0" smtClean="0">
                <a:solidFill>
                  <a:schemeClr val="tx1"/>
                </a:solidFill>
                <a:latin typeface="Times New Roman" pitchFamily="-1" charset="0"/>
                <a:ea typeface="+mn-ea"/>
                <a:cs typeface="+mn-cs"/>
              </a:rPr>
              <a:t>Set if an operation resulted in a carry (addition) into or borrow (sub- traction) out of a high-order bit. Used for multiword arithmetic operations.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Equal: </a:t>
            </a:r>
            <a:r>
              <a:rPr lang="en-US" sz="1200" kern="1200" dirty="0" smtClean="0">
                <a:solidFill>
                  <a:schemeClr val="tx1"/>
                </a:solidFill>
                <a:latin typeface="Times New Roman" pitchFamily="-1" charset="0"/>
                <a:ea typeface="+mn-ea"/>
                <a:cs typeface="+mn-cs"/>
              </a:rPr>
              <a:t>Set if a logical compare result is equality.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Overflow: </a:t>
            </a:r>
            <a:r>
              <a:rPr lang="en-US" sz="1200" kern="1200" dirty="0" smtClean="0">
                <a:solidFill>
                  <a:schemeClr val="tx1"/>
                </a:solidFill>
                <a:latin typeface="Times New Roman" pitchFamily="-1" charset="0"/>
                <a:ea typeface="+mn-ea"/>
                <a:cs typeface="+mn-cs"/>
              </a:rPr>
              <a:t>Used to indicate arithmetic overflow.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Interrupt Enable/Disable: </a:t>
            </a:r>
            <a:r>
              <a:rPr lang="en-US" sz="1200" kern="1200" dirty="0" smtClean="0">
                <a:solidFill>
                  <a:schemeClr val="tx1"/>
                </a:solidFill>
                <a:latin typeface="Times New Roman" pitchFamily="-1" charset="0"/>
                <a:ea typeface="+mn-ea"/>
                <a:cs typeface="+mn-cs"/>
              </a:rPr>
              <a:t>Used to enable or disable interrupts.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Supervisor: </a:t>
            </a:r>
            <a:r>
              <a:rPr lang="en-US" sz="1200" kern="1200" dirty="0" smtClean="0">
                <a:solidFill>
                  <a:schemeClr val="tx1"/>
                </a:solidFill>
                <a:latin typeface="Times New Roman" pitchFamily="-1" charset="0"/>
                <a:ea typeface="+mn-ea"/>
                <a:cs typeface="+mn-cs"/>
              </a:rPr>
              <a:t>Indicates whether the processor is executing in supervisor or user mode. Certain privileged instructions can be executed only in supervisor mode, and certain areas of memory can be accessed only in supervisor mode. </a:t>
            </a:r>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1150938" y="692150"/>
            <a:ext cx="4556125" cy="3416300"/>
          </a:xfrm>
          <a:ln/>
        </p:spPr>
      </p:sp>
      <p:sp>
        <p:nvSpPr>
          <p:cNvPr id="120835"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It is instructive to examine and compare the register organization of comparable systems. In this section, we look at two 16-bit microprocessors that were designed at about the same time: the Motorola MC68000 [STRI79] and the Intel 8086 [MORS78]. Figures 14.3a and b depict the register organization of each; purely internal registers, such as a memory address register, are not shown.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MC68000 partitions its 32-bit registers into eight data registers and nine address registers. The eight data registers are used primarily for data manipulation and are also used in addressing as index registers. The width of the registers allows 8-, 16-, and 32-bit data operations, determined by opcode. The address registers contain 32-bit (no segmentation) addresses; two of these registers are also used as stack pointers, one for users and one for the operating system, depending on the current execution mode. Both registers are numbered 7, because only one can be used at a time. The MC68000 also includes a 32-bit program counter and a 16-bit status register.</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Intel 8086 takes a different approach to register organization. Every register is special purpose, although some registers are also usable as general purpose. The 8086 contains four 16-bit data registers that are addressable on a byte or 16-bit basis, and four 16-bit pointer and index registers. The data registers can be used as general purpose in some instructions. In others, the registers are used implicitly. For example, a multiply instruction always uses the accumulator. The four pointer registers are also used implicitly in a number of operations; each contains a segment offset. There are also four 16-bit segment registers. Three of the four segment registers are used in a dedicated, implicit fashion, to point to the segment of the current instruction (useful for branch instructions), a segment containing data, and a segment containing a stack, respectively. These dedicated and implicit uses provide for compact encoding at the cost of reduced flexibility. The 8086 also includes an instruction pointer and a set of 1-bit status and control flags.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point of this comparison should be clear. There is no universally accepted philosophy concerning the best way to organize processor registers [TOON81]. As with overall instruction set design and so many other processor design issues, it is still a matter of judgment and taste.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second instructive point concerning register organization design is illustrated in Figure 14.3c. This figure shows the user-visible register organization for the Intel 80386 [ELAY85], which is a 32-bit microprocessor designed as an extension of the 8086. The 80386 uses 32-bit registers. However, to provide upward compatibility for programs written on the earlier machine, the 80386 retains the original register organization embedded in the new organization. Given this design constraint, the architects of the 32-bit processors had limited flexibility in designing the register organization. </a:t>
            </a:r>
            <a:endParaRPr lang="en-US" dirty="0" smtClean="0"/>
          </a:p>
          <a:p>
            <a:r>
              <a:rPr lang="en-US" sz="1200" kern="1200" dirty="0" smtClean="0">
                <a:solidFill>
                  <a:schemeClr val="tx1"/>
                </a:solidFill>
                <a:latin typeface="Times New Roman" pitchFamily="-1" charset="0"/>
                <a:ea typeface="+mn-ea"/>
                <a:cs typeface="+mn-cs"/>
              </a:rPr>
              <a:t> </a:t>
            </a:r>
            <a:endParaRPr lang="en-US"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35</a:t>
            </a:r>
          </a:p>
        </p:txBody>
      </p:sp>
      <p:sp>
        <p:nvSpPr>
          <p:cNvPr id="747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4758" name="Rectangle 6"/>
          <p:cNvSpPr>
            <a:spLocks noGrp="1" noRot="1" noChangeAspect="1" noChangeArrowheads="1" noTextEdit="1"/>
          </p:cNvSpPr>
          <p:nvPr>
            <p:ph type="sldImg"/>
          </p:nvPr>
        </p:nvSpPr>
        <p:spPr>
          <a:xfrm>
            <a:off x="1150938" y="692150"/>
            <a:ext cx="4556125" cy="3416300"/>
          </a:xfrm>
          <a:ln cap="flat"/>
        </p:spPr>
      </p:sp>
      <p:sp>
        <p:nvSpPr>
          <p:cNvPr id="74759"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In Section 3.2, we described the processor’s instruction cycle (Figure 3.9). To recall, an instruction cycle includes the following stages: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Fetch: </a:t>
            </a:r>
            <a:r>
              <a:rPr lang="en-US" sz="1200" kern="1200" dirty="0" smtClean="0">
                <a:solidFill>
                  <a:schemeClr val="tx1"/>
                </a:solidFill>
                <a:latin typeface="Times New Roman" pitchFamily="-1" charset="0"/>
                <a:ea typeface="+mn-ea"/>
                <a:cs typeface="+mn-cs"/>
              </a:rPr>
              <a:t>Read the next instruction from memory into the processor.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Execute: </a:t>
            </a:r>
            <a:r>
              <a:rPr lang="en-US" sz="1200" kern="1200" dirty="0" smtClean="0">
                <a:solidFill>
                  <a:schemeClr val="tx1"/>
                </a:solidFill>
                <a:latin typeface="Times New Roman" pitchFamily="-1" charset="0"/>
                <a:ea typeface="+mn-ea"/>
                <a:cs typeface="+mn-cs"/>
              </a:rPr>
              <a:t>Interpret the opcode and perform the indicated operation.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Interrupt: </a:t>
            </a:r>
            <a:r>
              <a:rPr lang="en-US" sz="1200" kern="1200" dirty="0" smtClean="0">
                <a:solidFill>
                  <a:schemeClr val="tx1"/>
                </a:solidFill>
                <a:latin typeface="Times New Roman" pitchFamily="-1" charset="0"/>
                <a:ea typeface="+mn-ea"/>
                <a:cs typeface="+mn-cs"/>
              </a:rPr>
              <a:t>If interrupts are enabled and an interrupt has occurred, save the current process state and service the interrupt.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We are now in a position to elaborate somewhat on the instruction cycle. First, we must introduce one additional stage, known as the indirect cycle. </a:t>
            </a:r>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1150938" y="692150"/>
            <a:ext cx="4556125" cy="3416300"/>
          </a:xfrm>
          <a:ln/>
        </p:spPr>
      </p:sp>
      <p:sp>
        <p:nvSpPr>
          <p:cNvPr id="122883"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We have seen, in Chapter 13, that the execution of an instruction may involve one or more operands in memory, each of which requires a memory access. Further, if indirect addressing is used, then additional memory accesses are required.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We can think of the fetching of indirect addresses as one more instruction stages. The result is shown in Figure 14.4. The main line of activity consists of alternating instruction fetch and instruction execution activities. After an instruction is fetched, it is examined to determine if any indirect addressing is involved. If so, the required operands are fetched using indirect addressing. Following execution, an interrupt may be processed before the next instruction fetch. </a:t>
            </a:r>
            <a:endParaRPr lang="en-US" dirty="0" smtClean="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1150938" y="692150"/>
            <a:ext cx="4556125" cy="3416300"/>
          </a:xfrm>
          <a:ln/>
        </p:spPr>
      </p:sp>
      <p:sp>
        <p:nvSpPr>
          <p:cNvPr id="123907"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Another way to view this process is shown in Figure 14.5, which is a revised version of Figure 3.12. This illustrates more correctly the nature of the instruction cycle. Once an instruction is fetched, its operand specifiers must be identified. Each input operand in memory is then fetched, and this process may require indirect addressing. Register-based operands need not be fetched. Once the opcode is executed, a similar process may be needed to store the result in main memory. </a:t>
            </a:r>
            <a:endParaRPr lang="en-US" dirty="0" smtClean="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1150938" y="692150"/>
            <a:ext cx="4556125" cy="3416300"/>
          </a:xfrm>
          <a:ln/>
        </p:spPr>
      </p:sp>
      <p:sp>
        <p:nvSpPr>
          <p:cNvPr id="124931"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The exact sequence of events during an instruction cycle depends on the design of the processor. We can, however, indicate in general terms what must happen. Let us assume that a processor that employs a memory address register (MAR), a memory buffer register (MBR), a program counter (PC), and an instruction register (IR).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During the </a:t>
            </a:r>
            <a:r>
              <a:rPr lang="en-US" sz="1200" i="1" kern="1200" dirty="0" smtClean="0">
                <a:solidFill>
                  <a:schemeClr val="tx1"/>
                </a:solidFill>
                <a:latin typeface="Times New Roman" pitchFamily="-1" charset="0"/>
                <a:ea typeface="+mn-ea"/>
                <a:cs typeface="+mn-cs"/>
              </a:rPr>
              <a:t>fetch cycle, </a:t>
            </a:r>
            <a:r>
              <a:rPr lang="en-US" sz="1200" kern="1200" dirty="0" smtClean="0">
                <a:solidFill>
                  <a:schemeClr val="tx1"/>
                </a:solidFill>
                <a:latin typeface="Times New Roman" pitchFamily="-1" charset="0"/>
                <a:ea typeface="+mn-ea"/>
                <a:cs typeface="+mn-cs"/>
              </a:rPr>
              <a:t>an instruction is read from memory. Figure 14.6 shows the flow of data during this cycle. The PC contains the address of the next instruction to be fetched. This address is moved to the MAR and placed on the address bus. The control unit requests a memory read, and the result is placed on the data bus and copied into the MBR and then moved to the IR. Meanwhile, the PC is incremented by 1, preparatory for the next fetch. </a:t>
            </a:r>
            <a:endParaRPr lang="en-US" dirty="0" smtClean="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1150938" y="692150"/>
            <a:ext cx="4556125" cy="3416300"/>
          </a:xfrm>
          <a:ln/>
        </p:spPr>
      </p:sp>
      <p:sp>
        <p:nvSpPr>
          <p:cNvPr id="126979"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Once the fetch cycle is over, the control unit examines the contents of the IR to determine if it contains an operand specifier using indirect addressing. If so, an </a:t>
            </a:r>
            <a:r>
              <a:rPr lang="en-US" sz="1200" i="1" kern="1200" dirty="0" smtClean="0">
                <a:solidFill>
                  <a:schemeClr val="tx1"/>
                </a:solidFill>
                <a:latin typeface="Times New Roman" pitchFamily="-1" charset="0"/>
                <a:ea typeface="+mn-ea"/>
                <a:cs typeface="+mn-cs"/>
              </a:rPr>
              <a:t>indirect cycle </a:t>
            </a:r>
            <a:r>
              <a:rPr lang="en-US" sz="1200" kern="1200" dirty="0" smtClean="0">
                <a:solidFill>
                  <a:schemeClr val="tx1"/>
                </a:solidFill>
                <a:latin typeface="Times New Roman" pitchFamily="-1" charset="0"/>
                <a:ea typeface="+mn-ea"/>
                <a:cs typeface="+mn-cs"/>
              </a:rPr>
              <a:t>is performed. As shown in Figure 14.7, this is a simple cycle. The right- most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bits of the MBR, which contain the address reference, are transferred to the MAR. Then the control unit requests a memory read, to get the desired address of the operand into the MBR.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fetch and indirect cycles are simple and predictable. The </a:t>
            </a:r>
            <a:r>
              <a:rPr lang="en-US" sz="1200" i="1" kern="1200" dirty="0" smtClean="0">
                <a:solidFill>
                  <a:schemeClr val="tx1"/>
                </a:solidFill>
                <a:latin typeface="Times New Roman" pitchFamily="-1" charset="0"/>
                <a:ea typeface="+mn-ea"/>
                <a:cs typeface="+mn-cs"/>
              </a:rPr>
              <a:t>execute cycle </a:t>
            </a:r>
            <a:r>
              <a:rPr lang="en-US" sz="1200" kern="1200" dirty="0" smtClean="0">
                <a:solidFill>
                  <a:schemeClr val="tx1"/>
                </a:solidFill>
                <a:latin typeface="Times New Roman" pitchFamily="-1" charset="0"/>
                <a:ea typeface="+mn-ea"/>
                <a:cs typeface="+mn-cs"/>
              </a:rPr>
              <a:t>takes many forms; the form depends on which of the various machine instructions is in the IR. This cycle may involve transferring data among registers, read or write from memory or I/O, and/or the invocation of the ALU. </a:t>
            </a:r>
            <a:endParaRPr lang="en-US" dirty="0" smtClean="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150938" y="692150"/>
            <a:ext cx="4556125" cy="3416300"/>
          </a:xfrm>
          <a:ln/>
        </p:spPr>
      </p:sp>
      <p:sp>
        <p:nvSpPr>
          <p:cNvPr id="128003"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Like the fetch and indirect cycles, the </a:t>
            </a:r>
            <a:r>
              <a:rPr lang="en-US" sz="1200" i="1" kern="1200" dirty="0" smtClean="0">
                <a:solidFill>
                  <a:schemeClr val="tx1"/>
                </a:solidFill>
                <a:latin typeface="Times New Roman" pitchFamily="-1" charset="0"/>
                <a:ea typeface="+mn-ea"/>
                <a:cs typeface="+mn-cs"/>
              </a:rPr>
              <a:t>interrupt cycle </a:t>
            </a:r>
            <a:r>
              <a:rPr lang="en-US" sz="1200" kern="1200" dirty="0" smtClean="0">
                <a:solidFill>
                  <a:schemeClr val="tx1"/>
                </a:solidFill>
                <a:latin typeface="Times New Roman" pitchFamily="-1" charset="0"/>
                <a:ea typeface="+mn-ea"/>
                <a:cs typeface="+mn-cs"/>
              </a:rPr>
              <a:t>is simple and predictable (Figure 14.8). The current contents of the PC must be saved so that the processor can resume normal activity after the interrupt. Thus, the contents of the PC are transferred to the MBR to be written into memory. The special memory location reserved for this purpose is loaded into the MAR from the control unit. It might, for example, be a stack pointer. The PC is loaded with the address of the interrupt routine. As a result, the next instruction cycle will begin by fetching the appropriate instruction.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endParaRPr lang="en-US" dirty="0" smtClean="0"/>
          </a:p>
          <a:p>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8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38</a:t>
            </a:r>
          </a:p>
        </p:txBody>
      </p:sp>
      <p:sp>
        <p:nvSpPr>
          <p:cNvPr id="809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9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0902" name="Rectangle 6"/>
          <p:cNvSpPr>
            <a:spLocks noGrp="1" noRot="1" noChangeAspect="1" noChangeArrowheads="1" noTextEdit="1"/>
          </p:cNvSpPr>
          <p:nvPr>
            <p:ph type="sldImg"/>
          </p:nvPr>
        </p:nvSpPr>
        <p:spPr>
          <a:xfrm>
            <a:off x="1150938" y="692150"/>
            <a:ext cx="4556125" cy="3416300"/>
          </a:xfrm>
          <a:ln cap="flat"/>
        </p:spPr>
      </p:sp>
      <p:sp>
        <p:nvSpPr>
          <p:cNvPr id="80903"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Instruction pipelining is similar to the use of an assembly line in a manufacturing plant. An assembly line takes advantage of the fact that a product goes through various stages of production. By laying the production process out in an assembly line, products at various stages can be worked on simultaneously. This process is also referred to as </a:t>
            </a:r>
            <a:r>
              <a:rPr lang="en-US" sz="1200" i="1" kern="1200" dirty="0" smtClean="0">
                <a:solidFill>
                  <a:schemeClr val="tx1"/>
                </a:solidFill>
                <a:latin typeface="Times New Roman" pitchFamily="-1" charset="0"/>
                <a:ea typeface="+mn-ea"/>
                <a:cs typeface="+mn-cs"/>
              </a:rPr>
              <a:t>pipelining, </a:t>
            </a:r>
            <a:r>
              <a:rPr lang="en-US" sz="1200" kern="1200" dirty="0" smtClean="0">
                <a:solidFill>
                  <a:schemeClr val="tx1"/>
                </a:solidFill>
                <a:latin typeface="Times New Roman" pitchFamily="-1" charset="0"/>
                <a:ea typeface="+mn-ea"/>
                <a:cs typeface="+mn-cs"/>
              </a:rPr>
              <a:t>because, as in a pipeline, new inputs are accepted at one end before previously accepted inputs appear as outputs at the other end.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To apply this concept to instruction execution, we must recognize that, in fact, an instruction has a number of stages. Figures 14.5, for example, breaks the instruction cycle up into 10 tasks, which occur in sequence. Clearly, there should be some opportunity for pipelining. </a:t>
            </a:r>
            <a:endParaRPr lang="en-US" dirty="0" smtClean="0"/>
          </a:p>
          <a:p>
            <a:endParaRPr lang="en-US" sz="1200" kern="1200" dirty="0" smtClean="0">
              <a:solidFill>
                <a:schemeClr val="tx1"/>
              </a:solidFill>
              <a:latin typeface="Times New Roman" pitchFamily="-1" charset="0"/>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An instructive example of an instruction pipeline is that of the Intel 80486. The 80486 implements a five-stage pipeline: </a:t>
            </a:r>
            <a:endParaRPr lang="en-US" dirty="0" smtClean="0"/>
          </a:p>
          <a:p>
            <a:endParaRPr lang="en-US" dirty="0" smtClean="0"/>
          </a:p>
          <a:p>
            <a:r>
              <a:rPr lang="en-US" sz="1200" b="1" kern="1200" dirty="0" smtClean="0">
                <a:solidFill>
                  <a:schemeClr val="tx1"/>
                </a:solidFill>
                <a:latin typeface="Times New Roman" pitchFamily="-1" charset="0"/>
                <a:ea typeface="+mn-ea"/>
                <a:cs typeface="+mn-cs"/>
              </a:rPr>
              <a:t>Fetch: </a:t>
            </a:r>
            <a:r>
              <a:rPr lang="en-US" sz="1200" kern="1200" dirty="0" smtClean="0">
                <a:solidFill>
                  <a:schemeClr val="tx1"/>
                </a:solidFill>
                <a:latin typeface="Times New Roman" pitchFamily="-1" charset="0"/>
                <a:ea typeface="+mn-ea"/>
                <a:cs typeface="+mn-cs"/>
              </a:rPr>
              <a:t>Instructions are fetched from the cache or from external memory and placed into one of the two 16-byte prefetch buffers. The objective of the fetch stage is to fill the prefetch buffers with new data as soon as the old data have been consumed by the instruction decoder. Because instructions are of variable length (from 1 to 11 bytes not counting prefixes), the status of the prefetcher relative to the other pipeline stages varies from instruction to instruction. On average, about five instructions are fetched with each 16-byte load [CRAW90]. The fetch stage operates independently of the other stages to keep the prefetch buffers full.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Decode stage 1: </a:t>
            </a:r>
            <a:r>
              <a:rPr lang="en-US" sz="1200" kern="1200" dirty="0" smtClean="0">
                <a:solidFill>
                  <a:schemeClr val="tx1"/>
                </a:solidFill>
                <a:latin typeface="Times New Roman" pitchFamily="-1" charset="0"/>
                <a:ea typeface="+mn-ea"/>
                <a:cs typeface="+mn-cs"/>
              </a:rPr>
              <a:t>All opcode and addressing-mode information is decoded in the D1 stage. The required information, as well as instruction-length information, is included in at most the first 3 bytes of the instruction. Hence, 3 bytes are passed to the D1 stage from the prefetch buffers. The D1 decoder can then direct the D2 stage to capture the rest of the instruction (displacement and immediate data), which is not involved in the D1 decoding.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Decode stage 2: </a:t>
            </a:r>
            <a:r>
              <a:rPr lang="en-US" sz="1200" kern="1200" dirty="0" smtClean="0">
                <a:solidFill>
                  <a:schemeClr val="tx1"/>
                </a:solidFill>
                <a:latin typeface="Times New Roman" pitchFamily="-1" charset="0"/>
                <a:ea typeface="+mn-ea"/>
                <a:cs typeface="+mn-cs"/>
              </a:rPr>
              <a:t>The D2 stage expands each opcode into control signals for the ALU. It also controls the computation of the more complex addressing modes.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Execute: </a:t>
            </a:r>
            <a:r>
              <a:rPr lang="en-US" sz="1200" kern="1200" dirty="0" smtClean="0">
                <a:solidFill>
                  <a:schemeClr val="tx1"/>
                </a:solidFill>
                <a:latin typeface="Times New Roman" pitchFamily="-1" charset="0"/>
                <a:ea typeface="+mn-ea"/>
                <a:cs typeface="+mn-cs"/>
              </a:rPr>
              <a:t>This stage includes ALU operations, cache access, and register update.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Write back: </a:t>
            </a:r>
            <a:r>
              <a:rPr lang="en-US" sz="1200" kern="1200" dirty="0" smtClean="0">
                <a:solidFill>
                  <a:schemeClr val="tx1"/>
                </a:solidFill>
                <a:latin typeface="Times New Roman" pitchFamily="-1" charset="0"/>
                <a:ea typeface="+mn-ea"/>
                <a:cs typeface="+mn-cs"/>
              </a:rPr>
              <a:t>This stage, if needed, updates registers and status flags modified during the preceding execute stage. If the current instruction updates memory, the computed value is sent to the cache and to the bus-interface write buffers at the same time. </a:t>
            </a:r>
          </a:p>
          <a:p>
            <a:r>
              <a:rPr lang="en-US" sz="1200" kern="1200" dirty="0" smtClean="0">
                <a:solidFill>
                  <a:schemeClr val="tx1"/>
                </a:solidFill>
                <a:latin typeface="Times New Roman" pitchFamily="-1" charset="0"/>
                <a:ea typeface="+mn-ea"/>
                <a:cs typeface="+mn-cs"/>
              </a:rPr>
              <a:t>With the use of two decode stages, the pipeline can sustain a throughput of close to one instruction per clock cycle. Complex instructions and conditional branches can slow down this rate. </a:t>
            </a:r>
          </a:p>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Figure 14.21 shows examples of the operation of the pipeline. Figure 14.21a shows that there is no delay introduced into the pipeline when a memory access is required. However, as Figure 14.21b shows, there can be a delay for values used to compute memory addresses. That is, if a value is loaded from memory into a register and that register is then used as a base register in the next instruction, the processor will stall for one cycle. In this example, the processor accesses the cache in the EX stage of the first instruction and stores the value retrieved in the register during the WB stage. However, the next instruction needs this register in its D2 stage. When the D2 stage lines up with the WB stage of the previous instruction, bypass signal paths allow the D2 stage to have access to the same data being used by the WB stage for writing, saving one pipeline stage.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Figure 14.21c illustrates the timing of a branch instruction, assuming that the branch is taken. The compare instruction updates condition codes in the WB stage, and bypass paths make this available to the EX stage of the jump instruction at the same time. In parallel, the processor runs a speculative fetch cycle to the target of the jump during the EX stage of the jump instruction. If the processor determines a false branch condition, it discards this prefetch and continues execution with the next sequential instruction (already fetched and decoded). </a:t>
            </a:r>
            <a:endParaRPr lang="en-US" dirty="0" smtClean="0"/>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smtClean="0">
                <a:solidFill>
                  <a:schemeClr val="tx1"/>
                </a:solidFill>
                <a:latin typeface="Times New Roman" pitchFamily="-1" charset="0"/>
                <a:ea typeface="+mn-ea"/>
                <a:cs typeface="+mn-cs"/>
              </a:rPr>
              <a:t>Two classes of events cause the x86 to suspend execution of the current instruction stream and respond to the event: interrupts and exceptions. In both cases, the processor saves the context of the current process and transfers to a predefined routine to service the condition. An </a:t>
            </a:r>
            <a:r>
              <a:rPr lang="en-US" sz="1200" i="1" kern="1200" dirty="0" smtClean="0">
                <a:solidFill>
                  <a:schemeClr val="tx1"/>
                </a:solidFill>
                <a:latin typeface="Times New Roman" pitchFamily="-1" charset="0"/>
                <a:ea typeface="+mn-ea"/>
                <a:cs typeface="+mn-cs"/>
              </a:rPr>
              <a:t>interrupt </a:t>
            </a:r>
            <a:r>
              <a:rPr lang="en-US" sz="1200" kern="1200" dirty="0" smtClean="0">
                <a:solidFill>
                  <a:schemeClr val="tx1"/>
                </a:solidFill>
                <a:latin typeface="Times New Roman" pitchFamily="-1" charset="0"/>
                <a:ea typeface="+mn-ea"/>
                <a:cs typeface="+mn-cs"/>
              </a:rPr>
              <a:t>is generated by a signal from hardware, and it may occur at random times during the execution of a program. An </a:t>
            </a:r>
            <a:r>
              <a:rPr lang="en-US" sz="1200" i="1" kern="1200" dirty="0" smtClean="0">
                <a:solidFill>
                  <a:schemeClr val="tx1"/>
                </a:solidFill>
                <a:latin typeface="Times New Roman" pitchFamily="-1" charset="0"/>
                <a:ea typeface="+mn-ea"/>
                <a:cs typeface="+mn-cs"/>
              </a:rPr>
              <a:t>exception </a:t>
            </a:r>
            <a:r>
              <a:rPr lang="en-US" sz="1200" kern="1200" dirty="0" smtClean="0">
                <a:solidFill>
                  <a:schemeClr val="tx1"/>
                </a:solidFill>
                <a:latin typeface="Times New Roman" pitchFamily="-1" charset="0"/>
                <a:ea typeface="+mn-ea"/>
                <a:cs typeface="+mn-cs"/>
              </a:rPr>
              <a:t>is generated from software, and it is provoked by the execution of an instruction. There are two sources of interrupts and two sources of exceptions: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1. </a:t>
            </a:r>
            <a:r>
              <a:rPr lang="en-US" sz="1200" kern="1200" dirty="0" smtClean="0">
                <a:solidFill>
                  <a:schemeClr val="tx1"/>
                </a:solidFill>
                <a:latin typeface="Times New Roman" pitchFamily="-1" charset="0"/>
                <a:ea typeface="+mn-ea"/>
                <a:cs typeface="+mn-cs"/>
              </a:rPr>
              <a:t>Interrupts </a:t>
            </a:r>
            <a:endParaRPr lang="en-US" dirty="0" smtClean="0"/>
          </a:p>
          <a:p>
            <a:pPr lvl="1"/>
            <a:r>
              <a:rPr lang="en-US" sz="1200" b="1" kern="1200" dirty="0" smtClean="0">
                <a:solidFill>
                  <a:schemeClr val="tx1"/>
                </a:solidFill>
                <a:latin typeface="Times New Roman" pitchFamily="-1" charset="0"/>
                <a:ea typeface="ＭＳ Ｐゴシック" pitchFamily="-1" charset="-128"/>
                <a:cs typeface="+mn-cs"/>
              </a:rPr>
              <a:t>Maskable interrupts: </a:t>
            </a:r>
            <a:r>
              <a:rPr lang="en-US" sz="1200" b="0" kern="1200" dirty="0" smtClean="0">
                <a:solidFill>
                  <a:schemeClr val="tx1"/>
                </a:solidFill>
                <a:latin typeface="Times New Roman" pitchFamily="-1" charset="0"/>
                <a:ea typeface="ＭＳ Ｐゴシック" pitchFamily="-1" charset="-128"/>
                <a:cs typeface="+mn-cs"/>
              </a:rPr>
              <a:t>Received on the processor’s INTR pin. The processor </a:t>
            </a:r>
            <a:r>
              <a:rPr lang="en-US" sz="1200" kern="1200" dirty="0" smtClean="0">
                <a:solidFill>
                  <a:schemeClr val="tx1"/>
                </a:solidFill>
                <a:latin typeface="Times New Roman" pitchFamily="-1" charset="0"/>
                <a:ea typeface="ＭＳ Ｐゴシック" pitchFamily="-1" charset="-128"/>
                <a:cs typeface="+mn-cs"/>
              </a:rPr>
              <a:t>does not recognize a maskable interrupt unless the interrupt enable flag (IF) is set. </a:t>
            </a:r>
          </a:p>
          <a:p>
            <a:pPr lvl="1"/>
            <a:endParaRPr lang="en-US" sz="1200" b="1" kern="1200" dirty="0" smtClean="0">
              <a:solidFill>
                <a:schemeClr val="tx1"/>
              </a:solidFill>
              <a:latin typeface="Times New Roman" pitchFamily="-1" charset="0"/>
              <a:ea typeface="ＭＳ Ｐゴシック" pitchFamily="-1" charset="-128"/>
              <a:cs typeface="+mn-cs"/>
            </a:endParaRPr>
          </a:p>
          <a:p>
            <a:pPr lvl="1"/>
            <a:r>
              <a:rPr lang="en-US" sz="1200" b="1" kern="1200" dirty="0" smtClean="0">
                <a:solidFill>
                  <a:schemeClr val="tx1"/>
                </a:solidFill>
                <a:latin typeface="Times New Roman" pitchFamily="-1" charset="0"/>
                <a:ea typeface="ＭＳ Ｐゴシック" pitchFamily="-1" charset="-128"/>
                <a:cs typeface="+mn-cs"/>
              </a:rPr>
              <a:t>Nonmaskable interrupts: </a:t>
            </a:r>
            <a:r>
              <a:rPr lang="en-US" sz="1200" b="0" kern="1200" dirty="0" smtClean="0">
                <a:solidFill>
                  <a:schemeClr val="tx1"/>
                </a:solidFill>
                <a:latin typeface="Times New Roman" pitchFamily="-1" charset="0"/>
                <a:ea typeface="ＭＳ Ｐゴシック" pitchFamily="-1" charset="-128"/>
                <a:cs typeface="+mn-cs"/>
              </a:rPr>
              <a:t>Received on the processor’s NMI pin. Recognition </a:t>
            </a:r>
            <a:r>
              <a:rPr lang="en-US" sz="1200" kern="1200" dirty="0" smtClean="0">
                <a:solidFill>
                  <a:schemeClr val="tx1"/>
                </a:solidFill>
                <a:latin typeface="Times New Roman" pitchFamily="-1" charset="0"/>
                <a:ea typeface="ＭＳ Ｐゴシック" pitchFamily="-1" charset="-128"/>
                <a:cs typeface="+mn-cs"/>
              </a:rPr>
              <a:t>of such interrupts cannot be prevented. </a:t>
            </a:r>
          </a:p>
          <a:p>
            <a:pPr lvl="1"/>
            <a:endParaRPr lang="en-US" sz="1200" b="1" kern="1200" dirty="0" smtClean="0">
              <a:solidFill>
                <a:schemeClr val="tx1"/>
              </a:solidFill>
              <a:latin typeface="Times New Roman" pitchFamily="-1" charset="0"/>
              <a:ea typeface="ＭＳ Ｐゴシック" pitchFamily="-1" charset="-128"/>
              <a:cs typeface="+mn-cs"/>
            </a:endParaRPr>
          </a:p>
          <a:p>
            <a:pPr lvl="1"/>
            <a:r>
              <a:rPr lang="en-US" sz="1200" b="1" kern="1200" dirty="0" smtClean="0">
                <a:solidFill>
                  <a:schemeClr val="tx1"/>
                </a:solidFill>
                <a:latin typeface="Times New Roman" pitchFamily="-1" charset="0"/>
                <a:ea typeface="ＭＳ Ｐゴシック" pitchFamily="-1" charset="-128"/>
                <a:cs typeface="+mn-cs"/>
              </a:rPr>
              <a:t>2. </a:t>
            </a:r>
            <a:r>
              <a:rPr lang="en-US" sz="1200" kern="1200" dirty="0" smtClean="0">
                <a:solidFill>
                  <a:schemeClr val="tx1"/>
                </a:solidFill>
                <a:latin typeface="Times New Roman" pitchFamily="-1" charset="0"/>
                <a:ea typeface="ＭＳ Ｐゴシック" pitchFamily="-1" charset="-128"/>
                <a:cs typeface="+mn-cs"/>
              </a:rPr>
              <a:t>Exceptions </a:t>
            </a:r>
          </a:p>
          <a:p>
            <a:pPr lvl="1"/>
            <a:endParaRPr lang="en-US" sz="1200" b="1" kern="1200" dirty="0" smtClean="0">
              <a:solidFill>
                <a:schemeClr val="tx1"/>
              </a:solidFill>
              <a:latin typeface="Times New Roman" pitchFamily="-1" charset="0"/>
              <a:ea typeface="ＭＳ Ｐゴシック" pitchFamily="-1" charset="-128"/>
              <a:cs typeface="+mn-cs"/>
            </a:endParaRPr>
          </a:p>
          <a:p>
            <a:pPr lvl="1"/>
            <a:r>
              <a:rPr lang="en-US" sz="1200" b="1" kern="1200" dirty="0" smtClean="0">
                <a:solidFill>
                  <a:schemeClr val="tx1"/>
                </a:solidFill>
                <a:latin typeface="Times New Roman" pitchFamily="-1" charset="0"/>
                <a:ea typeface="ＭＳ Ｐゴシック" pitchFamily="-1" charset="-128"/>
                <a:cs typeface="+mn-cs"/>
              </a:rPr>
              <a:t>Processor-detected exceptions: </a:t>
            </a:r>
            <a:r>
              <a:rPr lang="en-US" sz="1200" kern="1200" dirty="0" smtClean="0">
                <a:solidFill>
                  <a:schemeClr val="tx1"/>
                </a:solidFill>
                <a:latin typeface="Times New Roman" pitchFamily="-1" charset="0"/>
                <a:ea typeface="ＭＳ Ｐゴシック" pitchFamily="-1" charset="-128"/>
                <a:cs typeface="+mn-cs"/>
              </a:rPr>
              <a:t>Results when the processor encounters an </a:t>
            </a:r>
          </a:p>
          <a:p>
            <a:pPr lvl="1"/>
            <a:r>
              <a:rPr lang="en-US" sz="1200" kern="1200" dirty="0" smtClean="0">
                <a:solidFill>
                  <a:schemeClr val="tx1"/>
                </a:solidFill>
                <a:latin typeface="Times New Roman" pitchFamily="-1" charset="0"/>
                <a:ea typeface="ＭＳ Ｐゴシック" pitchFamily="-1" charset="-128"/>
                <a:cs typeface="+mn-cs"/>
              </a:rPr>
              <a:t>error while attempting to execute an instruction. </a:t>
            </a:r>
          </a:p>
          <a:p>
            <a:pPr lvl="1"/>
            <a:endParaRPr lang="en-US" sz="1200" b="1" kern="1200" dirty="0" smtClean="0">
              <a:solidFill>
                <a:schemeClr val="tx1"/>
              </a:solidFill>
              <a:latin typeface="Times New Roman" pitchFamily="-1" charset="0"/>
              <a:ea typeface="ＭＳ Ｐゴシック" pitchFamily="-1" charset="-128"/>
              <a:cs typeface="+mn-cs"/>
            </a:endParaRPr>
          </a:p>
          <a:p>
            <a:pPr lvl="1"/>
            <a:r>
              <a:rPr lang="en-US" sz="1200" b="1" kern="1200" dirty="0" smtClean="0">
                <a:solidFill>
                  <a:schemeClr val="tx1"/>
                </a:solidFill>
                <a:latin typeface="Times New Roman" pitchFamily="-1" charset="0"/>
                <a:ea typeface="ＭＳ Ｐゴシック" pitchFamily="-1" charset="-128"/>
                <a:cs typeface="+mn-cs"/>
              </a:rPr>
              <a:t>Programmed exceptions: </a:t>
            </a:r>
            <a:r>
              <a:rPr lang="en-US" sz="1200" b="0" kern="1200" dirty="0" smtClean="0">
                <a:solidFill>
                  <a:schemeClr val="tx1"/>
                </a:solidFill>
                <a:latin typeface="Times New Roman" pitchFamily="-1" charset="0"/>
                <a:ea typeface="ＭＳ Ｐゴシック" pitchFamily="-1" charset="-128"/>
                <a:cs typeface="+mn-cs"/>
              </a:rPr>
              <a:t>These are instructions that generate an exception </a:t>
            </a:r>
            <a:r>
              <a:rPr lang="en-US" sz="1200" kern="1200" dirty="0" smtClean="0">
                <a:solidFill>
                  <a:schemeClr val="tx1"/>
                </a:solidFill>
                <a:latin typeface="Times New Roman" pitchFamily="-1" charset="0"/>
                <a:ea typeface="ＭＳ Ｐゴシック" pitchFamily="-1" charset="-128"/>
                <a:cs typeface="+mn-cs"/>
              </a:rPr>
              <a:t>(e.g., INTO, INT3, INT, and BOUND). </a:t>
            </a:r>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Interrupt processing on the x86 uses the interrupt vector table. Every type of interrupt is assigned a number, and this number is used to index into the interrupt vector table. This table contains 256 32-bit interrupt vectors, which is the address (segment and offset) of the interrupt service routine for that interrupt number. </a:t>
            </a:r>
            <a:endParaRPr lang="en-US" dirty="0" smtClean="0"/>
          </a:p>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Table 14.3 shows the assignment of numbers in the interrupt vector table; shaded entries represent interrupts, while nonshaded entries are exceptions. The NMI hardware interrupt is type 2. INTR hardware interrupts are assigned numbers in the range of 32 to 255; when an INTR interrupt is generated, it must be accompanied on the bus with the interrupt vector number for this interrupt. The remaining vector numbers are used for exceptions. </a:t>
            </a:r>
            <a:endParaRPr lang="en-US" dirty="0" smtClean="0"/>
          </a:p>
          <a:p>
            <a:endParaRPr lang="en-US" dirty="0" smtClean="0"/>
          </a:p>
          <a:p>
            <a:r>
              <a:rPr lang="en-US" sz="1200" kern="1200" dirty="0" smtClean="0">
                <a:solidFill>
                  <a:schemeClr val="tx1"/>
                </a:solidFill>
                <a:latin typeface="Times New Roman" pitchFamily="-1" charset="0"/>
                <a:ea typeface="+mn-ea"/>
                <a:cs typeface="+mn-cs"/>
              </a:rPr>
              <a:t>If more than one exception or interrupt is pending, the processor services them in a predictable order. The location of vector numbers within the table does not reflect priority. Instead, priority among exceptions and interrupts is organized into five classes. In descending order of priority, these are </a:t>
            </a:r>
            <a:endParaRPr lang="en-US" dirty="0" smtClean="0"/>
          </a:p>
          <a:p>
            <a:r>
              <a:rPr lang="en-US" sz="1200" kern="1200" dirty="0" smtClean="0">
                <a:solidFill>
                  <a:schemeClr val="tx1"/>
                </a:solidFill>
                <a:latin typeface="Times New Roman" pitchFamily="-1" charset="0"/>
                <a:ea typeface="+mn-ea"/>
                <a:cs typeface="+mn-cs"/>
              </a:rPr>
              <a:t>• • • • • </a:t>
            </a:r>
            <a:endParaRPr lang="en-US" dirty="0" smtClean="0"/>
          </a:p>
          <a:p>
            <a:r>
              <a:rPr lang="en-US" sz="1200" b="1" kern="1200" dirty="0" smtClean="0">
                <a:solidFill>
                  <a:schemeClr val="tx1"/>
                </a:solidFill>
                <a:latin typeface="Times New Roman" pitchFamily="-1" charset="0"/>
                <a:ea typeface="+mn-ea"/>
                <a:cs typeface="+mn-cs"/>
              </a:rPr>
              <a:t>Class 1: </a:t>
            </a:r>
            <a:r>
              <a:rPr lang="en-US" sz="1200" kern="1200" dirty="0" smtClean="0">
                <a:solidFill>
                  <a:schemeClr val="tx1"/>
                </a:solidFill>
                <a:latin typeface="Times New Roman" pitchFamily="-1" charset="0"/>
                <a:ea typeface="+mn-ea"/>
                <a:cs typeface="+mn-cs"/>
              </a:rPr>
              <a:t>Traps on the previous instruction (vector number 1)</a:t>
            </a:r>
            <a:br>
              <a:rPr lang="en-US" sz="1200" kern="1200" dirty="0" smtClean="0">
                <a:solidFill>
                  <a:schemeClr val="tx1"/>
                </a:solidFill>
                <a:latin typeface="Times New Roman" pitchFamily="-1" charset="0"/>
                <a:ea typeface="+mn-ea"/>
                <a:cs typeface="+mn-cs"/>
              </a:rPr>
            </a:br>
            <a:r>
              <a:rPr lang="en-US" sz="1200" b="1" kern="1200" dirty="0" smtClean="0">
                <a:solidFill>
                  <a:schemeClr val="tx1"/>
                </a:solidFill>
                <a:latin typeface="Times New Roman" pitchFamily="-1" charset="0"/>
                <a:ea typeface="+mn-ea"/>
                <a:cs typeface="+mn-cs"/>
              </a:rPr>
              <a:t>Class 2: </a:t>
            </a:r>
            <a:r>
              <a:rPr lang="en-US" sz="1200" kern="1200" dirty="0" smtClean="0">
                <a:solidFill>
                  <a:schemeClr val="tx1"/>
                </a:solidFill>
                <a:latin typeface="Times New Roman" pitchFamily="-1" charset="0"/>
                <a:ea typeface="+mn-ea"/>
                <a:cs typeface="+mn-cs"/>
              </a:rPr>
              <a:t>External interrupts (2, 32–255)</a:t>
            </a:r>
            <a:br>
              <a:rPr lang="en-US" sz="1200" kern="1200" dirty="0" smtClean="0">
                <a:solidFill>
                  <a:schemeClr val="tx1"/>
                </a:solidFill>
                <a:latin typeface="Times New Roman" pitchFamily="-1" charset="0"/>
                <a:ea typeface="+mn-ea"/>
                <a:cs typeface="+mn-cs"/>
              </a:rPr>
            </a:br>
            <a:r>
              <a:rPr lang="en-US" sz="1200" b="1" kern="1200" dirty="0" smtClean="0">
                <a:solidFill>
                  <a:schemeClr val="tx1"/>
                </a:solidFill>
                <a:latin typeface="Times New Roman" pitchFamily="-1" charset="0"/>
                <a:ea typeface="+mn-ea"/>
                <a:cs typeface="+mn-cs"/>
              </a:rPr>
              <a:t>Class 3: </a:t>
            </a:r>
            <a:r>
              <a:rPr lang="en-US" sz="1200" kern="1200" dirty="0" smtClean="0">
                <a:solidFill>
                  <a:schemeClr val="tx1"/>
                </a:solidFill>
                <a:latin typeface="Times New Roman" pitchFamily="-1" charset="0"/>
                <a:ea typeface="+mn-ea"/>
                <a:cs typeface="+mn-cs"/>
              </a:rPr>
              <a:t>Faults from fetching next instruction (3, 14)</a:t>
            </a:r>
            <a:br>
              <a:rPr lang="en-US" sz="1200" kern="1200" dirty="0" smtClean="0">
                <a:solidFill>
                  <a:schemeClr val="tx1"/>
                </a:solidFill>
                <a:latin typeface="Times New Roman" pitchFamily="-1" charset="0"/>
                <a:ea typeface="+mn-ea"/>
                <a:cs typeface="+mn-cs"/>
              </a:rPr>
            </a:br>
            <a:r>
              <a:rPr lang="en-US" sz="1200" b="1" kern="1200" dirty="0" smtClean="0">
                <a:solidFill>
                  <a:schemeClr val="tx1"/>
                </a:solidFill>
                <a:latin typeface="Times New Roman" pitchFamily="-1" charset="0"/>
                <a:ea typeface="+mn-ea"/>
                <a:cs typeface="+mn-cs"/>
              </a:rPr>
              <a:t>Class 4: </a:t>
            </a:r>
            <a:r>
              <a:rPr lang="en-US" sz="1200" kern="1200" dirty="0" smtClean="0">
                <a:solidFill>
                  <a:schemeClr val="tx1"/>
                </a:solidFill>
                <a:latin typeface="Times New Roman" pitchFamily="-1" charset="0"/>
                <a:ea typeface="+mn-ea"/>
                <a:cs typeface="+mn-cs"/>
              </a:rPr>
              <a:t>Faults from decoding the next instruction (6, 7)</a:t>
            </a:r>
            <a:br>
              <a:rPr lang="en-US" sz="1200" kern="1200" dirty="0" smtClean="0">
                <a:solidFill>
                  <a:schemeClr val="tx1"/>
                </a:solidFill>
                <a:latin typeface="Times New Roman" pitchFamily="-1" charset="0"/>
                <a:ea typeface="+mn-ea"/>
                <a:cs typeface="+mn-cs"/>
              </a:rPr>
            </a:br>
            <a:r>
              <a:rPr lang="en-US" sz="1200" b="1" kern="1200" dirty="0" smtClean="0">
                <a:solidFill>
                  <a:schemeClr val="tx1"/>
                </a:solidFill>
                <a:latin typeface="Times New Roman" pitchFamily="-1" charset="0"/>
                <a:ea typeface="+mn-ea"/>
                <a:cs typeface="+mn-cs"/>
              </a:rPr>
              <a:t>Class 5: </a:t>
            </a:r>
            <a:r>
              <a:rPr lang="en-US" sz="1200" kern="1200" dirty="0" smtClean="0">
                <a:solidFill>
                  <a:schemeClr val="tx1"/>
                </a:solidFill>
                <a:latin typeface="Times New Roman" pitchFamily="-1" charset="0"/>
                <a:ea typeface="+mn-ea"/>
                <a:cs typeface="+mn-cs"/>
              </a:rPr>
              <a:t>Faults on executing an instruction (0, 4, 5, 8, 10–14, 16, 17) </a:t>
            </a:r>
            <a:endParaRPr lang="en-US" dirty="0" smtClean="0"/>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23</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smtClean="0"/>
              <a:t>Chapter 14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smtClean="0"/>
              <a:t>© 2016 Pearson Education, Inc., Hoboken, NJ. All rights reserved.</a:t>
            </a:r>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smtClean="0"/>
              <a:t>© 2016 Pearson Education, Inc., Hoboken, NJ. All rights reserved.</a:t>
            </a:r>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smtClean="0"/>
              <a:t>© 2016 Pearson Education, Inc., Hoboken, NJ. All rights reserved.</a:t>
            </a:r>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smtClean="0"/>
              <a:t>© 2016 Pearson Education, Inc., Hoboken, NJ. All rights reserved.</a:t>
            </a:r>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smtClean="0"/>
              <a:t>© 2016 Pearson Education, Inc., Hoboken, NJ. All rights reserved.</a:t>
            </a:r>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smtClean="0"/>
              <a:t>© 2016 Pearson Education, Inc., Hoboken, NJ. All rights reserved.</a:t>
            </a:r>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10</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887215"/>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a:xfrm>
            <a:off x="6372200" y="6421316"/>
            <a:ext cx="2617694" cy="409437"/>
          </a:xfrm>
        </p:spPr>
        <p:txBody>
          <a:bodyPr/>
          <a:lstStyle/>
          <a:p>
            <a:r>
              <a:rPr lang="en-GB" smtClean="0"/>
              <a:t>© 2016 Pearson Education, Inc., Hoboken, NJ. All rights reserved.</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11560" y="4293096"/>
            <a:ext cx="6191157" cy="833718"/>
          </a:xfrm>
        </p:spPr>
        <p:txBody>
          <a:bodyPr>
            <a:noAutofit/>
          </a:bodyPr>
          <a:lstStyle/>
          <a:p>
            <a:r>
              <a:rPr lang="en-US" sz="5400" dirty="0" smtClean="0">
                <a:effectLst>
                  <a:outerShdw blurRad="38100" dist="38100" dir="2700000" algn="tl">
                    <a:srgbClr val="000000">
                      <a:alpha val="43137"/>
                    </a:srgbClr>
                  </a:outerShdw>
                </a:effectLst>
              </a:rPr>
              <a:t>Chapter 14</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611560" y="5229200"/>
            <a:ext cx="6191157" cy="733425"/>
          </a:xfrm>
        </p:spPr>
        <p:txBody>
          <a:bodyPr>
            <a:normAutofit fontScale="70000" lnSpcReduction="20000"/>
          </a:bodyPr>
          <a:lstStyle/>
          <a:p>
            <a:r>
              <a:rPr lang="en-US" sz="4400" dirty="0" smtClean="0"/>
              <a:t>Processor Structure and Function</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8" name="Rectangle 4"/>
          <p:cNvSpPr>
            <a:spLocks noGrp="1" noChangeArrowheads="1"/>
          </p:cNvSpPr>
          <p:nvPr>
            <p:ph type="title"/>
          </p:nvPr>
        </p:nvSpPr>
        <p:spPr>
          <a:xfrm>
            <a:off x="611560" y="0"/>
            <a:ext cx="7556313" cy="995082"/>
          </a:xfrm>
        </p:spPr>
        <p:txBody>
          <a:bodyPr/>
          <a:lstStyle/>
          <a:p>
            <a:r>
              <a:rPr lang="en-US" dirty="0" smtClean="0">
                <a:effectLst>
                  <a:outerShdw blurRad="38100" dist="38100" dir="2700000" algn="tl">
                    <a:srgbClr val="000000">
                      <a:alpha val="43137"/>
                    </a:srgbClr>
                  </a:outerShdw>
                </a:effectLst>
              </a:rPr>
              <a:t>Processor Organization</a:t>
            </a:r>
            <a:endParaRPr lang="en-US" dirty="0">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611560" y="1772816"/>
            <a:ext cx="7556313" cy="4495800"/>
          </a:xfrm>
        </p:spPr>
        <p:txBody>
          <a:bodyPr>
            <a:normAutofit fontScale="77500" lnSpcReduction="20000"/>
          </a:bodyPr>
          <a:lstStyle/>
          <a:p>
            <a:r>
              <a:rPr lang="en-US" dirty="0" smtClean="0"/>
              <a:t>Fetch instruction</a:t>
            </a:r>
          </a:p>
          <a:p>
            <a:pPr lvl="1"/>
            <a:r>
              <a:rPr lang="en-US" dirty="0" smtClean="0"/>
              <a:t>The processor reads an instruction from memory (register, cache, main memory)</a:t>
            </a:r>
          </a:p>
          <a:p>
            <a:r>
              <a:rPr lang="en-US" dirty="0" smtClean="0"/>
              <a:t>Interpret instruction</a:t>
            </a:r>
          </a:p>
          <a:p>
            <a:pPr lvl="1"/>
            <a:r>
              <a:rPr lang="en-US" dirty="0" smtClean="0"/>
              <a:t>The instruction is decoded to determine what action is required</a:t>
            </a:r>
          </a:p>
          <a:p>
            <a:r>
              <a:rPr lang="en-US" dirty="0" smtClean="0"/>
              <a:t>Fetch data</a:t>
            </a:r>
          </a:p>
          <a:p>
            <a:pPr lvl="1"/>
            <a:r>
              <a:rPr lang="en-US" dirty="0" smtClean="0"/>
              <a:t>The execution of an instruction may require reading data from memory or an I/O module</a:t>
            </a:r>
          </a:p>
          <a:p>
            <a:r>
              <a:rPr lang="en-US" dirty="0" smtClean="0"/>
              <a:t>Process data</a:t>
            </a:r>
          </a:p>
          <a:p>
            <a:pPr lvl="1"/>
            <a:r>
              <a:rPr lang="en-US" dirty="0" smtClean="0"/>
              <a:t>The execution of an instruction may require performing some arithmetic or logical operation on data</a:t>
            </a:r>
          </a:p>
          <a:p>
            <a:r>
              <a:rPr lang="en-US" dirty="0" smtClean="0"/>
              <a:t>Write data</a:t>
            </a:r>
          </a:p>
          <a:p>
            <a:pPr lvl="1"/>
            <a:r>
              <a:rPr lang="en-US" dirty="0" smtClean="0"/>
              <a:t>The results of an execution may require writing data to memory or an I/O module</a:t>
            </a:r>
          </a:p>
          <a:p>
            <a:r>
              <a:rPr lang="en-US" dirty="0" smtClean="0"/>
              <a:t>In order to do these things the processor needs to store some data temporarily and therefore needs a small internal memory</a:t>
            </a:r>
            <a:endParaRPr lang="en-US" dirty="0"/>
          </a:p>
        </p:txBody>
      </p:sp>
      <p:sp>
        <p:nvSpPr>
          <p:cNvPr id="9" name="Text Placeholder 8"/>
          <p:cNvSpPr>
            <a:spLocks noGrp="1"/>
          </p:cNvSpPr>
          <p:nvPr>
            <p:ph type="body" sz="half" idx="2"/>
          </p:nvPr>
        </p:nvSpPr>
        <p:spPr>
          <a:xfrm>
            <a:off x="755576" y="1052736"/>
            <a:ext cx="7558960" cy="774700"/>
          </a:xfrm>
        </p:spPr>
        <p:txBody>
          <a:bodyPr/>
          <a:lstStyle/>
          <a:p>
            <a:r>
              <a:rPr lang="en-US" sz="2800" dirty="0" smtClean="0"/>
              <a:t>Processor Requirements:</a:t>
            </a:r>
            <a:endParaRPr lang="en-US" sz="2800" dirty="0"/>
          </a:p>
        </p:txBody>
      </p:sp>
      <p:pic>
        <p:nvPicPr>
          <p:cNvPr id="10" name="Picture 9"/>
          <p:cNvPicPr>
            <a:picLocks noChangeAspect="1"/>
          </p:cNvPicPr>
          <p:nvPr/>
        </p:nvPicPr>
        <p:blipFill>
          <a:blip r:embed="rId3"/>
          <a:stretch>
            <a:fillRect/>
          </a:stretch>
        </p:blipFill>
        <p:spPr>
          <a:xfrm rot="726868">
            <a:off x="6971827" y="478043"/>
            <a:ext cx="1786215" cy="1274312"/>
          </a:xfrm>
          <a:prstGeom prst="rect">
            <a:avLst/>
          </a:prstGeom>
          <a:effectLst/>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1.pdf"/>
          <p:cNvPicPr>
            <a:picLocks noChangeAspect="1"/>
          </p:cNvPicPr>
          <p:nvPr/>
        </p:nvPicPr>
        <p:blipFill rotWithShape="1">
          <a:blip r:embed="rId3">
            <a:extLst>
              <a:ext uri="{28A0092B-C50C-407E-A947-70E740481C1C}">
                <a14:useLocalDpi xmlns:a14="http://schemas.microsoft.com/office/drawing/2010/main" val="0"/>
              </a:ext>
            </a:extLst>
          </a:blip>
          <a:srcRect t="23191" b="14606"/>
          <a:stretch/>
        </p:blipFill>
        <p:spPr>
          <a:xfrm>
            <a:off x="251520" y="-35812"/>
            <a:ext cx="8446499" cy="6799180"/>
          </a:xfrm>
          <a:prstGeom prst="rect">
            <a:avLst/>
          </a:prstGeom>
        </p:spPr>
      </p:pic>
    </p:spTree>
  </p:cSld>
  <p:clrMapOvr>
    <a:masterClrMapping/>
  </p:clrMapOvr>
  <p:transition spd="med">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179512" y="6546694"/>
            <a:ext cx="8834790" cy="242016"/>
          </a:xfrm>
        </p:spPr>
        <p:txBody>
          <a:bodyPr/>
          <a:lstStyle/>
          <a:p>
            <a:pPr algn="ctr"/>
            <a:r>
              <a:rPr lang="en-US" dirty="0"/>
              <a:t>The </a:t>
            </a:r>
            <a:r>
              <a:rPr lang="en-US" b="1" dirty="0" err="1"/>
              <a:t>datapath</a:t>
            </a:r>
            <a:r>
              <a:rPr lang="en-US" b="1" dirty="0"/>
              <a:t> does the work</a:t>
            </a:r>
            <a:r>
              <a:rPr lang="en-US" dirty="0"/>
              <a:t>, while the </a:t>
            </a:r>
            <a:r>
              <a:rPr lang="en-US" b="1" dirty="0"/>
              <a:t>control path tells the </a:t>
            </a:r>
            <a:r>
              <a:rPr lang="en-US" b="1" dirty="0" err="1"/>
              <a:t>datapath</a:t>
            </a:r>
            <a:r>
              <a:rPr lang="en-US" b="1" dirty="0"/>
              <a:t> what work to do and when to do it</a:t>
            </a:r>
            <a:r>
              <a:rPr lang="en-US" dirty="0"/>
              <a:t>.</a:t>
            </a:r>
          </a:p>
        </p:txBody>
      </p:sp>
      <p:pic>
        <p:nvPicPr>
          <p:cNvPr id="3" name="Picture 2" descr="f2.pdf"/>
          <p:cNvPicPr>
            <a:picLocks noChangeAspect="1"/>
          </p:cNvPicPr>
          <p:nvPr/>
        </p:nvPicPr>
        <p:blipFill rotWithShape="1">
          <a:blip r:embed="rId3">
            <a:extLst>
              <a:ext uri="{28A0092B-C50C-407E-A947-70E740481C1C}">
                <a14:useLocalDpi xmlns:a14="http://schemas.microsoft.com/office/drawing/2010/main" val="0"/>
              </a:ext>
            </a:extLst>
          </a:blip>
          <a:srcRect t="4135" b="4539"/>
          <a:stretch/>
        </p:blipFill>
        <p:spPr>
          <a:xfrm>
            <a:off x="-252535" y="-75856"/>
            <a:ext cx="9384374" cy="6622550"/>
          </a:xfrm>
          <a:prstGeom prst="rect">
            <a:avLst/>
          </a:prstGeom>
        </p:spPr>
      </p:pic>
    </p:spTree>
  </p:cSld>
  <p:clrMapOvr>
    <a:masterClrMapping/>
  </p:clrMapOvr>
  <p:transition spd="med">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915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9156" name="Rectangle 4"/>
          <p:cNvSpPr>
            <a:spLocks noGrp="1" noChangeArrowheads="1"/>
          </p:cNvSpPr>
          <p:nvPr>
            <p:ph type="title"/>
          </p:nvPr>
        </p:nvSpPr>
        <p:spPr>
          <a:xfrm>
            <a:off x="685800" y="609600"/>
            <a:ext cx="7556313" cy="1116106"/>
          </a:xfrm>
          <a:noFill/>
          <a:ln/>
        </p:spPr>
        <p:txBody>
          <a:bodyPr lIns="90488" tIns="44450" rIns="90488" bIns="44450"/>
          <a:lstStyle/>
          <a:p>
            <a:r>
              <a:rPr lang="en-US" dirty="0" smtClean="0">
                <a:effectLst>
                  <a:outerShdw blurRad="38100" dist="38100" dir="2700000" algn="tl">
                    <a:srgbClr val="000000">
                      <a:alpha val="43137"/>
                    </a:srgbClr>
                  </a:outerShdw>
                </a:effectLst>
              </a:rPr>
              <a:t>Register Organization</a:t>
            </a:r>
            <a:endParaRPr lang="en-US" dirty="0">
              <a:effectLst>
                <a:outerShdw blurRad="38100" dist="38100" dir="2700000" algn="tl">
                  <a:srgbClr val="000000">
                    <a:alpha val="43137"/>
                  </a:srgbClr>
                </a:outerShdw>
              </a:effectLst>
            </a:endParaRPr>
          </a:p>
        </p:txBody>
      </p:sp>
      <p:sp>
        <p:nvSpPr>
          <p:cNvPr id="49157" name="Rectangle 5"/>
          <p:cNvSpPr>
            <a:spLocks noGrp="1" noChangeArrowheads="1"/>
          </p:cNvSpPr>
          <p:nvPr>
            <p:ph sz="half" idx="2"/>
          </p:nvPr>
        </p:nvSpPr>
        <p:spPr>
          <a:xfrm>
            <a:off x="533400" y="3657600"/>
            <a:ext cx="3657600" cy="2124635"/>
          </a:xfrm>
          <a:noFill/>
          <a:ln/>
        </p:spPr>
        <p:txBody>
          <a:bodyPr lIns="90488" tIns="44450" rIns="90488" bIns="44450"/>
          <a:lstStyle/>
          <a:p>
            <a:r>
              <a:rPr lang="en-US" dirty="0" smtClean="0"/>
              <a:t>Enable the machine or assembly language programmer to minimize main memory references by optimizing use of registers</a:t>
            </a:r>
            <a:endParaRPr lang="en-US" dirty="0"/>
          </a:p>
        </p:txBody>
      </p:sp>
      <p:sp>
        <p:nvSpPr>
          <p:cNvPr id="8" name="Content Placeholder 7"/>
          <p:cNvSpPr>
            <a:spLocks noGrp="1"/>
          </p:cNvSpPr>
          <p:nvPr>
            <p:ph sz="quarter" idx="4"/>
          </p:nvPr>
        </p:nvSpPr>
        <p:spPr>
          <a:xfrm>
            <a:off x="4419600" y="3657600"/>
            <a:ext cx="3657600" cy="2200835"/>
          </a:xfrm>
        </p:spPr>
        <p:txBody>
          <a:bodyPr/>
          <a:lstStyle/>
          <a:p>
            <a:r>
              <a:rPr lang="en-US" dirty="0" smtClean="0"/>
              <a:t>Used by the control unit to control the operation of the processor and by privileged operating system programs to control the execution of programs</a:t>
            </a:r>
            <a:endParaRPr lang="en-US" dirty="0"/>
          </a:p>
        </p:txBody>
      </p:sp>
      <p:sp>
        <p:nvSpPr>
          <p:cNvPr id="6" name="Text Placeholder 5"/>
          <p:cNvSpPr>
            <a:spLocks noGrp="1"/>
          </p:cNvSpPr>
          <p:nvPr>
            <p:ph type="body" idx="1"/>
          </p:nvPr>
        </p:nvSpPr>
        <p:spPr>
          <a:xfrm>
            <a:off x="533400" y="3200400"/>
            <a:ext cx="3657600" cy="322729"/>
          </a:xfrm>
        </p:spPr>
        <p:txBody>
          <a:bodyPr/>
          <a:lstStyle/>
          <a:p>
            <a:r>
              <a:rPr lang="en-US" dirty="0" smtClean="0"/>
              <a:t>User-Visible Registers</a:t>
            </a:r>
            <a:endParaRPr lang="en-US" dirty="0"/>
          </a:p>
        </p:txBody>
      </p:sp>
      <p:sp>
        <p:nvSpPr>
          <p:cNvPr id="7" name="Text Placeholder 6"/>
          <p:cNvSpPr>
            <a:spLocks noGrp="1"/>
          </p:cNvSpPr>
          <p:nvPr>
            <p:ph type="body" sz="quarter" idx="3"/>
          </p:nvPr>
        </p:nvSpPr>
        <p:spPr>
          <a:xfrm>
            <a:off x="4419600" y="3200400"/>
            <a:ext cx="3657600" cy="322729"/>
          </a:xfrm>
        </p:spPr>
        <p:txBody>
          <a:bodyPr/>
          <a:lstStyle/>
          <a:p>
            <a:r>
              <a:rPr lang="en-US" dirty="0" smtClean="0"/>
              <a:t>Control and Status Registers</a:t>
            </a:r>
            <a:endParaRPr lang="en-US" dirty="0"/>
          </a:p>
        </p:txBody>
      </p:sp>
      <p:sp>
        <p:nvSpPr>
          <p:cNvPr id="9" name="TextBox 8"/>
          <p:cNvSpPr txBox="1"/>
          <p:nvPr/>
        </p:nvSpPr>
        <p:spPr>
          <a:xfrm>
            <a:off x="685800" y="1600200"/>
            <a:ext cx="7162800" cy="1179810"/>
          </a:xfrm>
          <a:prstGeom prst="rect">
            <a:avLst/>
          </a:prstGeom>
          <a:noFill/>
        </p:spPr>
        <p:txBody>
          <a:bodyPr wrap="square" rtlCol="0">
            <a:spAutoFit/>
          </a:bodyPr>
          <a:lstStyle/>
          <a:p>
            <a:pPr marL="228600" indent="-228600" eaLnBrk="1" hangingPunct="1">
              <a:spcBef>
                <a:spcPts val="2000"/>
              </a:spcBef>
              <a:buClr>
                <a:schemeClr val="accent1"/>
              </a:buClr>
              <a:buSzPct val="75000"/>
              <a:buFont typeface="Wingdings" pitchFamily="2" charset="2"/>
              <a:buChar char="n"/>
            </a:pPr>
            <a:r>
              <a:rPr lang="en-US" sz="1800" dirty="0">
                <a:solidFill>
                  <a:schemeClr val="tx1">
                    <a:lumMod val="65000"/>
                    <a:lumOff val="35000"/>
                  </a:schemeClr>
                </a:solidFill>
                <a:latin typeface="+mn-lt"/>
              </a:rPr>
              <a:t>Within the processor there is a set of registers that function as a level of memory above main memory and cache in the </a:t>
            </a:r>
            <a:r>
              <a:rPr lang="en-US" sz="1800" dirty="0" smtClean="0">
                <a:solidFill>
                  <a:schemeClr val="tx1">
                    <a:lumMod val="65000"/>
                    <a:lumOff val="35000"/>
                  </a:schemeClr>
                </a:solidFill>
                <a:latin typeface="+mn-lt"/>
              </a:rPr>
              <a:t>hierarchy</a:t>
            </a:r>
          </a:p>
          <a:p>
            <a:pPr marL="228600" indent="-228600" eaLnBrk="1" hangingPunct="1">
              <a:spcBef>
                <a:spcPts val="2000"/>
              </a:spcBef>
              <a:buClr>
                <a:schemeClr val="accent1"/>
              </a:buClr>
              <a:buSzPct val="75000"/>
              <a:buFont typeface="Wingdings" pitchFamily="2" charset="2"/>
              <a:buChar char="n"/>
            </a:pPr>
            <a:r>
              <a:rPr lang="en-US" sz="1800" dirty="0" smtClean="0">
                <a:solidFill>
                  <a:schemeClr val="tx1">
                    <a:lumMod val="65000"/>
                    <a:lumOff val="35000"/>
                  </a:schemeClr>
                </a:solidFill>
                <a:latin typeface="+mn-lt"/>
              </a:rPr>
              <a:t>The registers in the processor perform two roles:</a:t>
            </a:r>
            <a:endParaRPr lang="en-US" sz="1800" dirty="0">
              <a:solidFill>
                <a:schemeClr val="tx1">
                  <a:lumMod val="65000"/>
                  <a:lumOff val="35000"/>
                </a:schemeClr>
              </a:solidFill>
              <a:latin typeface="+mn-lt"/>
            </a:endParaRPr>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120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1204" name="Rectangle 4"/>
          <p:cNvSpPr>
            <a:spLocks noGrp="1" noChangeArrowheads="1"/>
          </p:cNvSpPr>
          <p:nvPr>
            <p:ph type="title" idx="4294967295"/>
          </p:nvPr>
        </p:nvSpPr>
        <p:spPr>
          <a:xfrm>
            <a:off x="304800" y="304800"/>
            <a:ext cx="7556500" cy="1116012"/>
          </a:xfrm>
          <a:noFill/>
          <a:ln/>
        </p:spPr>
        <p:txBody>
          <a:bodyPr lIns="90488" tIns="44450" rIns="90488" bIns="44450"/>
          <a:lstStyle/>
          <a:p>
            <a:r>
              <a:rPr lang="en-US" dirty="0" smtClean="0">
                <a:effectLst>
                  <a:outerShdw blurRad="38100" dist="38100" dir="2700000" algn="tl">
                    <a:srgbClr val="000000">
                      <a:alpha val="43137"/>
                    </a:srgbClr>
                  </a:outerShdw>
                </a:effectLst>
              </a:rPr>
              <a:t>User-Visible </a:t>
            </a:r>
            <a:r>
              <a:rPr lang="en-US" dirty="0">
                <a:effectLst>
                  <a:outerShdw blurRad="38100" dist="38100" dir="2700000" algn="tl">
                    <a:srgbClr val="000000">
                      <a:alpha val="43137"/>
                    </a:srgbClr>
                  </a:outerShdw>
                </a:effectLst>
              </a:rPr>
              <a:t>Registers</a:t>
            </a:r>
          </a:p>
        </p:txBody>
      </p:sp>
      <p:graphicFrame>
        <p:nvGraphicFramePr>
          <p:cNvPr id="17" name="Content Placeholder 16"/>
          <p:cNvGraphicFramePr>
            <a:graphicFrameLocks noGrp="1"/>
          </p:cNvGraphicFramePr>
          <p:nvPr>
            <p:ph idx="4294967295"/>
            <p:extLst>
              <p:ext uri="{D42A27DB-BD31-4B8C-83A1-F6EECF244321}">
                <p14:modId xmlns:p14="http://schemas.microsoft.com/office/powerpoint/2010/main" val="448705426"/>
              </p:ext>
            </p:extLst>
          </p:nvPr>
        </p:nvGraphicFramePr>
        <p:xfrm>
          <a:off x="0" y="0"/>
          <a:ext cx="91440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73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7348" name="Rectangle 4"/>
          <p:cNvSpPr>
            <a:spLocks noGrp="1" noChangeArrowheads="1"/>
          </p:cNvSpPr>
          <p:nvPr>
            <p:ph type="title" idx="4294967295"/>
          </p:nvPr>
        </p:nvSpPr>
        <p:spPr>
          <a:xfrm>
            <a:off x="533400" y="381000"/>
            <a:ext cx="7556500" cy="1116012"/>
          </a:xfrm>
          <a:noFill/>
          <a:ln/>
        </p:spPr>
        <p:txBody>
          <a:bodyPr lIns="90488" tIns="44450" rIns="90488" bIns="44450"/>
          <a:lstStyle/>
          <a:p>
            <a:pPr algn="ctr"/>
            <a:r>
              <a:rPr lang="en-US" dirty="0" smtClean="0">
                <a:solidFill>
                  <a:schemeClr val="tx1"/>
                </a:solidFill>
              </a:rPr>
              <a:t>Table 14.1</a:t>
            </a:r>
            <a:br>
              <a:rPr lang="en-US" dirty="0" smtClean="0">
                <a:solidFill>
                  <a:schemeClr val="tx1"/>
                </a:solidFill>
              </a:rPr>
            </a:br>
            <a:r>
              <a:rPr lang="en-US" dirty="0" smtClean="0">
                <a:solidFill>
                  <a:schemeClr val="tx1"/>
                </a:solidFill>
              </a:rPr>
              <a:t>Condition Codes</a:t>
            </a:r>
            <a:endParaRPr lang="en-US" dirty="0">
              <a:solidFill>
                <a:schemeClr val="tx1"/>
              </a:solidFill>
            </a:endParaRPr>
          </a:p>
        </p:txBody>
      </p:sp>
      <p:pic>
        <p:nvPicPr>
          <p:cNvPr id="7" name="Picture 6"/>
          <p:cNvPicPr>
            <a:picLocks noChangeAspect="1"/>
          </p:cNvPicPr>
          <p:nvPr/>
        </p:nvPicPr>
        <p:blipFill>
          <a:blip r:embed="rId3"/>
          <a:stretch>
            <a:fillRect/>
          </a:stretch>
        </p:blipFill>
        <p:spPr>
          <a:xfrm>
            <a:off x="304800" y="1828800"/>
            <a:ext cx="8536988" cy="4722968"/>
          </a:xfrm>
          <a:prstGeom prst="rect">
            <a:avLst/>
          </a:prstGeom>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34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349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Control</a:t>
            </a:r>
            <a:r>
              <a:rPr lang="en-US" dirty="0" smtClean="0">
                <a:effectLst>
                  <a:outerShdw blurRad="38100" dist="38100" dir="2700000" algn="tl">
                    <a:srgbClr val="000000">
                      <a:alpha val="43137"/>
                    </a:srgbClr>
                  </a:outerShdw>
                </a:effectLst>
              </a:rPr>
              <a:t> and </a:t>
            </a:r>
            <a:r>
              <a:rPr lang="en-US" dirty="0">
                <a:effectLst>
                  <a:outerShdw blurRad="38100" dist="38100" dir="2700000" algn="tl">
                    <a:srgbClr val="000000">
                      <a:alpha val="43137"/>
                    </a:srgbClr>
                  </a:outerShdw>
                </a:effectLst>
              </a:rPr>
              <a:t>Status Registers</a:t>
            </a:r>
          </a:p>
        </p:txBody>
      </p:sp>
      <p:sp>
        <p:nvSpPr>
          <p:cNvPr id="6" name="Content Placeholder 5"/>
          <p:cNvSpPr>
            <a:spLocks noGrp="1"/>
          </p:cNvSpPr>
          <p:nvPr>
            <p:ph idx="1"/>
          </p:nvPr>
        </p:nvSpPr>
        <p:spPr/>
        <p:txBody>
          <a:bodyPr/>
          <a:lstStyle/>
          <a:p>
            <a:r>
              <a:rPr lang="en-US" dirty="0" smtClean="0"/>
              <a:t>Program counter (PC)</a:t>
            </a:r>
          </a:p>
          <a:p>
            <a:pPr lvl="1"/>
            <a:r>
              <a:rPr lang="en-US" dirty="0" smtClean="0"/>
              <a:t>Contains the address of an instruction to be fetched</a:t>
            </a:r>
          </a:p>
          <a:p>
            <a:r>
              <a:rPr lang="en-US" dirty="0" smtClean="0"/>
              <a:t>Instruction register (IR)</a:t>
            </a:r>
          </a:p>
          <a:p>
            <a:pPr lvl="1"/>
            <a:r>
              <a:rPr lang="en-US" dirty="0" smtClean="0"/>
              <a:t>Contains the instruction most recently fetched</a:t>
            </a:r>
          </a:p>
          <a:p>
            <a:r>
              <a:rPr lang="en-US" dirty="0" smtClean="0"/>
              <a:t>Memory address register (MAR)</a:t>
            </a:r>
          </a:p>
          <a:p>
            <a:pPr lvl="1"/>
            <a:r>
              <a:rPr lang="en-US" dirty="0" smtClean="0"/>
              <a:t>Contains the address of a location in memory</a:t>
            </a:r>
          </a:p>
          <a:p>
            <a:r>
              <a:rPr lang="en-US" dirty="0" smtClean="0"/>
              <a:t>Memory buffer register (MBR)</a:t>
            </a:r>
          </a:p>
          <a:p>
            <a:pPr lvl="1"/>
            <a:r>
              <a:rPr lang="en-US" dirty="0" smtClean="0"/>
              <a:t>Contains a word of data to be written to memory or the word most recently read</a:t>
            </a:r>
            <a:endParaRPr lang="en-US" dirty="0"/>
          </a:p>
        </p:txBody>
      </p:sp>
      <p:sp>
        <p:nvSpPr>
          <p:cNvPr id="7" name="Text Placeholder 6"/>
          <p:cNvSpPr>
            <a:spLocks noGrp="1"/>
          </p:cNvSpPr>
          <p:nvPr>
            <p:ph type="body" sz="half" idx="2"/>
          </p:nvPr>
        </p:nvSpPr>
        <p:spPr>
          <a:xfrm>
            <a:off x="609600" y="1295400"/>
            <a:ext cx="7101760" cy="774700"/>
          </a:xfrm>
        </p:spPr>
        <p:txBody>
          <a:bodyPr/>
          <a:lstStyle/>
          <a:p>
            <a:r>
              <a:rPr lang="en-US" sz="2300" dirty="0" smtClean="0"/>
              <a:t>Four registers are essential to instruction execution:</a:t>
            </a:r>
            <a:endParaRPr lang="en-US" sz="2300"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5" name="Picture 4"/>
          <p:cNvPicPr>
            <a:picLocks noChangeAspect="1"/>
          </p:cNvPicPr>
          <p:nvPr/>
        </p:nvPicPr>
        <p:blipFill>
          <a:blip r:embed="rId3"/>
          <a:stretch>
            <a:fillRect/>
          </a:stretch>
        </p:blipFill>
        <p:spPr>
          <a:xfrm rot="21279353">
            <a:off x="6438439" y="2867230"/>
            <a:ext cx="1923814" cy="1512168"/>
          </a:xfrm>
          <a:prstGeom prst="rect">
            <a:avLst/>
          </a:prstGeom>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553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5542" name="Rectangle 6"/>
          <p:cNvSpPr>
            <a:spLocks noGrp="1" noChangeArrowheads="1"/>
          </p:cNvSpPr>
          <p:nvPr>
            <p:ph type="title"/>
          </p:nvPr>
        </p:nvSpPr>
        <p:spPr>
          <a:xfrm>
            <a:off x="539552" y="332656"/>
            <a:ext cx="7556313" cy="1116106"/>
          </a:xfrm>
        </p:spPr>
        <p:txBody>
          <a:bodyPr/>
          <a:lstStyle/>
          <a:p>
            <a:r>
              <a:rPr lang="en-US" dirty="0">
                <a:effectLst>
                  <a:outerShdw blurRad="38100" dist="38100" dir="2700000" algn="tl">
                    <a:srgbClr val="000000">
                      <a:alpha val="43137"/>
                    </a:srgbClr>
                  </a:outerShdw>
                </a:effectLst>
              </a:rPr>
              <a:t>Program Status </a:t>
            </a:r>
            <a:r>
              <a:rPr lang="en-US" dirty="0" smtClean="0">
                <a:effectLst>
                  <a:outerShdw blurRad="38100" dist="38100" dir="2700000" algn="tl">
                    <a:srgbClr val="000000">
                      <a:alpha val="43137"/>
                    </a:srgbClr>
                  </a:outerShdw>
                </a:effectLst>
              </a:rPr>
              <a:t>Word (PSW)</a:t>
            </a:r>
            <a:endParaRPr lang="en-US" dirty="0">
              <a:effectLst>
                <a:outerShdw blurRad="38100" dist="38100" dir="2700000" algn="tl">
                  <a:srgbClr val="000000">
                    <a:alpha val="43137"/>
                  </a:srgbClr>
                </a:outerShdw>
              </a:effectLst>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892467208"/>
              </p:ext>
            </p:extLst>
          </p:nvPr>
        </p:nvGraphicFramePr>
        <p:xfrm>
          <a:off x="251520" y="1340768"/>
          <a:ext cx="8404350"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3.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544" y="-243408"/>
            <a:ext cx="9001000" cy="6955318"/>
          </a:xfrm>
          <a:prstGeom prst="rect">
            <a:avLst/>
          </a:prstGeom>
        </p:spPr>
      </p:pic>
    </p:spTree>
  </p:cSld>
  <p:clrMapOvr>
    <a:masterClrMapping/>
  </p:clrMapOvr>
  <p:transition spd="med">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373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3732" name="Rectangle 4"/>
          <p:cNvSpPr>
            <a:spLocks noGrp="1" noChangeArrowheads="1"/>
          </p:cNvSpPr>
          <p:nvPr>
            <p:ph type="title" idx="4294967295"/>
          </p:nvPr>
        </p:nvSpPr>
        <p:spPr>
          <a:xfrm>
            <a:off x="6084168" y="692696"/>
            <a:ext cx="2667000" cy="1116013"/>
          </a:xfrm>
          <a:noFill/>
          <a:ln/>
        </p:spPr>
        <p:txBody>
          <a:bodyPr lIns="90488" tIns="44450" rIns="90488" bIns="44450"/>
          <a:lstStyle/>
          <a:p>
            <a:pPr algn="ctr"/>
            <a:r>
              <a:rPr lang="en-US" dirty="0">
                <a:effectLst>
                  <a:outerShdw blurRad="38100" dist="38100" dir="2700000" algn="tl">
                    <a:srgbClr val="000000">
                      <a:alpha val="43137"/>
                    </a:srgbClr>
                  </a:outerShdw>
                </a:effectLst>
              </a:rPr>
              <a:t>Instruction Cycle</a:t>
            </a:r>
          </a:p>
        </p:txBody>
      </p:sp>
      <p:graphicFrame>
        <p:nvGraphicFramePr>
          <p:cNvPr id="20" name="Content Placeholder 19"/>
          <p:cNvGraphicFramePr>
            <a:graphicFrameLocks noGrp="1"/>
          </p:cNvGraphicFramePr>
          <p:nvPr>
            <p:ph idx="4294967295"/>
            <p:extLst>
              <p:ext uri="{D42A27DB-BD31-4B8C-83A1-F6EECF244321}">
                <p14:modId xmlns:p14="http://schemas.microsoft.com/office/powerpoint/2010/main" val="830777017"/>
              </p:ext>
            </p:extLst>
          </p:nvPr>
        </p:nvGraphicFramePr>
        <p:xfrm>
          <a:off x="-71531" y="202935"/>
          <a:ext cx="9036496" cy="612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12860" y="188640"/>
            <a:ext cx="9000876" cy="6408712"/>
          </a:xfrm>
          <a:prstGeom prst="rect">
            <a:avLst/>
          </a:prstGeom>
        </p:spPr>
      </p:pic>
      <p:sp>
        <p:nvSpPr>
          <p:cNvPr id="5" name="Rectangle 4"/>
          <p:cNvSpPr/>
          <p:nvPr/>
        </p:nvSpPr>
        <p:spPr>
          <a:xfrm>
            <a:off x="4413403" y="5157192"/>
            <a:ext cx="4572000" cy="954107"/>
          </a:xfrm>
          <a:prstGeom prst="rect">
            <a:avLst/>
          </a:prstGeom>
        </p:spPr>
        <p:txBody>
          <a:bodyPr>
            <a:spAutoFit/>
          </a:bodyPr>
          <a:lstStyle/>
          <a:p>
            <a:r>
              <a:rPr lang="en-US" sz="1400" dirty="0" smtClean="0"/>
              <a:t>Normally, when the CPU reads an instruction, it directly gets the data it needs. But sometimes, the instruction does not contain the actual data address—it contains a </a:t>
            </a:r>
            <a:r>
              <a:rPr lang="en-US" sz="1400" b="1" dirty="0" smtClean="0"/>
              <a:t>pointer to another address</a:t>
            </a:r>
            <a:r>
              <a:rPr lang="en-US" sz="1400" dirty="0" smtClean="0"/>
              <a:t>. This is called </a:t>
            </a:r>
            <a:r>
              <a:rPr lang="en-US" sz="1400" b="1" dirty="0" smtClean="0"/>
              <a:t>indirect addressing</a:t>
            </a:r>
            <a:r>
              <a:rPr lang="en-US" sz="1400" dirty="0" smtClean="0"/>
              <a:t>.</a:t>
            </a:r>
            <a:endParaRPr lang="en-US" sz="1400" dirty="0"/>
          </a:p>
        </p:txBody>
      </p:sp>
      <p:cxnSp>
        <p:nvCxnSpPr>
          <p:cNvPr id="7" name="Straight Arrow Connector 6"/>
          <p:cNvCxnSpPr/>
          <p:nvPr/>
        </p:nvCxnSpPr>
        <p:spPr>
          <a:xfrm>
            <a:off x="7380312" y="3789040"/>
            <a:ext cx="0" cy="1224136"/>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5.pdf"/>
          <p:cNvPicPr>
            <a:picLocks noChangeAspect="1"/>
          </p:cNvPicPr>
          <p:nvPr/>
        </p:nvPicPr>
        <p:blipFill rotWithShape="1">
          <a:blip r:embed="rId3">
            <a:extLst>
              <a:ext uri="{28A0092B-C50C-407E-A947-70E740481C1C}">
                <a14:useLocalDpi xmlns:a14="http://schemas.microsoft.com/office/drawing/2010/main" val="0"/>
              </a:ext>
            </a:extLst>
          </a:blip>
          <a:srcRect t="17618" b="9753"/>
          <a:stretch/>
        </p:blipFill>
        <p:spPr>
          <a:xfrm>
            <a:off x="827584" y="-315416"/>
            <a:ext cx="7515731" cy="7064092"/>
          </a:xfrm>
          <a:prstGeom prst="rect">
            <a:avLst/>
          </a:prstGeom>
        </p:spPr>
      </p:pic>
    </p:spTree>
  </p:cSld>
  <p:clrMapOvr>
    <a:masterClrMapping/>
  </p:clrMapOvr>
  <p:transition spd="med">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6.pdf"/>
          <p:cNvPicPr>
            <a:picLocks noChangeAspect="1"/>
          </p:cNvPicPr>
          <p:nvPr/>
        </p:nvPicPr>
        <p:blipFill rotWithShape="1">
          <a:blip r:embed="rId3">
            <a:extLst>
              <a:ext uri="{28A0092B-C50C-407E-A947-70E740481C1C}">
                <a14:useLocalDpi xmlns:a14="http://schemas.microsoft.com/office/drawing/2010/main" val="0"/>
              </a:ext>
            </a:extLst>
          </a:blip>
          <a:srcRect t="21215" b="14965"/>
          <a:stretch/>
        </p:blipFill>
        <p:spPr>
          <a:xfrm>
            <a:off x="464123" y="-310788"/>
            <a:ext cx="8679878" cy="7168788"/>
          </a:xfrm>
          <a:prstGeom prst="rect">
            <a:avLst/>
          </a:prstGeom>
        </p:spPr>
      </p:pic>
    </p:spTree>
  </p:cSld>
  <p:clrMapOvr>
    <a:masterClrMapping/>
  </p:clrMapOvr>
  <p:transition spd="med">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7.pdf"/>
          <p:cNvPicPr>
            <a:picLocks noChangeAspect="1"/>
          </p:cNvPicPr>
          <p:nvPr/>
        </p:nvPicPr>
        <p:blipFill rotWithShape="1">
          <a:blip r:embed="rId3">
            <a:extLst>
              <a:ext uri="{28A0092B-C50C-407E-A947-70E740481C1C}">
                <a14:useLocalDpi xmlns:a14="http://schemas.microsoft.com/office/drawing/2010/main" val="0"/>
              </a:ext>
            </a:extLst>
          </a:blip>
          <a:srcRect t="21213" b="22877"/>
          <a:stretch/>
        </p:blipFill>
        <p:spPr>
          <a:xfrm>
            <a:off x="-540568" y="-315416"/>
            <a:ext cx="10013818" cy="7245424"/>
          </a:xfrm>
          <a:prstGeom prst="rect">
            <a:avLst/>
          </a:prstGeom>
        </p:spPr>
      </p:pic>
    </p:spTree>
  </p:cSld>
  <p:clrMapOvr>
    <a:masterClrMapping/>
  </p:clrMapOvr>
  <p:transition spd="med">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8.pdf"/>
          <p:cNvPicPr>
            <a:picLocks noChangeAspect="1"/>
          </p:cNvPicPr>
          <p:nvPr/>
        </p:nvPicPr>
        <p:blipFill rotWithShape="1">
          <a:blip r:embed="rId3">
            <a:extLst>
              <a:ext uri="{28A0092B-C50C-407E-A947-70E740481C1C}">
                <a14:useLocalDpi xmlns:a14="http://schemas.microsoft.com/office/drawing/2010/main" val="0"/>
              </a:ext>
            </a:extLst>
          </a:blip>
          <a:srcRect t="21033" b="18023"/>
          <a:stretch/>
        </p:blipFill>
        <p:spPr>
          <a:xfrm>
            <a:off x="-22389" y="-315416"/>
            <a:ext cx="8934953" cy="7046859"/>
          </a:xfrm>
          <a:prstGeom prst="rect">
            <a:avLst/>
          </a:prstGeom>
        </p:spPr>
      </p:pic>
    </p:spTree>
  </p:cSld>
  <p:clrMapOvr>
    <a:masterClrMapping/>
  </p:clrMapOvr>
  <p:transition spd="med">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987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9876" name="Rectangle 4"/>
          <p:cNvSpPr>
            <a:spLocks noGrp="1" noChangeArrowheads="1"/>
          </p:cNvSpPr>
          <p:nvPr>
            <p:ph type="title" idx="4294967295"/>
          </p:nvPr>
        </p:nvSpPr>
        <p:spPr>
          <a:xfrm>
            <a:off x="793750" y="2204864"/>
            <a:ext cx="7556500" cy="4968552"/>
          </a:xfrm>
          <a:noFill/>
          <a:ln/>
        </p:spPr>
        <p:txBody>
          <a:bodyPr lIns="90488" tIns="44450" rIns="90488" bIns="44450"/>
          <a:lstStyle/>
          <a:p>
            <a:r>
              <a:rPr lang="en-US" sz="5400" dirty="0" smtClean="0">
                <a:effectLst>
                  <a:outerShdw blurRad="38100" dist="38100" dir="2700000" algn="tl">
                    <a:srgbClr val="000000">
                      <a:alpha val="43137"/>
                    </a:srgbClr>
                  </a:outerShdw>
                </a:effectLst>
              </a:rPr>
              <a:t>Pipelining Topic – </a:t>
            </a:r>
            <a:br>
              <a:rPr lang="en-US" sz="5400" dirty="0" smtClean="0">
                <a:effectLst>
                  <a:outerShdw blurRad="38100" dist="38100" dir="2700000" algn="tl">
                    <a:srgbClr val="000000">
                      <a:alpha val="43137"/>
                    </a:srgbClr>
                  </a:outerShdw>
                </a:effectLst>
              </a:rPr>
            </a:br>
            <a:r>
              <a:rPr lang="en-US" sz="5400" dirty="0" smtClean="0">
                <a:effectLst>
                  <a:outerShdw blurRad="38100" dist="38100" dir="2700000" algn="tl">
                    <a:srgbClr val="000000">
                      <a:alpha val="43137"/>
                    </a:srgbClr>
                  </a:outerShdw>
                </a:effectLst>
              </a:rPr>
              <a:t>Presented by Section A </a:t>
            </a:r>
            <a:endParaRPr lang="en-US" sz="5400" dirty="0">
              <a:effectLst>
                <a:outerShdw blurRad="38100" dist="38100" dir="2700000" algn="tl">
                  <a:srgbClr val="000000">
                    <a:alpha val="43137"/>
                  </a:srgbClr>
                </a:outerShdw>
              </a:effectLst>
            </a:endParaRPr>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
        <p:nvSpPr>
          <p:cNvPr id="144386" name="Rectangle 2"/>
          <p:cNvSpPr>
            <a:spLocks noGrp="1" noChangeArrowheads="1"/>
          </p:cNvSpPr>
          <p:nvPr>
            <p:ph type="title" idx="4294967295"/>
          </p:nvPr>
        </p:nvSpPr>
        <p:spPr>
          <a:xfrm>
            <a:off x="323528" y="260648"/>
            <a:ext cx="7556500" cy="1116012"/>
          </a:xfrm>
        </p:spPr>
        <p:txBody>
          <a:bodyPr/>
          <a:lstStyle/>
          <a:p>
            <a:r>
              <a:rPr lang="en-GB" dirty="0">
                <a:effectLst>
                  <a:outerShdw blurRad="38100" dist="38100" dir="2700000" algn="tl">
                    <a:srgbClr val="000000">
                      <a:alpha val="43137"/>
                    </a:srgbClr>
                  </a:outerShdw>
                </a:effectLst>
              </a:rPr>
              <a:t>Intel 80486 Pipelining</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4063791045"/>
              </p:ext>
            </p:extLst>
          </p:nvPr>
        </p:nvGraphicFramePr>
        <p:xfrm>
          <a:off x="179512" y="980728"/>
          <a:ext cx="8712968" cy="54408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21.pdf"/>
          <p:cNvPicPr>
            <a:picLocks noChangeAspect="1"/>
          </p:cNvPicPr>
          <p:nvPr/>
        </p:nvPicPr>
        <p:blipFill rotWithShape="1">
          <a:blip r:embed="rId3">
            <a:extLst>
              <a:ext uri="{28A0092B-C50C-407E-A947-70E740481C1C}">
                <a14:useLocalDpi xmlns:a14="http://schemas.microsoft.com/office/drawing/2010/main" val="0"/>
              </a:ext>
            </a:extLst>
          </a:blip>
          <a:srcRect t="7552" b="8854"/>
          <a:stretch/>
        </p:blipFill>
        <p:spPr>
          <a:xfrm>
            <a:off x="1403648" y="-38296"/>
            <a:ext cx="6192688" cy="6699399"/>
          </a:xfrm>
          <a:prstGeom prst="rect">
            <a:avLst/>
          </a:prstGeom>
        </p:spPr>
      </p:pic>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Interrupt </a:t>
            </a:r>
            <a:r>
              <a:rPr lang="en-GB" dirty="0">
                <a:effectLst>
                  <a:outerShdw blurRad="38100" dist="38100" dir="2700000" algn="tl">
                    <a:srgbClr val="000000">
                      <a:alpha val="43137"/>
                    </a:srgbClr>
                  </a:outerShdw>
                </a:effectLst>
              </a:rPr>
              <a:t>Processing</a:t>
            </a:r>
          </a:p>
        </p:txBody>
      </p:sp>
      <p:sp>
        <p:nvSpPr>
          <p:cNvPr id="151555" name="Rectangle 3"/>
          <p:cNvSpPr>
            <a:spLocks noGrp="1" noChangeArrowheads="1"/>
          </p:cNvSpPr>
          <p:nvPr>
            <p:ph idx="1"/>
          </p:nvPr>
        </p:nvSpPr>
        <p:spPr>
          <a:xfrm>
            <a:off x="533400" y="1981200"/>
            <a:ext cx="7556313" cy="4495800"/>
          </a:xfrm>
        </p:spPr>
        <p:txBody>
          <a:bodyPr>
            <a:normAutofit fontScale="92500" lnSpcReduction="10000"/>
          </a:bodyPr>
          <a:lstStyle/>
          <a:p>
            <a:r>
              <a:rPr lang="en-GB" dirty="0" smtClean="0"/>
              <a:t>Interrupts – external signals</a:t>
            </a:r>
          </a:p>
          <a:p>
            <a:pPr lvl="1"/>
            <a:r>
              <a:rPr lang="en-GB" dirty="0" smtClean="0"/>
              <a:t>Generated by a signal from hardware and it may occur at random times during the execution of a program</a:t>
            </a:r>
          </a:p>
          <a:p>
            <a:pPr lvl="1"/>
            <a:r>
              <a:rPr lang="en-GB" dirty="0"/>
              <a:t>Maskable</a:t>
            </a:r>
          </a:p>
          <a:p>
            <a:pPr lvl="1"/>
            <a:r>
              <a:rPr lang="en-GB" dirty="0"/>
              <a:t>Nonmaskable</a:t>
            </a:r>
          </a:p>
          <a:p>
            <a:r>
              <a:rPr lang="en-GB" smtClean="0"/>
              <a:t>Exceptions - internal errors</a:t>
            </a:r>
            <a:endParaRPr lang="en-GB" dirty="0" smtClean="0"/>
          </a:p>
          <a:p>
            <a:pPr lvl="1"/>
            <a:r>
              <a:rPr lang="en-GB" dirty="0" smtClean="0"/>
              <a:t>Generated from software and is provoked by the execution of an instruction</a:t>
            </a:r>
          </a:p>
          <a:p>
            <a:pPr lvl="1"/>
            <a:r>
              <a:rPr lang="en-GB" dirty="0"/>
              <a:t>Processor detected</a:t>
            </a:r>
          </a:p>
          <a:p>
            <a:pPr lvl="1"/>
            <a:r>
              <a:rPr lang="en-GB" dirty="0"/>
              <a:t>Programmed</a:t>
            </a:r>
          </a:p>
          <a:p>
            <a:r>
              <a:rPr lang="en-GB" dirty="0"/>
              <a:t>Interrupt vector table</a:t>
            </a:r>
          </a:p>
          <a:p>
            <a:pPr lvl="1"/>
            <a:r>
              <a:rPr lang="en-GB" dirty="0" smtClean="0"/>
              <a:t>Every type of interrupt is </a:t>
            </a:r>
            <a:r>
              <a:rPr lang="en-GB" dirty="0"/>
              <a:t>assigned a number</a:t>
            </a:r>
            <a:endParaRPr lang="en-GB" dirty="0" smtClean="0"/>
          </a:p>
          <a:p>
            <a:pPr lvl="1"/>
            <a:r>
              <a:rPr lang="en-GB" dirty="0" smtClean="0"/>
              <a:t>Number is used to index into the interrupt vector table</a:t>
            </a:r>
          </a:p>
        </p:txBody>
      </p:sp>
      <p:sp>
        <p:nvSpPr>
          <p:cNvPr id="4" name="Text Placeholder 3"/>
          <p:cNvSpPr>
            <a:spLocks noGrp="1"/>
          </p:cNvSpPr>
          <p:nvPr>
            <p:ph type="body" sz="half" idx="2"/>
          </p:nvPr>
        </p:nvSpPr>
        <p:spPr>
          <a:xfrm>
            <a:off x="609600" y="1295400"/>
            <a:ext cx="7558960" cy="608853"/>
          </a:xfrm>
        </p:spPr>
        <p:txBody>
          <a:bodyPr/>
          <a:lstStyle/>
          <a:p>
            <a:r>
              <a:rPr lang="en-US" dirty="0" smtClean="0"/>
              <a:t>Interrupts and Exceptions</a:t>
            </a:r>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a:p>
        </p:txBody>
      </p:sp>
      <p:pic>
        <p:nvPicPr>
          <p:cNvPr id="5" name="Picture 4"/>
          <p:cNvPicPr>
            <a:picLocks noChangeAspect="1"/>
          </p:cNvPicPr>
          <p:nvPr/>
        </p:nvPicPr>
        <p:blipFill>
          <a:blip r:embed="rId3"/>
          <a:stretch>
            <a:fillRect/>
          </a:stretch>
        </p:blipFill>
        <p:spPr>
          <a:xfrm>
            <a:off x="179512" y="116632"/>
            <a:ext cx="7272808" cy="5994741"/>
          </a:xfrm>
          <a:prstGeom prst="rect">
            <a:avLst/>
          </a:prstGeom>
        </p:spPr>
      </p:pic>
      <p:sp>
        <p:nvSpPr>
          <p:cNvPr id="7" name="TextBox 6"/>
          <p:cNvSpPr txBox="1"/>
          <p:nvPr/>
        </p:nvSpPr>
        <p:spPr>
          <a:xfrm>
            <a:off x="179512" y="6013518"/>
            <a:ext cx="1743536" cy="830997"/>
          </a:xfrm>
          <a:prstGeom prst="rect">
            <a:avLst/>
          </a:prstGeom>
          <a:noFill/>
        </p:spPr>
        <p:txBody>
          <a:bodyPr wrap="none" rtlCol="0">
            <a:spAutoFit/>
          </a:bodyPr>
          <a:lstStyle/>
          <a:p>
            <a:r>
              <a:rPr lang="en-US" sz="1200" dirty="0" err="1">
                <a:latin typeface="+mn-lt"/>
              </a:rPr>
              <a:t>Unshaded</a:t>
            </a:r>
            <a:r>
              <a:rPr lang="en-US" sz="1200" dirty="0">
                <a:latin typeface="+mn-lt"/>
              </a:rPr>
              <a:t>: exceptions</a:t>
            </a:r>
          </a:p>
          <a:p>
            <a:r>
              <a:rPr lang="en-US" sz="1200" dirty="0">
                <a:latin typeface="+mn-lt"/>
              </a:rPr>
              <a:t>Shaded: interrupts</a:t>
            </a:r>
          </a:p>
          <a:p>
            <a:endParaRPr lang="en-US" dirty="0"/>
          </a:p>
        </p:txBody>
      </p:sp>
      <p:sp>
        <p:nvSpPr>
          <p:cNvPr id="8" name="TextBox 7"/>
          <p:cNvSpPr txBox="1"/>
          <p:nvPr/>
        </p:nvSpPr>
        <p:spPr>
          <a:xfrm>
            <a:off x="7524328" y="1628800"/>
            <a:ext cx="1691680" cy="2246769"/>
          </a:xfrm>
          <a:prstGeom prst="rect">
            <a:avLst/>
          </a:prstGeom>
          <a:noFill/>
        </p:spPr>
        <p:txBody>
          <a:bodyPr wrap="square" rtlCol="0">
            <a:spAutoFit/>
          </a:bodyPr>
          <a:lstStyle/>
          <a:p>
            <a:pPr algn="ctr"/>
            <a:r>
              <a:rPr lang="en-US" sz="2000" dirty="0">
                <a:latin typeface="+mn-lt"/>
              </a:rPr>
              <a:t>Table 14.3  </a:t>
            </a:r>
            <a:endParaRPr lang="en-US" sz="2000" dirty="0" smtClean="0">
              <a:latin typeface="+mn-lt"/>
            </a:endParaRPr>
          </a:p>
          <a:p>
            <a:pPr algn="ctr"/>
            <a:endParaRPr lang="en-US" sz="2000" dirty="0">
              <a:latin typeface="+mn-lt"/>
            </a:endParaRPr>
          </a:p>
          <a:p>
            <a:pPr algn="ctr"/>
            <a:r>
              <a:rPr lang="en-US" sz="2000" dirty="0" smtClean="0">
                <a:latin typeface="+mn-lt"/>
              </a:rPr>
              <a:t>x86 </a:t>
            </a:r>
            <a:r>
              <a:rPr lang="en-US" sz="2000" dirty="0">
                <a:latin typeface="+mn-lt"/>
              </a:rPr>
              <a:t>Exception and Interrupt Vector Table </a:t>
            </a:r>
          </a:p>
        </p:txBody>
      </p:sp>
    </p:spTree>
  </p:cSld>
  <p:clrMapOvr>
    <a:masterClrMapping/>
  </p:clrMapOvr>
  <p:transition spd="med">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539552" y="2276872"/>
            <a:ext cx="3657600" cy="4464496"/>
          </a:xfrm>
        </p:spPr>
        <p:txBody>
          <a:bodyPr>
            <a:normAutofit/>
          </a:bodyPr>
          <a:lstStyle/>
          <a:p>
            <a:r>
              <a:rPr lang="en-US" sz="1765" dirty="0" smtClean="0"/>
              <a:t>Processor organization</a:t>
            </a:r>
          </a:p>
          <a:p>
            <a:r>
              <a:rPr lang="en-US" sz="1765" dirty="0" smtClean="0"/>
              <a:t>Register organization</a:t>
            </a:r>
          </a:p>
          <a:p>
            <a:pPr lvl="1"/>
            <a:r>
              <a:rPr lang="en-US" sz="1765" dirty="0" smtClean="0"/>
              <a:t>User-visible registers</a:t>
            </a:r>
          </a:p>
          <a:p>
            <a:pPr lvl="1"/>
            <a:r>
              <a:rPr lang="en-US" sz="1765" dirty="0" smtClean="0"/>
              <a:t>Control and status registers</a:t>
            </a:r>
          </a:p>
          <a:p>
            <a:r>
              <a:rPr lang="en-US" sz="1765" dirty="0" smtClean="0"/>
              <a:t>Instruction cycle</a:t>
            </a:r>
          </a:p>
          <a:p>
            <a:pPr lvl="1"/>
            <a:r>
              <a:rPr lang="en-US" sz="1765" dirty="0" smtClean="0"/>
              <a:t>The indirect cycle</a:t>
            </a:r>
          </a:p>
          <a:p>
            <a:pPr lvl="1"/>
            <a:r>
              <a:rPr lang="en-US" sz="1765" dirty="0" smtClean="0"/>
              <a:t>Data flow</a:t>
            </a:r>
          </a:p>
          <a:p>
            <a:r>
              <a:rPr lang="en-US" sz="1765" dirty="0" smtClean="0"/>
              <a:t>The x86 processor family</a:t>
            </a:r>
          </a:p>
          <a:p>
            <a:pPr lvl="1"/>
            <a:r>
              <a:rPr lang="en-US" sz="1765" dirty="0" smtClean="0"/>
              <a:t>Register organization</a:t>
            </a:r>
          </a:p>
          <a:p>
            <a:pPr lvl="1"/>
            <a:r>
              <a:rPr lang="en-US" sz="1765" dirty="0" smtClean="0"/>
              <a:t>Interrupt processing</a:t>
            </a:r>
          </a:p>
        </p:txBody>
      </p:sp>
      <p:sp>
        <p:nvSpPr>
          <p:cNvPr id="32" name="Content Placeholder 31"/>
          <p:cNvSpPr>
            <a:spLocks noGrp="1"/>
          </p:cNvSpPr>
          <p:nvPr>
            <p:ph sz="quarter" idx="4"/>
          </p:nvPr>
        </p:nvSpPr>
        <p:spPr>
          <a:xfrm>
            <a:off x="4800600" y="2286000"/>
            <a:ext cx="3657600" cy="4114800"/>
          </a:xfrm>
        </p:spPr>
        <p:txBody>
          <a:bodyPr>
            <a:normAutofit/>
          </a:bodyPr>
          <a:lstStyle/>
          <a:p>
            <a:r>
              <a:rPr lang="en-US" sz="1765" dirty="0" smtClean="0"/>
              <a:t>Instruction pipelining</a:t>
            </a:r>
          </a:p>
          <a:p>
            <a:pPr lvl="1"/>
            <a:r>
              <a:rPr lang="en-US" sz="1765" dirty="0" smtClean="0"/>
              <a:t>Pipelining strategy</a:t>
            </a:r>
          </a:p>
          <a:p>
            <a:pPr lvl="1"/>
            <a:r>
              <a:rPr lang="en-US" sz="1765" dirty="0" smtClean="0"/>
              <a:t>Pipeline performance</a:t>
            </a:r>
          </a:p>
          <a:p>
            <a:pPr lvl="1"/>
            <a:r>
              <a:rPr lang="en-US" sz="1765" dirty="0" smtClean="0"/>
              <a:t>Pipeline hazards</a:t>
            </a:r>
          </a:p>
          <a:p>
            <a:pPr lvl="1"/>
            <a:r>
              <a:rPr lang="en-US" sz="1765" dirty="0" smtClean="0"/>
              <a:t>Dealing with branches</a:t>
            </a:r>
          </a:p>
          <a:p>
            <a:pPr lvl="1"/>
            <a:r>
              <a:rPr lang="en-US" sz="1765" dirty="0" smtClean="0"/>
              <a:t>Intel 80486 pipelining</a:t>
            </a:r>
          </a:p>
        </p:txBody>
      </p:sp>
      <p:sp>
        <p:nvSpPr>
          <p:cNvPr id="44035" name="Rectangle 3"/>
          <p:cNvSpPr>
            <a:spLocks noGrp="1" noChangeArrowheads="1"/>
          </p:cNvSpPr>
          <p:nvPr>
            <p:ph type="body" idx="1"/>
          </p:nvPr>
        </p:nvSpPr>
        <p:spPr>
          <a:xfrm>
            <a:off x="539552" y="1124744"/>
            <a:ext cx="3657600" cy="1098177"/>
          </a:xfrm>
        </p:spPr>
        <p:txBody>
          <a:bodyPr>
            <a:normAutofit/>
          </a:bodyPr>
          <a:lstStyle/>
          <a:p>
            <a:r>
              <a:rPr lang="en-US" dirty="0" smtClean="0"/>
              <a:t>    </a:t>
            </a:r>
          </a:p>
          <a:p>
            <a:endParaRPr lang="en-US" sz="800" dirty="0" smtClean="0"/>
          </a:p>
          <a:p>
            <a:endParaRPr lang="en-US" sz="800" dirty="0" smtClean="0"/>
          </a:p>
          <a:p>
            <a:r>
              <a:rPr lang="en-US" sz="3200" dirty="0" smtClean="0"/>
              <a:t>Chapter 14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smtClean="0">
                <a:solidFill>
                  <a:schemeClr val="accent1">
                    <a:lumMod val="50000"/>
                  </a:schemeClr>
                </a:solidFill>
              </a:rPr>
              <a:t>Processor Structure and Function</a:t>
            </a:r>
            <a:endParaRPr lang="en-US" dirty="0">
              <a:solidFill>
                <a:srgbClr val="6666CC"/>
              </a:solidFill>
            </a:endParaRPr>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5771</TotalTime>
  <Words>5703</Words>
  <Application>Microsoft Office PowerPoint</Application>
  <PresentationFormat>On-screen Show (4:3)</PresentationFormat>
  <Paragraphs>320</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ＭＳ Ｐゴシック</vt:lpstr>
      <vt:lpstr>Arial</vt:lpstr>
      <vt:lpstr>Rockwell</vt:lpstr>
      <vt:lpstr>Times New Roman</vt:lpstr>
      <vt:lpstr>Wingdings</vt:lpstr>
      <vt:lpstr>Advantage</vt:lpstr>
      <vt:lpstr>William Stallings  Computer Organization  and Architecture 10th Edition</vt:lpstr>
      <vt:lpstr>Chapter 14</vt:lpstr>
      <vt:lpstr>Processor Organization</vt:lpstr>
      <vt:lpstr>PowerPoint Presentation</vt:lpstr>
      <vt:lpstr>PowerPoint Presentation</vt:lpstr>
      <vt:lpstr>Register Organization</vt:lpstr>
      <vt:lpstr>User-Visible Registers</vt:lpstr>
      <vt:lpstr>Table 14.1 Condition Codes</vt:lpstr>
      <vt:lpstr>Control and Status Registers</vt:lpstr>
      <vt:lpstr>Program Status Word (PSW)</vt:lpstr>
      <vt:lpstr>PowerPoint Presentation</vt:lpstr>
      <vt:lpstr>Instruction Cycle</vt:lpstr>
      <vt:lpstr>PowerPoint Presentation</vt:lpstr>
      <vt:lpstr>PowerPoint Presentation</vt:lpstr>
      <vt:lpstr>PowerPoint Presentation</vt:lpstr>
      <vt:lpstr>PowerPoint Presentation</vt:lpstr>
      <vt:lpstr>PowerPoint Presentation</vt:lpstr>
      <vt:lpstr>Pipelining Topic –  Presented by Section A </vt:lpstr>
      <vt:lpstr>Intel 80486 Pipelining</vt:lpstr>
      <vt:lpstr>PowerPoint Presentation</vt:lpstr>
      <vt:lpstr>Interrupt Processing</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Processor Structure and Function</dc:title>
  <dc:creator>Adrian J Pullin</dc:creator>
  <cp:lastModifiedBy>Dell</cp:lastModifiedBy>
  <cp:revision>129</cp:revision>
  <dcterms:created xsi:type="dcterms:W3CDTF">2012-07-22T02:20:50Z</dcterms:created>
  <dcterms:modified xsi:type="dcterms:W3CDTF">2026-06-04T10:19:46Z</dcterms:modified>
</cp:coreProperties>
</file>